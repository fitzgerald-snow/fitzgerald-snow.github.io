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8"/>
  </p:handoutMasterIdLst>
  <p:sldIdLst>
    <p:sldId id="256" r:id="rId3"/>
    <p:sldId id="262" r:id="rId5"/>
    <p:sldId id="257" r:id="rId6"/>
    <p:sldId id="263" r:id="rId7"/>
    <p:sldId id="264" r:id="rId8"/>
    <p:sldId id="259" r:id="rId9"/>
    <p:sldId id="260" r:id="rId10"/>
    <p:sldId id="261" r:id="rId11"/>
    <p:sldId id="270" r:id="rId12"/>
    <p:sldId id="265" r:id="rId13"/>
    <p:sldId id="266" r:id="rId14"/>
    <p:sldId id="268" r:id="rId15"/>
    <p:sldId id="272" r:id="rId16"/>
    <p:sldId id="273" r:id="rId17"/>
    <p:sldId id="271" r:id="rId18"/>
    <p:sldId id="274" r:id="rId19"/>
    <p:sldId id="275" r:id="rId20"/>
    <p:sldId id="280" r:id="rId21"/>
    <p:sldId id="276" r:id="rId22"/>
    <p:sldId id="277" r:id="rId23"/>
    <p:sldId id="278" r:id="rId24"/>
    <p:sldId id="279" r:id="rId25"/>
    <p:sldId id="281" r:id="rId26"/>
    <p:sldId id="282" r:id="rId27"/>
  </p:sldIdLst>
  <p:sldSz cx="12192000" cy="6858000"/>
  <p:notesSz cx="7103745" cy="10234295"/>
  <p:embeddedFontLst>
    <p:embeddedFont>
      <p:font typeface="Rockwell Regular" panose="02060503020205020403" charset="0"/>
      <p:regular r:id="rId3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3"/>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tags" Target="../tags/tag6.xml"/><Relationship Id="rId4" Type="http://schemas.openxmlformats.org/officeDocument/2006/relationships/image" Target="../media/image4.png"/><Relationship Id="rId3" Type="http://schemas.openxmlformats.org/officeDocument/2006/relationships/tags" Target="../tags/tag5.xml"/><Relationship Id="rId2" Type="http://schemas.openxmlformats.org/officeDocument/2006/relationships/image" Target="../media/image3.png"/><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tags" Target="../tags/tag9.xml"/><Relationship Id="rId2" Type="http://schemas.openxmlformats.org/officeDocument/2006/relationships/image" Target="../media/image7.png"/><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xml"/><Relationship Id="rId4" Type="http://schemas.openxmlformats.org/officeDocument/2006/relationships/image" Target="../media/image11.png"/><Relationship Id="rId3" Type="http://schemas.openxmlformats.org/officeDocument/2006/relationships/tags" Target="../tags/tag12.xml"/><Relationship Id="rId2" Type="http://schemas.openxmlformats.org/officeDocument/2006/relationships/image" Target="../media/image10.png"/><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tags" Target="../tags/tag15.xml"/><Relationship Id="rId2" Type="http://schemas.openxmlformats.org/officeDocument/2006/relationships/image" Target="../media/image11.png"/><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19.xml"/><Relationship Id="rId4" Type="http://schemas.openxmlformats.org/officeDocument/2006/relationships/image" Target="../media/image12.png"/><Relationship Id="rId3" Type="http://schemas.openxmlformats.org/officeDocument/2006/relationships/tags" Target="../tags/tag18.xml"/><Relationship Id="rId2" Type="http://schemas.openxmlformats.org/officeDocument/2006/relationships/image" Target="../media/image14.png"/><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tags" Target="../tags/tag21.xml"/><Relationship Id="rId2" Type="http://schemas.openxmlformats.org/officeDocument/2006/relationships/image" Target="../media/image15.png"/><Relationship Id="rId1" Type="http://schemas.openxmlformats.org/officeDocument/2006/relationships/tags" Target="../tags/tag2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2665" dirty="0">
                <a:effectLst/>
                <a:latin typeface="Chalkboard Regular" panose="03050602040202020205" charset="0"/>
                <a:cs typeface="Chalkboard Regular" panose="03050602040202020205" charset="0"/>
              </a:rPr>
              <a:t>Probable nature of higher-dimensional</a:t>
            </a:r>
            <a:br>
              <a:rPr lang="zh-CN" altLang="en-US" sz="2665" dirty="0">
                <a:effectLst/>
                <a:latin typeface="Chalkboard Regular" panose="03050602040202020205" charset="0"/>
                <a:cs typeface="Chalkboard Regular" panose="03050602040202020205" charset="0"/>
              </a:rPr>
            </a:br>
            <a:r>
              <a:rPr lang="zh-CN" altLang="en-US" sz="2665" dirty="0">
                <a:effectLst/>
                <a:latin typeface="Chalkboard Regular" panose="03050602040202020205" charset="0"/>
                <a:cs typeface="Chalkboard Regular" panose="03050602040202020205" charset="0"/>
              </a:rPr>
              <a:t>symmetries underlying mammalian grid</a:t>
            </a:r>
            <a:r>
              <a:rPr lang="en-US" altLang="zh-CN" sz="2665" dirty="0">
                <a:effectLst/>
                <a:latin typeface="Chalkboard Regular" panose="03050602040202020205" charset="0"/>
                <a:cs typeface="Chalkboard Regular" panose="03050602040202020205" charset="0"/>
              </a:rPr>
              <a:t> </a:t>
            </a:r>
            <a:r>
              <a:rPr lang="zh-CN" altLang="en-US" sz="2665" dirty="0">
                <a:effectLst/>
                <a:latin typeface="Chalkboard Regular" panose="03050602040202020205" charset="0"/>
                <a:cs typeface="Chalkboard Regular" panose="03050602040202020205" charset="0"/>
              </a:rPr>
              <a:t>cell activity patterns</a:t>
            </a:r>
            <a:endParaRPr lang="zh-CN" altLang="en-US" sz="2665" dirty="0">
              <a:effectLst/>
              <a:latin typeface="Chalkboard Regular" panose="03050602040202020205" charset="0"/>
              <a:cs typeface="Chalkboard Regular" panose="03050602040202020205" charset="0"/>
            </a:endParaRPr>
          </a:p>
        </p:txBody>
      </p:sp>
      <p:sp>
        <p:nvSpPr>
          <p:cNvPr id="5" name="副标题 4"/>
          <p:cNvSpPr>
            <a:spLocks noGrp="1"/>
          </p:cNvSpPr>
          <p:nvPr>
            <p:ph type="subTitle" idx="1"/>
          </p:nvPr>
        </p:nvSpPr>
        <p:spPr>
          <a:xfrm>
            <a:off x="1524000" y="4454525"/>
            <a:ext cx="9144000" cy="803275"/>
          </a:xfrm>
        </p:spPr>
        <p:txBody>
          <a:bodyPr/>
          <a:lstStyle/>
          <a:p>
            <a:r>
              <a:rPr lang="en-US" altLang="zh-CN" dirty="0">
                <a:latin typeface="+mn-lt"/>
              </a:rPr>
              <a:t>presented by </a:t>
            </a:r>
            <a:r>
              <a:rPr lang="zh-CN" altLang="en-US" dirty="0">
                <a:latin typeface="+mn-lt"/>
              </a:rPr>
              <a:t>张博涛</a:t>
            </a:r>
            <a:endParaRPr lang="zh-CN" altLang="en-US"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1730375" y="924560"/>
            <a:ext cx="7398385" cy="3046095"/>
          </a:xfrm>
          <a:prstGeom prst="rect">
            <a:avLst/>
          </a:prstGeom>
          <a:noFill/>
        </p:spPr>
        <p:txBody>
          <a:bodyPr wrap="square" rtlCol="0">
            <a:spAutoFit/>
          </a:bodyPr>
          <a:p>
            <a:r>
              <a:rPr lang="en-US" sz="2400">
                <a:latin typeface="Rockwell Regular" panose="02060503020205020403" charset="0"/>
                <a:cs typeface="Rockwell Regular" panose="02060503020205020403" charset="0"/>
              </a:rPr>
              <a:t>Section:</a:t>
            </a:r>
            <a:endParaRPr lang="en-US" sz="2400">
              <a:latin typeface="Rockwell Regular" panose="02060503020205020403" charset="0"/>
              <a:cs typeface="Rockwell Regular" panose="02060503020205020403" charset="0"/>
            </a:endParaRPr>
          </a:p>
          <a:p>
            <a:endParaRPr lang="en-US" sz="2400">
              <a:latin typeface="Rockwell Regular" panose="02060503020205020403" charset="0"/>
              <a:cs typeface="Rockwell Regular" panose="02060503020205020403" charset="0"/>
            </a:endParaRPr>
          </a:p>
          <a:p>
            <a:r>
              <a:rPr lang="en-US" sz="2400">
                <a:latin typeface="Rockwell Regular" panose="02060503020205020403" charset="0"/>
                <a:cs typeface="Rockwell Regular" panose="02060503020205020403" charset="0"/>
              </a:rPr>
              <a:t>1.Motivation</a:t>
            </a:r>
            <a:endParaRPr lang="en-US" sz="2400">
              <a:latin typeface="Rockwell Regular" panose="02060503020205020403" charset="0"/>
              <a:cs typeface="Rockwell Regular" panose="02060503020205020403" charset="0"/>
            </a:endParaRPr>
          </a:p>
          <a:p>
            <a:r>
              <a:rPr lang="en-US" sz="2400">
                <a:latin typeface="Rockwell Regular" panose="02060503020205020403" charset="0"/>
                <a:cs typeface="Rockwell Regular" panose="02060503020205020403" charset="0"/>
              </a:rPr>
              <a:t>2.Methodology</a:t>
            </a:r>
            <a:endParaRPr lang="en-US" sz="2400">
              <a:latin typeface="Rockwell Regular" panose="02060503020205020403" charset="0"/>
              <a:cs typeface="Rockwell Regular" panose="02060503020205020403" charset="0"/>
            </a:endParaRPr>
          </a:p>
          <a:p>
            <a:r>
              <a:rPr lang="en-US" sz="2400">
                <a:latin typeface="Rockwell Regular" panose="02060503020205020403" charset="0"/>
                <a:cs typeface="Rockwell Regular" panose="02060503020205020403" charset="0"/>
              </a:rPr>
              <a:t>3.Model</a:t>
            </a:r>
            <a:endParaRPr lang="en-US" sz="2400">
              <a:latin typeface="Rockwell Regular" panose="02060503020205020403" charset="0"/>
              <a:cs typeface="Rockwell Regular" panose="02060503020205020403" charset="0"/>
            </a:endParaRPr>
          </a:p>
          <a:p>
            <a:r>
              <a:rPr lang="en-US" sz="2400">
                <a:latin typeface="Rockwell Regular" panose="02060503020205020403" charset="0"/>
                <a:cs typeface="Rockwell Regular" panose="02060503020205020403" charset="0"/>
              </a:rPr>
              <a:t>4.Result</a:t>
            </a:r>
            <a:endParaRPr lang="en-US" sz="2400">
              <a:latin typeface="Rockwell Regular" panose="02060503020205020403" charset="0"/>
              <a:cs typeface="Rockwell Regular" panose="02060503020205020403" charset="0"/>
            </a:endParaRPr>
          </a:p>
          <a:p>
            <a:r>
              <a:rPr lang="en-US" sz="2400">
                <a:latin typeface="Rockwell Regular" panose="02060503020205020403" charset="0"/>
                <a:cs typeface="Rockwell Regular" panose="02060503020205020403" charset="0"/>
              </a:rPr>
              <a:t>5.Discussion</a:t>
            </a:r>
            <a:endParaRPr lang="en-US" altLang="zh-CN" sz="2400"/>
          </a:p>
          <a:p>
            <a:endParaRPr lang="en-US" altLang="zh-CN"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a:xfrm>
            <a:off x="647700" y="480695"/>
            <a:ext cx="11067415" cy="5804535"/>
          </a:xfrm>
        </p:spPr>
        <p:txBody>
          <a:bodyPr/>
          <a:p>
            <a:r>
              <a:rPr lang="en-US"/>
              <a:t>Motivation:</a:t>
            </a:r>
            <a:endParaRPr lang="en-US"/>
          </a:p>
          <a:p>
            <a:pPr marL="0" indent="0">
              <a:buNone/>
            </a:pPr>
            <a:endParaRPr lang="en-US"/>
          </a:p>
          <a:p>
            <a:pPr marL="0" indent="0">
              <a:buNone/>
            </a:pPr>
            <a:endParaRPr lang="en-US"/>
          </a:p>
        </p:txBody>
      </p:sp>
      <p:sp>
        <p:nvSpPr>
          <p:cNvPr id="5" name="Text Box 4"/>
          <p:cNvSpPr txBox="1"/>
          <p:nvPr/>
        </p:nvSpPr>
        <p:spPr>
          <a:xfrm>
            <a:off x="864870" y="1392555"/>
            <a:ext cx="9511665" cy="4893310"/>
          </a:xfrm>
          <a:prstGeom prst="rect">
            <a:avLst/>
          </a:prstGeom>
          <a:noFill/>
        </p:spPr>
        <p:txBody>
          <a:bodyPr wrap="square" rtlCol="0">
            <a:noAutofit/>
          </a:bodyPr>
          <a:p>
            <a:r>
              <a:rPr lang="en-US" altLang="zh-CN">
                <a:sym typeface="+mn-ea"/>
              </a:rPr>
              <a:t>grid cell</a:t>
            </a:r>
            <a:r>
              <a:rPr lang="zh-CN" altLang="en-US">
                <a:sym typeface="+mn-ea"/>
              </a:rPr>
              <a:t>构建了大脑对空间的度量。</a:t>
            </a:r>
            <a:endParaRPr lang="zh-CN" altLang="en-US">
              <a:sym typeface="+mn-ea"/>
            </a:endParaRPr>
          </a:p>
          <a:p>
            <a:endParaRPr lang="zh-CN" altLang="en-US"/>
          </a:p>
          <a:p>
            <a:r>
              <a:rPr lang="zh-CN" altLang="en-US"/>
              <a:t>我们已经熟知哺乳动物在二维平面上移动时，</a:t>
            </a:r>
            <a:r>
              <a:rPr lang="en-US" altLang="zh-CN"/>
              <a:t>grid cell</a:t>
            </a:r>
            <a:r>
              <a:rPr lang="zh-CN" altLang="en-US"/>
              <a:t>表征的活跃位置在平面上张成正六边形网格，这也由实验数据支持（老鼠、小白鼠、爬行蝙蝠（？）和人类）。</a:t>
            </a:r>
            <a:endParaRPr lang="zh-CN" altLang="en-US"/>
          </a:p>
          <a:p>
            <a:endParaRPr lang="zh-CN" altLang="en-US"/>
          </a:p>
          <a:p>
            <a:endParaRPr lang="zh-CN" altLang="en-US"/>
          </a:p>
          <a:p>
            <a:r>
              <a:rPr lang="zh-CN" altLang="en-US"/>
              <a:t>而很多情况下，哺乳动物的移动发生在三维空间上。</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a:t>
            </a:r>
            <a:r>
              <a:rPr lang="en-US" altLang="zh-CN"/>
              <a:t>Q</a:t>
            </a:r>
            <a:r>
              <a:rPr lang="zh-CN" altLang="en-US"/>
              <a:t>：人类虽然在二维平面上的移动，但是在有些时候如驾驶飞机时也在三维空间上移动，每一个</a:t>
            </a:r>
            <a:r>
              <a:rPr lang="en-US" altLang="zh-CN"/>
              <a:t>grid cell</a:t>
            </a:r>
            <a:r>
              <a:rPr lang="zh-CN" altLang="en-US"/>
              <a:t>是否会改变其表征（？），以及，人类会看在天上飞的鸟或者各种有高度的东西，那人类大脑应该表征的也是一个三维的而不是二维</a:t>
            </a:r>
            <a:r>
              <a:rPr lang="zh-CN" altLang="en-US"/>
              <a:t>的？）</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a:xfrm>
            <a:off x="647700" y="480695"/>
            <a:ext cx="11067415" cy="5804535"/>
          </a:xfrm>
        </p:spPr>
        <p:txBody>
          <a:bodyPr/>
          <a:p>
            <a:r>
              <a:rPr lang="en-US"/>
              <a:t>Motivation:</a:t>
            </a:r>
            <a:endParaRPr lang="en-US"/>
          </a:p>
          <a:p>
            <a:pPr marL="0" indent="0">
              <a:buNone/>
            </a:pPr>
            <a:endParaRPr lang="en-US"/>
          </a:p>
          <a:p>
            <a:pPr marL="0" indent="0">
              <a:buNone/>
            </a:pPr>
            <a:endParaRPr lang="en-US"/>
          </a:p>
        </p:txBody>
      </p:sp>
      <p:sp>
        <p:nvSpPr>
          <p:cNvPr id="5" name="Text Box 4"/>
          <p:cNvSpPr txBox="1"/>
          <p:nvPr/>
        </p:nvSpPr>
        <p:spPr>
          <a:xfrm>
            <a:off x="864870" y="1392555"/>
            <a:ext cx="9511665" cy="4893310"/>
          </a:xfrm>
          <a:prstGeom prst="rect">
            <a:avLst/>
          </a:prstGeom>
          <a:noFill/>
        </p:spPr>
        <p:txBody>
          <a:bodyPr wrap="square" rtlCol="0">
            <a:noAutofit/>
          </a:bodyPr>
          <a:p>
            <a:r>
              <a:rPr lang="zh-CN" altLang="en-US">
                <a:solidFill>
                  <a:schemeClr val="tx1"/>
                </a:solidFill>
                <a:sym typeface="+mn-ea"/>
              </a:rPr>
              <a:t>神经对三维空间的表征：</a:t>
            </a:r>
            <a:endParaRPr lang="zh-CN" altLang="en-US">
              <a:solidFill>
                <a:schemeClr val="tx1"/>
              </a:solidFill>
              <a:sym typeface="+mn-ea"/>
            </a:endParaRPr>
          </a:p>
          <a:p>
            <a:r>
              <a:rPr lang="en-US" altLang="zh-CN">
                <a:solidFill>
                  <a:schemeClr val="tx1"/>
                </a:solidFill>
                <a:sym typeface="+mn-ea"/>
              </a:rPr>
              <a:t>1.</a:t>
            </a:r>
            <a:r>
              <a:rPr lang="zh-CN" altLang="en-US">
                <a:solidFill>
                  <a:srgbClr val="FF0000"/>
                </a:solidFill>
                <a:sym typeface="+mn-ea"/>
              </a:rPr>
              <a:t>mosaic of lower-dimensional patches</a:t>
            </a:r>
            <a:r>
              <a:rPr lang="en-US" altLang="zh-CN">
                <a:sym typeface="+mn-ea"/>
              </a:rPr>
              <a:t>(</a:t>
            </a:r>
            <a:r>
              <a:rPr lang="zh-CN" altLang="en-US">
                <a:sym typeface="+mn-ea"/>
              </a:rPr>
              <a:t>evidenced by climbing rats</a:t>
            </a:r>
            <a:r>
              <a:rPr lang="en-US" altLang="zh-CN">
                <a:sym typeface="+mn-ea"/>
              </a:rPr>
              <a:t>)</a:t>
            </a:r>
            <a:endParaRPr lang="en-US" altLang="zh-CN"/>
          </a:p>
          <a:p>
            <a:endParaRPr lang="en-US" altLang="zh-CN"/>
          </a:p>
          <a:p>
            <a:r>
              <a:rPr lang="en-US" altLang="zh-CN">
                <a:sym typeface="+mn-ea"/>
              </a:rPr>
              <a:t>2.</a:t>
            </a:r>
            <a:r>
              <a:rPr lang="en-US" altLang="zh-CN">
                <a:solidFill>
                  <a:schemeClr val="accent6"/>
                </a:solidFill>
                <a:sym typeface="+mn-ea"/>
              </a:rPr>
              <a:t>i</a:t>
            </a:r>
            <a:r>
              <a:rPr lang="en-US" altLang="zh-CN">
                <a:solidFill>
                  <a:srgbClr val="FF0000"/>
                </a:solidFill>
                <a:sym typeface="+mn-ea"/>
              </a:rPr>
              <a:t>n a uniform and nearly isotropic manner</a:t>
            </a:r>
            <a:r>
              <a:rPr lang="zh-CN" altLang="en-US">
                <a:sym typeface="+mn-ea"/>
              </a:rPr>
              <a:t>（Place cells in flying bats）</a:t>
            </a:r>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r>
              <a:rPr lang="en-US" altLang="zh-CN">
                <a:sym typeface="+mn-ea"/>
              </a:rPr>
              <a:t>Q: What is “mosaic of lower-dimensional patches”? (Isn’t it “uniform and nearly isotropic”?) </a:t>
            </a:r>
            <a:endParaRPr lang="en-US" altLang="zh-CN"/>
          </a:p>
          <a:p>
            <a:endParaRPr lang="en-US" altLang="zh-CN"/>
          </a:p>
        </p:txBody>
      </p:sp>
      <p:sp>
        <p:nvSpPr>
          <p:cNvPr id="4" name="Text Box 3"/>
          <p:cNvSpPr txBox="1"/>
          <p:nvPr/>
        </p:nvSpPr>
        <p:spPr>
          <a:xfrm>
            <a:off x="949325" y="4011930"/>
            <a:ext cx="9800590" cy="1739900"/>
          </a:xfrm>
          <a:prstGeom prst="rect">
            <a:avLst/>
          </a:prstGeom>
          <a:noFill/>
        </p:spPr>
        <p:txBody>
          <a:bodyPr wrap="square" rtlCol="0">
            <a:no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a:xfrm>
            <a:off x="647700" y="480695"/>
            <a:ext cx="11067415" cy="5804535"/>
          </a:xfrm>
        </p:spPr>
        <p:txBody>
          <a:bodyPr/>
          <a:p>
            <a:r>
              <a:rPr lang="en-US"/>
              <a:t>Motivation:</a:t>
            </a:r>
            <a:endParaRPr lang="en-US"/>
          </a:p>
          <a:p>
            <a:pPr marL="0" indent="0">
              <a:buNone/>
            </a:pPr>
            <a:endParaRPr lang="en-US"/>
          </a:p>
          <a:p>
            <a:pPr marL="0" indent="0">
              <a:buNone/>
            </a:pPr>
            <a:endParaRPr lang="en-US"/>
          </a:p>
        </p:txBody>
      </p:sp>
      <p:sp>
        <p:nvSpPr>
          <p:cNvPr id="5" name="Text Box 4"/>
          <p:cNvSpPr txBox="1"/>
          <p:nvPr/>
        </p:nvSpPr>
        <p:spPr>
          <a:xfrm>
            <a:off x="864870" y="1392555"/>
            <a:ext cx="9511665" cy="4893310"/>
          </a:xfrm>
          <a:prstGeom prst="rect">
            <a:avLst/>
          </a:prstGeom>
          <a:noFill/>
        </p:spPr>
        <p:txBody>
          <a:bodyPr wrap="square" rtlCol="0">
            <a:noAutofit/>
          </a:bodyPr>
          <a:p>
            <a:r>
              <a:rPr lang="en-US" altLang="zh-CN">
                <a:sym typeface="+mn-ea"/>
              </a:rPr>
              <a:t> </a:t>
            </a:r>
            <a:endParaRPr lang="en-US" altLang="zh-CN"/>
          </a:p>
          <a:p>
            <a:endParaRPr lang="en-US" altLang="zh-CN"/>
          </a:p>
        </p:txBody>
      </p:sp>
      <p:sp>
        <p:nvSpPr>
          <p:cNvPr id="4" name="Text Box 3"/>
          <p:cNvSpPr txBox="1"/>
          <p:nvPr/>
        </p:nvSpPr>
        <p:spPr>
          <a:xfrm>
            <a:off x="864870" y="1069340"/>
            <a:ext cx="9800590" cy="1739900"/>
          </a:xfrm>
          <a:prstGeom prst="rect">
            <a:avLst/>
          </a:prstGeom>
          <a:noFill/>
        </p:spPr>
        <p:txBody>
          <a:bodyPr wrap="square" rtlCol="0">
            <a:noAutofit/>
          </a:bodyPr>
          <a:p>
            <a:r>
              <a:rPr lang="en-US">
                <a:solidFill>
                  <a:schemeClr val="bg2">
                    <a:lumMod val="65000"/>
                  </a:schemeClr>
                </a:solidFill>
              </a:rPr>
              <a:t>Jeffery KJ, Jovalekic A, Verriotis M, Hayman R. 2013. Navigating in a three-dimensional world.</a:t>
            </a:r>
            <a:endParaRPr lang="en-US">
              <a:solidFill>
                <a:schemeClr val="bg2">
                  <a:lumMod val="65000"/>
                </a:schemeClr>
              </a:solidFill>
            </a:endParaRPr>
          </a:p>
          <a:p>
            <a:r>
              <a:rPr lang="en-US"/>
              <a:t>We suggest that 3D spaces are represented in a quasi-planar fashion, with space in the plane of locomotion being computed separately and represented differently from space in the orthogonal axis – a representational structure we have termed “bicoded.” </a:t>
            </a:r>
            <a:endParaRPr lang="en-US"/>
          </a:p>
          <a:p>
            <a:endParaRPr lang="en-US"/>
          </a:p>
          <a:p>
            <a:endParaRPr lang="en-US"/>
          </a:p>
          <a:p>
            <a:r>
              <a:rPr lang="en-US"/>
              <a:t>We argue that the mammalian spatial representation in surface-travelling animals comprises </a:t>
            </a:r>
            <a:r>
              <a:rPr lang="en-US">
                <a:solidFill>
                  <a:schemeClr val="accent6"/>
                </a:solidFill>
              </a:rPr>
              <a:t>a mosaic of these locally planar fragments</a:t>
            </a:r>
            <a:r>
              <a:rPr lang="en-US"/>
              <a:t>, rather than a fully integrated volumetric map.</a:t>
            </a:r>
            <a:endParaRPr lang="en-US"/>
          </a:p>
        </p:txBody>
      </p:sp>
      <p:sp>
        <p:nvSpPr>
          <p:cNvPr id="6" name="Text Box 5"/>
          <p:cNvSpPr txBox="1"/>
          <p:nvPr/>
        </p:nvSpPr>
        <p:spPr>
          <a:xfrm>
            <a:off x="864870" y="2288540"/>
            <a:ext cx="6652895" cy="368300"/>
          </a:xfrm>
          <a:prstGeom prst="rect">
            <a:avLst/>
          </a:prstGeom>
          <a:noFill/>
        </p:spPr>
        <p:txBody>
          <a:bodyPr wrap="square" rtlCol="0">
            <a:spAutoFit/>
          </a:bodyPr>
          <a:p>
            <a:r>
              <a:rPr lang="zh-CN" altLang="en-US"/>
              <a:t>移动的</a:t>
            </a:r>
            <a:r>
              <a:rPr lang="en-US" altLang="zh-CN"/>
              <a:t>2D</a:t>
            </a:r>
            <a:r>
              <a:rPr lang="zh-CN" altLang="en-US"/>
              <a:t>平面空间的计算与</a:t>
            </a:r>
            <a:r>
              <a:rPr lang="en-US" altLang="zh-CN"/>
              <a:t>z</a:t>
            </a:r>
            <a:r>
              <a:rPr lang="zh-CN" altLang="en-US"/>
              <a:t>轴高度纬度的方向的计算是分开的</a:t>
            </a:r>
            <a:endParaRPr lang="zh-CN" altLang="en-US"/>
          </a:p>
        </p:txBody>
      </p:sp>
      <p:pic>
        <p:nvPicPr>
          <p:cNvPr id="7" name="Picture 6"/>
          <p:cNvPicPr>
            <a:picLocks noChangeAspect="1"/>
          </p:cNvPicPr>
          <p:nvPr>
            <p:custDataLst>
              <p:tags r:id="rId1"/>
            </p:custDataLst>
          </p:nvPr>
        </p:nvPicPr>
        <p:blipFill>
          <a:blip r:embed="rId2"/>
          <a:stretch>
            <a:fillRect/>
          </a:stretch>
        </p:blipFill>
        <p:spPr>
          <a:xfrm>
            <a:off x="783590" y="3448685"/>
            <a:ext cx="7259955" cy="33445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a:xfrm>
            <a:off x="647700" y="480695"/>
            <a:ext cx="11067415" cy="5804535"/>
          </a:xfrm>
        </p:spPr>
        <p:txBody>
          <a:bodyPr/>
          <a:p>
            <a:r>
              <a:rPr lang="en-US"/>
              <a:t>Motivation:</a:t>
            </a:r>
            <a:endParaRPr lang="en-US"/>
          </a:p>
          <a:p>
            <a:pPr marL="0" indent="0">
              <a:buNone/>
            </a:pPr>
            <a:endParaRPr lang="en-US"/>
          </a:p>
          <a:p>
            <a:pPr marL="0" indent="0">
              <a:buNone/>
            </a:pPr>
            <a:endParaRPr lang="en-US"/>
          </a:p>
        </p:txBody>
      </p:sp>
      <p:sp>
        <p:nvSpPr>
          <p:cNvPr id="4" name="Text Box 3"/>
          <p:cNvSpPr txBox="1"/>
          <p:nvPr/>
        </p:nvSpPr>
        <p:spPr>
          <a:xfrm>
            <a:off x="816610" y="1200785"/>
            <a:ext cx="9607550" cy="1931035"/>
          </a:xfrm>
          <a:prstGeom prst="rect">
            <a:avLst/>
          </a:prstGeom>
          <a:noFill/>
        </p:spPr>
        <p:txBody>
          <a:bodyPr wrap="square" rtlCol="0">
            <a:noAutofit/>
          </a:bodyPr>
          <a:p>
            <a:r>
              <a:rPr lang="zh-CN" altLang="en-US"/>
              <a:t>另一方面，</a:t>
            </a:r>
            <a:r>
              <a:rPr lang="en-US" altLang="zh-CN"/>
              <a:t>grid cell/place cell</a:t>
            </a:r>
            <a:r>
              <a:rPr lang="zh-CN" altLang="en-US"/>
              <a:t>和</a:t>
            </a:r>
            <a:r>
              <a:rPr lang="en-US" altLang="zh-CN"/>
              <a:t>memory/</a:t>
            </a:r>
            <a:r>
              <a:rPr lang="zh-CN" altLang="en-US"/>
              <a:t>认知有关系，此时它们的表征空间可以是很高维，此时它们对空间的表征和平面时的正六边形可能不一样，因而</a:t>
            </a:r>
            <a:endParaRPr lang="zh-CN" altLang="en-US"/>
          </a:p>
          <a:p>
            <a:endParaRPr lang="zh-CN" altLang="en-US"/>
          </a:p>
          <a:p>
            <a:r>
              <a:rPr lang="zh-CN" altLang="en-US"/>
              <a:t>we study grid-cell</a:t>
            </a:r>
            <a:r>
              <a:rPr lang="en-US" altLang="zh-CN"/>
              <a:t> </a:t>
            </a:r>
            <a:r>
              <a:rPr lang="zh-CN" altLang="en-US"/>
              <a:t>representations in arbitrarily </a:t>
            </a:r>
            <a:r>
              <a:rPr lang="zh-CN" altLang="en-US">
                <a:solidFill>
                  <a:srgbClr val="FF0000"/>
                </a:solidFill>
              </a:rPr>
              <a:t>high-dimensional spaces</a:t>
            </a:r>
            <a:r>
              <a:rPr lang="zh-CN" altLang="en-US"/>
              <a:t> </a:t>
            </a:r>
            <a:endParaRPr lang="zh-CN" altLang="en-US"/>
          </a:p>
          <a:p>
            <a:endParaRPr lang="zh-CN" altLang="en-US"/>
          </a:p>
          <a:p>
            <a:r>
              <a:rPr lang="zh-CN" altLang="en-US"/>
              <a:t>要找到一种表征，它对空间的表示最准确</a:t>
            </a:r>
            <a:r>
              <a:rPr lang="en-US" altLang="zh-CN"/>
              <a:t>(</a:t>
            </a:r>
            <a:r>
              <a:rPr lang="zh-CN" altLang="en-US"/>
              <a:t>分辨率高</a:t>
            </a:r>
            <a:r>
              <a:rPr lang="en-US" altLang="zh-CN"/>
              <a:t>)</a:t>
            </a:r>
            <a:endParaRPr lang="en-US" altLang="zh-CN"/>
          </a:p>
        </p:txBody>
      </p:sp>
      <p:sp>
        <p:nvSpPr>
          <p:cNvPr id="6" name="Text Box 5"/>
          <p:cNvSpPr txBox="1"/>
          <p:nvPr/>
        </p:nvSpPr>
        <p:spPr>
          <a:xfrm>
            <a:off x="816610" y="5668645"/>
            <a:ext cx="7818755" cy="368300"/>
          </a:xfrm>
          <a:prstGeom prst="rect">
            <a:avLst/>
          </a:prstGeom>
          <a:noFill/>
        </p:spPr>
        <p:txBody>
          <a:bodyPr wrap="square" rtlCol="0">
            <a:spAutoFit/>
          </a:bodyPr>
          <a:p>
            <a:r>
              <a:rPr lang="en-US"/>
              <a:t>Q</a:t>
            </a:r>
            <a:r>
              <a:rPr lang="zh-CN" altLang="en-US"/>
              <a:t>：</a:t>
            </a:r>
            <a:r>
              <a:rPr lang="en-US" altLang="zh-CN"/>
              <a:t>What is “high-dimensional”? </a:t>
            </a:r>
            <a:r>
              <a:rPr lang="zh-CN" altLang="en-US"/>
              <a:t>本文主要在（</a:t>
            </a:r>
            <a:r>
              <a:rPr lang="zh-CN" altLang="en-US"/>
              <a:t>只）讲二维和三维的</a:t>
            </a:r>
            <a:r>
              <a:rPr lang="zh-CN" altLang="en-US"/>
              <a:t>情形。</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5759450" cy="905510"/>
          </a:xfrm>
        </p:spPr>
        <p:txBody>
          <a:bodyPr>
            <a:normAutofit/>
          </a:bodyPr>
          <a:p>
            <a:r>
              <a:rPr lang="en-US" sz="2665">
                <a:latin typeface="Comic Sans MS Regular" panose="030F0902030302020204" charset="0"/>
                <a:cs typeface="Comic Sans MS Regular" panose="030F0902030302020204" charset="0"/>
              </a:rPr>
              <a:t>Methodology Overview:</a:t>
            </a:r>
            <a:endParaRPr lang="en-US" sz="2665">
              <a:latin typeface="Comic Sans MS Regular" panose="030F0902030302020204" charset="0"/>
              <a:cs typeface="Comic Sans MS Regular" panose="030F0902030302020204" charset="0"/>
            </a:endParaRPr>
          </a:p>
        </p:txBody>
      </p:sp>
      <p:sp>
        <p:nvSpPr>
          <p:cNvPr id="3" name="Content Placeholder 2"/>
          <p:cNvSpPr>
            <a:spLocks noGrp="1"/>
          </p:cNvSpPr>
          <p:nvPr>
            <p:ph idx="1"/>
          </p:nvPr>
        </p:nvSpPr>
        <p:spPr>
          <a:xfrm>
            <a:off x="647700" y="1252855"/>
            <a:ext cx="10515600" cy="4351338"/>
          </a:xfrm>
        </p:spPr>
        <p:txBody>
          <a:bodyPr/>
          <a:p>
            <a:pPr marL="0" indent="0">
              <a:buNone/>
            </a:pPr>
            <a:r>
              <a:rPr lang="en-US" altLang="zh-CN" sz="1800"/>
              <a:t> </a:t>
            </a:r>
            <a:endParaRPr lang="en-US" altLang="zh-CN" sz="1800"/>
          </a:p>
        </p:txBody>
      </p:sp>
      <p:sp>
        <p:nvSpPr>
          <p:cNvPr id="4" name="Text Box 3"/>
          <p:cNvSpPr txBox="1"/>
          <p:nvPr/>
        </p:nvSpPr>
        <p:spPr>
          <a:xfrm>
            <a:off x="781050" y="1320800"/>
            <a:ext cx="10040620" cy="4954270"/>
          </a:xfrm>
          <a:prstGeom prst="rect">
            <a:avLst/>
          </a:prstGeom>
          <a:noFill/>
        </p:spPr>
        <p:txBody>
          <a:bodyPr wrap="square" rtlCol="0">
            <a:spAutoFit/>
          </a:bodyPr>
          <a:p>
            <a:pPr marL="0" indent="0">
              <a:buNone/>
            </a:pPr>
            <a:r>
              <a:rPr lang="en-US" altLang="zh-CN" sz="2000" b="1">
                <a:sym typeface="+mn-ea"/>
              </a:rPr>
              <a:t>1.</a:t>
            </a:r>
            <a:r>
              <a:rPr lang="zh-CN" altLang="en-US" sz="2000" b="1">
                <a:sym typeface="+mn-ea"/>
              </a:rPr>
              <a:t>假设了</a:t>
            </a:r>
            <a:r>
              <a:rPr lang="en-US" altLang="zh-CN" sz="2000" b="1">
                <a:sym typeface="+mn-ea"/>
              </a:rPr>
              <a:t>grid cell</a:t>
            </a:r>
            <a:r>
              <a:rPr lang="zh-CN" altLang="en-US" sz="2000" b="1">
                <a:sym typeface="+mn-ea"/>
              </a:rPr>
              <a:t>的活跃点是</a:t>
            </a:r>
            <a:r>
              <a:rPr lang="en-US" altLang="zh-CN" sz="2000" b="1">
                <a:sym typeface="+mn-ea"/>
              </a:rPr>
              <a:t>isotropic/radial/symmetric</a:t>
            </a:r>
            <a:r>
              <a:rPr lang="en-US" altLang="zh-CN">
                <a:sym typeface="+mn-ea"/>
              </a:rPr>
              <a:t> </a:t>
            </a:r>
            <a:r>
              <a:rPr lang="zh-CN" altLang="en-US">
                <a:sym typeface="+mn-ea"/>
              </a:rPr>
              <a:t>（</a:t>
            </a:r>
            <a:r>
              <a:rPr lang="en-US" altLang="zh-CN">
                <a:sym typeface="+mn-ea"/>
              </a:rPr>
              <a:t>Q</a:t>
            </a:r>
            <a:r>
              <a:rPr lang="zh-CN" altLang="en-US">
                <a:sym typeface="+mn-ea"/>
              </a:rPr>
              <a:t>：这三个对称概念具体的区别？）</a:t>
            </a:r>
            <a:endParaRPr lang="zh-CN" altLang="en-US">
              <a:sym typeface="+mn-ea"/>
            </a:endParaRPr>
          </a:p>
          <a:p>
            <a:pPr marL="0" indent="0">
              <a:buNone/>
            </a:pPr>
            <a:endParaRPr lang="zh-CN" altLang="en-US"/>
          </a:p>
          <a:p>
            <a:pPr marL="0" indent="0">
              <a:buNone/>
            </a:pPr>
            <a:r>
              <a:rPr lang="en-US" altLang="zh-CN">
                <a:sym typeface="+mn-ea"/>
              </a:rPr>
              <a:t>  </a:t>
            </a:r>
            <a:r>
              <a:rPr lang="zh-CN" altLang="en-US">
                <a:sym typeface="+mn-ea"/>
              </a:rPr>
              <a:t>（虽然理论上非对称解可以做到更优表征，但是实验数据表明生物体内确实具有</a:t>
            </a:r>
            <a:r>
              <a:rPr lang="zh-CN" altLang="en-US">
                <a:sym typeface="+mn-ea"/>
              </a:rPr>
              <a:t>此对称性）</a:t>
            </a:r>
            <a:endParaRPr lang="zh-CN" altLang="en-US"/>
          </a:p>
          <a:p>
            <a:endParaRPr lang="en-US"/>
          </a:p>
          <a:p>
            <a:r>
              <a:rPr lang="en-US" altLang="zh-CN" sz="2000" b="1"/>
              <a:t>2.</a:t>
            </a:r>
            <a:r>
              <a:rPr lang="zh-CN" altLang="en-US" sz="2000" b="1"/>
              <a:t>进行建模，并计算</a:t>
            </a:r>
            <a:r>
              <a:rPr lang="en-US" altLang="zh-CN" sz="2000" b="1"/>
              <a:t>Fisher Information</a:t>
            </a:r>
            <a:endParaRPr lang="en-US" altLang="zh-CN" sz="2000" b="1"/>
          </a:p>
          <a:p>
            <a:endParaRPr lang="en-US" altLang="zh-CN"/>
          </a:p>
          <a:p>
            <a:r>
              <a:rPr lang="en-US" altLang="zh-CN">
                <a:latin typeface="Arial" panose="020B0604020202090204" pitchFamily="34" charset="0"/>
              </a:rPr>
              <a:t>   ►</a:t>
            </a:r>
            <a:r>
              <a:rPr lang="en-US" altLang="zh-CN"/>
              <a:t>Fisher Information</a:t>
            </a:r>
            <a:r>
              <a:rPr lang="zh-CN" altLang="en-US"/>
              <a:t>越</a:t>
            </a:r>
            <a:r>
              <a:rPr lang="zh-CN" altLang="en-US"/>
              <a:t>大，则代表着分辨率更</a:t>
            </a:r>
            <a:r>
              <a:rPr lang="zh-CN" altLang="en-US"/>
              <a:t>高</a:t>
            </a:r>
            <a:endParaRPr lang="zh-CN" altLang="en-US"/>
          </a:p>
          <a:p>
            <a:endParaRPr lang="zh-CN" altLang="en-US"/>
          </a:p>
          <a:p>
            <a:r>
              <a:rPr lang="en-US" altLang="zh-CN" sz="2000" b="1"/>
              <a:t>3.</a:t>
            </a:r>
            <a:r>
              <a:rPr lang="zh-CN" altLang="en-US" sz="2000" b="1"/>
              <a:t>将分辨率怎样最高的问题转化为</a:t>
            </a:r>
            <a:r>
              <a:rPr lang="en-US" altLang="zh-CN" sz="2000" b="1"/>
              <a:t>packing ratio</a:t>
            </a:r>
            <a:r>
              <a:rPr lang="zh-CN" altLang="en-US" sz="2000" b="1"/>
              <a:t>什么时候最高</a:t>
            </a:r>
            <a:endParaRPr lang="zh-CN" altLang="en-US" sz="2000" b="1"/>
          </a:p>
          <a:p>
            <a:endParaRPr lang="zh-CN" altLang="en-US" sz="2000"/>
          </a:p>
          <a:p>
            <a:r>
              <a:rPr lang="en-US" altLang="zh-CN">
                <a:latin typeface="Arial" panose="020B0604020202090204" pitchFamily="34" charset="0"/>
              </a:rPr>
              <a:t> ■</a:t>
            </a:r>
            <a:r>
              <a:rPr lang="en-US" altLang="zh-CN"/>
              <a:t>packing ratio</a:t>
            </a:r>
            <a:r>
              <a:rPr lang="zh-CN" altLang="en-US"/>
              <a:t>：在空间中，一些不交球占据的空间比例</a:t>
            </a:r>
            <a:r>
              <a:rPr lang="zh-CN" altLang="en-US"/>
              <a:t>大小</a:t>
            </a:r>
            <a:endParaRPr lang="zh-CN" altLang="en-US"/>
          </a:p>
          <a:p>
            <a:endParaRPr lang="zh-CN" altLang="en-US"/>
          </a:p>
          <a:p>
            <a:r>
              <a:rPr lang="en-US" altLang="zh-CN" sz="2000" b="1"/>
              <a:t>4.</a:t>
            </a:r>
            <a:r>
              <a:rPr lang="zh-CN" altLang="en-US" sz="2000" b="1"/>
              <a:t>数学上验证了</a:t>
            </a:r>
            <a:endParaRPr lang="zh-CN" altLang="en-US" sz="2000" b="1"/>
          </a:p>
          <a:p>
            <a:r>
              <a:rPr lang="en-US" altLang="zh-CN"/>
              <a:t>     (a)</a:t>
            </a:r>
            <a:r>
              <a:rPr lang="zh-CN" altLang="en-US"/>
              <a:t>在平面上正六边形的确</a:t>
            </a:r>
            <a:r>
              <a:rPr lang="zh-CN" altLang="en-US"/>
              <a:t>最佳</a:t>
            </a:r>
            <a:endParaRPr lang="zh-CN" altLang="en-US"/>
          </a:p>
          <a:p>
            <a:endParaRPr lang="zh-CN" altLang="en-US"/>
          </a:p>
          <a:p>
            <a:r>
              <a:rPr lang="en-US" altLang="zh-CN"/>
              <a:t>   (b)</a:t>
            </a:r>
            <a:r>
              <a:rPr lang="zh-CN" altLang="en-US"/>
              <a:t>在三维情形下，</a:t>
            </a:r>
            <a:r>
              <a:rPr lang="en-US" altLang="zh-CN"/>
              <a:t>FCC</a:t>
            </a:r>
            <a:r>
              <a:rPr lang="zh-CN" altLang="en-US"/>
              <a:t>最佳，而</a:t>
            </a:r>
            <a:r>
              <a:rPr lang="en-US" altLang="zh-CN"/>
              <a:t>HCP</a:t>
            </a:r>
            <a:r>
              <a:rPr lang="zh-CN" altLang="en-US"/>
              <a:t>具有</a:t>
            </a:r>
            <a:r>
              <a:rPr lang="zh-CN" altLang="en-US"/>
              <a:t>一定对称性</a:t>
            </a:r>
            <a:r>
              <a:rPr lang="zh-CN" altLang="en-US"/>
              <a:t>但非晶格，和</a:t>
            </a:r>
            <a:r>
              <a:rPr lang="en-US" altLang="zh-CN"/>
              <a:t>FCC</a:t>
            </a:r>
            <a:r>
              <a:rPr lang="zh-CN" altLang="en-US"/>
              <a:t>的</a:t>
            </a:r>
            <a:r>
              <a:rPr lang="en-US" altLang="zh-CN"/>
              <a:t>packing ratio</a:t>
            </a:r>
            <a:r>
              <a:rPr lang="zh-CN" altLang="en-US"/>
              <a:t>是一样</a:t>
            </a:r>
            <a:r>
              <a:rPr lang="zh-CN" altLang="en-US"/>
              <a:t>的。</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312420" y="227965"/>
            <a:ext cx="2125980" cy="521970"/>
          </a:xfrm>
          <a:prstGeom prst="rect">
            <a:avLst/>
          </a:prstGeom>
          <a:noFill/>
        </p:spPr>
        <p:txBody>
          <a:bodyPr wrap="square" rtlCol="0">
            <a:spAutoFit/>
          </a:bodyPr>
          <a:p>
            <a:r>
              <a:rPr lang="zh-CN" altLang="en-US" sz="2800"/>
              <a:t>建模：</a:t>
            </a:r>
            <a:endParaRPr lang="zh-CN" altLang="en-US" sz="2800"/>
          </a:p>
        </p:txBody>
      </p:sp>
      <p:sp>
        <p:nvSpPr>
          <p:cNvPr id="6" name="Text Box 5"/>
          <p:cNvSpPr txBox="1"/>
          <p:nvPr/>
        </p:nvSpPr>
        <p:spPr>
          <a:xfrm>
            <a:off x="564515" y="1008380"/>
            <a:ext cx="10244455" cy="1476375"/>
          </a:xfrm>
          <a:prstGeom prst="rect">
            <a:avLst/>
          </a:prstGeom>
          <a:noFill/>
        </p:spPr>
        <p:txBody>
          <a:bodyPr wrap="square" rtlCol="0">
            <a:spAutoFit/>
          </a:bodyPr>
          <a:p>
            <a:r>
              <a:rPr lang="zh-CN" altLang="en-US"/>
              <a:t>在</a:t>
            </a:r>
            <a:r>
              <a:rPr lang="en-US" altLang="zh-CN"/>
              <a:t>R^D</a:t>
            </a:r>
            <a:r>
              <a:rPr lang="zh-CN" altLang="en-US"/>
              <a:t>空间上，一个位置被记为</a:t>
            </a:r>
            <a:r>
              <a:rPr lang="en-US" altLang="zh-CN"/>
              <a:t>x=(x1,x2...xD)</a:t>
            </a:r>
            <a:endParaRPr lang="en-US" altLang="zh-CN"/>
          </a:p>
          <a:p>
            <a:endParaRPr lang="en-US" altLang="zh-CN"/>
          </a:p>
          <a:p>
            <a:r>
              <a:rPr lang="zh-CN" altLang="en-US"/>
              <a:t>动物的位置被</a:t>
            </a:r>
            <a:r>
              <a:rPr lang="en-US" altLang="zh-CN"/>
              <a:t>N</a:t>
            </a:r>
            <a:r>
              <a:rPr lang="zh-CN" altLang="en-US"/>
              <a:t>个细胞所编码</a:t>
            </a:r>
            <a:endParaRPr lang="zh-CN" altLang="en-US"/>
          </a:p>
          <a:p>
            <a:endParaRPr lang="zh-CN" altLang="en-US"/>
          </a:p>
          <a:p>
            <a:r>
              <a:rPr lang="zh-CN" altLang="en-US"/>
              <a:t>第</a:t>
            </a:r>
            <a:r>
              <a:rPr lang="en-US" altLang="zh-CN"/>
              <a:t>i</a:t>
            </a:r>
            <a:r>
              <a:rPr lang="zh-CN" altLang="en-US"/>
              <a:t>个细胞：它的</a:t>
            </a:r>
            <a:r>
              <a:rPr lang="en-US" altLang="zh-CN"/>
              <a:t>mean firing rate</a:t>
            </a:r>
            <a:r>
              <a:rPr lang="zh-CN" altLang="en-US"/>
              <a:t>关于位置的函数（</a:t>
            </a:r>
            <a:r>
              <a:rPr lang="en-US" altLang="zh-CN"/>
              <a:t>tuning curve</a:t>
            </a:r>
            <a:r>
              <a:rPr lang="zh-CN" altLang="en-US"/>
              <a:t>）记为</a:t>
            </a:r>
            <a:r>
              <a:rPr lang="zh-CN" altLang="en-US" b="1"/>
              <a:t>Ωi</a:t>
            </a:r>
            <a:r>
              <a:rPr lang="en-US" altLang="zh-CN" b="1"/>
              <a:t>(x)</a:t>
            </a:r>
            <a:r>
              <a:rPr lang="en-US" altLang="zh-CN"/>
              <a:t> (</a:t>
            </a:r>
            <a:r>
              <a:rPr lang="zh-CN" altLang="en-US"/>
              <a:t>在空间中呈周期分布</a:t>
            </a:r>
            <a:r>
              <a:rPr lang="en-US" altLang="zh-CN"/>
              <a:t>)                                   </a:t>
            </a:r>
            <a:endParaRPr lang="en-US" altLang="zh-CN"/>
          </a:p>
        </p:txBody>
      </p:sp>
      <p:pic>
        <p:nvPicPr>
          <p:cNvPr id="7" name="Picture 6"/>
          <p:cNvPicPr>
            <a:picLocks noChangeAspect="1"/>
          </p:cNvPicPr>
          <p:nvPr>
            <p:custDataLst>
              <p:tags r:id="rId1"/>
            </p:custDataLst>
          </p:nvPr>
        </p:nvPicPr>
        <p:blipFill>
          <a:blip r:embed="rId2"/>
          <a:stretch>
            <a:fillRect/>
          </a:stretch>
        </p:blipFill>
        <p:spPr>
          <a:xfrm>
            <a:off x="564515" y="2484755"/>
            <a:ext cx="10091420" cy="4272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312420" y="227965"/>
            <a:ext cx="2125980" cy="521970"/>
          </a:xfrm>
          <a:prstGeom prst="rect">
            <a:avLst/>
          </a:prstGeom>
          <a:noFill/>
        </p:spPr>
        <p:txBody>
          <a:bodyPr wrap="square" rtlCol="0">
            <a:spAutoFit/>
          </a:bodyPr>
          <a:p>
            <a:r>
              <a:rPr lang="zh-CN" altLang="en-US" sz="2800"/>
              <a:t>建模：</a:t>
            </a:r>
            <a:endParaRPr lang="zh-CN" altLang="en-US" sz="2800"/>
          </a:p>
        </p:txBody>
      </p:sp>
      <p:sp>
        <p:nvSpPr>
          <p:cNvPr id="6" name="Text Box 5"/>
          <p:cNvSpPr txBox="1"/>
          <p:nvPr/>
        </p:nvSpPr>
        <p:spPr>
          <a:xfrm>
            <a:off x="564515" y="1008380"/>
            <a:ext cx="9895840" cy="645160"/>
          </a:xfrm>
          <a:prstGeom prst="rect">
            <a:avLst/>
          </a:prstGeom>
          <a:noFill/>
        </p:spPr>
        <p:txBody>
          <a:bodyPr wrap="square" rtlCol="0">
            <a:spAutoFit/>
          </a:bodyPr>
          <a:p>
            <a:r>
              <a:rPr lang="en-US" altLang="zh-CN" b="1"/>
              <a:t>Grid Module</a:t>
            </a:r>
            <a:r>
              <a:rPr lang="en-US" altLang="zh-CN"/>
              <a:t>: </a:t>
            </a:r>
            <a:r>
              <a:rPr lang="zh-CN" altLang="en-US"/>
              <a:t>一系列</a:t>
            </a:r>
            <a:r>
              <a:rPr lang="en-US" altLang="zh-CN"/>
              <a:t>grid cell</a:t>
            </a:r>
            <a:r>
              <a:rPr lang="zh-CN" altLang="en-US"/>
              <a:t>，它们有着相同的</a:t>
            </a:r>
            <a:r>
              <a:rPr lang="en-US" altLang="zh-CN"/>
              <a:t>tuning curve</a:t>
            </a:r>
            <a:r>
              <a:rPr lang="zh-CN" altLang="en-US"/>
              <a:t>，但是</a:t>
            </a:r>
            <a:r>
              <a:rPr lang="zh-CN" altLang="en-US" b="1"/>
              <a:t>不同的相位</a:t>
            </a:r>
            <a:r>
              <a:rPr lang="en-US" altLang="zh-CN" b="1"/>
              <a:t>ci</a:t>
            </a:r>
            <a:endParaRPr lang="en-US" altLang="zh-CN" b="1"/>
          </a:p>
          <a:p>
            <a:r>
              <a:rPr lang="zh-CN" altLang="en-US"/>
              <a:t>（这个</a:t>
            </a:r>
            <a:r>
              <a:rPr lang="en-US" altLang="zh-CN"/>
              <a:t>module</a:t>
            </a:r>
            <a:r>
              <a:rPr lang="zh-CN" altLang="en-US"/>
              <a:t>的建立来源于在老鼠内修皮层发现的只差一个相位的正六边形排布的</a:t>
            </a:r>
            <a:r>
              <a:rPr lang="en-US" altLang="zh-CN"/>
              <a:t>grid cells</a:t>
            </a:r>
            <a:r>
              <a:rPr lang="zh-CN" altLang="en-US"/>
              <a:t>）</a:t>
            </a:r>
            <a:r>
              <a:rPr lang="en-US" altLang="zh-CN"/>
              <a:t>                            </a:t>
            </a:r>
            <a:endParaRPr lang="en-US" altLang="zh-CN"/>
          </a:p>
        </p:txBody>
      </p:sp>
      <p:pic>
        <p:nvPicPr>
          <p:cNvPr id="7" name="Picture 6"/>
          <p:cNvPicPr>
            <a:picLocks noChangeAspect="1"/>
          </p:cNvPicPr>
          <p:nvPr>
            <p:custDataLst>
              <p:tags r:id="rId1"/>
            </p:custDataLst>
          </p:nvPr>
        </p:nvPicPr>
        <p:blipFill>
          <a:blip r:embed="rId2"/>
          <a:stretch>
            <a:fillRect/>
          </a:stretch>
        </p:blipFill>
        <p:spPr>
          <a:xfrm>
            <a:off x="564515" y="2484755"/>
            <a:ext cx="10091420" cy="4272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312420" y="227965"/>
            <a:ext cx="2125980" cy="521970"/>
          </a:xfrm>
          <a:prstGeom prst="rect">
            <a:avLst/>
          </a:prstGeom>
          <a:noFill/>
        </p:spPr>
        <p:txBody>
          <a:bodyPr wrap="square" rtlCol="0">
            <a:spAutoFit/>
          </a:bodyPr>
          <a:p>
            <a:r>
              <a:rPr lang="zh-CN" altLang="en-US" sz="2800"/>
              <a:t>建模：</a:t>
            </a:r>
            <a:endParaRPr lang="zh-CN" altLang="en-US" sz="2800"/>
          </a:p>
        </p:txBody>
      </p:sp>
      <p:pic>
        <p:nvPicPr>
          <p:cNvPr id="5" name="Picture 4"/>
          <p:cNvPicPr>
            <a:picLocks noChangeAspect="1"/>
          </p:cNvPicPr>
          <p:nvPr>
            <p:custDataLst>
              <p:tags r:id="rId1"/>
            </p:custDataLst>
          </p:nvPr>
        </p:nvPicPr>
        <p:blipFill>
          <a:blip r:embed="rId2"/>
          <a:stretch>
            <a:fillRect/>
          </a:stretch>
        </p:blipFill>
        <p:spPr>
          <a:xfrm>
            <a:off x="5599430" y="3205480"/>
            <a:ext cx="6592570" cy="3652520"/>
          </a:xfrm>
          <a:prstGeom prst="rect">
            <a:avLst/>
          </a:prstGeom>
        </p:spPr>
      </p:pic>
      <p:pic>
        <p:nvPicPr>
          <p:cNvPr id="6" name="Picture 5"/>
          <p:cNvPicPr>
            <a:picLocks noChangeAspect="1"/>
          </p:cNvPicPr>
          <p:nvPr>
            <p:custDataLst>
              <p:tags r:id="rId3"/>
            </p:custDataLst>
          </p:nvPr>
        </p:nvPicPr>
        <p:blipFill>
          <a:blip r:embed="rId4"/>
          <a:stretch>
            <a:fillRect/>
          </a:stretch>
        </p:blipFill>
        <p:spPr>
          <a:xfrm>
            <a:off x="312420" y="749935"/>
            <a:ext cx="3331210" cy="3331210"/>
          </a:xfrm>
          <a:prstGeom prst="rect">
            <a:avLst/>
          </a:prstGeom>
        </p:spPr>
      </p:pic>
      <p:sp>
        <p:nvSpPr>
          <p:cNvPr id="7" name="Text Box 6"/>
          <p:cNvSpPr txBox="1"/>
          <p:nvPr/>
        </p:nvSpPr>
        <p:spPr>
          <a:xfrm>
            <a:off x="451485" y="4262120"/>
            <a:ext cx="2632075" cy="368300"/>
          </a:xfrm>
          <a:prstGeom prst="rect">
            <a:avLst/>
          </a:prstGeom>
          <a:noFill/>
        </p:spPr>
        <p:txBody>
          <a:bodyPr wrap="square" rtlCol="0">
            <a:spAutoFit/>
          </a:bodyPr>
          <a:p>
            <a:r>
              <a:rPr lang="en-US"/>
              <a:t>Voronoi Diagram</a:t>
            </a:r>
            <a:endParaRPr lang="en-US"/>
          </a:p>
        </p:txBody>
      </p:sp>
      <p:sp>
        <p:nvSpPr>
          <p:cNvPr id="8" name="Text Box 7"/>
          <p:cNvSpPr txBox="1"/>
          <p:nvPr/>
        </p:nvSpPr>
        <p:spPr>
          <a:xfrm>
            <a:off x="4455160" y="1061720"/>
            <a:ext cx="6907530" cy="645160"/>
          </a:xfrm>
          <a:prstGeom prst="rect">
            <a:avLst/>
          </a:prstGeom>
          <a:noFill/>
        </p:spPr>
        <p:txBody>
          <a:bodyPr wrap="square" rtlCol="0">
            <a:spAutoFit/>
          </a:bodyPr>
          <a:p>
            <a:r>
              <a:rPr lang="zh-CN" altLang="en-US"/>
              <a:t>由于周期性，我们找到一个区域来进行研究即可，称为</a:t>
            </a:r>
            <a:r>
              <a:rPr lang="en-US" altLang="zh-CN" b="1"/>
              <a:t>Fundamental domain </a:t>
            </a:r>
            <a:r>
              <a:rPr lang="zh-CN" altLang="en-US" b="1"/>
              <a:t>（</a:t>
            </a:r>
            <a:r>
              <a:rPr lang="en-US" altLang="zh-CN" b="1"/>
              <a:t>L</a:t>
            </a:r>
            <a:r>
              <a:rPr lang="zh-CN" altLang="en-US" b="1"/>
              <a:t>）</a:t>
            </a:r>
            <a:endParaRPr lang="zh-CN" altLang="en-US" b="1"/>
          </a:p>
        </p:txBody>
      </p:sp>
      <p:sp>
        <p:nvSpPr>
          <p:cNvPr id="9" name="Text Box 8"/>
          <p:cNvSpPr txBox="1"/>
          <p:nvPr/>
        </p:nvSpPr>
        <p:spPr>
          <a:xfrm>
            <a:off x="4516755" y="2025650"/>
            <a:ext cx="6412865" cy="922020"/>
          </a:xfrm>
          <a:prstGeom prst="rect">
            <a:avLst/>
          </a:prstGeom>
          <a:noFill/>
        </p:spPr>
        <p:txBody>
          <a:bodyPr wrap="square" rtlCol="0">
            <a:spAutoFit/>
          </a:bodyPr>
          <a:p>
            <a:r>
              <a:rPr lang="zh-CN" altLang="en-US"/>
              <a:t>一个</a:t>
            </a:r>
            <a:r>
              <a:rPr lang="en-US" altLang="zh-CN"/>
              <a:t>grid module</a:t>
            </a:r>
            <a:r>
              <a:rPr lang="zh-CN" altLang="en-US"/>
              <a:t>有</a:t>
            </a:r>
            <a:r>
              <a:rPr lang="en-US" altLang="zh-CN"/>
              <a:t>M</a:t>
            </a:r>
            <a:r>
              <a:rPr lang="zh-CN" altLang="en-US"/>
              <a:t>个</a:t>
            </a:r>
            <a:r>
              <a:rPr lang="en-US" altLang="zh-CN"/>
              <a:t>grid cell</a:t>
            </a:r>
            <a:r>
              <a:rPr lang="zh-CN" altLang="en-US"/>
              <a:t>，它们在</a:t>
            </a:r>
            <a:r>
              <a:rPr lang="en-US" altLang="zh-CN"/>
              <a:t>fundamental domain</a:t>
            </a:r>
            <a:r>
              <a:rPr lang="zh-CN" altLang="en-US"/>
              <a:t>里的相位的</a:t>
            </a:r>
            <a:r>
              <a:rPr lang="en-US" altLang="zh-CN"/>
              <a:t>density</a:t>
            </a:r>
            <a:r>
              <a:rPr lang="zh-CN" altLang="en-US"/>
              <a:t>由下式给出：</a:t>
            </a:r>
            <a:endParaRPr lang="zh-CN" altLang="en-US"/>
          </a:p>
          <a:p>
            <a:endParaRPr lang="zh-CN" altLang="en-US"/>
          </a:p>
        </p:txBody>
      </p:sp>
      <p:pic>
        <p:nvPicPr>
          <p:cNvPr id="10" name="Picture 9"/>
          <p:cNvPicPr>
            <a:picLocks noChangeAspect="1"/>
          </p:cNvPicPr>
          <p:nvPr>
            <p:custDataLst>
              <p:tags r:id="rId5"/>
            </p:custDataLst>
          </p:nvPr>
        </p:nvPicPr>
        <p:blipFill>
          <a:blip r:embed="rId6"/>
          <a:stretch>
            <a:fillRect/>
          </a:stretch>
        </p:blipFill>
        <p:spPr>
          <a:xfrm>
            <a:off x="4516755" y="2672080"/>
            <a:ext cx="2875280" cy="447040"/>
          </a:xfrm>
          <a:prstGeom prst="rect">
            <a:avLst/>
          </a:prstGeom>
        </p:spPr>
      </p:pic>
      <p:sp>
        <p:nvSpPr>
          <p:cNvPr id="11" name="Text Box 10"/>
          <p:cNvSpPr txBox="1"/>
          <p:nvPr/>
        </p:nvSpPr>
        <p:spPr>
          <a:xfrm>
            <a:off x="562610" y="5052695"/>
            <a:ext cx="4670425" cy="922020"/>
          </a:xfrm>
          <a:prstGeom prst="rect">
            <a:avLst/>
          </a:prstGeom>
          <a:noFill/>
        </p:spPr>
        <p:txBody>
          <a:bodyPr wrap="square" rtlCol="0">
            <a:noAutofit/>
          </a:bodyPr>
          <a:p>
            <a:r>
              <a:rPr lang="en-US" sz="2000"/>
              <a:t>grid module</a:t>
            </a:r>
            <a:r>
              <a:rPr lang="zh-CN" altLang="en-US" sz="2000"/>
              <a:t>的特征由三个量唯一确定：</a:t>
            </a:r>
            <a:endParaRPr lang="zh-CN" altLang="en-US" sz="2000"/>
          </a:p>
          <a:p>
            <a:r>
              <a:rPr lang="zh-CN" altLang="en-US" sz="2000"/>
              <a:t>Ω; ρ; L</a:t>
            </a:r>
            <a:endParaRPr lang="zh-CN"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312420" y="227965"/>
            <a:ext cx="2125980" cy="521970"/>
          </a:xfrm>
          <a:prstGeom prst="rect">
            <a:avLst/>
          </a:prstGeom>
          <a:noFill/>
        </p:spPr>
        <p:txBody>
          <a:bodyPr wrap="square" rtlCol="0">
            <a:spAutoFit/>
          </a:bodyPr>
          <a:p>
            <a:r>
              <a:rPr lang="zh-CN" altLang="en-US" sz="2800"/>
              <a:t>建模：</a:t>
            </a:r>
            <a:endParaRPr lang="zh-CN" altLang="en-US" sz="2800"/>
          </a:p>
        </p:txBody>
      </p:sp>
      <p:pic>
        <p:nvPicPr>
          <p:cNvPr id="6" name="Picture 5"/>
          <p:cNvPicPr>
            <a:picLocks noChangeAspect="1"/>
          </p:cNvPicPr>
          <p:nvPr>
            <p:custDataLst>
              <p:tags r:id="rId1"/>
            </p:custDataLst>
          </p:nvPr>
        </p:nvPicPr>
        <p:blipFill>
          <a:blip r:embed="rId2"/>
          <a:stretch>
            <a:fillRect/>
          </a:stretch>
        </p:blipFill>
        <p:spPr>
          <a:xfrm>
            <a:off x="384175" y="749935"/>
            <a:ext cx="6858000" cy="1143000"/>
          </a:xfrm>
          <a:prstGeom prst="rect">
            <a:avLst/>
          </a:prstGeom>
        </p:spPr>
      </p:pic>
      <p:sp>
        <p:nvSpPr>
          <p:cNvPr id="7" name="Text Box 6"/>
          <p:cNvSpPr txBox="1"/>
          <p:nvPr/>
        </p:nvSpPr>
        <p:spPr>
          <a:xfrm>
            <a:off x="817245" y="2005330"/>
            <a:ext cx="4852035" cy="645160"/>
          </a:xfrm>
          <a:prstGeom prst="rect">
            <a:avLst/>
          </a:prstGeom>
          <a:noFill/>
        </p:spPr>
        <p:txBody>
          <a:bodyPr wrap="square" rtlCol="0">
            <a:spAutoFit/>
          </a:bodyPr>
          <a:p>
            <a:r>
              <a:rPr lang="en-US"/>
              <a:t>τ</a:t>
            </a:r>
            <a:r>
              <a:rPr lang="zh-CN" altLang="en-US"/>
              <a:t>：</a:t>
            </a:r>
            <a:r>
              <a:rPr lang="en-US" altLang="zh-CN"/>
              <a:t>a fixed time window</a:t>
            </a:r>
            <a:endParaRPr lang="en-US" altLang="zh-CN"/>
          </a:p>
          <a:p>
            <a:r>
              <a:rPr lang="en-US" altLang="zh-CN"/>
              <a:t>ki:</a:t>
            </a:r>
            <a:r>
              <a:rPr lang="zh-CN" altLang="en-US"/>
              <a:t>第</a:t>
            </a:r>
            <a:r>
              <a:rPr lang="en-US" altLang="zh-CN"/>
              <a:t>i</a:t>
            </a:r>
            <a:r>
              <a:rPr lang="zh-CN" altLang="en-US"/>
              <a:t>个神经元在这个时间段内发放</a:t>
            </a:r>
            <a:r>
              <a:rPr lang="en-US" altLang="zh-CN"/>
              <a:t>spike</a:t>
            </a:r>
            <a:r>
              <a:rPr lang="zh-CN" altLang="en-US"/>
              <a:t>数量</a:t>
            </a:r>
            <a:endParaRPr lang="zh-CN" altLang="en-US"/>
          </a:p>
        </p:txBody>
      </p:sp>
      <p:sp>
        <p:nvSpPr>
          <p:cNvPr id="8" name="Text Box 7"/>
          <p:cNvSpPr txBox="1"/>
          <p:nvPr/>
        </p:nvSpPr>
        <p:spPr>
          <a:xfrm>
            <a:off x="840740" y="3002280"/>
            <a:ext cx="7470140" cy="1476375"/>
          </a:xfrm>
          <a:prstGeom prst="rect">
            <a:avLst/>
          </a:prstGeom>
          <a:noFill/>
        </p:spPr>
        <p:txBody>
          <a:bodyPr wrap="square" rtlCol="0">
            <a:spAutoFit/>
          </a:bodyPr>
          <a:p>
            <a:r>
              <a:rPr lang="zh-CN" altLang="en-US"/>
              <a:t>而我们需要做的就是</a:t>
            </a:r>
            <a:r>
              <a:rPr lang="en-US" altLang="zh-CN"/>
              <a:t>decode</a:t>
            </a:r>
            <a:r>
              <a:rPr lang="zh-CN" altLang="en-US"/>
              <a:t>：</a:t>
            </a:r>
            <a:endParaRPr lang="zh-CN" altLang="en-US"/>
          </a:p>
          <a:p>
            <a:endParaRPr lang="zh-CN" altLang="en-US"/>
          </a:p>
          <a:p>
            <a:r>
              <a:rPr lang="zh-CN" altLang="en-US"/>
              <a:t>根据一组</a:t>
            </a:r>
            <a:r>
              <a:rPr lang="en-US" altLang="zh-CN"/>
              <a:t>spike count K=(k1,k2,...kN),</a:t>
            </a:r>
            <a:r>
              <a:rPr lang="zh-CN" altLang="en-US"/>
              <a:t>要推测出所在位置</a:t>
            </a:r>
            <a:r>
              <a:rPr lang="en-US" altLang="zh-CN"/>
              <a:t>x</a:t>
            </a:r>
            <a:endParaRPr lang="en-US" altLang="zh-CN"/>
          </a:p>
          <a:p>
            <a:endParaRPr lang="en-US" altLang="zh-CN"/>
          </a:p>
          <a:p>
            <a:r>
              <a:rPr lang="en-US" altLang="zh-CN"/>
              <a:t>decode</a:t>
            </a:r>
            <a:r>
              <a:rPr lang="zh-CN" altLang="en-US"/>
              <a:t>的精确度如何衡量？</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312420" y="227965"/>
            <a:ext cx="2125980" cy="521970"/>
          </a:xfrm>
          <a:prstGeom prst="rect">
            <a:avLst/>
          </a:prstGeom>
          <a:noFill/>
        </p:spPr>
        <p:txBody>
          <a:bodyPr wrap="square" rtlCol="0">
            <a:spAutoFit/>
          </a:bodyPr>
          <a:p>
            <a:r>
              <a:rPr lang="zh-CN" altLang="en-US" sz="2800"/>
              <a:t>建模：</a:t>
            </a:r>
            <a:endParaRPr lang="zh-CN" altLang="en-US" sz="2800"/>
          </a:p>
        </p:txBody>
      </p:sp>
      <p:pic>
        <p:nvPicPr>
          <p:cNvPr id="5" name="Picture 4"/>
          <p:cNvPicPr>
            <a:picLocks noChangeAspect="1"/>
          </p:cNvPicPr>
          <p:nvPr>
            <p:custDataLst>
              <p:tags r:id="rId1"/>
            </p:custDataLst>
          </p:nvPr>
        </p:nvPicPr>
        <p:blipFill>
          <a:blip r:embed="rId2"/>
          <a:stretch>
            <a:fillRect/>
          </a:stretch>
        </p:blipFill>
        <p:spPr>
          <a:xfrm>
            <a:off x="763270" y="972820"/>
            <a:ext cx="5333365" cy="753745"/>
          </a:xfrm>
          <a:prstGeom prst="rect">
            <a:avLst/>
          </a:prstGeom>
        </p:spPr>
      </p:pic>
      <p:sp>
        <p:nvSpPr>
          <p:cNvPr id="6" name="Text Box 5"/>
          <p:cNvSpPr txBox="1"/>
          <p:nvPr/>
        </p:nvSpPr>
        <p:spPr>
          <a:xfrm>
            <a:off x="973455" y="2005330"/>
            <a:ext cx="4996180" cy="368300"/>
          </a:xfrm>
          <a:prstGeom prst="rect">
            <a:avLst/>
          </a:prstGeom>
          <a:noFill/>
        </p:spPr>
        <p:txBody>
          <a:bodyPr wrap="square" rtlCol="0">
            <a:spAutoFit/>
          </a:bodyPr>
          <a:p>
            <a:r>
              <a:rPr lang="en-US"/>
              <a:t>x</a:t>
            </a:r>
            <a:r>
              <a:rPr lang="zh-CN" altLang="en-US"/>
              <a:t>为实际位置，</a:t>
            </a:r>
            <a:r>
              <a:rPr lang="en-US" altLang="zh-CN"/>
              <a:t>x</a:t>
            </a:r>
            <a:r>
              <a:rPr lang="zh-CN" altLang="en-US"/>
              <a:t>（</a:t>
            </a:r>
            <a:r>
              <a:rPr lang="en-US" altLang="zh-CN"/>
              <a:t>K</a:t>
            </a:r>
            <a:r>
              <a:rPr lang="zh-CN" altLang="en-US"/>
              <a:t>）为</a:t>
            </a:r>
            <a:r>
              <a:rPr lang="en-US" altLang="zh-CN"/>
              <a:t>decoder</a:t>
            </a:r>
            <a:r>
              <a:rPr lang="zh-CN" altLang="en-US"/>
              <a:t>解出的位置</a:t>
            </a:r>
            <a:endParaRPr lang="zh-CN" altLang="en-US"/>
          </a:p>
        </p:txBody>
      </p:sp>
      <p:sp>
        <p:nvSpPr>
          <p:cNvPr id="7" name="Text Box 6"/>
          <p:cNvSpPr txBox="1"/>
          <p:nvPr/>
        </p:nvSpPr>
        <p:spPr>
          <a:xfrm>
            <a:off x="1045210" y="2809875"/>
            <a:ext cx="5511800" cy="1198880"/>
          </a:xfrm>
          <a:prstGeom prst="rect">
            <a:avLst/>
          </a:prstGeom>
          <a:noFill/>
        </p:spPr>
        <p:txBody>
          <a:bodyPr wrap="square" rtlCol="0">
            <a:spAutoFit/>
          </a:bodyPr>
          <a:p>
            <a:r>
              <a:rPr lang="zh-CN" altLang="en-US"/>
              <a:t>这需要用到</a:t>
            </a:r>
            <a:r>
              <a:rPr lang="en-US" altLang="zh-CN"/>
              <a:t>Fisher Information</a:t>
            </a:r>
            <a:endParaRPr lang="en-US" altLang="zh-CN"/>
          </a:p>
          <a:p>
            <a:endParaRPr lang="en-US" altLang="zh-CN"/>
          </a:p>
          <a:p>
            <a:r>
              <a:rPr lang="en-US" altLang="zh-CN"/>
              <a:t>FI </a:t>
            </a:r>
            <a:r>
              <a:rPr lang="zh-CN" altLang="en-US"/>
              <a:t>计算出来越大，则表明ε下界越小，和真实值的误差就越小，分辨率就越高</a:t>
            </a:r>
            <a:endParaRPr lang="zh-CN" altLang="en-US"/>
          </a:p>
        </p:txBody>
      </p:sp>
      <p:pic>
        <p:nvPicPr>
          <p:cNvPr id="8" name="Picture 7"/>
          <p:cNvPicPr>
            <a:picLocks noChangeAspect="1"/>
          </p:cNvPicPr>
          <p:nvPr>
            <p:custDataLst>
              <p:tags r:id="rId3"/>
            </p:custDataLst>
          </p:nvPr>
        </p:nvPicPr>
        <p:blipFill>
          <a:blip r:embed="rId4"/>
          <a:stretch>
            <a:fillRect/>
          </a:stretch>
        </p:blipFill>
        <p:spPr>
          <a:xfrm>
            <a:off x="6557010" y="1210310"/>
            <a:ext cx="5523230" cy="3344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4" name="Picture 3"/>
          <p:cNvPicPr>
            <a:picLocks noChangeAspect="1"/>
          </p:cNvPicPr>
          <p:nvPr>
            <p:custDataLst>
              <p:tags r:id="rId1"/>
            </p:custDataLst>
          </p:nvPr>
        </p:nvPicPr>
        <p:blipFill>
          <a:blip r:embed="rId2"/>
          <a:stretch>
            <a:fillRect/>
          </a:stretch>
        </p:blipFill>
        <p:spPr>
          <a:xfrm>
            <a:off x="1179195" y="1421130"/>
            <a:ext cx="8801100" cy="1181100"/>
          </a:xfrm>
          <a:prstGeom prst="rect">
            <a:avLst/>
          </a:prstGeom>
        </p:spPr>
      </p:pic>
      <p:sp>
        <p:nvSpPr>
          <p:cNvPr id="5" name="Text Box 4"/>
          <p:cNvSpPr txBox="1"/>
          <p:nvPr/>
        </p:nvSpPr>
        <p:spPr>
          <a:xfrm>
            <a:off x="1633855" y="2906395"/>
            <a:ext cx="6834505" cy="824865"/>
          </a:xfrm>
          <a:prstGeom prst="rect">
            <a:avLst/>
          </a:prstGeom>
          <a:noFill/>
        </p:spPr>
        <p:txBody>
          <a:bodyPr wrap="square" rtlCol="0">
            <a:noAutofit/>
          </a:bodyPr>
          <a:p>
            <a:r>
              <a:rPr lang="zh-CN" altLang="en-US" sz="2400"/>
              <a:t>通过贝叶斯公式，可知我们的</a:t>
            </a:r>
            <a:r>
              <a:rPr lang="en-US" altLang="zh-CN" sz="2400"/>
              <a:t>decoder</a:t>
            </a:r>
            <a:r>
              <a:rPr lang="zh-CN" altLang="en-US" sz="2400"/>
              <a:t>无法判断具体位置</a:t>
            </a:r>
            <a:r>
              <a:rPr lang="en-US" altLang="zh-CN" sz="2400"/>
              <a:t>x</a:t>
            </a:r>
            <a:r>
              <a:rPr lang="zh-CN" altLang="en-US" sz="2400"/>
              <a:t>是周期单元中的哪一个。</a:t>
            </a:r>
            <a:endParaRPr lang="zh-CN" altLang="en-US" sz="2400"/>
          </a:p>
        </p:txBody>
      </p:sp>
      <p:sp>
        <p:nvSpPr>
          <p:cNvPr id="6" name="Text Box 5"/>
          <p:cNvSpPr txBox="1"/>
          <p:nvPr/>
        </p:nvSpPr>
        <p:spPr>
          <a:xfrm>
            <a:off x="1633855" y="4215130"/>
            <a:ext cx="7037705" cy="368300"/>
          </a:xfrm>
          <a:prstGeom prst="rect">
            <a:avLst/>
          </a:prstGeom>
          <a:noFill/>
        </p:spPr>
        <p:txBody>
          <a:bodyPr wrap="square" rtlCol="0">
            <a:spAutoFit/>
          </a:bodyPr>
          <a:p>
            <a:r>
              <a:rPr lang="zh-CN" altLang="en-US"/>
              <a:t>因此我们需要</a:t>
            </a:r>
            <a:r>
              <a:rPr lang="en-US" altLang="zh-CN"/>
              <a:t>grid cells</a:t>
            </a:r>
            <a:r>
              <a:rPr lang="zh-CN" altLang="en-US"/>
              <a:t>对应的晶格呈现</a:t>
            </a:r>
            <a:r>
              <a:rPr lang="en-US" altLang="zh-CN"/>
              <a:t>multiple</a:t>
            </a:r>
            <a:r>
              <a:rPr lang="zh-CN" altLang="en-US"/>
              <a:t>、</a:t>
            </a:r>
            <a:r>
              <a:rPr lang="en-US" altLang="zh-CN"/>
              <a:t>nested scales</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685165" y="804545"/>
            <a:ext cx="10941050" cy="1753235"/>
          </a:xfrm>
          <a:prstGeom prst="rect">
            <a:avLst/>
          </a:prstGeom>
          <a:noFill/>
        </p:spPr>
        <p:txBody>
          <a:bodyPr wrap="square" rtlCol="0">
            <a:spAutoFit/>
          </a:bodyPr>
          <a:p>
            <a:r>
              <a:rPr lang="zh-CN" altLang="en-US"/>
              <a:t>设基础区域（</a:t>
            </a:r>
            <a:r>
              <a:rPr lang="en-US" altLang="zh-CN"/>
              <a:t>fundamental domain</a:t>
            </a:r>
            <a:r>
              <a:rPr lang="zh-CN" altLang="en-US"/>
              <a:t>）</a:t>
            </a:r>
            <a:r>
              <a:rPr lang="en-US" altLang="zh-CN"/>
              <a:t>L</a:t>
            </a:r>
            <a:r>
              <a:rPr lang="zh-CN" altLang="en-US"/>
              <a:t>的宽度放大了λ倍，</a:t>
            </a:r>
            <a:endParaRPr lang="zh-CN" altLang="en-US"/>
          </a:p>
          <a:p>
            <a:endParaRPr lang="zh-CN" altLang="en-US"/>
          </a:p>
          <a:p>
            <a:r>
              <a:rPr lang="zh-CN" altLang="en-US"/>
              <a:t>容易想象，越小，对空间的表征越好</a:t>
            </a:r>
            <a:endParaRPr lang="zh-CN" altLang="en-US"/>
          </a:p>
          <a:p>
            <a:endParaRPr lang="zh-CN" altLang="en-US"/>
          </a:p>
          <a:p>
            <a:r>
              <a:rPr lang="zh-CN" altLang="en-US"/>
              <a:t>验证：</a:t>
            </a:r>
            <a:endParaRPr lang="zh-CN" altLang="en-US"/>
          </a:p>
          <a:p>
            <a:r>
              <a:rPr lang="zh-CN" altLang="en-US"/>
              <a:t>放大λ倍后</a:t>
            </a:r>
            <a:endParaRPr lang="zh-CN" altLang="en-US"/>
          </a:p>
        </p:txBody>
      </p:sp>
      <p:sp>
        <p:nvSpPr>
          <p:cNvPr id="5" name="Text Box 4"/>
          <p:cNvSpPr txBox="1"/>
          <p:nvPr/>
        </p:nvSpPr>
        <p:spPr>
          <a:xfrm>
            <a:off x="805180" y="2774315"/>
            <a:ext cx="8141970" cy="922020"/>
          </a:xfrm>
          <a:prstGeom prst="rect">
            <a:avLst/>
          </a:prstGeom>
          <a:noFill/>
        </p:spPr>
        <p:txBody>
          <a:bodyPr wrap="square" rtlCol="0">
            <a:spAutoFit/>
          </a:bodyPr>
          <a:p>
            <a:r>
              <a:rPr lang="en-US"/>
              <a:t>ς = (Ω,ρ,L)----------&gt;λς := ( Ω(λr), ρ(λx), λ · L)</a:t>
            </a:r>
            <a:endParaRPr lang="en-US"/>
          </a:p>
          <a:p>
            <a:endParaRPr lang="en-US"/>
          </a:p>
          <a:p>
            <a:endParaRPr lang="en-US"/>
          </a:p>
        </p:txBody>
      </p:sp>
      <p:pic>
        <p:nvPicPr>
          <p:cNvPr id="6" name="Picture 5"/>
          <p:cNvPicPr>
            <a:picLocks noChangeAspect="1"/>
          </p:cNvPicPr>
          <p:nvPr>
            <p:custDataLst>
              <p:tags r:id="rId1"/>
            </p:custDataLst>
          </p:nvPr>
        </p:nvPicPr>
        <p:blipFill>
          <a:blip r:embed="rId2"/>
          <a:stretch>
            <a:fillRect/>
          </a:stretch>
        </p:blipFill>
        <p:spPr>
          <a:xfrm>
            <a:off x="805180" y="3385820"/>
            <a:ext cx="3338830" cy="522605"/>
          </a:xfrm>
          <a:prstGeom prst="rect">
            <a:avLst/>
          </a:prstGeom>
        </p:spPr>
      </p:pic>
      <p:pic>
        <p:nvPicPr>
          <p:cNvPr id="7" name="Picture 6"/>
          <p:cNvPicPr>
            <a:picLocks noChangeAspect="1"/>
          </p:cNvPicPr>
          <p:nvPr>
            <p:custDataLst>
              <p:tags r:id="rId3"/>
            </p:custDataLst>
          </p:nvPr>
        </p:nvPicPr>
        <p:blipFill>
          <a:blip r:embed="rId4"/>
          <a:stretch>
            <a:fillRect/>
          </a:stretch>
        </p:blipFill>
        <p:spPr>
          <a:xfrm>
            <a:off x="7433310" y="2168525"/>
            <a:ext cx="4610100" cy="1851025"/>
          </a:xfrm>
          <a:prstGeom prst="rect">
            <a:avLst/>
          </a:prstGeom>
        </p:spPr>
      </p:pic>
      <p:pic>
        <p:nvPicPr>
          <p:cNvPr id="8" name="Picture 7"/>
          <p:cNvPicPr>
            <a:picLocks noChangeAspect="1"/>
          </p:cNvPicPr>
          <p:nvPr>
            <p:custDataLst>
              <p:tags r:id="rId5"/>
            </p:custDataLst>
          </p:nvPr>
        </p:nvPicPr>
        <p:blipFill>
          <a:blip r:embed="rId4"/>
          <a:stretch>
            <a:fillRect/>
          </a:stretch>
        </p:blipFill>
        <p:spPr>
          <a:xfrm>
            <a:off x="5382260" y="2266315"/>
            <a:ext cx="2738755" cy="1753235"/>
          </a:xfrm>
          <a:prstGeom prst="rect">
            <a:avLst/>
          </a:prstGeom>
        </p:spPr>
      </p:pic>
      <p:sp>
        <p:nvSpPr>
          <p:cNvPr id="10" name="Text Box 9"/>
          <p:cNvSpPr txBox="1"/>
          <p:nvPr/>
        </p:nvSpPr>
        <p:spPr>
          <a:xfrm>
            <a:off x="11449050" y="3540125"/>
            <a:ext cx="494030" cy="368300"/>
          </a:xfrm>
          <a:prstGeom prst="rect">
            <a:avLst/>
          </a:prstGeom>
          <a:noFill/>
        </p:spPr>
        <p:txBody>
          <a:bodyPr wrap="square" rtlCol="0">
            <a:spAutoFit/>
          </a:bodyPr>
          <a:p>
            <a:r>
              <a:rPr lang="en-US">
                <a:sym typeface="+mn-ea"/>
              </a:rPr>
              <a:t>λ</a:t>
            </a:r>
            <a:endParaRPr lang="en-US"/>
          </a:p>
        </p:txBody>
      </p:sp>
      <p:sp>
        <p:nvSpPr>
          <p:cNvPr id="11" name="Text Box 10"/>
          <p:cNvSpPr txBox="1"/>
          <p:nvPr/>
        </p:nvSpPr>
        <p:spPr>
          <a:xfrm>
            <a:off x="834390" y="4361180"/>
            <a:ext cx="4979035" cy="645160"/>
          </a:xfrm>
          <a:prstGeom prst="rect">
            <a:avLst/>
          </a:prstGeom>
          <a:noFill/>
        </p:spPr>
        <p:txBody>
          <a:bodyPr wrap="square" rtlCol="0">
            <a:spAutoFit/>
          </a:bodyPr>
          <a:p>
            <a:r>
              <a:rPr lang="zh-CN" altLang="en-US"/>
              <a:t>计算</a:t>
            </a:r>
            <a:r>
              <a:rPr lang="en-US" altLang="zh-CN"/>
              <a:t>FI</a:t>
            </a:r>
            <a:r>
              <a:rPr lang="zh-CN" altLang="en-US"/>
              <a:t>后得到为原来的</a:t>
            </a:r>
            <a:r>
              <a:rPr lang="en-US" altLang="zh-CN"/>
              <a:t>1/</a:t>
            </a:r>
            <a:r>
              <a:rPr lang="en-US">
                <a:sym typeface="+mn-ea"/>
              </a:rPr>
              <a:t>λ^2</a:t>
            </a:r>
            <a:r>
              <a:rPr lang="zh-CN" altLang="en-US">
                <a:sym typeface="+mn-ea"/>
              </a:rPr>
              <a:t>，也即若</a:t>
            </a:r>
            <a:r>
              <a:rPr lang="en-US">
                <a:sym typeface="+mn-ea"/>
              </a:rPr>
              <a:t>λ</a:t>
            </a:r>
            <a:r>
              <a:rPr lang="zh-CN" altLang="en-US">
                <a:sym typeface="+mn-ea"/>
              </a:rPr>
              <a:t>大于</a:t>
            </a:r>
            <a:r>
              <a:rPr lang="en-US" altLang="zh-CN">
                <a:sym typeface="+mn-ea"/>
              </a:rPr>
              <a:t>1</a:t>
            </a:r>
            <a:r>
              <a:rPr lang="zh-CN" altLang="en-US">
                <a:sym typeface="+mn-ea"/>
              </a:rPr>
              <a:t>则</a:t>
            </a:r>
            <a:r>
              <a:rPr lang="zh-CN" altLang="en-US">
                <a:sym typeface="+mn-ea"/>
              </a:rPr>
              <a:t>分辨率下降</a:t>
            </a:r>
            <a:endParaRPr lang="zh-CN" altLang="en-US">
              <a:sym typeface="+mn-ea"/>
            </a:endParaRPr>
          </a:p>
        </p:txBody>
      </p:sp>
      <p:sp>
        <p:nvSpPr>
          <p:cNvPr id="12" name="Text Box 11"/>
          <p:cNvSpPr txBox="1"/>
          <p:nvPr/>
        </p:nvSpPr>
        <p:spPr>
          <a:xfrm>
            <a:off x="883920" y="5040630"/>
            <a:ext cx="6549390" cy="645160"/>
          </a:xfrm>
          <a:prstGeom prst="rect">
            <a:avLst/>
          </a:prstGeom>
          <a:noFill/>
        </p:spPr>
        <p:txBody>
          <a:bodyPr wrap="square" rtlCol="0">
            <a:spAutoFit/>
          </a:bodyPr>
          <a:p>
            <a:r>
              <a:rPr lang="zh-CN" altLang="en-US"/>
              <a:t>但是当</a:t>
            </a:r>
            <a:r>
              <a:rPr lang="en-US">
                <a:sym typeface="+mn-ea"/>
              </a:rPr>
              <a:t>λ</a:t>
            </a:r>
            <a:r>
              <a:rPr lang="en-US">
                <a:latin typeface="Arial" panose="020B0604020202090204" pitchFamily="34" charset="0"/>
                <a:cs typeface="Arial" panose="020B0604020202090204" pitchFamily="34" charset="0"/>
                <a:sym typeface="+mn-ea"/>
              </a:rPr>
              <a:t>→</a:t>
            </a:r>
            <a:r>
              <a:rPr lang="en-US">
                <a:sym typeface="+mn-ea"/>
              </a:rPr>
              <a:t>0, </a:t>
            </a:r>
            <a:r>
              <a:rPr lang="zh-CN" altLang="en-US">
                <a:sym typeface="+mn-ea"/>
              </a:rPr>
              <a:t>一个</a:t>
            </a:r>
            <a:r>
              <a:rPr lang="en-US">
                <a:sym typeface="+mn-ea"/>
              </a:rPr>
              <a:t>grid cell</a:t>
            </a:r>
            <a:r>
              <a:rPr lang="zh-CN" altLang="en-US">
                <a:sym typeface="+mn-ea"/>
              </a:rPr>
              <a:t>对应的空间位置几乎遍布了空间的全集，此时分辨率几乎没有。（</a:t>
            </a:r>
            <a:r>
              <a:rPr lang="en-US" altLang="zh-CN">
                <a:sym typeface="+mn-ea"/>
              </a:rPr>
              <a:t>Q:</a:t>
            </a:r>
            <a:r>
              <a:rPr lang="zh-CN" altLang="en-US">
                <a:sym typeface="+mn-ea"/>
              </a:rPr>
              <a:t>此时为什么和</a:t>
            </a:r>
            <a:r>
              <a:rPr lang="en-US" altLang="zh-CN">
                <a:sym typeface="+mn-ea"/>
              </a:rPr>
              <a:t>FI</a:t>
            </a:r>
            <a:r>
              <a:rPr lang="zh-CN" altLang="en-US">
                <a:sym typeface="+mn-ea"/>
              </a:rPr>
              <a:t>相悖？）</a:t>
            </a:r>
            <a:endParaRPr lang="zh-CN" altLang="en-US">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4" name="Text Box 3"/>
          <p:cNvSpPr txBox="1"/>
          <p:nvPr/>
        </p:nvSpPr>
        <p:spPr>
          <a:xfrm>
            <a:off x="744855" y="384175"/>
            <a:ext cx="5884545" cy="491490"/>
          </a:xfrm>
          <a:prstGeom prst="rect">
            <a:avLst/>
          </a:prstGeom>
          <a:noFill/>
        </p:spPr>
        <p:txBody>
          <a:bodyPr wrap="square" rtlCol="0">
            <a:noAutofit/>
          </a:bodyPr>
          <a:p>
            <a:r>
              <a:rPr lang="zh-CN" altLang="en-US"/>
              <a:t>在后面的计算中，我们固定住</a:t>
            </a:r>
            <a:r>
              <a:rPr lang="zh-CN" altLang="en-US">
                <a:sym typeface="+mn-ea"/>
              </a:rPr>
              <a:t>Ω; ρ;</a:t>
            </a:r>
            <a:r>
              <a:rPr lang="en-US" altLang="zh-CN">
                <a:sym typeface="+mn-ea"/>
              </a:rPr>
              <a:t> </a:t>
            </a:r>
            <a:r>
              <a:rPr lang="zh-CN" altLang="en-US">
                <a:sym typeface="+mn-ea"/>
              </a:rPr>
              <a:t>基础区域的宽度</a:t>
            </a:r>
            <a:endParaRPr lang="zh-CN" altLang="en-US">
              <a:sym typeface="+mn-ea"/>
            </a:endParaRPr>
          </a:p>
        </p:txBody>
      </p:sp>
      <p:sp>
        <p:nvSpPr>
          <p:cNvPr id="10" name="Text Box 9"/>
          <p:cNvSpPr txBox="1"/>
          <p:nvPr/>
        </p:nvSpPr>
        <p:spPr>
          <a:xfrm>
            <a:off x="1321435" y="1801495"/>
            <a:ext cx="3423285" cy="368300"/>
          </a:xfrm>
          <a:prstGeom prst="rect">
            <a:avLst/>
          </a:prstGeom>
          <a:noFill/>
        </p:spPr>
        <p:txBody>
          <a:bodyPr wrap="square" rtlCol="0">
            <a:spAutoFit/>
          </a:bodyPr>
          <a:p>
            <a:r>
              <a:rPr lang="zh-CN" altLang="en-US"/>
              <a:t>通过一些对</a:t>
            </a:r>
            <a:r>
              <a:rPr lang="en-US" altLang="zh-CN"/>
              <a:t>FI</a:t>
            </a:r>
            <a:r>
              <a:rPr lang="zh-CN" altLang="en-US"/>
              <a:t>的计算，我们得到</a:t>
            </a:r>
            <a:endParaRPr lang="zh-CN" altLang="en-US"/>
          </a:p>
        </p:txBody>
      </p:sp>
      <p:pic>
        <p:nvPicPr>
          <p:cNvPr id="11" name="Picture 10"/>
          <p:cNvPicPr>
            <a:picLocks noChangeAspect="1"/>
          </p:cNvPicPr>
          <p:nvPr>
            <p:custDataLst>
              <p:tags r:id="rId1"/>
            </p:custDataLst>
          </p:nvPr>
        </p:nvPicPr>
        <p:blipFill>
          <a:blip r:embed="rId2"/>
          <a:stretch>
            <a:fillRect/>
          </a:stretch>
        </p:blipFill>
        <p:spPr>
          <a:xfrm>
            <a:off x="7315835" y="1497330"/>
            <a:ext cx="3188970" cy="2041525"/>
          </a:xfrm>
          <a:prstGeom prst="rect">
            <a:avLst/>
          </a:prstGeom>
        </p:spPr>
      </p:pic>
      <p:pic>
        <p:nvPicPr>
          <p:cNvPr id="12" name="Picture 11"/>
          <p:cNvPicPr>
            <a:picLocks noChangeAspect="1"/>
          </p:cNvPicPr>
          <p:nvPr>
            <p:custDataLst>
              <p:tags r:id="rId3"/>
            </p:custDataLst>
          </p:nvPr>
        </p:nvPicPr>
        <p:blipFill>
          <a:blip r:embed="rId4"/>
          <a:stretch>
            <a:fillRect/>
          </a:stretch>
        </p:blipFill>
        <p:spPr>
          <a:xfrm>
            <a:off x="1321435" y="2386965"/>
            <a:ext cx="5119370" cy="1231265"/>
          </a:xfrm>
          <a:prstGeom prst="rect">
            <a:avLst/>
          </a:prstGeom>
        </p:spPr>
      </p:pic>
      <p:sp>
        <p:nvSpPr>
          <p:cNvPr id="13" name="Text Box 12"/>
          <p:cNvSpPr txBox="1"/>
          <p:nvPr/>
        </p:nvSpPr>
        <p:spPr>
          <a:xfrm>
            <a:off x="1201420" y="3806825"/>
            <a:ext cx="5327015" cy="922020"/>
          </a:xfrm>
          <a:prstGeom prst="rect">
            <a:avLst/>
          </a:prstGeom>
          <a:noFill/>
        </p:spPr>
        <p:txBody>
          <a:bodyPr wrap="square" rtlCol="0">
            <a:spAutoFit/>
          </a:bodyPr>
          <a:p>
            <a:r>
              <a:rPr lang="zh-CN" altLang="en-US"/>
              <a:t>这个推导中用到了对于</a:t>
            </a:r>
            <a:r>
              <a:rPr lang="en-US" altLang="zh-CN"/>
              <a:t>M</a:t>
            </a:r>
            <a:r>
              <a:rPr lang="zh-CN" altLang="en-US"/>
              <a:t>的大数定理</a:t>
            </a:r>
            <a:endParaRPr lang="zh-CN" altLang="en-US"/>
          </a:p>
          <a:p>
            <a:endParaRPr lang="en-US" altLang="zh-CN"/>
          </a:p>
          <a:p>
            <a:r>
              <a:rPr lang="zh-CN" altLang="en-US"/>
              <a:t>后面的数据计算中会专门验证</a:t>
            </a:r>
            <a:r>
              <a:rPr lang="en-US" altLang="zh-CN"/>
              <a:t>M</a:t>
            </a:r>
            <a:r>
              <a:rPr lang="zh-CN" altLang="en-US"/>
              <a:t>比较小的情况</a:t>
            </a:r>
            <a:endParaRPr lang="zh-CN" altLang="en-US"/>
          </a:p>
        </p:txBody>
      </p:sp>
      <p:sp>
        <p:nvSpPr>
          <p:cNvPr id="14" name="Text Box 13"/>
          <p:cNvSpPr txBox="1"/>
          <p:nvPr/>
        </p:nvSpPr>
        <p:spPr>
          <a:xfrm>
            <a:off x="6426200" y="3735070"/>
            <a:ext cx="4575175" cy="645160"/>
          </a:xfrm>
          <a:prstGeom prst="rect">
            <a:avLst/>
          </a:prstGeom>
          <a:noFill/>
        </p:spPr>
        <p:txBody>
          <a:bodyPr wrap="square" rtlCol="0">
            <a:spAutoFit/>
          </a:bodyPr>
          <a:p>
            <a:r>
              <a:rPr lang="zh-CN" altLang="en-US"/>
              <a:t>推导中也假设了</a:t>
            </a:r>
            <a:r>
              <a:rPr lang="en-US" altLang="zh-CN"/>
              <a:t>L</a:t>
            </a:r>
            <a:r>
              <a:rPr lang="zh-CN" altLang="en-US"/>
              <a:t>的中心为圆心，</a:t>
            </a:r>
            <a:r>
              <a:rPr lang="en-US" altLang="zh-CN"/>
              <a:t>R</a:t>
            </a:r>
            <a:r>
              <a:rPr lang="zh-CN" altLang="en-US"/>
              <a:t>为半径的球包含在</a:t>
            </a:r>
            <a:r>
              <a:rPr lang="en-US" altLang="zh-CN"/>
              <a:t>L</a:t>
            </a:r>
            <a:r>
              <a:rPr lang="zh-CN" altLang="en-US"/>
              <a:t>内</a:t>
            </a:r>
            <a:endParaRPr lang="zh-CN" altLang="en-US"/>
          </a:p>
        </p:txBody>
      </p:sp>
      <p:sp>
        <p:nvSpPr>
          <p:cNvPr id="15" name="Text Box 14"/>
          <p:cNvSpPr txBox="1"/>
          <p:nvPr/>
        </p:nvSpPr>
        <p:spPr>
          <a:xfrm>
            <a:off x="744855" y="1002665"/>
            <a:ext cx="10713720" cy="645160"/>
          </a:xfrm>
          <a:prstGeom prst="rect">
            <a:avLst/>
          </a:prstGeom>
          <a:noFill/>
        </p:spPr>
        <p:txBody>
          <a:bodyPr wrap="square" rtlCol="0">
            <a:spAutoFit/>
          </a:bodyPr>
          <a:p>
            <a:r>
              <a:rPr lang="zh-CN" altLang="en-US"/>
              <a:t>由于各个细胞的</a:t>
            </a:r>
            <a:r>
              <a:rPr lang="en-US" altLang="zh-CN"/>
              <a:t>firing</a:t>
            </a:r>
            <a:r>
              <a:rPr lang="zh-CN" altLang="en-US"/>
              <a:t>互相独立，故一个</a:t>
            </a:r>
            <a:r>
              <a:rPr lang="en-US" altLang="zh-CN"/>
              <a:t>grid module</a:t>
            </a:r>
            <a:r>
              <a:rPr lang="zh-CN" altLang="en-US"/>
              <a:t>的</a:t>
            </a:r>
            <a:r>
              <a:rPr lang="en-US" altLang="zh-CN"/>
              <a:t>FI</a:t>
            </a:r>
            <a:r>
              <a:rPr lang="zh-CN" altLang="en-US"/>
              <a:t>等于里面每一个</a:t>
            </a:r>
            <a:r>
              <a:rPr lang="en-US" altLang="zh-CN"/>
              <a:t>grid cell</a:t>
            </a:r>
            <a:r>
              <a:rPr lang="zh-CN" altLang="en-US"/>
              <a:t>的</a:t>
            </a:r>
            <a:r>
              <a:rPr lang="en-US" altLang="zh-CN"/>
              <a:t>FI</a:t>
            </a:r>
            <a:r>
              <a:rPr lang="zh-CN" altLang="en-US"/>
              <a:t>之和。</a:t>
            </a:r>
            <a:endParaRPr lang="zh-CN" altLang="en-US"/>
          </a:p>
          <a:p>
            <a:r>
              <a:rPr lang="zh-CN" altLang="en-US"/>
              <a:t>因而现在我们只需要考虑一个</a:t>
            </a:r>
            <a:r>
              <a:rPr lang="en-US" altLang="zh-CN"/>
              <a:t>grid cell</a:t>
            </a:r>
            <a:r>
              <a:rPr lang="zh-CN" altLang="en-US"/>
              <a:t>的情况。（</a:t>
            </a:r>
            <a:r>
              <a:rPr lang="en-US" altLang="zh-CN"/>
              <a:t>if density is uniform across L</a:t>
            </a:r>
            <a:r>
              <a:rPr lang="zh-CN" altLang="en-US"/>
              <a:t>）</a:t>
            </a:r>
            <a:endParaRPr lang="zh-CN" altLang="en-US"/>
          </a:p>
        </p:txBody>
      </p:sp>
      <p:cxnSp>
        <p:nvCxnSpPr>
          <p:cNvPr id="16" name="Straight Arrow Connector 15"/>
          <p:cNvCxnSpPr/>
          <p:nvPr/>
        </p:nvCxnSpPr>
        <p:spPr>
          <a:xfrm flipH="1" flipV="1">
            <a:off x="5429250" y="3429000"/>
            <a:ext cx="1344930" cy="18796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Oval 16"/>
          <p:cNvSpPr/>
          <p:nvPr/>
        </p:nvSpPr>
        <p:spPr>
          <a:xfrm>
            <a:off x="3783330" y="2557780"/>
            <a:ext cx="2462530" cy="1069340"/>
          </a:xfrm>
          <a:prstGeom prst="ellipse">
            <a:avLst/>
          </a:prstGeom>
        </p:spPr>
        <p:style>
          <a:lnRef idx="2">
            <a:schemeClr val="accent1"/>
          </a:lnRef>
          <a:fillRef idx="0">
            <a:srgbClr val="FFFFFF"/>
          </a:fillRef>
          <a:effectRef idx="0">
            <a:srgbClr val="FFFFFF"/>
          </a:effectRef>
          <a:fontRef idx="minor">
            <a:schemeClr val="dk1"/>
          </a:fontRef>
        </p:style>
        <p:txBody>
          <a:bodyPr rtlCol="0" anchor="ctr"/>
          <a:p>
            <a:pPr algn="ctr"/>
            <a:endParaRPr lang="en-US"/>
          </a:p>
        </p:txBody>
      </p:sp>
      <p:sp>
        <p:nvSpPr>
          <p:cNvPr id="18" name="Text Box 17"/>
          <p:cNvSpPr txBox="1"/>
          <p:nvPr/>
        </p:nvSpPr>
        <p:spPr>
          <a:xfrm>
            <a:off x="6990715" y="5200015"/>
            <a:ext cx="4779010" cy="645160"/>
          </a:xfrm>
          <a:prstGeom prst="rect">
            <a:avLst/>
          </a:prstGeom>
          <a:noFill/>
        </p:spPr>
        <p:txBody>
          <a:bodyPr wrap="square" rtlCol="0">
            <a:spAutoFit/>
          </a:bodyPr>
          <a:p>
            <a:r>
              <a:rPr lang="en-US"/>
              <a:t>mean FI contribution of cells within a R-ball around 0</a:t>
            </a:r>
            <a:endParaRPr lang="en-US"/>
          </a:p>
        </p:txBody>
      </p:sp>
      <p:cxnSp>
        <p:nvCxnSpPr>
          <p:cNvPr id="20" name="Straight Arrow Connector 19"/>
          <p:cNvCxnSpPr/>
          <p:nvPr/>
        </p:nvCxnSpPr>
        <p:spPr>
          <a:xfrm flipV="1">
            <a:off x="1563370" y="3446780"/>
            <a:ext cx="1597660" cy="20294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1" name="Text Box 20"/>
          <p:cNvSpPr txBox="1"/>
          <p:nvPr/>
        </p:nvSpPr>
        <p:spPr>
          <a:xfrm>
            <a:off x="1107440" y="5560695"/>
            <a:ext cx="1873250" cy="368300"/>
          </a:xfrm>
          <a:prstGeom prst="rect">
            <a:avLst/>
          </a:prstGeom>
          <a:noFill/>
        </p:spPr>
        <p:txBody>
          <a:bodyPr wrap="square" rtlCol="0">
            <a:spAutoFit/>
          </a:bodyPr>
          <a:p>
            <a:r>
              <a:rPr lang="en-US"/>
              <a:t>L</a:t>
            </a:r>
            <a:r>
              <a:rPr lang="zh-CN" altLang="en-US"/>
              <a:t>的面积</a:t>
            </a:r>
            <a:endParaRPr lang="zh-CN" altLang="en-US"/>
          </a:p>
        </p:txBody>
      </p:sp>
      <p:cxnSp>
        <p:nvCxnSpPr>
          <p:cNvPr id="22" name="Straight Arrow Connector 21"/>
          <p:cNvCxnSpPr/>
          <p:nvPr/>
        </p:nvCxnSpPr>
        <p:spPr>
          <a:xfrm>
            <a:off x="1047115" y="2606040"/>
            <a:ext cx="2101850" cy="838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Text Box 22"/>
          <p:cNvSpPr txBox="1"/>
          <p:nvPr/>
        </p:nvSpPr>
        <p:spPr>
          <a:xfrm>
            <a:off x="266700" y="2053590"/>
            <a:ext cx="1020445" cy="1753235"/>
          </a:xfrm>
          <a:prstGeom prst="rect">
            <a:avLst/>
          </a:prstGeom>
          <a:noFill/>
        </p:spPr>
        <p:txBody>
          <a:bodyPr wrap="square" rtlCol="0">
            <a:spAutoFit/>
          </a:bodyPr>
          <a:p>
            <a:r>
              <a:rPr lang="zh-CN" altLang="en-US"/>
              <a:t>一个</a:t>
            </a:r>
            <a:r>
              <a:rPr lang="en-US" altLang="zh-CN"/>
              <a:t>grid module</a:t>
            </a:r>
            <a:r>
              <a:rPr lang="zh-CN" altLang="en-US"/>
              <a:t>里有</a:t>
            </a:r>
            <a:r>
              <a:rPr lang="en-US" altLang="zh-CN"/>
              <a:t>M</a:t>
            </a:r>
            <a:r>
              <a:rPr lang="zh-CN" altLang="en-US"/>
              <a:t>个</a:t>
            </a:r>
            <a:r>
              <a:rPr lang="en-US" altLang="zh-CN"/>
              <a:t>grid cells</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4" name="Picture 3"/>
          <p:cNvPicPr>
            <a:picLocks noChangeAspect="1"/>
          </p:cNvPicPr>
          <p:nvPr>
            <p:custDataLst>
              <p:tags r:id="rId1"/>
            </p:custDataLst>
          </p:nvPr>
        </p:nvPicPr>
        <p:blipFill>
          <a:blip r:embed="rId2"/>
          <a:stretch>
            <a:fillRect/>
          </a:stretch>
        </p:blipFill>
        <p:spPr>
          <a:xfrm>
            <a:off x="437515" y="126365"/>
            <a:ext cx="11533505" cy="67316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420370" y="575945"/>
            <a:ext cx="6221095" cy="922020"/>
          </a:xfrm>
          <a:prstGeom prst="rect">
            <a:avLst/>
          </a:prstGeom>
          <a:noFill/>
        </p:spPr>
        <p:txBody>
          <a:bodyPr wrap="square" rtlCol="0">
            <a:spAutoFit/>
          </a:bodyPr>
          <a:p>
            <a:r>
              <a:rPr lang="zh-CN" altLang="en-US"/>
              <a:t>现在我们把问题转换成了一个纯数学问题了：</a:t>
            </a:r>
            <a:endParaRPr lang="zh-CN" altLang="en-US"/>
          </a:p>
          <a:p>
            <a:endParaRPr lang="zh-CN" altLang="en-US"/>
          </a:p>
          <a:p>
            <a:r>
              <a:rPr lang="en-US" altLang="zh-CN"/>
              <a:t>packing ratio </a:t>
            </a:r>
            <a:r>
              <a:rPr lang="zh-CN" altLang="en-US"/>
              <a:t>Δ</a:t>
            </a:r>
            <a:r>
              <a:rPr lang="en-US" altLang="zh-CN"/>
              <a:t>(</a:t>
            </a:r>
            <a:r>
              <a:rPr lang="zh-CN" altLang="en-US"/>
              <a:t>L</a:t>
            </a:r>
            <a:r>
              <a:rPr lang="en-US" altLang="zh-CN"/>
              <a:t>) = </a:t>
            </a:r>
            <a:endParaRPr lang="en-US" altLang="zh-CN"/>
          </a:p>
        </p:txBody>
      </p:sp>
      <p:pic>
        <p:nvPicPr>
          <p:cNvPr id="5" name="Picture 4"/>
          <p:cNvPicPr>
            <a:picLocks noChangeAspect="1"/>
          </p:cNvPicPr>
          <p:nvPr>
            <p:custDataLst>
              <p:tags r:id="rId1"/>
            </p:custDataLst>
          </p:nvPr>
        </p:nvPicPr>
        <p:blipFill>
          <a:blip r:embed="rId2"/>
          <a:stretch>
            <a:fillRect/>
          </a:stretch>
        </p:blipFill>
        <p:spPr>
          <a:xfrm>
            <a:off x="2571750" y="948055"/>
            <a:ext cx="1271905" cy="781050"/>
          </a:xfrm>
          <a:prstGeom prst="rect">
            <a:avLst/>
          </a:prstGeom>
        </p:spPr>
      </p:pic>
      <p:sp>
        <p:nvSpPr>
          <p:cNvPr id="6" name="Text Box 5"/>
          <p:cNvSpPr txBox="1"/>
          <p:nvPr/>
        </p:nvSpPr>
        <p:spPr>
          <a:xfrm>
            <a:off x="588645" y="1957070"/>
            <a:ext cx="3338830" cy="368300"/>
          </a:xfrm>
          <a:prstGeom prst="rect">
            <a:avLst/>
          </a:prstGeom>
          <a:noFill/>
        </p:spPr>
        <p:txBody>
          <a:bodyPr wrap="square" rtlCol="0">
            <a:spAutoFit/>
          </a:bodyPr>
          <a:p>
            <a:r>
              <a:rPr lang="en-US"/>
              <a:t>packing ratio</a:t>
            </a:r>
            <a:r>
              <a:rPr lang="zh-CN" altLang="en-US"/>
              <a:t>越大，则</a:t>
            </a:r>
            <a:r>
              <a:rPr lang="en-US" altLang="zh-CN"/>
              <a:t>FI</a:t>
            </a:r>
            <a:r>
              <a:rPr lang="zh-CN" altLang="en-US"/>
              <a:t>越大</a:t>
            </a:r>
            <a:endParaRPr lang="zh-CN" altLang="en-US"/>
          </a:p>
        </p:txBody>
      </p:sp>
      <p:pic>
        <p:nvPicPr>
          <p:cNvPr id="12" name="Picture 11"/>
          <p:cNvPicPr>
            <a:picLocks noChangeAspect="1"/>
          </p:cNvPicPr>
          <p:nvPr>
            <p:custDataLst>
              <p:tags r:id="rId3"/>
            </p:custDataLst>
          </p:nvPr>
        </p:nvPicPr>
        <p:blipFill>
          <a:blip r:embed="rId4"/>
          <a:stretch>
            <a:fillRect/>
          </a:stretch>
        </p:blipFill>
        <p:spPr>
          <a:xfrm>
            <a:off x="3591560" y="1584325"/>
            <a:ext cx="4376420" cy="1052830"/>
          </a:xfrm>
          <a:prstGeom prst="rect">
            <a:avLst/>
          </a:prstGeom>
        </p:spPr>
      </p:pic>
      <p:pic>
        <p:nvPicPr>
          <p:cNvPr id="7" name="Picture 6"/>
          <p:cNvPicPr>
            <a:picLocks noChangeAspect="1"/>
          </p:cNvPicPr>
          <p:nvPr>
            <p:custDataLst>
              <p:tags r:id="rId5"/>
            </p:custDataLst>
          </p:nvPr>
        </p:nvPicPr>
        <p:blipFill>
          <a:blip r:embed="rId6"/>
          <a:stretch>
            <a:fillRect/>
          </a:stretch>
        </p:blipFill>
        <p:spPr>
          <a:xfrm>
            <a:off x="1917065" y="2859405"/>
            <a:ext cx="6592570" cy="3652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897890" y="1047115"/>
            <a:ext cx="6096000" cy="368300"/>
          </a:xfrm>
          <a:prstGeom prst="rect">
            <a:avLst/>
          </a:prstGeom>
          <a:noFill/>
        </p:spPr>
        <p:txBody>
          <a:bodyPr wrap="square" rtlCol="0" anchor="t">
            <a:spAutoFit/>
          </a:bodyPr>
          <a:p>
            <a:r>
              <a:rPr lang="zh-CN" altLang="en-US">
                <a:sym typeface="+mn-ea"/>
              </a:rPr>
              <a:t>现在我们代入</a:t>
            </a:r>
            <a:r>
              <a:rPr lang="en-US">
                <a:sym typeface="+mn-ea"/>
              </a:rPr>
              <a:t>Ω</a:t>
            </a:r>
            <a:r>
              <a:rPr lang="zh-CN" altLang="en-US">
                <a:sym typeface="+mn-ea"/>
              </a:rPr>
              <a:t>，它由两个参数控制，θ1和θ</a:t>
            </a:r>
            <a:r>
              <a:rPr lang="en-US" altLang="zh-CN">
                <a:sym typeface="+mn-ea"/>
              </a:rPr>
              <a:t>2</a:t>
            </a:r>
            <a:endParaRPr lang="en-US" altLang="zh-CN">
              <a:sym typeface="+mn-ea"/>
            </a:endParaRPr>
          </a:p>
        </p:txBody>
      </p:sp>
      <p:pic>
        <p:nvPicPr>
          <p:cNvPr id="5" name="Picture 4"/>
          <p:cNvPicPr>
            <a:picLocks noChangeAspect="1"/>
          </p:cNvPicPr>
          <p:nvPr>
            <p:custDataLst>
              <p:tags r:id="rId1"/>
            </p:custDataLst>
          </p:nvPr>
        </p:nvPicPr>
        <p:blipFill>
          <a:blip r:embed="rId2"/>
          <a:stretch>
            <a:fillRect/>
          </a:stretch>
        </p:blipFill>
        <p:spPr>
          <a:xfrm>
            <a:off x="897890" y="1584325"/>
            <a:ext cx="5283835" cy="1678940"/>
          </a:xfrm>
          <a:prstGeom prst="rect">
            <a:avLst/>
          </a:prstGeom>
        </p:spPr>
      </p:pic>
      <p:pic>
        <p:nvPicPr>
          <p:cNvPr id="8" name="Picture 7"/>
          <p:cNvPicPr>
            <a:picLocks noChangeAspect="1"/>
          </p:cNvPicPr>
          <p:nvPr>
            <p:custDataLst>
              <p:tags r:id="rId3"/>
            </p:custDataLst>
          </p:nvPr>
        </p:nvPicPr>
        <p:blipFill>
          <a:blip r:embed="rId4"/>
          <a:stretch>
            <a:fillRect/>
          </a:stretch>
        </p:blipFill>
        <p:spPr>
          <a:xfrm>
            <a:off x="897890" y="3263265"/>
            <a:ext cx="2738755" cy="1753235"/>
          </a:xfrm>
          <a:prstGeom prst="rect">
            <a:avLst/>
          </a:prstGeom>
        </p:spPr>
      </p:pic>
      <p:sp>
        <p:nvSpPr>
          <p:cNvPr id="6" name="Text Box 5"/>
          <p:cNvSpPr txBox="1"/>
          <p:nvPr/>
        </p:nvSpPr>
        <p:spPr>
          <a:xfrm>
            <a:off x="3999865" y="3650615"/>
            <a:ext cx="3843020" cy="922020"/>
          </a:xfrm>
          <a:prstGeom prst="rect">
            <a:avLst/>
          </a:prstGeom>
          <a:noFill/>
        </p:spPr>
        <p:txBody>
          <a:bodyPr wrap="square" rtlCol="0">
            <a:spAutoFit/>
          </a:bodyPr>
          <a:p>
            <a:r>
              <a:rPr lang="zh-CN" altLang="en-US">
                <a:sym typeface="+mn-ea"/>
              </a:rPr>
              <a:t>θ1控制曲线的坡度（越小越陡）</a:t>
            </a:r>
            <a:endParaRPr lang="zh-CN" altLang="en-US">
              <a:sym typeface="+mn-ea"/>
            </a:endParaRPr>
          </a:p>
          <a:p>
            <a:r>
              <a:rPr lang="zh-CN" altLang="en-US">
                <a:sym typeface="+mn-ea"/>
              </a:rPr>
              <a:t>θ</a:t>
            </a:r>
            <a:r>
              <a:rPr lang="en-US" altLang="zh-CN">
                <a:sym typeface="+mn-ea"/>
              </a:rPr>
              <a:t>2=R</a:t>
            </a:r>
            <a:endParaRPr lang="en-US" altLang="zh-CN">
              <a:sym typeface="+mn-ea"/>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4" name="Picture 3"/>
          <p:cNvPicPr>
            <a:picLocks noChangeAspect="1"/>
          </p:cNvPicPr>
          <p:nvPr>
            <p:custDataLst>
              <p:tags r:id="rId1"/>
            </p:custDataLst>
          </p:nvPr>
        </p:nvPicPr>
        <p:blipFill>
          <a:blip r:embed="rId2"/>
          <a:stretch>
            <a:fillRect/>
          </a:stretch>
        </p:blipFill>
        <p:spPr>
          <a:xfrm>
            <a:off x="1902460" y="0"/>
            <a:ext cx="8387080" cy="6858000"/>
          </a:xfrm>
          <a:prstGeom prst="rect">
            <a:avLst/>
          </a:prstGeom>
        </p:spPr>
      </p:pic>
      <p:sp>
        <p:nvSpPr>
          <p:cNvPr id="6" name="Text Box 5"/>
          <p:cNvSpPr txBox="1"/>
          <p:nvPr/>
        </p:nvSpPr>
        <p:spPr>
          <a:xfrm>
            <a:off x="10289540" y="1729105"/>
            <a:ext cx="1512570" cy="368300"/>
          </a:xfrm>
          <a:prstGeom prst="rect">
            <a:avLst/>
          </a:prstGeom>
          <a:noFill/>
        </p:spPr>
        <p:txBody>
          <a:bodyPr wrap="square" rtlCol="0">
            <a:spAutoFit/>
          </a:bodyPr>
          <a:p>
            <a:r>
              <a:rPr lang="zh-CN" altLang="en-US"/>
              <a:t>小于π/3呢？</a:t>
            </a:r>
            <a:endParaRPr lang="zh-CN" altLang="en-US"/>
          </a:p>
        </p:txBody>
      </p:sp>
      <p:sp>
        <p:nvSpPr>
          <p:cNvPr id="7" name="Text Box 6"/>
          <p:cNvSpPr txBox="1"/>
          <p:nvPr/>
        </p:nvSpPr>
        <p:spPr>
          <a:xfrm>
            <a:off x="10335260" y="4203065"/>
            <a:ext cx="1261110" cy="1476375"/>
          </a:xfrm>
          <a:prstGeom prst="rect">
            <a:avLst/>
          </a:prstGeom>
          <a:noFill/>
        </p:spPr>
        <p:txBody>
          <a:bodyPr wrap="square" rtlCol="0">
            <a:spAutoFit/>
          </a:bodyPr>
          <a:p>
            <a:r>
              <a:rPr lang="en-US"/>
              <a:t>M</a:t>
            </a:r>
            <a:r>
              <a:rPr lang="zh-CN" altLang="en-US"/>
              <a:t>较小时，</a:t>
            </a:r>
            <a:r>
              <a:rPr lang="en-US" altLang="zh-CN"/>
              <a:t>20%</a:t>
            </a:r>
            <a:r>
              <a:rPr lang="zh-CN" altLang="en-US"/>
              <a:t>的情况正方形分辨率更高</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4" name="Picture 3"/>
          <p:cNvPicPr>
            <a:picLocks noChangeAspect="1"/>
          </p:cNvPicPr>
          <p:nvPr>
            <p:custDataLst>
              <p:tags r:id="rId1"/>
            </p:custDataLst>
          </p:nvPr>
        </p:nvPicPr>
        <p:blipFill>
          <a:blip r:embed="rId2"/>
          <a:stretch>
            <a:fillRect/>
          </a:stretch>
        </p:blipFill>
        <p:spPr>
          <a:xfrm>
            <a:off x="2070100" y="0"/>
            <a:ext cx="8051800" cy="6858000"/>
          </a:xfrm>
          <a:prstGeom prst="rect">
            <a:avLst/>
          </a:prstGeom>
        </p:spPr>
      </p:pic>
      <p:sp>
        <p:nvSpPr>
          <p:cNvPr id="5" name="Text Box 4"/>
          <p:cNvSpPr txBox="1"/>
          <p:nvPr/>
        </p:nvSpPr>
        <p:spPr>
          <a:xfrm>
            <a:off x="10125075" y="3747135"/>
            <a:ext cx="1621790" cy="922020"/>
          </a:xfrm>
          <a:prstGeom prst="rect">
            <a:avLst/>
          </a:prstGeom>
          <a:noFill/>
        </p:spPr>
        <p:txBody>
          <a:bodyPr wrap="square" rtlCol="0">
            <a:spAutoFit/>
          </a:bodyPr>
          <a:p>
            <a:r>
              <a:rPr lang="en-US"/>
              <a:t>M</a:t>
            </a:r>
            <a:r>
              <a:rPr lang="zh-CN" altLang="en-US"/>
              <a:t>较小时</a:t>
            </a:r>
            <a:r>
              <a:rPr lang="en-US" altLang="zh-CN"/>
              <a:t>FCC</a:t>
            </a:r>
            <a:r>
              <a:rPr lang="zh-CN" altLang="en-US"/>
              <a:t>仍然分辨率最佳</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4" name="Picture 3"/>
          <p:cNvPicPr>
            <a:picLocks noChangeAspect="1"/>
          </p:cNvPicPr>
          <p:nvPr>
            <p:custDataLst>
              <p:tags r:id="rId1"/>
            </p:custDataLst>
          </p:nvPr>
        </p:nvPicPr>
        <p:blipFill>
          <a:blip r:embed="rId2"/>
          <a:stretch>
            <a:fillRect/>
          </a:stretch>
        </p:blipFill>
        <p:spPr>
          <a:xfrm>
            <a:off x="219075" y="1423670"/>
            <a:ext cx="11753850" cy="40100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pic>
        <p:nvPicPr>
          <p:cNvPr id="4" name="Picture 3"/>
          <p:cNvPicPr>
            <a:picLocks noChangeAspect="1"/>
          </p:cNvPicPr>
          <p:nvPr>
            <p:custDataLst>
              <p:tags r:id="rId1"/>
            </p:custDataLst>
          </p:nvPr>
        </p:nvPicPr>
        <p:blipFill>
          <a:blip r:embed="rId2"/>
          <a:stretch>
            <a:fillRect/>
          </a:stretch>
        </p:blipFill>
        <p:spPr>
          <a:xfrm>
            <a:off x="459740" y="473075"/>
            <a:ext cx="3421380" cy="2955925"/>
          </a:xfrm>
          <a:prstGeom prst="rect">
            <a:avLst/>
          </a:prstGeom>
        </p:spPr>
      </p:pic>
      <p:sp>
        <p:nvSpPr>
          <p:cNvPr id="5" name="Text Box 4"/>
          <p:cNvSpPr txBox="1"/>
          <p:nvPr/>
        </p:nvSpPr>
        <p:spPr>
          <a:xfrm>
            <a:off x="4407535" y="1250315"/>
            <a:ext cx="6683375" cy="1753235"/>
          </a:xfrm>
          <a:prstGeom prst="rect">
            <a:avLst/>
          </a:prstGeom>
          <a:noFill/>
        </p:spPr>
        <p:txBody>
          <a:bodyPr wrap="square" rtlCol="0">
            <a:spAutoFit/>
          </a:bodyPr>
          <a:p>
            <a:r>
              <a:rPr lang="en-US" altLang="zh-CN"/>
              <a:t>packing</a:t>
            </a:r>
            <a:r>
              <a:rPr lang="zh-CN" altLang="en-US"/>
              <a:t>可以为</a:t>
            </a:r>
            <a:r>
              <a:rPr lang="zh-CN" altLang="en-US" b="1"/>
              <a:t>不同的γ</a:t>
            </a:r>
            <a:r>
              <a:rPr lang="en-US" altLang="zh-CN" b="1"/>
              <a:t> sequence</a:t>
            </a:r>
            <a:endParaRPr lang="en-US" altLang="zh-CN"/>
          </a:p>
          <a:p>
            <a:r>
              <a:rPr lang="zh-CN" altLang="en-US"/>
              <a:t>如</a:t>
            </a:r>
            <a:endParaRPr lang="zh-CN" altLang="en-US"/>
          </a:p>
          <a:p>
            <a:r>
              <a:rPr lang="en-US" altLang="zh-CN"/>
              <a:t>FCC</a:t>
            </a:r>
            <a:r>
              <a:rPr lang="zh-CN" altLang="en-US"/>
              <a:t>为 (…,γ1, γ0, γ2,…)，</a:t>
            </a:r>
            <a:endParaRPr lang="zh-CN" altLang="en-US"/>
          </a:p>
          <a:p>
            <a:r>
              <a:rPr lang="en-US" altLang="zh-CN"/>
              <a:t>HCP</a:t>
            </a:r>
            <a:r>
              <a:rPr lang="zh-CN" altLang="en-US"/>
              <a:t>为 (…,γ0, γ1, γ0,…)</a:t>
            </a:r>
            <a:endParaRPr lang="zh-CN" altLang="en-US"/>
          </a:p>
          <a:p>
            <a:r>
              <a:rPr lang="zh-CN" altLang="en-US"/>
              <a:t>但是</a:t>
            </a:r>
            <a:r>
              <a:rPr lang="en-US" altLang="zh-CN"/>
              <a:t>HCP</a:t>
            </a:r>
            <a:r>
              <a:rPr lang="zh-CN" altLang="en-US"/>
              <a:t>不为晶格</a:t>
            </a:r>
            <a:endParaRPr lang="zh-CN" altLang="en-US"/>
          </a:p>
          <a:p>
            <a:r>
              <a:rPr lang="zh-CN" altLang="en-US"/>
              <a:t>不过</a:t>
            </a:r>
            <a:r>
              <a:rPr lang="en-US" altLang="zh-CN"/>
              <a:t>FCC</a:t>
            </a:r>
            <a:r>
              <a:rPr lang="zh-CN" altLang="en-US"/>
              <a:t>和</a:t>
            </a:r>
            <a:r>
              <a:rPr lang="en-US" altLang="zh-CN"/>
              <a:t>HCP</a:t>
            </a:r>
            <a:r>
              <a:rPr lang="zh-CN" altLang="en-US"/>
              <a:t>的</a:t>
            </a:r>
            <a:r>
              <a:rPr lang="en-US" altLang="zh-CN"/>
              <a:t>packing ratio</a:t>
            </a:r>
            <a:r>
              <a:rPr lang="zh-CN" altLang="en-US"/>
              <a:t>相同，它们算出来的</a:t>
            </a:r>
            <a:r>
              <a:rPr lang="en-US" altLang="zh-CN"/>
              <a:t>FI</a:t>
            </a:r>
            <a:r>
              <a:rPr lang="zh-CN" altLang="en-US"/>
              <a:t>也一样</a:t>
            </a:r>
            <a:endParaRPr lang="zh-CN" altLang="en-US"/>
          </a:p>
        </p:txBody>
      </p:sp>
      <p:sp>
        <p:nvSpPr>
          <p:cNvPr id="6" name="Text Box 5"/>
          <p:cNvSpPr txBox="1"/>
          <p:nvPr/>
        </p:nvSpPr>
        <p:spPr>
          <a:xfrm>
            <a:off x="3891915" y="593090"/>
            <a:ext cx="6509385" cy="657225"/>
          </a:xfrm>
          <a:prstGeom prst="rect">
            <a:avLst/>
          </a:prstGeom>
          <a:noFill/>
        </p:spPr>
        <p:txBody>
          <a:bodyPr wrap="square" rtlCol="0">
            <a:noAutofit/>
          </a:bodyPr>
          <a:p>
            <a:r>
              <a:rPr lang="en-US" b="1"/>
              <a:t>Equally optimal non-lattice solutions for grid-cell tuning</a:t>
            </a:r>
            <a:endParaRPr lang="en-US"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840740" y="1501140"/>
            <a:ext cx="6617970" cy="1198880"/>
          </a:xfrm>
          <a:prstGeom prst="rect">
            <a:avLst/>
          </a:prstGeom>
          <a:noFill/>
        </p:spPr>
        <p:txBody>
          <a:bodyPr wrap="square" rtlCol="0">
            <a:spAutoFit/>
          </a:bodyPr>
          <a:p>
            <a:r>
              <a:rPr lang="en-US"/>
              <a:t>Kepler Conjecture: FCC</a:t>
            </a:r>
            <a:r>
              <a:rPr lang="zh-CN" altLang="en-US"/>
              <a:t>的</a:t>
            </a:r>
            <a:r>
              <a:rPr lang="en-US" altLang="zh-CN"/>
              <a:t>packing ratio</a:t>
            </a:r>
            <a:r>
              <a:rPr lang="zh-CN" altLang="en-US"/>
              <a:t>已是最大值</a:t>
            </a:r>
            <a:endParaRPr lang="zh-CN" altLang="en-US"/>
          </a:p>
          <a:p>
            <a:endParaRPr lang="zh-CN" altLang="en-US"/>
          </a:p>
          <a:p>
            <a:r>
              <a:rPr lang="zh-CN" altLang="en-US"/>
              <a:t>不过与二维情况不同的是，二维唯一最大情况为正六边形晶格，而三维有很多同样密的</a:t>
            </a:r>
            <a:r>
              <a:rPr lang="en-US" altLang="zh-CN"/>
              <a:t>packing</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p:txBody>
          <a:bodyPr/>
          <a:p>
            <a:pPr marL="0" indent="0">
              <a:buNone/>
            </a:pPr>
            <a:r>
              <a:rPr lang="en-US"/>
              <a:t> </a:t>
            </a:r>
            <a:endParaRPr lang="en-US"/>
          </a:p>
        </p:txBody>
      </p:sp>
      <p:sp>
        <p:nvSpPr>
          <p:cNvPr id="4" name="Text Box 3"/>
          <p:cNvSpPr txBox="1"/>
          <p:nvPr/>
        </p:nvSpPr>
        <p:spPr>
          <a:xfrm>
            <a:off x="408940" y="480060"/>
            <a:ext cx="2978150" cy="398780"/>
          </a:xfrm>
          <a:prstGeom prst="rect">
            <a:avLst/>
          </a:prstGeom>
          <a:noFill/>
        </p:spPr>
        <p:txBody>
          <a:bodyPr wrap="square" rtlCol="0">
            <a:spAutoFit/>
          </a:bodyPr>
          <a:p>
            <a:r>
              <a:rPr lang="en-US" sz="2000"/>
              <a:t>Discussion</a:t>
            </a:r>
            <a:r>
              <a:rPr lang="zh-CN" altLang="en-US" sz="2000"/>
              <a:t>：</a:t>
            </a:r>
            <a:endParaRPr lang="zh-CN" altLang="en-US" sz="2000"/>
          </a:p>
        </p:txBody>
      </p:sp>
      <p:sp>
        <p:nvSpPr>
          <p:cNvPr id="5" name="Text Box 4"/>
          <p:cNvSpPr txBox="1"/>
          <p:nvPr/>
        </p:nvSpPr>
        <p:spPr>
          <a:xfrm>
            <a:off x="793115" y="1428750"/>
            <a:ext cx="9007475" cy="4799965"/>
          </a:xfrm>
          <a:prstGeom prst="rect">
            <a:avLst/>
          </a:prstGeom>
          <a:noFill/>
        </p:spPr>
        <p:txBody>
          <a:bodyPr wrap="square" rtlCol="0">
            <a:spAutoFit/>
          </a:bodyPr>
          <a:p>
            <a:r>
              <a:rPr lang="en-US" altLang="zh-CN"/>
              <a:t>1.</a:t>
            </a:r>
            <a:r>
              <a:rPr lang="zh-CN" altLang="en-US"/>
              <a:t>当神经元数量和</a:t>
            </a:r>
            <a:r>
              <a:rPr lang="en-US" altLang="zh-CN"/>
              <a:t>peak spike counts</a:t>
            </a:r>
            <a:r>
              <a:rPr lang="zh-CN" altLang="en-US"/>
              <a:t>较小时，上述推导很多地方不成立，导致了最佳编码与上述推断不一样，不能用</a:t>
            </a:r>
            <a:r>
              <a:rPr lang="en-US" altLang="zh-CN"/>
              <a:t>FI</a:t>
            </a:r>
            <a:r>
              <a:rPr lang="zh-CN" altLang="en-US"/>
              <a:t>预测</a:t>
            </a:r>
            <a:endParaRPr lang="zh-CN" altLang="en-US"/>
          </a:p>
          <a:p>
            <a:endParaRPr lang="zh-CN" altLang="en-US"/>
          </a:p>
          <a:p>
            <a:r>
              <a:rPr lang="en-US" altLang="zh-CN"/>
              <a:t>2.</a:t>
            </a:r>
            <a:r>
              <a:rPr lang="zh-CN" altLang="en-US"/>
              <a:t>当我们只考虑一种边长的</a:t>
            </a:r>
            <a:r>
              <a:rPr lang="en-US" altLang="zh-CN"/>
              <a:t>grid cell</a:t>
            </a:r>
            <a:r>
              <a:rPr lang="zh-CN" altLang="en-US"/>
              <a:t>时，看起来如正六边形比正方形的情况只好了一点，但是由于内嗅皮层为</a:t>
            </a:r>
            <a:r>
              <a:rPr lang="en-US" altLang="zh-CN"/>
              <a:t>nested scale,</a:t>
            </a:r>
            <a:r>
              <a:rPr lang="zh-CN" altLang="en-US"/>
              <a:t>不同的</a:t>
            </a:r>
            <a:r>
              <a:rPr lang="en-US" altLang="zh-CN"/>
              <a:t>grid module</a:t>
            </a:r>
            <a:r>
              <a:rPr lang="zh-CN" altLang="en-US"/>
              <a:t>叠加起来就是幂次增长</a:t>
            </a:r>
            <a:endParaRPr lang="zh-CN" altLang="en-US"/>
          </a:p>
          <a:p>
            <a:endParaRPr lang="zh-CN" altLang="en-US"/>
          </a:p>
          <a:p>
            <a:endParaRPr lang="zh-CN" altLang="en-US"/>
          </a:p>
          <a:p>
            <a:r>
              <a:rPr lang="en-US" altLang="zh-CN"/>
              <a:t>3. </a:t>
            </a:r>
            <a:r>
              <a:rPr lang="zh-CN" altLang="en-US"/>
              <a:t>近期有研究认为，从</a:t>
            </a:r>
            <a:r>
              <a:rPr lang="zh-CN" altLang="en-US" b="1"/>
              <a:t>六边形对称形式的小变形</a:t>
            </a:r>
            <a:r>
              <a:rPr lang="zh-CN" altLang="en-US"/>
              <a:t>可以解决整个模型呈周期性而无法通过一个</a:t>
            </a:r>
            <a:r>
              <a:rPr lang="en-US" altLang="zh-CN"/>
              <a:t>module</a:t>
            </a:r>
            <a:r>
              <a:rPr lang="zh-CN" altLang="en-US"/>
              <a:t>确定具体是空间中哪一个位置的问题</a:t>
            </a:r>
            <a:endParaRPr lang="zh-CN" altLang="en-US"/>
          </a:p>
          <a:p>
            <a:endParaRPr lang="en-US" altLang="zh-CN"/>
          </a:p>
          <a:p>
            <a:r>
              <a:rPr lang="en-US" altLang="zh-CN"/>
              <a:t>4.</a:t>
            </a:r>
            <a:r>
              <a:rPr lang="zh-CN" altLang="en-US"/>
              <a:t>全文基于了</a:t>
            </a:r>
            <a:r>
              <a:rPr lang="en-US" altLang="zh-CN"/>
              <a:t>isotropic&amp;homogeneous</a:t>
            </a:r>
            <a:r>
              <a:rPr lang="zh-CN" altLang="en-US"/>
              <a:t>的假设，但是这不是唯一可以想象的情形</a:t>
            </a:r>
            <a:endParaRPr lang="zh-CN" altLang="en-US"/>
          </a:p>
          <a:p>
            <a:endParaRPr lang="zh-CN" altLang="en-US"/>
          </a:p>
          <a:p>
            <a:r>
              <a:rPr lang="zh-CN" altLang="en-US"/>
              <a:t>（</a:t>
            </a:r>
            <a:r>
              <a:rPr lang="en-US" altLang="zh-CN"/>
              <a:t>a</a:t>
            </a:r>
            <a:r>
              <a:rPr lang="zh-CN" altLang="en-US"/>
              <a:t>）可能因为活动的范围不同，导致</a:t>
            </a:r>
            <a:r>
              <a:rPr lang="en-US" altLang="zh-CN"/>
              <a:t>3D encoding</a:t>
            </a:r>
            <a:r>
              <a:rPr lang="zh-CN" altLang="en-US"/>
              <a:t>和</a:t>
            </a:r>
            <a:r>
              <a:rPr lang="en-US" altLang="zh-CN"/>
              <a:t>2D encoding</a:t>
            </a:r>
            <a:r>
              <a:rPr lang="zh-CN" altLang="en-US"/>
              <a:t>不一样</a:t>
            </a:r>
            <a:endParaRPr lang="zh-CN" altLang="en-US"/>
          </a:p>
          <a:p>
            <a:r>
              <a:rPr lang="en-US" altLang="zh-CN"/>
              <a:t>  </a:t>
            </a:r>
            <a:r>
              <a:rPr lang="zh-CN" altLang="en-US"/>
              <a:t>（</a:t>
            </a:r>
            <a:r>
              <a:rPr lang="en-US" altLang="zh-CN"/>
              <a:t>b</a:t>
            </a:r>
            <a:r>
              <a:rPr lang="zh-CN" altLang="en-US"/>
              <a:t>）庞加莱提出非欧空间认知</a:t>
            </a:r>
            <a:r>
              <a:rPr lang="en-US" altLang="zh-CN"/>
              <a:t>---motion group</a:t>
            </a:r>
            <a:endParaRPr lang="en-US" altLang="zh-CN"/>
          </a:p>
          <a:p>
            <a:r>
              <a:rPr lang="zh-CN" altLang="en-US"/>
              <a:t>（</a:t>
            </a:r>
            <a:r>
              <a:rPr lang="en-US" altLang="zh-CN"/>
              <a:t>c</a:t>
            </a:r>
            <a:r>
              <a:rPr lang="zh-CN" altLang="en-US"/>
              <a:t>）周围空间的不同可能导致</a:t>
            </a:r>
            <a:r>
              <a:rPr lang="en-US" altLang="zh-CN"/>
              <a:t>grid cell tuning and anchoring</a:t>
            </a:r>
            <a:r>
              <a:rPr lang="zh-CN" altLang="en-US"/>
              <a:t>不同</a:t>
            </a:r>
            <a:endParaRPr lang="zh-CN" altLang="en-US"/>
          </a:p>
          <a:p>
            <a:endParaRPr lang="zh-CN" altLang="en-US"/>
          </a:p>
          <a:p>
            <a:r>
              <a:rPr lang="en-US" altLang="zh-CN"/>
              <a:t>5.</a:t>
            </a:r>
            <a:r>
              <a:rPr lang="zh-CN" altLang="en-US">
                <a:sym typeface="+mn-ea"/>
              </a:rPr>
              <a:t>理论上非对称解可以做到更优表征，但是实验数据表明生物体内确实具有此对称性</a:t>
            </a:r>
            <a:endParaRPr lang="en-US" altLang="zh-CN"/>
          </a:p>
        </p:txBody>
      </p:sp>
      <p:pic>
        <p:nvPicPr>
          <p:cNvPr id="7" name="Picture 6"/>
          <p:cNvPicPr>
            <a:picLocks noChangeAspect="1"/>
          </p:cNvPicPr>
          <p:nvPr>
            <p:custDataLst>
              <p:tags r:id="rId1"/>
            </p:custDataLst>
          </p:nvPr>
        </p:nvPicPr>
        <p:blipFill>
          <a:blip r:embed="rId2"/>
          <a:stretch>
            <a:fillRect/>
          </a:stretch>
        </p:blipFill>
        <p:spPr>
          <a:xfrm>
            <a:off x="1181735" y="2905125"/>
            <a:ext cx="5254625" cy="38544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3938</Words>
  <Application>WPS Writer</Application>
  <PresentationFormat>宽屏</PresentationFormat>
  <Paragraphs>311</Paragraphs>
  <Slides>24</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24</vt:i4>
      </vt:variant>
    </vt:vector>
  </HeadingPairs>
  <TitlesOfParts>
    <vt:vector size="38" baseType="lpstr">
      <vt:lpstr>Arial</vt:lpstr>
      <vt:lpstr>宋体</vt:lpstr>
      <vt:lpstr>Wingdings</vt:lpstr>
      <vt:lpstr>Chalkboard Regular</vt:lpstr>
      <vt:lpstr>Rockwell Regular</vt:lpstr>
      <vt:lpstr>Comic Sans MS Regular</vt:lpstr>
      <vt:lpstr>Calibri</vt:lpstr>
      <vt:lpstr>Helvetica Neue</vt:lpstr>
      <vt:lpstr>汉仪书宋二KW</vt:lpstr>
      <vt:lpstr>微软雅黑</vt:lpstr>
      <vt:lpstr>汉仪旗黑</vt:lpstr>
      <vt:lpstr>宋体</vt:lpstr>
      <vt:lpstr>Arial Unicode MS</vt:lpstr>
      <vt:lpstr>WPS</vt:lpstr>
      <vt:lpstr>Probable nature of higher-dimensional symmetries underlying mammalian grid _x0002_cell activity patterns</vt:lpstr>
      <vt:lpstr> </vt:lpstr>
      <vt:lpstr> </vt:lpstr>
      <vt:lpstr> </vt:lpstr>
      <vt:lpstr> </vt:lpstr>
      <vt:lpstr> </vt:lpstr>
      <vt:lpstr>Methodology Overview:</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张博涛</cp:lastModifiedBy>
  <cp:revision>24</cp:revision>
  <dcterms:created xsi:type="dcterms:W3CDTF">2025-03-27T18:04:00Z</dcterms:created>
  <dcterms:modified xsi:type="dcterms:W3CDTF">2025-03-27T18:04:00Z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1033-6.5.2.8766</vt:lpwstr>
  </property>
  <property fmtid="{D5CDD505-2E9C-101B-9397-08002B2CF9AE}" pid="3" name="ICV">
    <vt:lpwstr>C3E2D3FBEBDF4D009D959C655B3B9808_41</vt:lpwstr>
  </property>
</Properties>
</file>