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45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8"/>
  </p:handoutMasterIdLst>
  <p:sldIdLst>
    <p:sldId id="256" r:id="rId3"/>
    <p:sldId id="257" r:id="rId5"/>
    <p:sldId id="258" r:id="rId6"/>
    <p:sldId id="261" r:id="rId7"/>
    <p:sldId id="260" r:id="rId8"/>
    <p:sldId id="262" r:id="rId9"/>
    <p:sldId id="259" r:id="rId10"/>
    <p:sldId id="263" r:id="rId11"/>
    <p:sldId id="264" r:id="rId12"/>
    <p:sldId id="267" r:id="rId13"/>
    <p:sldId id="268" r:id="rId14"/>
    <p:sldId id="269" r:id="rId15"/>
    <p:sldId id="270" r:id="rId16"/>
    <p:sldId id="266" r:id="rId17"/>
    <p:sldId id="272" r:id="rId18"/>
    <p:sldId id="273" r:id="rId19"/>
    <p:sldId id="276" r:id="rId20"/>
    <p:sldId id="277" r:id="rId21"/>
    <p:sldId id="271" r:id="rId22"/>
    <p:sldId id="278" r:id="rId23"/>
    <p:sldId id="274" r:id="rId24"/>
    <p:sldId id="275" r:id="rId25"/>
    <p:sldId id="279" r:id="rId26"/>
    <p:sldId id="281" r:id="rId27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2" userDrawn="1">
          <p15:clr>
            <a:srgbClr val="A4A3A4"/>
          </p15:clr>
        </p15:guide>
        <p15:guide id="2" pos="38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92"/>
        <p:guide pos="387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customXml" Target="../customXml/item1.xml"/><Relationship Id="rId32" Type="http://schemas.openxmlformats.org/officeDocument/2006/relationships/customXmlProps" Target="../customXml/itemProps45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handoutMaster" Target="handoutMasters/handoutMaster1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tags" Target="../tags/tag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tags" Target="../tags/tag20.xml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image" Target="../media/image1.png"/><Relationship Id="rId1" Type="http://schemas.openxmlformats.org/officeDocument/2006/relationships/tags" Target="../tags/tag2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0.xml"/><Relationship Id="rId1" Type="http://schemas.openxmlformats.org/officeDocument/2006/relationships/tags" Target="../tags/tag29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tags" Target="../tags/tag31.xml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37.xml"/><Relationship Id="rId5" Type="http://schemas.openxmlformats.org/officeDocument/2006/relationships/image" Target="../media/image8.png"/><Relationship Id="rId4" Type="http://schemas.openxmlformats.org/officeDocument/2006/relationships/tags" Target="../tags/tag36.xml"/><Relationship Id="rId3" Type="http://schemas.openxmlformats.org/officeDocument/2006/relationships/image" Target="../media/image7.png"/><Relationship Id="rId2" Type="http://schemas.openxmlformats.org/officeDocument/2006/relationships/tags" Target="../tags/tag35.xml"/><Relationship Id="rId1" Type="http://schemas.openxmlformats.org/officeDocument/2006/relationships/tags" Target="../tags/tag34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42.xml"/><Relationship Id="rId6" Type="http://schemas.openxmlformats.org/officeDocument/2006/relationships/image" Target="../media/image10.png"/><Relationship Id="rId5" Type="http://schemas.openxmlformats.org/officeDocument/2006/relationships/tags" Target="../tags/tag41.xml"/><Relationship Id="rId4" Type="http://schemas.openxmlformats.org/officeDocument/2006/relationships/image" Target="../media/image9.png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351412"/>
            <a:ext cx="9144000" cy="2187001"/>
          </a:xfrm>
        </p:spPr>
        <p:txBody>
          <a:bodyPr/>
          <a:lstStyle/>
          <a:p>
            <a:r>
              <a:rPr lang="en-US" altLang="zh-CN" dirty="0">
                <a:effectLst/>
                <a:latin typeface="Chalkboard Regular" panose="03050602040202020205" charset="0"/>
                <a:cs typeface="Chalkboard Regular" panose="03050602040202020205" charset="0"/>
              </a:rPr>
              <a:t>Planning as Inference</a:t>
            </a:r>
            <a:endParaRPr lang="en-US" altLang="zh-CN" dirty="0">
              <a:effectLst/>
              <a:latin typeface="Chalkboard Regular" panose="03050602040202020205" charset="0"/>
              <a:cs typeface="Chalkboard Regular" panose="03050602040202020205" charset="0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1524000" y="2678748"/>
            <a:ext cx="9144000" cy="1655762"/>
          </a:xfrm>
        </p:spPr>
        <p:txBody>
          <a:bodyPr/>
          <a:lstStyle/>
          <a:p>
            <a:pPr algn="r"/>
            <a:r>
              <a:rPr lang="en-US" altLang="zh-CN" dirty="0">
                <a:latin typeface="Georgia Regular" panose="02040502050405090303" charset="0"/>
                <a:cs typeface="Georgia Regular" panose="02040502050405090303" charset="0"/>
              </a:rPr>
              <a:t>Matthew Botvinick, Marc Toussaint</a:t>
            </a:r>
            <a:endParaRPr lang="en-US" altLang="zh-CN" dirty="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037590" y="3847465"/>
            <a:ext cx="99853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 b="1">
                <a:latin typeface="Times New Roman Bold" panose="02020503050405090304" charset="0"/>
                <a:cs typeface="Times New Roman Bold" panose="02020503050405090304" charset="0"/>
              </a:rPr>
              <a:t>“Planning is accomplished through probabilistic inference.”</a:t>
            </a:r>
            <a:endParaRPr lang="en-US" sz="2800" b="1"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825500" y="622300"/>
            <a:ext cx="9039225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sz="2800">
                <a:latin typeface="Georgia Regular" panose="02040502050405090303" charset="0"/>
                <a:cs typeface="Georgia Regular" panose="02040502050405090303" charset="0"/>
              </a:rPr>
              <a:t>Background: Why do we need a new perspective?</a:t>
            </a:r>
            <a:endParaRPr lang="en-US" sz="2800">
              <a:latin typeface="Georgia Regular" panose="02040502050405090303" charset="0"/>
              <a:cs typeface="Georgia Regular" panose="02040502050405090303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sz="2800">
              <a:latin typeface="Georgia Regular" panose="02040502050405090303" charset="0"/>
              <a:cs typeface="Georgia Regular" panose="02040502050405090303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sz="2800">
                <a:latin typeface="Georgia Regular" panose="02040502050405090303" charset="0"/>
                <a:cs typeface="Georgia Regular" panose="02040502050405090303" charset="0"/>
              </a:rPr>
              <a:t>What is PAI(planning as inference)?</a:t>
            </a:r>
            <a:endParaRPr lang="en-US" sz="2800">
              <a:latin typeface="Georgia Regular" panose="02040502050405090303" charset="0"/>
              <a:cs typeface="Georgia Regular" panose="02040502050405090303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sz="2800">
              <a:latin typeface="Georgia Regular" panose="02040502050405090303" charset="0"/>
              <a:cs typeface="Georgia Regular" panose="02040502050405090303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sz="2800">
                <a:latin typeface="Georgia Regular" panose="02040502050405090303" charset="0"/>
                <a:cs typeface="Georgia Regular" panose="02040502050405090303" charset="0"/>
              </a:rPr>
              <a:t>PAI applications</a:t>
            </a:r>
            <a:endParaRPr lang="en-US" sz="2800">
              <a:latin typeface="Georgia Regular" panose="02040502050405090303" charset="0"/>
              <a:cs typeface="Georgia Regular" panose="02040502050405090303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sz="2800">
              <a:latin typeface="Georgia Regular" panose="02040502050405090303" charset="0"/>
              <a:cs typeface="Georgia Regular" panose="02040502050405090303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sz="2800">
                <a:latin typeface="Georgia Regular" panose="02040502050405090303" charset="0"/>
                <a:cs typeface="Georgia Regular" panose="02040502050405090303" charset="0"/>
              </a:rPr>
              <a:t>Implications for Neuroscience</a:t>
            </a:r>
            <a:endParaRPr lang="en-US" sz="2800">
              <a:latin typeface="Georgia Regular" panose="02040502050405090303" charset="0"/>
              <a:cs typeface="Georgia Regular" panose="02040502050405090303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sz="2800">
              <a:latin typeface="Georgia Regular" panose="02040502050405090303" charset="0"/>
              <a:cs typeface="Georgia Regular" panose="02040502050405090303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sz="2800">
                <a:latin typeface="Georgia Regular" panose="02040502050405090303" charset="0"/>
                <a:cs typeface="Georgia Regular" panose="02040502050405090303" charset="0"/>
                <a:sym typeface="+mn-ea"/>
              </a:rPr>
              <a:t>Opportunities and Challenges</a:t>
            </a:r>
            <a:endParaRPr lang="en-US" sz="2800">
              <a:latin typeface="Georgia Regular" panose="02040502050405090303" charset="0"/>
              <a:cs typeface="Georgia Regular" panose="02040502050405090303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sz="2800">
              <a:latin typeface="Georgia Regular" panose="02040502050405090303" charset="0"/>
              <a:cs typeface="Georgia Regular" panose="02040502050405090303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8358505" cy="1086485"/>
          </a:xfrm>
        </p:spPr>
        <p:txBody>
          <a:bodyPr/>
          <a:p>
            <a:r>
              <a:rPr lang="en-US" sz="2400">
                <a:latin typeface="Georgia Regular" panose="02040502050405090303" charset="0"/>
                <a:cs typeface="Georgia Regular" panose="02040502050405090303" charset="0"/>
              </a:rPr>
              <a:t>Background</a:t>
            </a:r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541270" y="1162050"/>
            <a:ext cx="71094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800">
                <a:latin typeface="Times New Roman Regular" panose="02020503050405090304" charset="0"/>
                <a:cs typeface="Times New Roman Regular" panose="02020503050405090304" charset="0"/>
              </a:rPr>
              <a:t>Reward-Based Decision Making</a:t>
            </a:r>
            <a:endParaRPr lang="en-US" sz="28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cxnSp>
        <p:nvCxnSpPr>
          <p:cNvPr id="5" name="Straight Arrow Connector 4"/>
          <p:cNvCxnSpPr>
            <a:stCxn id="4" idx="2"/>
          </p:cNvCxnSpPr>
          <p:nvPr/>
        </p:nvCxnSpPr>
        <p:spPr>
          <a:xfrm>
            <a:off x="6096000" y="1684020"/>
            <a:ext cx="0" cy="6769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2336165" y="2348865"/>
            <a:ext cx="709803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2324100" y="2336800"/>
            <a:ext cx="0" cy="3359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>
            <p:custDataLst>
              <p:tags r:id="rId1"/>
            </p:custDataLst>
          </p:nvPr>
        </p:nvCxnSpPr>
        <p:spPr>
          <a:xfrm>
            <a:off x="9446260" y="2348865"/>
            <a:ext cx="0" cy="3359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8358505" cy="1086485"/>
          </a:xfrm>
        </p:spPr>
        <p:txBody>
          <a:bodyPr/>
          <a:p>
            <a:r>
              <a:rPr lang="en-US" sz="2400">
                <a:latin typeface="Georgia Regular" panose="02040502050405090303" charset="0"/>
                <a:cs typeface="Georgia Regular" panose="02040502050405090303" charset="0"/>
              </a:rPr>
              <a:t>Background</a:t>
            </a:r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541270" y="1162050"/>
            <a:ext cx="71094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800">
                <a:latin typeface="Times New Roman Regular" panose="02020503050405090304" charset="0"/>
                <a:cs typeface="Times New Roman Regular" panose="02020503050405090304" charset="0"/>
              </a:rPr>
              <a:t>Reward-Based Decision Making</a:t>
            </a:r>
            <a:endParaRPr lang="en-US" sz="28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cxnSp>
        <p:nvCxnSpPr>
          <p:cNvPr id="5" name="Straight Arrow Connector 4"/>
          <p:cNvCxnSpPr>
            <a:stCxn id="4" idx="2"/>
          </p:cNvCxnSpPr>
          <p:nvPr/>
        </p:nvCxnSpPr>
        <p:spPr>
          <a:xfrm>
            <a:off x="6096000" y="1684020"/>
            <a:ext cx="0" cy="6769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2336165" y="2348865"/>
            <a:ext cx="709803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2324100" y="2336800"/>
            <a:ext cx="0" cy="3359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>
            <p:custDataLst>
              <p:tags r:id="rId1"/>
            </p:custDataLst>
          </p:nvPr>
        </p:nvCxnSpPr>
        <p:spPr>
          <a:xfrm>
            <a:off x="9446260" y="2348865"/>
            <a:ext cx="0" cy="3359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Text Box 8"/>
          <p:cNvSpPr txBox="1"/>
          <p:nvPr/>
        </p:nvSpPr>
        <p:spPr>
          <a:xfrm>
            <a:off x="1808480" y="2660650"/>
            <a:ext cx="195453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b="1">
                <a:solidFill>
                  <a:schemeClr val="accent3">
                    <a:lumMod val="50000"/>
                  </a:schemeClr>
                </a:solidFill>
                <a:latin typeface="Georgia Bold" panose="02040502050405090303" charset="0"/>
                <a:cs typeface="Georgia Bold" panose="02040502050405090303" charset="0"/>
              </a:rPr>
              <a:t>Habits</a:t>
            </a:r>
            <a:endParaRPr lang="en-US" sz="3200" b="1">
              <a:solidFill>
                <a:schemeClr val="accent3">
                  <a:lumMod val="50000"/>
                </a:schemeClr>
              </a:solidFill>
              <a:latin typeface="Georgia Bold" panose="02040502050405090303" charset="0"/>
              <a:cs typeface="Georgia Bold" panose="02040502050405090303" charset="0"/>
            </a:endParaRPr>
          </a:p>
          <a:p>
            <a:endParaRPr lang="en-US" sz="3200" b="1">
              <a:solidFill>
                <a:schemeClr val="accent3">
                  <a:lumMod val="50000"/>
                </a:schemeClr>
              </a:solidFill>
              <a:latin typeface="Georgia Bold" panose="02040502050405090303" charset="0"/>
              <a:cs typeface="Georgia Bold" panose="02040502050405090303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8091805" y="2733040"/>
            <a:ext cx="33566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b="1">
                <a:solidFill>
                  <a:srgbClr val="7030A0"/>
                </a:solidFill>
                <a:latin typeface="Georgia Bold" panose="02040502050405090303" charset="0"/>
                <a:cs typeface="Georgia Bold" panose="02040502050405090303" charset="0"/>
              </a:rPr>
              <a:t>Goal Directed</a:t>
            </a:r>
            <a:endParaRPr lang="en-US" sz="3200" b="1">
              <a:solidFill>
                <a:srgbClr val="7030A0"/>
              </a:solidFill>
              <a:latin typeface="Georgia Bold" panose="02040502050405090303" charset="0"/>
              <a:cs typeface="Georgia Bold" panose="02040502050405090303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754380" y="3352800"/>
            <a:ext cx="51663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Georgia Regular" panose="02040502050405090303" charset="0"/>
                <a:cs typeface="Georgia Regular" panose="02040502050405090303" charset="0"/>
              </a:rPr>
              <a:t>Situation-Response Association</a:t>
            </a:r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14" name="Text Box 13"/>
          <p:cNvSpPr txBox="1"/>
          <p:nvPr>
            <p:custDataLst>
              <p:tags r:id="rId2"/>
            </p:custDataLst>
          </p:nvPr>
        </p:nvSpPr>
        <p:spPr>
          <a:xfrm>
            <a:off x="6179820" y="3349625"/>
            <a:ext cx="58889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Georgia Regular" panose="02040502050405090303" charset="0"/>
                <a:cs typeface="Georgia Regular" panose="02040502050405090303" charset="0"/>
              </a:rPr>
              <a:t>Planning based on prediction of outcomes</a:t>
            </a:r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8358505" cy="1086485"/>
          </a:xfrm>
        </p:spPr>
        <p:txBody>
          <a:bodyPr/>
          <a:p>
            <a:r>
              <a:rPr lang="en-US" sz="2400">
                <a:latin typeface="Georgia Regular" panose="02040502050405090303" charset="0"/>
                <a:cs typeface="Georgia Regular" panose="02040502050405090303" charset="0"/>
              </a:rPr>
              <a:t>Background</a:t>
            </a:r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541270" y="1162050"/>
            <a:ext cx="71094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800">
                <a:latin typeface="Times New Roman Regular" panose="02020503050405090304" charset="0"/>
                <a:cs typeface="Times New Roman Regular" panose="02020503050405090304" charset="0"/>
              </a:rPr>
              <a:t>Reward-Based Decision Making</a:t>
            </a:r>
            <a:endParaRPr lang="en-US" sz="28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cxnSp>
        <p:nvCxnSpPr>
          <p:cNvPr id="5" name="Straight Arrow Connector 4"/>
          <p:cNvCxnSpPr>
            <a:stCxn id="4" idx="2"/>
          </p:cNvCxnSpPr>
          <p:nvPr/>
        </p:nvCxnSpPr>
        <p:spPr>
          <a:xfrm>
            <a:off x="6096000" y="1684020"/>
            <a:ext cx="0" cy="6769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2336165" y="2348865"/>
            <a:ext cx="709803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2324100" y="2336800"/>
            <a:ext cx="0" cy="3359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>
            <p:custDataLst>
              <p:tags r:id="rId1"/>
            </p:custDataLst>
          </p:nvPr>
        </p:nvCxnSpPr>
        <p:spPr>
          <a:xfrm>
            <a:off x="9446260" y="2348865"/>
            <a:ext cx="0" cy="3359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Text Box 8"/>
          <p:cNvSpPr txBox="1"/>
          <p:nvPr/>
        </p:nvSpPr>
        <p:spPr>
          <a:xfrm>
            <a:off x="1808480" y="2660650"/>
            <a:ext cx="195453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b="1">
                <a:solidFill>
                  <a:schemeClr val="accent3">
                    <a:lumMod val="50000"/>
                  </a:schemeClr>
                </a:solidFill>
                <a:latin typeface="Georgia Bold" panose="02040502050405090303" charset="0"/>
                <a:cs typeface="Georgia Bold" panose="02040502050405090303" charset="0"/>
              </a:rPr>
              <a:t>Habits</a:t>
            </a:r>
            <a:endParaRPr lang="en-US" sz="3200" b="1">
              <a:solidFill>
                <a:schemeClr val="accent3">
                  <a:lumMod val="50000"/>
                </a:schemeClr>
              </a:solidFill>
              <a:latin typeface="Georgia Bold" panose="02040502050405090303" charset="0"/>
              <a:cs typeface="Georgia Bold" panose="02040502050405090303" charset="0"/>
            </a:endParaRPr>
          </a:p>
          <a:p>
            <a:endParaRPr lang="en-US" sz="3200" b="1">
              <a:solidFill>
                <a:schemeClr val="accent3">
                  <a:lumMod val="50000"/>
                </a:schemeClr>
              </a:solidFill>
              <a:latin typeface="Georgia Bold" panose="02040502050405090303" charset="0"/>
              <a:cs typeface="Georgia Bold" panose="02040502050405090303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8091805" y="2733040"/>
            <a:ext cx="33566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b="1">
                <a:solidFill>
                  <a:srgbClr val="7030A0"/>
                </a:solidFill>
                <a:latin typeface="Georgia Bold" panose="02040502050405090303" charset="0"/>
                <a:cs typeface="Georgia Bold" panose="02040502050405090303" charset="0"/>
              </a:rPr>
              <a:t>Goal Directed</a:t>
            </a:r>
            <a:endParaRPr lang="en-US" sz="3200" b="1">
              <a:solidFill>
                <a:srgbClr val="7030A0"/>
              </a:solidFill>
              <a:latin typeface="Georgia Bold" panose="02040502050405090303" charset="0"/>
              <a:cs typeface="Georgia Bold" panose="02040502050405090303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754380" y="3352800"/>
            <a:ext cx="51663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Georgia Regular" panose="02040502050405090303" charset="0"/>
                <a:cs typeface="Georgia Regular" panose="02040502050405090303" charset="0"/>
              </a:rPr>
              <a:t>Situation-Response Association</a:t>
            </a:r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2276475" y="3900170"/>
            <a:ext cx="0" cy="8153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Text Box 12"/>
          <p:cNvSpPr txBox="1"/>
          <p:nvPr/>
        </p:nvSpPr>
        <p:spPr>
          <a:xfrm>
            <a:off x="526415" y="4878705"/>
            <a:ext cx="63290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Georgia Regular" panose="02040502050405090303" charset="0"/>
                <a:cs typeface="Georgia Regular" panose="02040502050405090303" charset="0"/>
              </a:rPr>
              <a:t>TD learning &amp; Dopaminergic signals</a:t>
            </a:r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14" name="Text Box 13"/>
          <p:cNvSpPr txBox="1"/>
          <p:nvPr>
            <p:custDataLst>
              <p:tags r:id="rId2"/>
            </p:custDataLst>
          </p:nvPr>
        </p:nvSpPr>
        <p:spPr>
          <a:xfrm>
            <a:off x="6179820" y="3349625"/>
            <a:ext cx="58889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Georgia Regular" panose="02040502050405090303" charset="0"/>
                <a:cs typeface="Georgia Regular" panose="02040502050405090303" charset="0"/>
              </a:rPr>
              <a:t>Planning based on prediction of outcomes</a:t>
            </a:r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8358505" cy="1086485"/>
          </a:xfrm>
        </p:spPr>
        <p:txBody>
          <a:bodyPr/>
          <a:p>
            <a:r>
              <a:rPr lang="en-US" sz="2400">
                <a:latin typeface="Georgia Regular" panose="02040502050405090303" charset="0"/>
                <a:cs typeface="Georgia Regular" panose="02040502050405090303" charset="0"/>
              </a:rPr>
              <a:t>Background</a:t>
            </a:r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541270" y="1162050"/>
            <a:ext cx="71094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800">
                <a:latin typeface="Times New Roman Regular" panose="02020503050405090304" charset="0"/>
                <a:cs typeface="Times New Roman Regular" panose="02020503050405090304" charset="0"/>
              </a:rPr>
              <a:t>Reward-Based Decision Making</a:t>
            </a:r>
            <a:endParaRPr lang="en-US" sz="28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cxnSp>
        <p:nvCxnSpPr>
          <p:cNvPr id="5" name="Straight Arrow Connector 4"/>
          <p:cNvCxnSpPr>
            <a:stCxn id="4" idx="2"/>
          </p:cNvCxnSpPr>
          <p:nvPr/>
        </p:nvCxnSpPr>
        <p:spPr>
          <a:xfrm>
            <a:off x="6096000" y="1684020"/>
            <a:ext cx="0" cy="6769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2336165" y="2348865"/>
            <a:ext cx="709803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2324100" y="2336800"/>
            <a:ext cx="0" cy="3359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>
            <p:custDataLst>
              <p:tags r:id="rId1"/>
            </p:custDataLst>
          </p:nvPr>
        </p:nvCxnSpPr>
        <p:spPr>
          <a:xfrm>
            <a:off x="9446260" y="2348865"/>
            <a:ext cx="0" cy="3359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Text Box 8"/>
          <p:cNvSpPr txBox="1"/>
          <p:nvPr/>
        </p:nvSpPr>
        <p:spPr>
          <a:xfrm>
            <a:off x="1808480" y="2660650"/>
            <a:ext cx="195453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b="1">
                <a:solidFill>
                  <a:schemeClr val="accent3">
                    <a:lumMod val="50000"/>
                  </a:schemeClr>
                </a:solidFill>
                <a:latin typeface="Georgia Bold" panose="02040502050405090303" charset="0"/>
                <a:cs typeface="Georgia Bold" panose="02040502050405090303" charset="0"/>
              </a:rPr>
              <a:t>Habits</a:t>
            </a:r>
            <a:endParaRPr lang="en-US" sz="3200" b="1">
              <a:solidFill>
                <a:schemeClr val="accent3">
                  <a:lumMod val="50000"/>
                </a:schemeClr>
              </a:solidFill>
              <a:latin typeface="Georgia Bold" panose="02040502050405090303" charset="0"/>
              <a:cs typeface="Georgia Bold" panose="02040502050405090303" charset="0"/>
            </a:endParaRPr>
          </a:p>
          <a:p>
            <a:endParaRPr lang="en-US" sz="3200" b="1">
              <a:solidFill>
                <a:schemeClr val="accent3">
                  <a:lumMod val="50000"/>
                </a:schemeClr>
              </a:solidFill>
              <a:latin typeface="Georgia Bold" panose="02040502050405090303" charset="0"/>
              <a:cs typeface="Georgia Bold" panose="02040502050405090303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8091805" y="2733040"/>
            <a:ext cx="33566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b="1">
                <a:solidFill>
                  <a:srgbClr val="7030A0"/>
                </a:solidFill>
                <a:latin typeface="Georgia Bold" panose="02040502050405090303" charset="0"/>
                <a:cs typeface="Georgia Bold" panose="02040502050405090303" charset="0"/>
              </a:rPr>
              <a:t>Goal Directed</a:t>
            </a:r>
            <a:endParaRPr lang="en-US" sz="3200" b="1">
              <a:solidFill>
                <a:srgbClr val="7030A0"/>
              </a:solidFill>
              <a:latin typeface="Georgia Bold" panose="02040502050405090303" charset="0"/>
              <a:cs typeface="Georgia Bold" panose="02040502050405090303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754380" y="3352800"/>
            <a:ext cx="51663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Georgia Regular" panose="02040502050405090303" charset="0"/>
                <a:cs typeface="Georgia Regular" panose="02040502050405090303" charset="0"/>
              </a:rPr>
              <a:t>Situation-Response Association</a:t>
            </a:r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2276475" y="3900170"/>
            <a:ext cx="0" cy="8153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Text Box 12"/>
          <p:cNvSpPr txBox="1"/>
          <p:nvPr/>
        </p:nvSpPr>
        <p:spPr>
          <a:xfrm>
            <a:off x="526415" y="4878705"/>
            <a:ext cx="63290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Georgia Regular" panose="02040502050405090303" charset="0"/>
                <a:cs typeface="Georgia Regular" panose="02040502050405090303" charset="0"/>
              </a:rPr>
              <a:t>TD learning &amp; Dopaminergic signals</a:t>
            </a:r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14" name="Text Box 13"/>
          <p:cNvSpPr txBox="1"/>
          <p:nvPr>
            <p:custDataLst>
              <p:tags r:id="rId2"/>
            </p:custDataLst>
          </p:nvPr>
        </p:nvSpPr>
        <p:spPr>
          <a:xfrm>
            <a:off x="6179820" y="3349625"/>
            <a:ext cx="58889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Georgia Regular" panose="02040502050405090303" charset="0"/>
                <a:cs typeface="Georgia Regular" panose="02040502050405090303" charset="0"/>
              </a:rPr>
              <a:t>Planning based on prediction of outcomes</a:t>
            </a:r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</p:txBody>
      </p:sp>
      <p:cxnSp>
        <p:nvCxnSpPr>
          <p:cNvPr id="3" name="Straight Arrow Connector 2"/>
          <p:cNvCxnSpPr/>
          <p:nvPr>
            <p:custDataLst>
              <p:tags r:id="rId3"/>
            </p:custDataLst>
          </p:nvPr>
        </p:nvCxnSpPr>
        <p:spPr>
          <a:xfrm>
            <a:off x="9520555" y="3900170"/>
            <a:ext cx="0" cy="8153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Text Box 14"/>
          <p:cNvSpPr txBox="1"/>
          <p:nvPr>
            <p:custDataLst>
              <p:tags r:id="rId4"/>
            </p:custDataLst>
          </p:nvPr>
        </p:nvSpPr>
        <p:spPr>
          <a:xfrm>
            <a:off x="5760720" y="4817110"/>
            <a:ext cx="70319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Georgia Regular" panose="02040502050405090303" charset="0"/>
                <a:cs typeface="Georgia Regular" panose="02040502050405090303" charset="0"/>
              </a:rPr>
              <a:t>Not Clear: </a:t>
            </a:r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  <a:p>
            <a:r>
              <a:rPr lang="en-US" sz="2400">
                <a:latin typeface="Georgia Regular" panose="02040502050405090303" charset="0"/>
                <a:cs typeface="Georgia Regular" panose="02040502050405090303" charset="0"/>
              </a:rPr>
              <a:t>What’s the information processing operations?</a:t>
            </a:r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8358505" cy="1086485"/>
          </a:xfrm>
        </p:spPr>
        <p:txBody>
          <a:bodyPr/>
          <a:p>
            <a:r>
              <a:rPr lang="en-US" sz="2400">
                <a:latin typeface="Georgia Regular" panose="02040502050405090303" charset="0"/>
                <a:cs typeface="Georgia Regular" panose="02040502050405090303" charset="0"/>
              </a:rPr>
              <a:t>Background</a:t>
            </a:r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647700" y="1210310"/>
            <a:ext cx="61747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>
                <a:latin typeface="Georgia Regular" panose="02040502050405090303" charset="0"/>
                <a:cs typeface="Georgia Regular" panose="02040502050405090303" charset="0"/>
              </a:rPr>
              <a:t>Traditional Perspectives on Planning:</a:t>
            </a:r>
            <a:endParaRPr lang="en-US" sz="28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34315" y="1929765"/>
            <a:ext cx="1183576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sz="2800">
                <a:latin typeface="Chalkboard Regular" panose="03050602040202020205" charset="0"/>
                <a:cs typeface="Chalkboard Regular" panose="03050602040202020205" charset="0"/>
              </a:rPr>
              <a:t>a </a:t>
            </a:r>
            <a:r>
              <a:rPr lang="en-US" sz="2800">
                <a:solidFill>
                  <a:schemeClr val="accent2">
                    <a:lumMod val="75000"/>
                  </a:schemeClr>
                </a:solidFill>
                <a:latin typeface="Chalkboard Regular" panose="03050602040202020205" charset="0"/>
                <a:cs typeface="Chalkboard Regular" panose="03050602040202020205" charset="0"/>
              </a:rPr>
              <a:t>specific</a:t>
            </a:r>
            <a:r>
              <a:rPr lang="en-US" sz="2800">
                <a:latin typeface="Chalkboard Regular" panose="03050602040202020205" charset="0"/>
                <a:cs typeface="Chalkboard Regular" panose="03050602040202020205" charset="0"/>
              </a:rPr>
              <a:t> a priori goal        the </a:t>
            </a:r>
            <a:r>
              <a:rPr lang="en-US" sz="2800">
                <a:solidFill>
                  <a:schemeClr val="accent2">
                    <a:lumMod val="75000"/>
                  </a:schemeClr>
                </a:solidFill>
                <a:latin typeface="Chalkboard Regular" panose="03050602040202020205" charset="0"/>
                <a:cs typeface="Chalkboard Regular" panose="03050602040202020205" charset="0"/>
              </a:rPr>
              <a:t>generic</a:t>
            </a:r>
            <a:r>
              <a:rPr lang="en-US" sz="2800">
                <a:latin typeface="Chalkboard Regular" panose="03050602040202020205" charset="0"/>
                <a:cs typeface="Chalkboard Regular" panose="03050602040202020205" charset="0"/>
              </a:rPr>
              <a:t> goal of </a:t>
            </a:r>
            <a:r>
              <a:rPr lang="en-US" sz="2800">
                <a:solidFill>
                  <a:schemeClr val="accent2">
                    <a:lumMod val="75000"/>
                  </a:schemeClr>
                </a:solidFill>
                <a:latin typeface="Chalkboard Regular" panose="03050602040202020205" charset="0"/>
                <a:cs typeface="Chalkboard Regular" panose="03050602040202020205" charset="0"/>
              </a:rPr>
              <a:t>reward max</a:t>
            </a:r>
            <a:r>
              <a:rPr lang="en-US" sz="2800">
                <a:latin typeface="Chalkboard Regular" panose="03050602040202020205" charset="0"/>
                <a:cs typeface="Chalkboard Regular" panose="03050602040202020205" charset="0"/>
              </a:rPr>
              <a:t>imization</a:t>
            </a:r>
            <a:endParaRPr lang="en-US" sz="2800">
              <a:latin typeface="Chalkboard Regular" panose="03050602040202020205" charset="0"/>
              <a:cs typeface="Chalkboard Regular" panose="03050602040202020205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sz="2800">
              <a:latin typeface="Chalkboard Regular" panose="03050602040202020205" charset="0"/>
              <a:cs typeface="Chalkboard Regular" panose="03050602040202020205" charset="0"/>
            </a:endParaRPr>
          </a:p>
          <a:p>
            <a:pPr indent="0">
              <a:buFont typeface="Arial" panose="020B0604020202090204" pitchFamily="34" charset="0"/>
              <a:buNone/>
            </a:pPr>
            <a:r>
              <a:rPr lang="en-US" sz="2800">
                <a:latin typeface="Chalkboard Regular" panose="03050602040202020205" charset="0"/>
                <a:cs typeface="Chalkboard Regular" panose="03050602040202020205" charset="0"/>
              </a:rPr>
              <a:t> </a:t>
            </a:r>
            <a:endParaRPr lang="en-US" sz="2800">
              <a:latin typeface="Chalkboard Regular" panose="03050602040202020205" charset="0"/>
              <a:cs typeface="Chalkboard Regular" panose="03050602040202020205" charset="0"/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273550" y="2194560"/>
            <a:ext cx="1023620" cy="0"/>
          </a:xfrm>
          <a:prstGeom prst="straightConnector1">
            <a:avLst/>
          </a:prstGeom>
          <a:ln>
            <a:solidFill>
              <a:srgbClr val="00B05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8358505" cy="1086485"/>
          </a:xfrm>
        </p:spPr>
        <p:txBody>
          <a:bodyPr/>
          <a:p>
            <a:r>
              <a:rPr lang="en-US" sz="2400">
                <a:latin typeface="Georgia Regular" panose="02040502050405090303" charset="0"/>
                <a:cs typeface="Georgia Regular" panose="02040502050405090303" charset="0"/>
              </a:rPr>
              <a:t>Background</a:t>
            </a:r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647700" y="1210310"/>
            <a:ext cx="61747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>
                <a:latin typeface="Georgia Regular" panose="02040502050405090303" charset="0"/>
                <a:cs typeface="Georgia Regular" panose="02040502050405090303" charset="0"/>
              </a:rPr>
              <a:t>Traditional Perspectives on Planning:</a:t>
            </a:r>
            <a:endParaRPr lang="en-US" sz="28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34315" y="1929765"/>
            <a:ext cx="11835765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sz="2800">
                <a:latin typeface="Chalkboard Regular" panose="03050602040202020205" charset="0"/>
                <a:cs typeface="Chalkboard Regular" panose="03050602040202020205" charset="0"/>
              </a:rPr>
              <a:t>a </a:t>
            </a:r>
            <a:r>
              <a:rPr lang="en-US" sz="2800">
                <a:solidFill>
                  <a:schemeClr val="accent2">
                    <a:lumMod val="75000"/>
                  </a:schemeClr>
                </a:solidFill>
                <a:latin typeface="Chalkboard Regular" panose="03050602040202020205" charset="0"/>
                <a:cs typeface="Chalkboard Regular" panose="03050602040202020205" charset="0"/>
              </a:rPr>
              <a:t>specific</a:t>
            </a:r>
            <a:r>
              <a:rPr lang="en-US" sz="2800">
                <a:latin typeface="Chalkboard Regular" panose="03050602040202020205" charset="0"/>
                <a:cs typeface="Chalkboard Regular" panose="03050602040202020205" charset="0"/>
              </a:rPr>
              <a:t> a priori goal        the </a:t>
            </a:r>
            <a:r>
              <a:rPr lang="en-US" sz="2800">
                <a:solidFill>
                  <a:schemeClr val="accent2">
                    <a:lumMod val="75000"/>
                  </a:schemeClr>
                </a:solidFill>
                <a:latin typeface="Chalkboard Regular" panose="03050602040202020205" charset="0"/>
                <a:cs typeface="Chalkboard Regular" panose="03050602040202020205" charset="0"/>
              </a:rPr>
              <a:t>generic</a:t>
            </a:r>
            <a:r>
              <a:rPr lang="en-US" sz="2800">
                <a:latin typeface="Chalkboard Regular" panose="03050602040202020205" charset="0"/>
                <a:cs typeface="Chalkboard Regular" panose="03050602040202020205" charset="0"/>
              </a:rPr>
              <a:t> goal of </a:t>
            </a:r>
            <a:r>
              <a:rPr lang="en-US" sz="2800">
                <a:solidFill>
                  <a:schemeClr val="accent2">
                    <a:lumMod val="75000"/>
                  </a:schemeClr>
                </a:solidFill>
                <a:latin typeface="Chalkboard Regular" panose="03050602040202020205" charset="0"/>
                <a:cs typeface="Chalkboard Regular" panose="03050602040202020205" charset="0"/>
              </a:rPr>
              <a:t>reward max</a:t>
            </a:r>
            <a:r>
              <a:rPr lang="en-US" sz="2800">
                <a:latin typeface="Chalkboard Regular" panose="03050602040202020205" charset="0"/>
                <a:cs typeface="Chalkboard Regular" panose="03050602040202020205" charset="0"/>
              </a:rPr>
              <a:t>imization</a:t>
            </a:r>
            <a:endParaRPr lang="en-US" sz="2800">
              <a:latin typeface="Chalkboard Regular" panose="03050602040202020205" charset="0"/>
              <a:cs typeface="Chalkboard Regular" panose="03050602040202020205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sz="2800">
              <a:latin typeface="Chalkboard Regular" panose="03050602040202020205" charset="0"/>
              <a:cs typeface="Chalkboard Regular" panose="03050602040202020205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sz="2800">
                <a:latin typeface="Chalkboard Regular" panose="03050602040202020205" charset="0"/>
                <a:cs typeface="Chalkboard Regular" panose="03050602040202020205" charset="0"/>
              </a:rPr>
              <a:t>deterministic action outcomes: unrealisitic         MDP</a:t>
            </a:r>
            <a:endParaRPr lang="en-US" sz="2800">
              <a:latin typeface="Chalkboard Regular" panose="03050602040202020205" charset="0"/>
              <a:cs typeface="Chalkboard Regular" panose="03050602040202020205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sz="2800">
              <a:latin typeface="Chalkboard Regular" panose="03050602040202020205" charset="0"/>
              <a:cs typeface="Chalkboard Regular" panose="03050602040202020205" charset="0"/>
            </a:endParaRPr>
          </a:p>
          <a:p>
            <a:pPr indent="0">
              <a:buFont typeface="Arial" panose="020B0604020202090204" pitchFamily="34" charset="0"/>
              <a:buNone/>
            </a:pPr>
            <a:endParaRPr lang="en-US" sz="2800">
              <a:latin typeface="Chalkboard Regular" panose="03050602040202020205" charset="0"/>
              <a:cs typeface="Chalkboard Regular" panose="03050602040202020205" charset="0"/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273550" y="2194560"/>
            <a:ext cx="1023620" cy="0"/>
          </a:xfrm>
          <a:prstGeom prst="straightConnector1">
            <a:avLst/>
          </a:prstGeom>
          <a:ln>
            <a:solidFill>
              <a:srgbClr val="00B05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>
            <p:custDataLst>
              <p:tags r:id="rId1"/>
            </p:custDataLst>
          </p:nvPr>
        </p:nvCxnSpPr>
        <p:spPr>
          <a:xfrm>
            <a:off x="7496810" y="3052445"/>
            <a:ext cx="1023620" cy="0"/>
          </a:xfrm>
          <a:prstGeom prst="straightConnector1">
            <a:avLst/>
          </a:prstGeom>
          <a:ln>
            <a:solidFill>
              <a:srgbClr val="00B05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8358505" cy="1086485"/>
          </a:xfrm>
        </p:spPr>
        <p:txBody>
          <a:bodyPr/>
          <a:p>
            <a:r>
              <a:rPr lang="en-US" sz="2400">
                <a:latin typeface="Georgia Regular" panose="02040502050405090303" charset="0"/>
                <a:cs typeface="Georgia Regular" panose="02040502050405090303" charset="0"/>
              </a:rPr>
              <a:t>Background</a:t>
            </a:r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647700" y="1210310"/>
            <a:ext cx="61747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>
                <a:latin typeface="Georgia Regular" panose="02040502050405090303" charset="0"/>
                <a:cs typeface="Georgia Regular" panose="02040502050405090303" charset="0"/>
              </a:rPr>
              <a:t>Traditional Perspectives on Planning:</a:t>
            </a:r>
            <a:endParaRPr lang="en-US" sz="28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34315" y="1929765"/>
            <a:ext cx="11835765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sz="2800">
                <a:latin typeface="Chalkboard Regular" panose="03050602040202020205" charset="0"/>
                <a:cs typeface="Chalkboard Regular" panose="03050602040202020205" charset="0"/>
              </a:rPr>
              <a:t>a </a:t>
            </a:r>
            <a:r>
              <a:rPr lang="en-US" sz="2800">
                <a:solidFill>
                  <a:schemeClr val="accent2">
                    <a:lumMod val="75000"/>
                  </a:schemeClr>
                </a:solidFill>
                <a:latin typeface="Chalkboard Regular" panose="03050602040202020205" charset="0"/>
                <a:cs typeface="Chalkboard Regular" panose="03050602040202020205" charset="0"/>
              </a:rPr>
              <a:t>specific</a:t>
            </a:r>
            <a:r>
              <a:rPr lang="en-US" sz="2800">
                <a:latin typeface="Chalkboard Regular" panose="03050602040202020205" charset="0"/>
                <a:cs typeface="Chalkboard Regular" panose="03050602040202020205" charset="0"/>
              </a:rPr>
              <a:t> a priori goal        the </a:t>
            </a:r>
            <a:r>
              <a:rPr lang="en-US" sz="2800">
                <a:solidFill>
                  <a:schemeClr val="accent2">
                    <a:lumMod val="75000"/>
                  </a:schemeClr>
                </a:solidFill>
                <a:latin typeface="Chalkboard Regular" panose="03050602040202020205" charset="0"/>
                <a:cs typeface="Chalkboard Regular" panose="03050602040202020205" charset="0"/>
              </a:rPr>
              <a:t>generic</a:t>
            </a:r>
            <a:r>
              <a:rPr lang="en-US" sz="2800">
                <a:latin typeface="Chalkboard Regular" panose="03050602040202020205" charset="0"/>
                <a:cs typeface="Chalkboard Regular" panose="03050602040202020205" charset="0"/>
              </a:rPr>
              <a:t> goal of </a:t>
            </a:r>
            <a:r>
              <a:rPr lang="en-US" sz="2800">
                <a:solidFill>
                  <a:schemeClr val="accent2">
                    <a:lumMod val="75000"/>
                  </a:schemeClr>
                </a:solidFill>
                <a:latin typeface="Chalkboard Regular" panose="03050602040202020205" charset="0"/>
                <a:cs typeface="Chalkboard Regular" panose="03050602040202020205" charset="0"/>
              </a:rPr>
              <a:t>reward max</a:t>
            </a:r>
            <a:r>
              <a:rPr lang="en-US" sz="2800">
                <a:latin typeface="Chalkboard Regular" panose="03050602040202020205" charset="0"/>
                <a:cs typeface="Chalkboard Regular" panose="03050602040202020205" charset="0"/>
              </a:rPr>
              <a:t>imization</a:t>
            </a:r>
            <a:endParaRPr lang="en-US" sz="2800">
              <a:latin typeface="Chalkboard Regular" panose="03050602040202020205" charset="0"/>
              <a:cs typeface="Chalkboard Regular" panose="03050602040202020205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sz="2800">
              <a:latin typeface="Chalkboard Regular" panose="03050602040202020205" charset="0"/>
              <a:cs typeface="Chalkboard Regular" panose="03050602040202020205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sz="2800">
                <a:latin typeface="Chalkboard Regular" panose="03050602040202020205" charset="0"/>
                <a:cs typeface="Chalkboard Regular" panose="03050602040202020205" charset="0"/>
              </a:rPr>
              <a:t>deterministic action outcomes: unrealisitic         MDP</a:t>
            </a:r>
            <a:endParaRPr lang="en-US" sz="2800">
              <a:latin typeface="Chalkboard Regular" panose="03050602040202020205" charset="0"/>
              <a:cs typeface="Chalkboard Regular" panose="03050602040202020205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sz="2800">
              <a:latin typeface="Chalkboard Regular" panose="03050602040202020205" charset="0"/>
              <a:cs typeface="Chalkboard Regular" panose="03050602040202020205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sz="2800">
                <a:latin typeface="Chalkboard Regular" panose="03050602040202020205" charset="0"/>
                <a:cs typeface="Chalkboard Regular" panose="03050602040202020205" charset="0"/>
              </a:rPr>
              <a:t> Dynamic Programming, Model-Based RL </a:t>
            </a:r>
            <a:endParaRPr lang="en-US" sz="2800">
              <a:latin typeface="Chalkboard Regular" panose="03050602040202020205" charset="0"/>
              <a:cs typeface="Chalkboard Regular" panose="03050602040202020205" charset="0"/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273550" y="2194560"/>
            <a:ext cx="1023620" cy="0"/>
          </a:xfrm>
          <a:prstGeom prst="straightConnector1">
            <a:avLst/>
          </a:prstGeom>
          <a:ln>
            <a:solidFill>
              <a:srgbClr val="00B05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>
            <p:custDataLst>
              <p:tags r:id="rId1"/>
            </p:custDataLst>
          </p:nvPr>
        </p:nvCxnSpPr>
        <p:spPr>
          <a:xfrm>
            <a:off x="7496810" y="3052445"/>
            <a:ext cx="1023620" cy="0"/>
          </a:xfrm>
          <a:prstGeom prst="straightConnector1">
            <a:avLst/>
          </a:prstGeom>
          <a:ln>
            <a:solidFill>
              <a:srgbClr val="00B05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825500" y="622300"/>
            <a:ext cx="90392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90204" pitchFamily="34" charset="0"/>
              <a:buNone/>
            </a:pPr>
            <a:r>
              <a:rPr lang="en-US" sz="3200">
                <a:latin typeface="Georgia Regular" panose="02040502050405090303" charset="0"/>
                <a:cs typeface="Georgia Regular" panose="02040502050405090303" charset="0"/>
              </a:rPr>
              <a:t>Planning as Inference</a:t>
            </a:r>
            <a:endParaRPr lang="en-US" sz="3200">
              <a:latin typeface="Georgia Regular" panose="02040502050405090303" charset="0"/>
              <a:cs typeface="Georgia Regular" panose="02040502050405090303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825500" y="622300"/>
            <a:ext cx="90392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90204" pitchFamily="34" charset="0"/>
              <a:buNone/>
            </a:pPr>
            <a:r>
              <a:rPr lang="en-US" sz="2400">
                <a:latin typeface="Georgia Regular" panose="02040502050405090303" charset="0"/>
                <a:cs typeface="Georgia Regular" panose="02040502050405090303" charset="0"/>
              </a:rPr>
              <a:t>Planning as Inference</a:t>
            </a:r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969645" y="1377950"/>
            <a:ext cx="91357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>
                <a:latin typeface="Times New Roman Regular" panose="02020503050405090304" charset="0"/>
                <a:cs typeface="Times New Roman Regular" panose="02020503050405090304" charset="0"/>
              </a:rPr>
              <a:t>The brain/agent has a generative model of the world  </a:t>
            </a:r>
            <a:endParaRPr lang="en-US" sz="32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76020" y="1917700"/>
            <a:ext cx="6362700" cy="494030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7650480" y="3634105"/>
            <a:ext cx="4064000" cy="15074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000">
                <a:latin typeface="Georgia Regular" panose="02040502050405090303" charset="0"/>
                <a:cs typeface="Georgia Regular" panose="02040502050405090303" charset="0"/>
              </a:rPr>
              <a:t>a </a:t>
            </a:r>
            <a:r>
              <a:rPr lang="en-US" sz="2000">
                <a:solidFill>
                  <a:srgbClr val="7030A0"/>
                </a:solidFill>
                <a:latin typeface="Georgia Regular" panose="02040502050405090303" charset="0"/>
                <a:cs typeface="Georgia Regular" panose="02040502050405090303" charset="0"/>
              </a:rPr>
              <a:t>joint probability distribution</a:t>
            </a:r>
            <a:r>
              <a:rPr lang="en-US" sz="2000">
                <a:latin typeface="Georgia Regular" panose="02040502050405090303" charset="0"/>
                <a:cs typeface="Georgia Regular" panose="02040502050405090303" charset="0"/>
              </a:rPr>
              <a:t> over actions, outcome states, and rewards</a:t>
            </a:r>
            <a:endParaRPr lang="en-US" sz="2000">
              <a:latin typeface="Georgia Regular" panose="02040502050405090303" charset="0"/>
              <a:cs typeface="Georgia Regular" panose="02040502050405090303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825500" y="622300"/>
            <a:ext cx="90392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90204" pitchFamily="34" charset="0"/>
              <a:buNone/>
            </a:pPr>
            <a:r>
              <a:rPr lang="en-US" sz="2400">
                <a:latin typeface="Georgia Regular" panose="02040502050405090303" charset="0"/>
                <a:cs typeface="Georgia Regular" panose="02040502050405090303" charset="0"/>
              </a:rPr>
              <a:t>Planning as Inference</a:t>
            </a:r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969645" y="1377950"/>
            <a:ext cx="11077575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>
                <a:latin typeface="Times New Roman Regular" panose="02020503050405090304" charset="0"/>
                <a:cs typeface="Times New Roman Regular" panose="02020503050405090304" charset="0"/>
              </a:rPr>
              <a:t>The brain/agent has a generative model of the world</a:t>
            </a:r>
            <a:endParaRPr lang="en-US" sz="32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endParaRPr lang="en-US" sz="32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sz="3200">
                <a:latin typeface="Times New Roman Regular" panose="02020503050405090304" charset="0"/>
                <a:cs typeface="Times New Roman Regular" panose="02020503050405090304" charset="0"/>
              </a:rPr>
              <a:t>Condition on reward: assume reward</a:t>
            </a:r>
            <a:r>
              <a:rPr lang="zh-CN" altLang="en-US" sz="3200">
                <a:latin typeface="Times New Roman Regular" panose="02020503050405090304" charset="0"/>
                <a:cs typeface="Times New Roman Regular" panose="02020503050405090304" charset="0"/>
              </a:rPr>
              <a:t>✅</a:t>
            </a:r>
            <a:r>
              <a:rPr lang="en-US" altLang="zh-CN" sz="3200">
                <a:latin typeface="Times New Roman Regular" panose="02020503050405090304" charset="0"/>
                <a:cs typeface="Times New Roman Regular" panose="02020503050405090304" charset="0"/>
              </a:rPr>
              <a:t>, what’s the                 </a:t>
            </a:r>
            <a:endParaRPr lang="en-US" altLang="zh-CN" sz="32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altLang="zh-CN" sz="3200">
                <a:latin typeface="Times New Roman Regular" panose="02020503050405090304" charset="0"/>
                <a:cs typeface="Times New Roman Regular" panose="02020503050405090304" charset="0"/>
              </a:rPr>
              <a:t>                                   most probable action/policy </a:t>
            </a:r>
            <a:r>
              <a:rPr lang="en-US" altLang="zh-CN" sz="2400">
                <a:latin typeface="Times New Roman Regular" panose="02020503050405090304" charset="0"/>
                <a:cs typeface="Times New Roman Regular" panose="02020503050405090304" charset="0"/>
              </a:rPr>
              <a:t>that had been taken</a:t>
            </a:r>
            <a:r>
              <a:rPr lang="en-US" altLang="zh-CN" sz="3200">
                <a:latin typeface="Times New Roman Regular" panose="02020503050405090304" charset="0"/>
                <a:cs typeface="Times New Roman Regular" panose="02020503050405090304" charset="0"/>
              </a:rPr>
              <a:t> ?</a:t>
            </a:r>
            <a:endParaRPr lang="en-US" altLang="zh-CN" sz="32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005205" y="4831080"/>
            <a:ext cx="5518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>
                <a:latin typeface="Chalkboard Regular" panose="03050602040202020205" charset="0"/>
                <a:cs typeface="Chalkboard Regular" panose="03050602040202020205" charset="0"/>
              </a:rPr>
              <a:t>S</a:t>
            </a:r>
            <a:r>
              <a:rPr lang="en-US" sz="2000">
                <a:latin typeface="Chalkboard Regular" panose="03050602040202020205" charset="0"/>
                <a:cs typeface="Chalkboard Regular" panose="03050602040202020205" charset="0"/>
              </a:rPr>
              <a:t>1</a:t>
            </a:r>
            <a:endParaRPr lang="en-US" sz="2000">
              <a:latin typeface="Chalkboard Regular" panose="03050602040202020205" charset="0"/>
              <a:cs typeface="Chalkboard Regular" panose="03050602040202020205" charset="0"/>
            </a:endParaRPr>
          </a:p>
        </p:txBody>
      </p:sp>
      <p:sp>
        <p:nvSpPr>
          <p:cNvPr id="7" name="Text Box 6"/>
          <p:cNvSpPr txBox="1"/>
          <p:nvPr>
            <p:custDataLst>
              <p:tags r:id="rId1"/>
            </p:custDataLst>
          </p:nvPr>
        </p:nvSpPr>
        <p:spPr>
          <a:xfrm>
            <a:off x="4082415" y="4011295"/>
            <a:ext cx="1834515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>
                <a:latin typeface="Chalkboard Regular" panose="03050602040202020205" charset="0"/>
                <a:cs typeface="Chalkboard Regular" panose="03050602040202020205" charset="0"/>
              </a:rPr>
              <a:t>S</a:t>
            </a:r>
            <a:r>
              <a:rPr lang="en-US" sz="2000">
                <a:latin typeface="Chalkboard Regular" panose="03050602040202020205" charset="0"/>
                <a:cs typeface="Chalkboard Regular" panose="03050602040202020205" charset="0"/>
              </a:rPr>
              <a:t>2</a:t>
            </a:r>
            <a:endParaRPr lang="en-US" sz="2000">
              <a:latin typeface="Chalkboard Regular" panose="03050602040202020205" charset="0"/>
              <a:cs typeface="Chalkboard Regular" panose="03050602040202020205" charset="0"/>
            </a:endParaRPr>
          </a:p>
          <a:p>
            <a:r>
              <a:rPr lang="en-US" sz="2000">
                <a:latin typeface="Chalkboard Regular" panose="03050602040202020205" charset="0"/>
                <a:cs typeface="Chalkboard Regular" panose="03050602040202020205" charset="0"/>
              </a:rPr>
              <a:t>(reward!)</a:t>
            </a:r>
            <a:endParaRPr lang="en-US" sz="2000">
              <a:latin typeface="Chalkboard Regular" panose="03050602040202020205" charset="0"/>
              <a:cs typeface="Chalkboard Regular" panose="03050602040202020205" charset="0"/>
            </a:endParaRPr>
          </a:p>
        </p:txBody>
      </p:sp>
      <p:sp>
        <p:nvSpPr>
          <p:cNvPr id="8" name="Text Box 7"/>
          <p:cNvSpPr txBox="1"/>
          <p:nvPr>
            <p:custDataLst>
              <p:tags r:id="rId2"/>
            </p:custDataLst>
          </p:nvPr>
        </p:nvSpPr>
        <p:spPr>
          <a:xfrm>
            <a:off x="4082415" y="5773420"/>
            <a:ext cx="5518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>
                <a:latin typeface="Chalkboard Regular" panose="03050602040202020205" charset="0"/>
                <a:cs typeface="Chalkboard Regular" panose="03050602040202020205" charset="0"/>
              </a:rPr>
              <a:t>S</a:t>
            </a:r>
            <a:r>
              <a:rPr lang="en-US" sz="2000">
                <a:latin typeface="Chalkboard Regular" panose="03050602040202020205" charset="0"/>
                <a:cs typeface="Chalkboard Regular" panose="03050602040202020205" charset="0"/>
              </a:rPr>
              <a:t>1</a:t>
            </a:r>
            <a:endParaRPr lang="en-US" sz="2000">
              <a:latin typeface="Chalkboard Regular" panose="03050602040202020205" charset="0"/>
              <a:cs typeface="Chalkboard Regular" panose="03050602040202020205" charset="0"/>
            </a:endParaRPr>
          </a:p>
        </p:txBody>
      </p:sp>
      <p:cxnSp>
        <p:nvCxnSpPr>
          <p:cNvPr id="9" name="Straight Arrow Connector 8"/>
          <p:cNvCxnSpPr>
            <a:stCxn id="4" idx="3"/>
          </p:cNvCxnSpPr>
          <p:nvPr/>
        </p:nvCxnSpPr>
        <p:spPr>
          <a:xfrm flipV="1">
            <a:off x="1557020" y="4531360"/>
            <a:ext cx="1235075" cy="5918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4" idx="3"/>
          </p:cNvCxnSpPr>
          <p:nvPr/>
        </p:nvCxnSpPr>
        <p:spPr>
          <a:xfrm>
            <a:off x="1557020" y="5123180"/>
            <a:ext cx="1139190" cy="6788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Text Box 10"/>
          <p:cNvSpPr txBox="1"/>
          <p:nvPr/>
        </p:nvSpPr>
        <p:spPr>
          <a:xfrm>
            <a:off x="1826895" y="4370705"/>
            <a:ext cx="5994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Chalkboard Regular" panose="03050602040202020205" charset="0"/>
                <a:cs typeface="Chalkboard Regular" panose="03050602040202020205" charset="0"/>
              </a:rPr>
              <a:t>a</a:t>
            </a:r>
            <a:r>
              <a:rPr lang="en-US">
                <a:latin typeface="Chalkboard Regular" panose="03050602040202020205" charset="0"/>
                <a:cs typeface="Chalkboard Regular" panose="03050602040202020205" charset="0"/>
              </a:rPr>
              <a:t>1</a:t>
            </a:r>
            <a:endParaRPr lang="en-US">
              <a:latin typeface="Chalkboard Regular" panose="03050602040202020205" charset="0"/>
              <a:cs typeface="Chalkboard Regular" panose="03050602040202020205" charset="0"/>
            </a:endParaRPr>
          </a:p>
        </p:txBody>
      </p:sp>
      <p:sp>
        <p:nvSpPr>
          <p:cNvPr id="12" name="Text Box 11"/>
          <p:cNvSpPr txBox="1"/>
          <p:nvPr>
            <p:custDataLst>
              <p:tags r:id="rId3"/>
            </p:custDataLst>
          </p:nvPr>
        </p:nvSpPr>
        <p:spPr>
          <a:xfrm>
            <a:off x="1826895" y="5393055"/>
            <a:ext cx="5994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Chalkboard Regular" panose="03050602040202020205" charset="0"/>
                <a:cs typeface="Chalkboard Regular" panose="03050602040202020205" charset="0"/>
              </a:rPr>
              <a:t>a</a:t>
            </a:r>
            <a:r>
              <a:rPr lang="en-US">
                <a:latin typeface="Chalkboard Regular" panose="03050602040202020205" charset="0"/>
                <a:cs typeface="Chalkboard Regular" panose="03050602040202020205" charset="0"/>
              </a:rPr>
              <a:t>2</a:t>
            </a:r>
            <a:endParaRPr lang="en-US">
              <a:latin typeface="Chalkboard Regular" panose="03050602040202020205" charset="0"/>
              <a:cs typeface="Chalkboard Regular" panose="03050602040202020205" charset="0"/>
            </a:endParaRPr>
          </a:p>
        </p:txBody>
      </p:sp>
      <p:cxnSp>
        <p:nvCxnSpPr>
          <p:cNvPr id="13" name="Straight Arrow Connector 12"/>
          <p:cNvCxnSpPr>
            <a:endCxn id="7" idx="1"/>
          </p:cNvCxnSpPr>
          <p:nvPr/>
        </p:nvCxnSpPr>
        <p:spPr>
          <a:xfrm flipV="1">
            <a:off x="2792095" y="4457065"/>
            <a:ext cx="1290320" cy="622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endCxn id="8" idx="1"/>
          </p:cNvCxnSpPr>
          <p:nvPr/>
        </p:nvCxnSpPr>
        <p:spPr>
          <a:xfrm>
            <a:off x="2792095" y="4507230"/>
            <a:ext cx="1290320" cy="15582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7" idx="1"/>
          </p:cNvCxnSpPr>
          <p:nvPr/>
        </p:nvCxnSpPr>
        <p:spPr>
          <a:xfrm flipV="1">
            <a:off x="2660015" y="4457065"/>
            <a:ext cx="1422400" cy="13087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8" idx="1"/>
          </p:cNvCxnSpPr>
          <p:nvPr/>
        </p:nvCxnSpPr>
        <p:spPr>
          <a:xfrm>
            <a:off x="2719705" y="5754370"/>
            <a:ext cx="1362710" cy="3111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Text Box 16"/>
          <p:cNvSpPr txBox="1"/>
          <p:nvPr/>
        </p:nvSpPr>
        <p:spPr>
          <a:xfrm>
            <a:off x="3163570" y="4135755"/>
            <a:ext cx="5029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Chalkboard Regular" panose="03050602040202020205" charset="0"/>
                <a:cs typeface="Chalkboard Regular" panose="03050602040202020205" charset="0"/>
              </a:rPr>
              <a:t>0.1</a:t>
            </a:r>
            <a:endParaRPr lang="en-US">
              <a:latin typeface="Chalkboard Regular" panose="03050602040202020205" charset="0"/>
              <a:cs typeface="Chalkboard Regular" panose="03050602040202020205" charset="0"/>
            </a:endParaRPr>
          </a:p>
        </p:txBody>
      </p:sp>
      <p:sp>
        <p:nvSpPr>
          <p:cNvPr id="18" name="Text Box 17"/>
          <p:cNvSpPr txBox="1"/>
          <p:nvPr>
            <p:custDataLst>
              <p:tags r:id="rId4"/>
            </p:custDataLst>
          </p:nvPr>
        </p:nvSpPr>
        <p:spPr>
          <a:xfrm>
            <a:off x="2799080" y="4708525"/>
            <a:ext cx="874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Chalkboard Regular" panose="03050602040202020205" charset="0"/>
                <a:cs typeface="Chalkboard Regular" panose="03050602040202020205" charset="0"/>
              </a:rPr>
              <a:t>0.9</a:t>
            </a:r>
            <a:endParaRPr lang="en-US">
              <a:latin typeface="Chalkboard Regular" panose="03050602040202020205" charset="0"/>
              <a:cs typeface="Chalkboard Regular" panose="03050602040202020205" charset="0"/>
            </a:endParaRPr>
          </a:p>
        </p:txBody>
      </p:sp>
      <p:sp>
        <p:nvSpPr>
          <p:cNvPr id="19" name="Text Box 18"/>
          <p:cNvSpPr txBox="1"/>
          <p:nvPr>
            <p:custDataLst>
              <p:tags r:id="rId5"/>
            </p:custDataLst>
          </p:nvPr>
        </p:nvSpPr>
        <p:spPr>
          <a:xfrm>
            <a:off x="2937510" y="5201285"/>
            <a:ext cx="874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Chalkboard Regular" panose="03050602040202020205" charset="0"/>
                <a:cs typeface="Chalkboard Regular" panose="03050602040202020205" charset="0"/>
              </a:rPr>
              <a:t>0.6</a:t>
            </a:r>
            <a:endParaRPr lang="en-US">
              <a:latin typeface="Chalkboard Regular" panose="03050602040202020205" charset="0"/>
              <a:cs typeface="Chalkboard Regular" panose="03050602040202020205" charset="0"/>
            </a:endParaRPr>
          </a:p>
        </p:txBody>
      </p:sp>
      <p:sp>
        <p:nvSpPr>
          <p:cNvPr id="20" name="Text Box 19"/>
          <p:cNvSpPr txBox="1"/>
          <p:nvPr>
            <p:custDataLst>
              <p:tags r:id="rId6"/>
            </p:custDataLst>
          </p:nvPr>
        </p:nvSpPr>
        <p:spPr>
          <a:xfrm>
            <a:off x="2937510" y="5845175"/>
            <a:ext cx="874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Chalkboard Regular" panose="03050602040202020205" charset="0"/>
                <a:cs typeface="Chalkboard Regular" panose="03050602040202020205" charset="0"/>
              </a:rPr>
              <a:t>0.4</a:t>
            </a:r>
            <a:endParaRPr lang="en-US">
              <a:latin typeface="Chalkboard Regular" panose="03050602040202020205" charset="0"/>
              <a:cs typeface="Chalkboard Regular" panose="03050602040202020205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825500" y="622300"/>
            <a:ext cx="90392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90204" pitchFamily="34" charset="0"/>
              <a:buNone/>
            </a:pPr>
            <a:r>
              <a:rPr lang="en-US" sz="2400">
                <a:latin typeface="Georgia Regular" panose="02040502050405090303" charset="0"/>
                <a:cs typeface="Georgia Regular" panose="02040502050405090303" charset="0"/>
              </a:rPr>
              <a:t>Planning as Inference</a:t>
            </a:r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969645" y="1377950"/>
            <a:ext cx="10706735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>
                <a:latin typeface="Times New Roman Regular" panose="02020503050405090304" charset="0"/>
                <a:cs typeface="Times New Roman Regular" panose="02020503050405090304" charset="0"/>
              </a:rPr>
              <a:t>The brain/agent has a generative model of the world</a:t>
            </a:r>
            <a:endParaRPr lang="en-US" sz="32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endParaRPr lang="en-US" sz="32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sz="3200">
                <a:latin typeface="Times New Roman Regular" panose="02020503050405090304" charset="0"/>
                <a:cs typeface="Times New Roman Regular" panose="02020503050405090304" charset="0"/>
              </a:rPr>
              <a:t>Condition on reward: assume reward</a:t>
            </a:r>
            <a:r>
              <a:rPr lang="zh-CN" altLang="en-US" sz="3200">
                <a:latin typeface="Times New Roman Regular" panose="02020503050405090304" charset="0"/>
                <a:cs typeface="Times New Roman Regular" panose="02020503050405090304" charset="0"/>
              </a:rPr>
              <a:t>✅</a:t>
            </a:r>
            <a:r>
              <a:rPr lang="en-US" altLang="zh-CN" sz="3200">
                <a:latin typeface="Times New Roman Regular" panose="02020503050405090304" charset="0"/>
                <a:cs typeface="Times New Roman Regular" panose="02020503050405090304" charset="0"/>
              </a:rPr>
              <a:t>, what’s the                 </a:t>
            </a:r>
            <a:endParaRPr lang="en-US" altLang="zh-CN" sz="32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altLang="zh-CN" sz="3200">
                <a:latin typeface="Times New Roman Regular" panose="02020503050405090304" charset="0"/>
                <a:cs typeface="Times New Roman Regular" panose="02020503050405090304" charset="0"/>
              </a:rPr>
              <a:t>                                   most probable action </a:t>
            </a:r>
            <a:r>
              <a:rPr lang="en-US" altLang="zh-CN" sz="2400">
                <a:latin typeface="Times New Roman Regular" panose="02020503050405090304" charset="0"/>
                <a:cs typeface="Times New Roman Regular" panose="02020503050405090304" charset="0"/>
              </a:rPr>
              <a:t>that had been taken</a:t>
            </a:r>
            <a:r>
              <a:rPr lang="en-US" altLang="zh-CN" sz="3200">
                <a:latin typeface="Times New Roman Regular" panose="02020503050405090304" charset="0"/>
                <a:cs typeface="Times New Roman Regular" panose="02020503050405090304" charset="0"/>
              </a:rPr>
              <a:t> ?</a:t>
            </a:r>
            <a:endParaRPr lang="en-US" altLang="zh-CN" sz="32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algn="ctr"/>
            <a:r>
              <a:rPr lang="en-US" altLang="zh-CN" sz="3200">
                <a:solidFill>
                  <a:srgbClr val="FF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Probabilistic Inference/ Inverse Inference</a:t>
            </a:r>
            <a:endParaRPr lang="en-US" altLang="zh-CN" sz="3200">
              <a:solidFill>
                <a:srgbClr val="FF0000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endParaRPr lang="en-US" altLang="zh-CN" sz="32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endParaRPr lang="en-US" altLang="zh-CN" sz="32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550545" y="562610"/>
            <a:ext cx="10621010" cy="31076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>
                <a:latin typeface="Chalkboard Regular" panose="03050602040202020205" charset="0"/>
                <a:cs typeface="Chalkboard Regular" panose="03050602040202020205" charset="0"/>
                <a:sym typeface="+mn-ea"/>
              </a:rPr>
              <a:t> Dynamic Programming, Model-Based RL:</a:t>
            </a:r>
            <a:endParaRPr lang="en-US" sz="2800">
              <a:latin typeface="Chalkboard Regular" panose="03050602040202020205" charset="0"/>
              <a:cs typeface="Chalkboard Regular" panose="03050602040202020205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sz="2800">
                <a:solidFill>
                  <a:srgbClr val="0070C0"/>
                </a:solidFill>
                <a:latin typeface="Georgia Regular" panose="02040502050405090303" charset="0"/>
                <a:cs typeface="Georgia Regular" panose="02040502050405090303" charset="0"/>
              </a:rPr>
              <a:t>Forward</a:t>
            </a:r>
            <a:r>
              <a:rPr lang="en-US" sz="2800">
                <a:latin typeface="Georgia Regular" panose="02040502050405090303" charset="0"/>
                <a:cs typeface="Georgia Regular" panose="02040502050405090303" charset="0"/>
              </a:rPr>
              <a:t>-looking, </a:t>
            </a:r>
            <a:r>
              <a:rPr lang="en-US" sz="2800">
                <a:solidFill>
                  <a:schemeClr val="accent6">
                    <a:lumMod val="60000"/>
                    <a:lumOff val="40000"/>
                  </a:schemeClr>
                </a:solidFill>
                <a:latin typeface="Georgia Regular" panose="02040502050405090303" charset="0"/>
                <a:cs typeface="Georgia Regular" panose="02040502050405090303" charset="0"/>
              </a:rPr>
              <a:t>Value optimization</a:t>
            </a:r>
            <a:endParaRPr lang="en-US" sz="2800">
              <a:solidFill>
                <a:schemeClr val="accent6">
                  <a:lumMod val="60000"/>
                  <a:lumOff val="40000"/>
                </a:schemeClr>
              </a:solidFill>
              <a:latin typeface="Georgia Regular" panose="02040502050405090303" charset="0"/>
              <a:cs typeface="Georgia Regular" panose="02040502050405090303" charset="0"/>
            </a:endParaRPr>
          </a:p>
          <a:p>
            <a:endParaRPr lang="en-US" sz="2800">
              <a:latin typeface="Georgia Regular" panose="02040502050405090303" charset="0"/>
              <a:cs typeface="Georgia Regular" panose="02040502050405090303" charset="0"/>
            </a:endParaRPr>
          </a:p>
          <a:p>
            <a:endParaRPr lang="en-US" sz="2800">
              <a:latin typeface="Chalkboard Regular" panose="03050602040202020205" charset="0"/>
              <a:cs typeface="Chalkboard Regular" panose="03050602040202020205" charset="0"/>
            </a:endParaRPr>
          </a:p>
          <a:p>
            <a:r>
              <a:rPr lang="en-US" sz="2800">
                <a:latin typeface="Chalkboard Regular" panose="03050602040202020205" charset="0"/>
                <a:cs typeface="Chalkboard Regular" panose="03050602040202020205" charset="0"/>
              </a:rPr>
              <a:t>Planning as Inference(PAI):</a:t>
            </a:r>
            <a:endParaRPr lang="en-US" sz="2800">
              <a:latin typeface="Chalkboard Regular" panose="03050602040202020205" charset="0"/>
              <a:cs typeface="Chalkboard Regular" panose="03050602040202020205" charset="0"/>
            </a:endParaRPr>
          </a:p>
          <a:p>
            <a:pPr>
              <a:lnSpc>
                <a:spcPct val="150000"/>
              </a:lnSpc>
            </a:pPr>
            <a:r>
              <a:rPr lang="en-US" sz="2800">
                <a:solidFill>
                  <a:srgbClr val="0070C0"/>
                </a:solidFill>
                <a:latin typeface="Georgia Regular" panose="02040502050405090303" charset="0"/>
                <a:cs typeface="Georgia Regular" panose="02040502050405090303" charset="0"/>
              </a:rPr>
              <a:t>Backward</a:t>
            </a:r>
            <a:r>
              <a:rPr lang="en-US" sz="2800">
                <a:latin typeface="Georgia Regular" panose="02040502050405090303" charset="0"/>
                <a:cs typeface="Georgia Regular" panose="02040502050405090303" charset="0"/>
              </a:rPr>
              <a:t>-looking, </a:t>
            </a:r>
            <a:r>
              <a:rPr lang="en-US" sz="2800">
                <a:solidFill>
                  <a:schemeClr val="accent6">
                    <a:lumMod val="60000"/>
                    <a:lumOff val="40000"/>
                  </a:schemeClr>
                </a:solidFill>
                <a:latin typeface="Georgia Regular" panose="02040502050405090303" charset="0"/>
                <a:cs typeface="Georgia Regular" panose="02040502050405090303" charset="0"/>
              </a:rPr>
              <a:t>Probabilistic Inference</a:t>
            </a:r>
            <a:endParaRPr lang="en-US" sz="2800">
              <a:solidFill>
                <a:schemeClr val="accent6">
                  <a:lumMod val="60000"/>
                  <a:lumOff val="40000"/>
                </a:schemeClr>
              </a:solidFill>
              <a:latin typeface="Georgia Regular" panose="02040502050405090303" charset="0"/>
              <a:cs typeface="Georgia Regular" panose="02040502050405090303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825500" y="622300"/>
            <a:ext cx="90392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90204" pitchFamily="34" charset="0"/>
              <a:buNone/>
            </a:pPr>
            <a:r>
              <a:rPr lang="en-US" sz="2400">
                <a:latin typeface="Georgia Regular" panose="02040502050405090303" charset="0"/>
                <a:cs typeface="Georgia Regular" panose="02040502050405090303" charset="0"/>
              </a:rPr>
              <a:t>PAI applications</a:t>
            </a:r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25500" y="1157605"/>
            <a:ext cx="2772410" cy="545909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3597910" y="1390015"/>
            <a:ext cx="847217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sz="2800">
                <a:latin typeface="Chalkboard Regular" panose="03050602040202020205" charset="0"/>
                <a:cs typeface="Chalkboard Regular" panose="03050602040202020205" charset="0"/>
              </a:rPr>
              <a:t>Success in Machine Learning and Robotics</a:t>
            </a:r>
            <a:endParaRPr lang="en-US" sz="2800">
              <a:latin typeface="Chalkboard Regular" panose="03050602040202020205" charset="0"/>
              <a:cs typeface="Chalkboard Regular" panose="03050602040202020205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sz="2800">
              <a:latin typeface="Chalkboard Regular" panose="03050602040202020205" charset="0"/>
              <a:cs typeface="Chalkboard Regular" panose="03050602040202020205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sz="2800">
                <a:latin typeface="Chalkboard Regular" panose="03050602040202020205" charset="0"/>
                <a:cs typeface="Chalkboard Regular" panose="03050602040202020205" charset="0"/>
              </a:rPr>
              <a:t>Discover optimal solutions more quickly</a:t>
            </a:r>
            <a:endParaRPr lang="en-US" sz="2800">
              <a:latin typeface="Chalkboard Regular" panose="03050602040202020205" charset="0"/>
              <a:cs typeface="Chalkboard Regular" panose="03050602040202020205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sz="2800">
              <a:latin typeface="Chalkboard Regular" panose="03050602040202020205" charset="0"/>
              <a:cs typeface="Chalkboard Regular" panose="03050602040202020205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sz="2800">
                <a:latin typeface="Chalkboard Regular" panose="03050602040202020205" charset="0"/>
                <a:cs typeface="Chalkboard Regular" panose="03050602040202020205" charset="0"/>
              </a:rPr>
              <a:t>Tackle complex problems(otherwise intractable)</a:t>
            </a:r>
            <a:endParaRPr lang="en-US" sz="2800">
              <a:latin typeface="Chalkboard Regular" panose="03050602040202020205" charset="0"/>
              <a:cs typeface="Chalkboard Regular" panose="03050602040202020205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825500" y="622300"/>
            <a:ext cx="90392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90204" pitchFamily="34" charset="0"/>
              <a:buNone/>
            </a:pPr>
            <a:r>
              <a:rPr lang="en-US" sz="2400">
                <a:latin typeface="Georgia Regular" panose="02040502050405090303" charset="0"/>
                <a:cs typeface="Georgia Regular" panose="02040502050405090303" charset="0"/>
              </a:rPr>
              <a:t>PAI applications</a:t>
            </a:r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825500" y="1230630"/>
            <a:ext cx="805561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>
                <a:latin typeface="Times New Roman Regular" panose="02020503050405090304" charset="0"/>
                <a:cs typeface="Times New Roman Regular" panose="02020503050405090304" charset="0"/>
              </a:rPr>
              <a:t>Two Critical Developments in PAI theory:</a:t>
            </a:r>
            <a:endParaRPr lang="en-US" sz="32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endParaRPr lang="en-US" sz="32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457200" indent="-457200">
              <a:buFont typeface="Arial" panose="020B0604020202090204" pitchFamily="34" charset="0"/>
              <a:buChar char="•"/>
            </a:pPr>
            <a:r>
              <a:rPr lang="en-US" sz="3200">
                <a:solidFill>
                  <a:srgbClr val="00B05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Rigorous Mathematical Formulations</a:t>
            </a:r>
            <a:r>
              <a:rPr lang="en-US" sz="3200">
                <a:latin typeface="Times New Roman Regular" panose="02020503050405090304" charset="0"/>
                <a:cs typeface="Times New Roman Regular" panose="02020503050405090304" charset="0"/>
              </a:rPr>
              <a:t>:</a:t>
            </a:r>
            <a:endParaRPr lang="en-US" sz="32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457200" indent="-457200">
              <a:buFont typeface="Arial" panose="020B0604020202090204" pitchFamily="34" charset="0"/>
              <a:buChar char="•"/>
            </a:pPr>
            <a:endParaRPr lang="en-US" sz="32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457200" indent="-457200">
              <a:buFont typeface="Arial" panose="020B0604020202090204" pitchFamily="34" charset="0"/>
              <a:buChar char="•"/>
            </a:pPr>
            <a:endParaRPr lang="en-US" sz="32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457200" indent="-457200">
              <a:buFont typeface="Arial" panose="020B0604020202090204" pitchFamily="34" charset="0"/>
              <a:buChar char="•"/>
            </a:pPr>
            <a:r>
              <a:rPr lang="en-US" sz="3200">
                <a:solidFill>
                  <a:srgbClr val="00B05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Efficient Algorithms</a:t>
            </a:r>
            <a:r>
              <a:rPr lang="en-US" sz="320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(e.g. EM)</a:t>
            </a:r>
            <a:endParaRPr lang="en-US" sz="320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857500" y="2749550"/>
            <a:ext cx="4883150" cy="102425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825500" y="622300"/>
            <a:ext cx="90392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90204" pitchFamily="34" charset="0"/>
              <a:buNone/>
            </a:pPr>
            <a:r>
              <a:rPr lang="en-US" sz="2400">
                <a:latin typeface="Georgia Regular" panose="02040502050405090303" charset="0"/>
                <a:cs typeface="Georgia Regular" panose="02040502050405090303" charset="0"/>
              </a:rPr>
              <a:t>PAI applications</a:t>
            </a:r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4" name="Round Diagonal Corner Rectangle 3"/>
          <p:cNvSpPr/>
          <p:nvPr/>
        </p:nvSpPr>
        <p:spPr>
          <a:xfrm>
            <a:off x="957580" y="1186180"/>
            <a:ext cx="3788410" cy="2326005"/>
          </a:xfrm>
          <a:prstGeom prst="round2Diag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Round Diagonal Corner Rectangle 5"/>
          <p:cNvSpPr/>
          <p:nvPr>
            <p:custDataLst>
              <p:tags r:id="rId1"/>
            </p:custDataLst>
          </p:nvPr>
        </p:nvSpPr>
        <p:spPr>
          <a:xfrm flipH="1">
            <a:off x="5377815" y="4094480"/>
            <a:ext cx="3788410" cy="2326005"/>
          </a:xfrm>
          <a:prstGeom prst="round2Diag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1257300" y="13779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Chalkboard Regular" panose="03050602040202020205" charset="0"/>
                <a:cs typeface="Chalkboard Regular" panose="03050602040202020205" charset="0"/>
              </a:rPr>
              <a:t>E-step(expectation/inference)</a:t>
            </a:r>
            <a:endParaRPr lang="en-US">
              <a:latin typeface="Chalkboard Regular" panose="03050602040202020205" charset="0"/>
              <a:cs typeface="Chalkboard Regular" panose="03050602040202020205" charset="0"/>
            </a:endParaRPr>
          </a:p>
        </p:txBody>
      </p:sp>
      <p:sp>
        <p:nvSpPr>
          <p:cNvPr id="8" name="Text Box 7"/>
          <p:cNvSpPr txBox="1"/>
          <p:nvPr>
            <p:custDataLst>
              <p:tags r:id="rId2"/>
            </p:custDataLst>
          </p:nvPr>
        </p:nvSpPr>
        <p:spPr>
          <a:xfrm>
            <a:off x="5488940" y="42386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Chalkboard Regular" panose="03050602040202020205" charset="0"/>
                <a:cs typeface="Chalkboard Regular" panose="03050602040202020205" charset="0"/>
              </a:rPr>
              <a:t>M-step(maximization/planning)</a:t>
            </a:r>
            <a:endParaRPr lang="en-US">
              <a:latin typeface="Chalkboard Regular" panose="03050602040202020205" charset="0"/>
              <a:cs typeface="Chalkboard Regular" panose="03050602040202020205" charset="0"/>
            </a:endParaRPr>
          </a:p>
        </p:txBody>
      </p:sp>
      <p:cxnSp>
        <p:nvCxnSpPr>
          <p:cNvPr id="9" name="Curved Connector 8"/>
          <p:cNvCxnSpPr>
            <a:stCxn id="4" idx="1"/>
            <a:endCxn id="6" idx="0"/>
          </p:cNvCxnSpPr>
          <p:nvPr/>
        </p:nvCxnSpPr>
        <p:spPr>
          <a:xfrm rot="5400000" flipV="1">
            <a:off x="3242310" y="3121660"/>
            <a:ext cx="1745615" cy="2526030"/>
          </a:xfrm>
          <a:prstGeom prst="curvedConnector2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Curved Connector 9"/>
          <p:cNvCxnSpPr>
            <a:stCxn id="6" idx="3"/>
            <a:endCxn id="4" idx="0"/>
          </p:cNvCxnSpPr>
          <p:nvPr/>
        </p:nvCxnSpPr>
        <p:spPr>
          <a:xfrm rot="16200000" flipV="1">
            <a:off x="5136515" y="1958975"/>
            <a:ext cx="1744980" cy="2526030"/>
          </a:xfrm>
          <a:prstGeom prst="curvedConnector2">
            <a:avLst/>
          </a:prstGeom>
          <a:ln>
            <a:solidFill>
              <a:schemeClr val="accent3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Text Box 10"/>
          <p:cNvSpPr txBox="1"/>
          <p:nvPr/>
        </p:nvSpPr>
        <p:spPr>
          <a:xfrm>
            <a:off x="1161415" y="1845310"/>
            <a:ext cx="3955415" cy="13430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000">
                <a:latin typeface="Times New Roman Regular" panose="02020503050405090304" charset="0"/>
                <a:cs typeface="Times New Roman Regular" panose="02020503050405090304" charset="0"/>
              </a:rPr>
              <a:t>Estimate the posterior distribution</a:t>
            </a:r>
            <a:endParaRPr lang="en-US" sz="2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sz="2000">
                <a:latin typeface="Times New Roman Regular" panose="02020503050405090304" charset="0"/>
                <a:cs typeface="Times New Roman Regular" panose="02020503050405090304" charset="0"/>
              </a:rPr>
              <a:t>of optimal trajectories, q(τ),</a:t>
            </a:r>
            <a:endParaRPr lang="en-US" sz="2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sz="2000">
                <a:latin typeface="Times New Roman Regular" panose="02020503050405090304" charset="0"/>
                <a:cs typeface="Times New Roman Regular" panose="02020503050405090304" charset="0"/>
              </a:rPr>
              <a:t>given the current policy π_k.</a:t>
            </a:r>
            <a:endParaRPr lang="en-US" sz="2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algn="l"/>
            <a:r>
              <a:rPr lang="en-US" sz="2000">
                <a:solidFill>
                  <a:srgbClr val="FFFF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          inverse inference</a:t>
            </a:r>
            <a:endParaRPr lang="en-US" sz="2000">
              <a:solidFill>
                <a:srgbClr val="FFFF00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12" name="334E55B0-647D-440b-865C-3EC943EB4CBC-1" descr="wpsoffi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340" y="4497070"/>
            <a:ext cx="4184650" cy="397510"/>
          </a:xfrm>
          <a:prstGeom prst="rect">
            <a:avLst/>
          </a:prstGeom>
        </p:spPr>
      </p:pic>
      <p:pic>
        <p:nvPicPr>
          <p:cNvPr id="13" name="334E55B0-647D-440b-865C-3EC943EB4CBC-2" descr="wpsoffi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300" y="2985135"/>
            <a:ext cx="5607685" cy="527050"/>
          </a:xfrm>
          <a:prstGeom prst="rect">
            <a:avLst/>
          </a:prstGeom>
        </p:spPr>
      </p:pic>
      <p:sp>
        <p:nvSpPr>
          <p:cNvPr id="14" name="Text Box 13"/>
          <p:cNvSpPr txBox="1"/>
          <p:nvPr/>
        </p:nvSpPr>
        <p:spPr>
          <a:xfrm>
            <a:off x="1221105" y="5178425"/>
            <a:ext cx="35242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Chalkboard Regular" panose="03050602040202020205" charset="0"/>
                <a:cs typeface="Chalkboard Regular" panose="03050602040202020205" charset="0"/>
              </a:rPr>
              <a:t>the ideal distribution</a:t>
            </a:r>
            <a:endParaRPr lang="en-US" sz="2400">
              <a:latin typeface="Chalkboard Regular" panose="03050602040202020205" charset="0"/>
              <a:cs typeface="Chalkboard Regular" panose="03050602040202020205" charset="0"/>
            </a:endParaRPr>
          </a:p>
        </p:txBody>
      </p:sp>
      <p:sp>
        <p:nvSpPr>
          <p:cNvPr id="15" name="Text Box 14"/>
          <p:cNvSpPr txBox="1"/>
          <p:nvPr>
            <p:custDataLst>
              <p:tags r:id="rId5"/>
            </p:custDataLst>
          </p:nvPr>
        </p:nvSpPr>
        <p:spPr>
          <a:xfrm>
            <a:off x="6592570" y="2430780"/>
            <a:ext cx="35242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Chalkboard Regular" panose="03050602040202020205" charset="0"/>
                <a:cs typeface="Chalkboard Regular" panose="03050602040202020205" charset="0"/>
              </a:rPr>
              <a:t>the improved policy</a:t>
            </a:r>
            <a:endParaRPr lang="en-US" sz="2400">
              <a:latin typeface="Chalkboard Regular" panose="03050602040202020205" charset="0"/>
              <a:cs typeface="Chalkboard Regular" panose="03050602040202020205" charset="0"/>
            </a:endParaRPr>
          </a:p>
        </p:txBody>
      </p:sp>
      <p:sp>
        <p:nvSpPr>
          <p:cNvPr id="16" name="Text Box 15"/>
          <p:cNvSpPr txBox="1"/>
          <p:nvPr>
            <p:custDataLst>
              <p:tags r:id="rId6"/>
            </p:custDataLst>
          </p:nvPr>
        </p:nvSpPr>
        <p:spPr>
          <a:xfrm>
            <a:off x="5378450" y="4606925"/>
            <a:ext cx="3955415" cy="13430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000">
                <a:latin typeface="Times New Roman Regular" panose="02020503050405090304" charset="0"/>
                <a:cs typeface="Times New Roman Regular" panose="02020503050405090304" charset="0"/>
              </a:rPr>
              <a:t>Update the policy to π_k+1</a:t>
            </a:r>
            <a:endParaRPr lang="en-US" sz="2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sz="2000">
                <a:latin typeface="Times New Roman Regular" panose="02020503050405090304" charset="0"/>
                <a:cs typeface="Times New Roman Regular" panose="02020503050405090304" charset="0"/>
              </a:rPr>
              <a:t>to minimize the KL divergence</a:t>
            </a:r>
            <a:endParaRPr lang="en-US" sz="2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sz="2000">
                <a:latin typeface="Times New Roman Regular" panose="02020503050405090304" charset="0"/>
                <a:cs typeface="Times New Roman Regular" panose="02020503050405090304" charset="0"/>
              </a:rPr>
              <a:t>with the estimated posterior q(τ)</a:t>
            </a:r>
            <a:endParaRPr lang="en-US" sz="20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825500" y="622300"/>
            <a:ext cx="90392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90204" pitchFamily="34" charset="0"/>
              <a:buNone/>
            </a:pPr>
            <a:r>
              <a:rPr lang="en-US" sz="2400">
                <a:latin typeface="Georgia Regular" panose="02040502050405090303" charset="0"/>
                <a:cs typeface="Georgia Regular" panose="02040502050405090303" charset="0"/>
              </a:rPr>
              <a:t>PAI applications</a:t>
            </a:r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825500" y="1414145"/>
            <a:ext cx="75761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>
                <a:latin typeface="Times New Roman Regular" panose="02020503050405090304" charset="0"/>
                <a:cs typeface="Times New Roman Regular" panose="02020503050405090304" charset="0"/>
              </a:rPr>
              <a:t>“</a:t>
            </a:r>
            <a:r>
              <a:rPr lang="en-US" sz="2800">
                <a:solidFill>
                  <a:srgbClr val="7030A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message passing</a:t>
            </a:r>
            <a:r>
              <a:rPr lang="en-US" sz="2800">
                <a:latin typeface="Times New Roman Regular" panose="02020503050405090304" charset="0"/>
                <a:cs typeface="Times New Roman Regular" panose="02020503050405090304" charset="0"/>
              </a:rPr>
              <a:t>” in the generative model</a:t>
            </a:r>
            <a:endParaRPr lang="en-US" sz="28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b="54139"/>
          <a:stretch>
            <a:fillRect/>
          </a:stretch>
        </p:blipFill>
        <p:spPr>
          <a:xfrm>
            <a:off x="825500" y="1917700"/>
            <a:ext cx="6362700" cy="2265680"/>
          </a:xfrm>
          <a:prstGeom prst="rect">
            <a:avLst/>
          </a:prstGeom>
        </p:spPr>
      </p:pic>
      <p:sp>
        <p:nvSpPr>
          <p:cNvPr id="3" name="Right Arrow 2"/>
          <p:cNvSpPr/>
          <p:nvPr/>
        </p:nvSpPr>
        <p:spPr>
          <a:xfrm>
            <a:off x="1005205" y="4471035"/>
            <a:ext cx="1067435" cy="18034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ight Arrow 7"/>
          <p:cNvSpPr/>
          <p:nvPr>
            <p:custDataLst>
              <p:tags r:id="rId3"/>
            </p:custDataLst>
          </p:nvPr>
        </p:nvSpPr>
        <p:spPr>
          <a:xfrm flipH="1">
            <a:off x="1005205" y="5018405"/>
            <a:ext cx="1067435" cy="180340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2276475" y="4377055"/>
            <a:ext cx="21932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Times New Roman Regular" panose="02020503050405090304" charset="0"/>
                <a:cs typeface="Times New Roman Regular" panose="02020503050405090304" charset="0"/>
              </a:rPr>
              <a:t>forward messages</a:t>
            </a:r>
            <a:endParaRPr lang="en-US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0" name="Text Box 9"/>
          <p:cNvSpPr txBox="1"/>
          <p:nvPr>
            <p:custDataLst>
              <p:tags r:id="rId4"/>
            </p:custDataLst>
          </p:nvPr>
        </p:nvSpPr>
        <p:spPr>
          <a:xfrm>
            <a:off x="2276475" y="4939030"/>
            <a:ext cx="21932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Times New Roman Regular" panose="02020503050405090304" charset="0"/>
                <a:cs typeface="Times New Roman Regular" panose="02020503050405090304" charset="0"/>
              </a:rPr>
              <a:t>backward messages</a:t>
            </a:r>
            <a:endParaRPr lang="en-US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1" name="Right Brace 10"/>
          <p:cNvSpPr/>
          <p:nvPr/>
        </p:nvSpPr>
        <p:spPr>
          <a:xfrm>
            <a:off x="4350385" y="4458970"/>
            <a:ext cx="252095" cy="82740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Text Box 11"/>
          <p:cNvSpPr txBox="1"/>
          <p:nvPr>
            <p:custDataLst>
              <p:tags r:id="rId5"/>
            </p:custDataLst>
          </p:nvPr>
        </p:nvSpPr>
        <p:spPr>
          <a:xfrm>
            <a:off x="4777740" y="4651375"/>
            <a:ext cx="21932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Times New Roman Regular" panose="02020503050405090304" charset="0"/>
                <a:cs typeface="Times New Roman Regular" panose="02020503050405090304" charset="0"/>
              </a:rPr>
              <a:t>update policy</a:t>
            </a:r>
            <a:endParaRPr lang="en-US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7336155" y="2430780"/>
            <a:ext cx="395605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>
                <a:latin typeface="Chalkboard Regular" panose="03050602040202020205" charset="0"/>
                <a:cs typeface="Chalkboard Regular" panose="03050602040202020205" charset="0"/>
              </a:rPr>
              <a:t>Decentralized, Localized</a:t>
            </a:r>
            <a:endParaRPr lang="en-US" sz="2800">
              <a:latin typeface="Chalkboard Regular" panose="03050602040202020205" charset="0"/>
              <a:cs typeface="Chalkboard Regular" panose="03050602040202020205" charset="0"/>
            </a:endParaRPr>
          </a:p>
          <a:p>
            <a:endParaRPr lang="en-US" sz="2800">
              <a:latin typeface="Chalkboard Regular" panose="03050602040202020205" charset="0"/>
              <a:cs typeface="Chalkboard Regular" panose="03050602040202020205" charset="0"/>
            </a:endParaRPr>
          </a:p>
          <a:p>
            <a:endParaRPr lang="en-US" sz="2800">
              <a:latin typeface="Chalkboard Regular" panose="03050602040202020205" charset="0"/>
              <a:cs typeface="Chalkboard Regular" panose="03050602040202020205" charset="0"/>
            </a:endParaRPr>
          </a:p>
          <a:p>
            <a:endParaRPr lang="en-US" sz="2800">
              <a:latin typeface="Chalkboard Regular" panose="03050602040202020205" charset="0"/>
              <a:cs typeface="Chalkboard Regular" panose="03050602040202020205" charset="0"/>
            </a:endParaRPr>
          </a:p>
          <a:p>
            <a:r>
              <a:rPr lang="en-US" sz="2800">
                <a:latin typeface="Chalkboard Regular" panose="03050602040202020205" charset="0"/>
                <a:cs typeface="Chalkboard Regular" panose="03050602040202020205" charset="0"/>
              </a:rPr>
              <a:t>Iterative Procedure</a:t>
            </a:r>
            <a:endParaRPr lang="en-US" sz="2800">
              <a:latin typeface="Chalkboard Regular" panose="03050602040202020205" charset="0"/>
              <a:cs typeface="Chalkboard Regular" panose="03050602040202020205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>
            <p:custDataLst>
              <p:tags r:id="rId1"/>
            </p:custDataLst>
          </p:nvPr>
        </p:nvSpPr>
        <p:spPr>
          <a:xfrm>
            <a:off x="825500" y="622300"/>
            <a:ext cx="90392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90204" pitchFamily="34" charset="0"/>
              <a:buNone/>
            </a:pPr>
            <a:r>
              <a:rPr lang="en-US" sz="2400">
                <a:latin typeface="Georgia Regular" panose="02040502050405090303" charset="0"/>
                <a:cs typeface="Georgia Regular" panose="02040502050405090303" charset="0"/>
              </a:rPr>
              <a:t>Implications</a:t>
            </a:r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909320" y="1402080"/>
            <a:ext cx="70624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Times New Roman Regular" panose="02020503050405090304" charset="0"/>
                <a:cs typeface="Times New Roman Regular" panose="02020503050405090304" charset="0"/>
              </a:rPr>
              <a:t>“all cognitive and neural computation can be understood in terms of probabilistic inference”</a:t>
            </a:r>
            <a:endParaRPr lang="en-US" sz="24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8990965" y="1557655"/>
            <a:ext cx="27457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Times New Roman Regular" panose="02020503050405090304" charset="0"/>
                <a:cs typeface="Times New Roman Regular" panose="02020503050405090304" charset="0"/>
              </a:rPr>
              <a:t>Planning</a:t>
            </a:r>
            <a:endParaRPr lang="en-US" sz="24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6" name="Text Box 5"/>
          <p:cNvSpPr txBox="1"/>
          <p:nvPr>
            <p:custDataLst>
              <p:tags r:id="rId2"/>
            </p:custDataLst>
          </p:nvPr>
        </p:nvSpPr>
        <p:spPr>
          <a:xfrm>
            <a:off x="7439660" y="1201420"/>
            <a:ext cx="7677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Times New Roman Regular" panose="02020503050405090304" charset="0"/>
                <a:cs typeface="Times New Roman Regular" panose="02020503050405090304" charset="0"/>
              </a:rPr>
              <a:t>PAI</a:t>
            </a:r>
            <a:endParaRPr lang="en-US" sz="24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7" name="Left Arrow 6"/>
          <p:cNvSpPr/>
          <p:nvPr/>
        </p:nvSpPr>
        <p:spPr>
          <a:xfrm>
            <a:off x="6820535" y="1661795"/>
            <a:ext cx="1990090" cy="252095"/>
          </a:xfrm>
          <a:prstGeom prst="leftArrow">
            <a:avLst/>
          </a:prstGeom>
          <a:solidFill>
            <a:srgbClr val="FFC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>
            <p:custDataLst>
              <p:tags r:id="rId1"/>
            </p:custDataLst>
          </p:nvPr>
        </p:nvSpPr>
        <p:spPr>
          <a:xfrm>
            <a:off x="825500" y="622300"/>
            <a:ext cx="90392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90204" pitchFamily="34" charset="0"/>
              <a:buNone/>
            </a:pPr>
            <a:r>
              <a:rPr lang="en-US" sz="2400">
                <a:latin typeface="Georgia Regular" panose="02040502050405090303" charset="0"/>
                <a:cs typeface="Georgia Regular" panose="02040502050405090303" charset="0"/>
              </a:rPr>
              <a:t>Implications</a:t>
            </a:r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909320" y="1402080"/>
            <a:ext cx="70624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Times New Roman Regular" panose="02020503050405090304" charset="0"/>
                <a:cs typeface="Times New Roman Regular" panose="02020503050405090304" charset="0"/>
              </a:rPr>
              <a:t>“all cognitive and neural computation can be understood in terms of probabilistic inference”</a:t>
            </a:r>
            <a:endParaRPr lang="en-US" sz="24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8990965" y="1557655"/>
            <a:ext cx="27457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Times New Roman Regular" panose="02020503050405090304" charset="0"/>
                <a:cs typeface="Times New Roman Regular" panose="02020503050405090304" charset="0"/>
              </a:rPr>
              <a:t>Planning</a:t>
            </a:r>
            <a:endParaRPr lang="en-US" sz="24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6" name="Text Box 5"/>
          <p:cNvSpPr txBox="1"/>
          <p:nvPr>
            <p:custDataLst>
              <p:tags r:id="rId2"/>
            </p:custDataLst>
          </p:nvPr>
        </p:nvSpPr>
        <p:spPr>
          <a:xfrm>
            <a:off x="7439660" y="1201420"/>
            <a:ext cx="7677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Times New Roman Regular" panose="02020503050405090304" charset="0"/>
                <a:cs typeface="Times New Roman Regular" panose="02020503050405090304" charset="0"/>
              </a:rPr>
              <a:t>PAI</a:t>
            </a:r>
            <a:endParaRPr lang="en-US" sz="24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7" name="Left Arrow 6"/>
          <p:cNvSpPr/>
          <p:nvPr/>
        </p:nvSpPr>
        <p:spPr>
          <a:xfrm>
            <a:off x="6820535" y="1661795"/>
            <a:ext cx="1990090" cy="252095"/>
          </a:xfrm>
          <a:prstGeom prst="leftArrow">
            <a:avLst/>
          </a:prstGeom>
          <a:solidFill>
            <a:srgbClr val="FFC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8" name="Straight Arrow Connector 7"/>
          <p:cNvCxnSpPr>
            <a:stCxn id="2" idx="3"/>
          </p:cNvCxnSpPr>
          <p:nvPr/>
        </p:nvCxnSpPr>
        <p:spPr>
          <a:xfrm>
            <a:off x="7971790" y="1817370"/>
            <a:ext cx="0" cy="5676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Text Box 3"/>
          <p:cNvSpPr txBox="1"/>
          <p:nvPr/>
        </p:nvSpPr>
        <p:spPr>
          <a:xfrm>
            <a:off x="5417185" y="2397125"/>
            <a:ext cx="55029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Georgia Regular" panose="02040502050405090303" charset="0"/>
                <a:cs typeface="Georgia Regular" panose="02040502050405090303" charset="0"/>
              </a:rPr>
              <a:t>Bayesian theories of visual perception</a:t>
            </a:r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b="1971"/>
          <a:stretch>
            <a:fillRect/>
          </a:stretch>
        </p:blipFill>
        <p:spPr>
          <a:xfrm>
            <a:off x="654050" y="2863215"/>
            <a:ext cx="6399530" cy="395287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>
            <p:custDataLst>
              <p:tags r:id="rId1"/>
            </p:custDataLst>
          </p:nvPr>
        </p:nvSpPr>
        <p:spPr>
          <a:xfrm>
            <a:off x="825500" y="622300"/>
            <a:ext cx="90392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90204" pitchFamily="34" charset="0"/>
              <a:buNone/>
            </a:pPr>
            <a:r>
              <a:rPr lang="en-US" sz="2400">
                <a:latin typeface="Georgia Regular" panose="02040502050405090303" charset="0"/>
                <a:cs typeface="Georgia Regular" panose="02040502050405090303" charset="0"/>
              </a:rPr>
              <a:t>Implications</a:t>
            </a:r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933450" y="1198245"/>
            <a:ext cx="33693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>
                <a:latin typeface="Times New Roman Regular" panose="02020503050405090304" charset="0"/>
                <a:cs typeface="Times New Roman Regular" panose="02020503050405090304" charset="0"/>
              </a:rPr>
              <a:t>Neural Evidence:</a:t>
            </a:r>
            <a:endParaRPr lang="en-US" sz="28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33450" y="1776095"/>
            <a:ext cx="5366385" cy="460946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5855" t="4572" r="10868" b="4197"/>
          <a:stretch>
            <a:fillRect/>
          </a:stretch>
        </p:blipFill>
        <p:spPr>
          <a:xfrm>
            <a:off x="6372860" y="1411605"/>
            <a:ext cx="5087620" cy="485521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4123055" y="4483100"/>
            <a:ext cx="345249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solidFill>
                  <a:srgbClr val="FF0000"/>
                </a:solidFill>
                <a:latin typeface="Georgia Regular" panose="02040502050405090303" charset="0"/>
                <a:cs typeface="Georgia Regular" panose="02040502050405090303" charset="0"/>
              </a:rPr>
              <a:t>neural network model, </a:t>
            </a:r>
            <a:endParaRPr lang="en-US" sz="2400">
              <a:solidFill>
                <a:srgbClr val="FF0000"/>
              </a:solidFill>
              <a:latin typeface="Georgia Regular" panose="02040502050405090303" charset="0"/>
              <a:cs typeface="Georgia Regular" panose="02040502050405090303" charset="0"/>
            </a:endParaRPr>
          </a:p>
          <a:p>
            <a:r>
              <a:rPr lang="en-US" sz="2400">
                <a:solidFill>
                  <a:srgbClr val="FF0000"/>
                </a:solidFill>
                <a:latin typeface="Georgia Regular" panose="02040502050405090303" charset="0"/>
                <a:cs typeface="Georgia Regular" panose="02040502050405090303" charset="0"/>
              </a:rPr>
              <a:t>PAI implemented</a:t>
            </a:r>
            <a:endParaRPr lang="en-US" sz="2400">
              <a:solidFill>
                <a:srgbClr val="FF0000"/>
              </a:solidFill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7" name="Text Box 6"/>
          <p:cNvSpPr txBox="1"/>
          <p:nvPr>
            <p:custDataLst>
              <p:tags r:id="rId6"/>
            </p:custDataLst>
          </p:nvPr>
        </p:nvSpPr>
        <p:spPr>
          <a:xfrm>
            <a:off x="4830445" y="3198495"/>
            <a:ext cx="34524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solidFill>
                  <a:srgbClr val="FF0000"/>
                </a:solidFill>
                <a:latin typeface="Georgia Regular" panose="02040502050405090303" charset="0"/>
                <a:cs typeface="Georgia Regular" panose="02040502050405090303" charset="0"/>
              </a:rPr>
              <a:t>recorded data</a:t>
            </a:r>
            <a:endParaRPr lang="en-US" sz="2400">
              <a:solidFill>
                <a:srgbClr val="FF0000"/>
              </a:solidFill>
              <a:latin typeface="Georgia Regular" panose="02040502050405090303" charset="0"/>
              <a:cs typeface="Georgia Regular" panose="02040502050405090303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>
            <p:custDataLst>
              <p:tags r:id="rId1"/>
            </p:custDataLst>
          </p:nvPr>
        </p:nvSpPr>
        <p:spPr>
          <a:xfrm>
            <a:off x="825500" y="622300"/>
            <a:ext cx="90392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90204" pitchFamily="34" charset="0"/>
              <a:buNone/>
            </a:pPr>
            <a:r>
              <a:rPr lang="en-US" sz="2400">
                <a:latin typeface="Georgia Regular" panose="02040502050405090303" charset="0"/>
                <a:cs typeface="Georgia Regular" panose="02040502050405090303" charset="0"/>
              </a:rPr>
              <a:t>Implications</a:t>
            </a:r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2" name="Text Box 1"/>
          <p:cNvSpPr txBox="1"/>
          <p:nvPr>
            <p:custDataLst>
              <p:tags r:id="rId2"/>
            </p:custDataLst>
          </p:nvPr>
        </p:nvSpPr>
        <p:spPr>
          <a:xfrm>
            <a:off x="933450" y="1198245"/>
            <a:ext cx="33693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>
                <a:latin typeface="Times New Roman Regular" panose="02020503050405090304" charset="0"/>
                <a:cs typeface="Times New Roman Regular" panose="02020503050405090304" charset="0"/>
              </a:rPr>
              <a:t>Neural Evidence:</a:t>
            </a:r>
            <a:endParaRPr lang="en-US" sz="28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01040" y="1857375"/>
            <a:ext cx="5590540" cy="46577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393815" y="1857375"/>
            <a:ext cx="5386705" cy="453136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5844540" y="1377950"/>
            <a:ext cx="582676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400">
                <a:latin typeface="Chalkboard Regular" panose="03050602040202020205" charset="0"/>
                <a:cs typeface="Chalkboard Regular" panose="03050602040202020205" charset="0"/>
              </a:rPr>
              <a:t>Iteration</a:t>
            </a:r>
            <a:endParaRPr lang="en-US" sz="2400">
              <a:latin typeface="Chalkboard Regular" panose="03050602040202020205" charset="0"/>
              <a:cs typeface="Chalkboard Regular" panose="03050602040202020205" charset="0"/>
            </a:endParaRPr>
          </a:p>
          <a:p>
            <a:pPr algn="ctr"/>
            <a:r>
              <a:rPr lang="en-US" sz="2400">
                <a:latin typeface="Chalkboard Regular" panose="03050602040202020205" charset="0"/>
                <a:cs typeface="Chalkboard Regular" panose="03050602040202020205" charset="0"/>
              </a:rPr>
              <a:t>(integration of momentary evidence)</a:t>
            </a:r>
            <a:endParaRPr lang="en-US" sz="2400">
              <a:latin typeface="Chalkboard Regular" panose="03050602040202020205" charset="0"/>
              <a:cs typeface="Chalkboard Regular" panose="03050602040202020205" charset="0"/>
            </a:endParaRPr>
          </a:p>
        </p:txBody>
      </p:sp>
      <p:sp>
        <p:nvSpPr>
          <p:cNvPr id="7" name="Text Box 6"/>
          <p:cNvSpPr txBox="1"/>
          <p:nvPr>
            <p:custDataLst>
              <p:tags r:id="rId7"/>
            </p:custDataLst>
          </p:nvPr>
        </p:nvSpPr>
        <p:spPr>
          <a:xfrm>
            <a:off x="7550785" y="6226810"/>
            <a:ext cx="3093720" cy="521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000">
                <a:solidFill>
                  <a:srgbClr val="FF0000"/>
                </a:solidFill>
                <a:latin typeface="Georgia Regular" panose="02040502050405090303" charset="0"/>
                <a:cs typeface="Georgia Regular" panose="02040502050405090303" charset="0"/>
              </a:rPr>
              <a:t>neural network model, </a:t>
            </a:r>
            <a:endParaRPr lang="en-US" sz="2000">
              <a:solidFill>
                <a:srgbClr val="FF0000"/>
              </a:solidFill>
              <a:latin typeface="Georgia Regular" panose="02040502050405090303" charset="0"/>
              <a:cs typeface="Georgia Regular" panose="02040502050405090303" charset="0"/>
            </a:endParaRPr>
          </a:p>
          <a:p>
            <a:r>
              <a:rPr lang="en-US" sz="2000">
                <a:solidFill>
                  <a:srgbClr val="FF0000"/>
                </a:solidFill>
                <a:latin typeface="Georgia Regular" panose="02040502050405090303" charset="0"/>
                <a:cs typeface="Georgia Regular" panose="02040502050405090303" charset="0"/>
              </a:rPr>
              <a:t>PAI implemented</a:t>
            </a:r>
            <a:endParaRPr lang="en-US" sz="2000">
              <a:solidFill>
                <a:srgbClr val="FF0000"/>
              </a:solidFill>
              <a:latin typeface="Georgia Regular" panose="02040502050405090303" charset="0"/>
              <a:cs typeface="Georgia Regular" panose="02040502050405090303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>
            <p:custDataLst>
              <p:tags r:id="rId1"/>
            </p:custDataLst>
          </p:nvPr>
        </p:nvSpPr>
        <p:spPr>
          <a:xfrm>
            <a:off x="825500" y="622300"/>
            <a:ext cx="90392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90204" pitchFamily="34" charset="0"/>
              <a:buNone/>
            </a:pPr>
            <a:r>
              <a:rPr lang="en-US" sz="2400">
                <a:latin typeface="Georgia Regular" panose="02040502050405090303" charset="0"/>
                <a:cs typeface="Georgia Regular" panose="02040502050405090303" charset="0"/>
              </a:rPr>
              <a:t>Opportunities and Challenges</a:t>
            </a:r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717550" y="1282065"/>
            <a:ext cx="59829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Chalkboard Regular" panose="03050602040202020205" charset="0"/>
                <a:cs typeface="Chalkboard Regular" panose="03050602040202020205" charset="0"/>
              </a:rPr>
              <a:t>current work on PAI mostly theoretical</a:t>
            </a:r>
            <a:endParaRPr lang="en-US" sz="2400">
              <a:latin typeface="Chalkboard Regular" panose="03050602040202020205" charset="0"/>
              <a:cs typeface="Chalkboard Regular" panose="03050602040202020205" charset="0"/>
            </a:endParaRPr>
          </a:p>
        </p:txBody>
      </p:sp>
      <p:sp>
        <p:nvSpPr>
          <p:cNvPr id="3" name="Left Arrow 2"/>
          <p:cNvSpPr/>
          <p:nvPr/>
        </p:nvSpPr>
        <p:spPr>
          <a:xfrm>
            <a:off x="6472555" y="1287145"/>
            <a:ext cx="2242820" cy="455295"/>
          </a:xfrm>
          <a:prstGeom prst="leftArrow">
            <a:avLst/>
          </a:prstGeom>
          <a:gradFill>
            <a:gsLst>
              <a:gs pos="0">
                <a:srgbClr val="FBFB11"/>
              </a:gs>
              <a:gs pos="100000">
                <a:srgbClr val="838309"/>
              </a:gs>
            </a:gsLst>
            <a:lin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8942705" y="1287145"/>
            <a:ext cx="27216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Chalkboard Regular" panose="03050602040202020205" charset="0"/>
                <a:cs typeface="Chalkboard Regular" panose="03050602040202020205" charset="0"/>
              </a:rPr>
              <a:t>empirical evidence?</a:t>
            </a:r>
            <a:endParaRPr lang="en-US" sz="2400">
              <a:latin typeface="Chalkboard Regular" panose="03050602040202020205" charset="0"/>
              <a:cs typeface="Chalkboard Regular" panose="03050602040202020205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>
            <p:custDataLst>
              <p:tags r:id="rId1"/>
            </p:custDataLst>
          </p:nvPr>
        </p:nvSpPr>
        <p:spPr>
          <a:xfrm>
            <a:off x="825500" y="622300"/>
            <a:ext cx="90392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Arial" panose="020B0604020202090204" pitchFamily="34" charset="0"/>
              <a:buNone/>
            </a:pPr>
            <a:r>
              <a:rPr lang="en-US" sz="2400">
                <a:latin typeface="Georgia Regular" panose="02040502050405090303" charset="0"/>
                <a:cs typeface="Georgia Regular" panose="02040502050405090303" charset="0"/>
              </a:rPr>
              <a:t>Opportunities and Challenges</a:t>
            </a:r>
            <a:endParaRPr lang="en-US" sz="2400">
              <a:latin typeface="Georgia Regular" panose="02040502050405090303" charset="0"/>
              <a:cs typeface="Georgia Regular" panose="02040502050405090303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717550" y="1282065"/>
            <a:ext cx="59829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Chalkboard Regular" panose="03050602040202020205" charset="0"/>
                <a:cs typeface="Chalkboard Regular" panose="03050602040202020205" charset="0"/>
              </a:rPr>
              <a:t>current work on PAI mostly theoretical</a:t>
            </a:r>
            <a:endParaRPr lang="en-US" sz="2400">
              <a:latin typeface="Chalkboard Regular" panose="03050602040202020205" charset="0"/>
              <a:cs typeface="Chalkboard Regular" panose="03050602040202020205" charset="0"/>
            </a:endParaRPr>
          </a:p>
        </p:txBody>
      </p:sp>
      <p:sp>
        <p:nvSpPr>
          <p:cNvPr id="3" name="Left Arrow 2"/>
          <p:cNvSpPr/>
          <p:nvPr/>
        </p:nvSpPr>
        <p:spPr>
          <a:xfrm>
            <a:off x="6472555" y="1287145"/>
            <a:ext cx="2242820" cy="455295"/>
          </a:xfrm>
          <a:prstGeom prst="leftArrow">
            <a:avLst/>
          </a:prstGeom>
          <a:gradFill>
            <a:gsLst>
              <a:gs pos="0">
                <a:srgbClr val="FBFB11"/>
              </a:gs>
              <a:gs pos="100000">
                <a:srgbClr val="838309"/>
              </a:gs>
            </a:gsLst>
            <a:lin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8942705" y="1287145"/>
            <a:ext cx="27216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Chalkboard Regular" panose="03050602040202020205" charset="0"/>
                <a:cs typeface="Chalkboard Regular" panose="03050602040202020205" charset="0"/>
              </a:rPr>
              <a:t>empirical evidence?</a:t>
            </a:r>
            <a:endParaRPr lang="en-US" sz="2400">
              <a:latin typeface="Chalkboard Regular" panose="03050602040202020205" charset="0"/>
              <a:cs typeface="Chalkboard Regular" panose="03050602040202020205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717550" y="1989455"/>
            <a:ext cx="1062101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Chalkboard Regular" panose="03050602040202020205" charset="0"/>
                <a:cs typeface="Chalkboard Regular" panose="03050602040202020205" charset="0"/>
              </a:rPr>
              <a:t>“planning occurs under strict capacity limitations”(bounded rationality)</a:t>
            </a:r>
            <a:endParaRPr lang="en-US" sz="2400">
              <a:latin typeface="Chalkboard Regular" panose="03050602040202020205" charset="0"/>
              <a:cs typeface="Chalkboard Regular" panose="03050602040202020205" charset="0"/>
            </a:endParaRPr>
          </a:p>
          <a:p>
            <a:endParaRPr lang="en-US" sz="2400">
              <a:latin typeface="Chalkboard Regular" panose="03050602040202020205" charset="0"/>
              <a:cs typeface="Chalkboard Regular" panose="03050602040202020205" charset="0"/>
            </a:endParaRPr>
          </a:p>
          <a:p>
            <a:r>
              <a:rPr lang="en-US" sz="2400">
                <a:latin typeface="Chalkboard Regular" panose="03050602040202020205" charset="0"/>
                <a:cs typeface="Chalkboard Regular" panose="03050602040202020205" charset="0"/>
              </a:rPr>
              <a:t>In ML: approximation techniques(e.g. sampling based)</a:t>
            </a:r>
            <a:endParaRPr lang="en-US" sz="2400">
              <a:latin typeface="Chalkboard Regular" panose="03050602040202020205" charset="0"/>
              <a:cs typeface="Chalkboard Regular" panose="03050602040202020205" charset="0"/>
            </a:endParaRPr>
          </a:p>
          <a:p>
            <a:endParaRPr lang="en-US" sz="2400">
              <a:latin typeface="Chalkboard Regular" panose="03050602040202020205" charset="0"/>
              <a:cs typeface="Chalkboard Regular" panose="03050602040202020205" charset="0"/>
            </a:endParaRPr>
          </a:p>
          <a:p>
            <a:r>
              <a:rPr lang="en-US" sz="2400">
                <a:latin typeface="Chalkboard Regular" panose="03050602040202020205" charset="0"/>
                <a:cs typeface="Chalkboard Regular" panose="03050602040202020205" charset="0"/>
              </a:rPr>
              <a:t>approximation applied to PAI might offer new insights </a:t>
            </a:r>
            <a:endParaRPr lang="en-US" sz="2400">
              <a:latin typeface="Chalkboard Regular" panose="03050602040202020205" charset="0"/>
              <a:cs typeface="Chalkboard Regular" panose="03050602040202020205" charset="0"/>
            </a:endParaRPr>
          </a:p>
        </p:txBody>
      </p:sp>
      <p:sp>
        <p:nvSpPr>
          <p:cNvPr id="8" name="Bent-Up Arrow 7"/>
          <p:cNvSpPr/>
          <p:nvPr/>
        </p:nvSpPr>
        <p:spPr>
          <a:xfrm>
            <a:off x="8439150" y="2505710"/>
            <a:ext cx="1150620" cy="1306195"/>
          </a:xfrm>
          <a:prstGeom prst="bentUpArrow">
            <a:avLst/>
          </a:prstGeom>
          <a:gradFill>
            <a:gsLst>
              <a:gs pos="0">
                <a:srgbClr val="7B32B2"/>
              </a:gs>
              <a:gs pos="100000">
                <a:srgbClr val="401A5D"/>
              </a:gs>
            </a:gsLst>
            <a:lin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334E55B0-647D-440b-865C-3EC943EB4CBC-1">
      <extobjdata type="334E55B0-647D-440b-865C-3EC943EB4CBC" data="ewoJIkltZ1NldHRpbmdKc29uIiA6ICJ7XCJkcGlcIjpcIjYwMFwiLFwiZm9ybWF0XCI6XCJQTkdcIixcInRyYW5zcGFyZW50XCI6dHJ1ZSxcImF1dG9cIjpmYWxzZX0iLAoJIkxhdGV4IiA6ICJYRnNnY1Y5cktGeDBZWFVwSUQwZ1VDaGNkR0YxSUZ4dGFXUWdVaUE5SURFc0lGeHdhVjlyS1FvZ1hGMD0iLAoJIkxhdGV4SW1nQmFzZTY0IiA6ICJpVkJPUncwS0dnb0FBQUFOU1VoRVVnQUFBMmtBQUFCVEJBTUFBQUQzcjFMREFBQUFNRkJNVkVYLy8vOEFBQUFBQUFBQUFBQUFBQUFBQUFBQUFBQUFBQUFBQUFBQUFBQUFBQUFBQUFBQUFBQUFBQUFBQUFBQUFBQXYzYUI3QUFBQUQzUlNUbE1BVkt2ZDd6SkV6UkNKWm5ZaXU1a210QTJXQUFBQUNYQklXWE1BQUE3RUFBQU94QUdWS3c0YkFBQVRJRWxFUVZSNEFkVmRXNGhrVzNuZVBYMlo2bXNOK3FBRVFnM2VFTkhUZ3pONEVreXNJV2U4b0dDMUpPaURTQlVJK2lMMm9NS1FsK3hDSjBSSWpqVVA1MFVJVm9VUWlIanB4aWZ4d1dwUVFlVmdOMFp5SVpqcUhQTnlBazYxcDF2N25KUFRaL3YvNi9xdnRmZGFlNjFkdTBQMWZ1aTlMdjl0L2Q5ZWEvMy8ycnU3a3lUNmVtM1B6Ykx4UVhmZkpmWDR6TEZVUG5Oc05WeXA2a3krM1RvNzhBeTJmZVRwdkl3dXZ6bW14dXpFckYreDJpeSszZjZ0YjdCZk91Lzd1dXZ2ODV0ajZHdGtMeHIxcTFhWndiZWJXYzgzMm8zT0gvbTZhKzhyTWNmUXQ1RzlZdFN2V21VRzM2WXYrd2ZiUGUzN0NlcnRMVE9IYXJ2cXFDV1ZmWHN0ZTBRZGtTOHZaUGZ6alJWYk5qc1p2YzZlL08rK0phblVIRXJ2UWUyYW9lbXB2L29ueWpjMzVjcStIVjZValdINFFobEZjUCtBWXNiS3B5T1R1ZHdjUXU5QnJXbHJlcUZIR09lbVdORzNLK1ViK21LMlg5Y28xNzcyamwrZ095OGU0L1hjRjZCNE5xTENBOHdoNUI3VVFGT0ttdjdzaWNlUDMvRExOcFJPYnhETzZzWGxld2ZWbVhPY0ZYMzdNQnZsUkZrTkc1azN5TFNvUzZ0VFFLb3ZxSDZhQW9LeWdtMEI1Z2hXdkhsUXcyNmk2ZU9nNlB3QUcyZTlkck42ME9kMlZQUnRlbDQralBGcE9VMDR4VGpML2s5UkwzU3lqTWFvSWVZbzVqTFVRTk5Ma25nWllQdWRyTXh3LzBwV0sycEpKZCt1aGNUT1MyVUJTNVFYdGpPcTg0ZXdkUFVWZjVBNWlyb01OZENrVjRscldSMysvbHQ0eXVxY2Ewa2wzdzZ5WSswRVYybU5ETjVGRTk0TzQ3NnJxUmZBbWNlcUdtU09vaTVEemRRRWsyM1c3RzdqVzJCdHZhaFY4dTEyMXRkT2NKYmFBY3VvazlucTJJQngzeVJ0NEV3OUljTE1VZHorZmMzUzFJV2RUWEZXS0N3OC9oY3dIYTVhNTFwU3diZkwyYXNoOXJkcXRIUU54ajBpU3NkWnBqS0xRSE1VdHg4MVM5TWlLTzRwMXZqQ0Z2Q2YvWDFhTjJvVmZMdFpIdmZqOEJicG1oWS9Yb01EOTVjRDB0S0N1cXdHbWlQSlMxWkkxTFNqYUJPc0h1bHFkR25ycVNmL2R5ZEo2MGF0Z20rN1pFL3hER09kUkgwZXNxQ3VKWGhpS1dFWG5Oa1REWUhtS0hiL1hBTk42bmtBbGxXb25paldxb1cwYnRRcStIWkNIMGIzUUJxbW85MkVBVDJIa0tGUnNsMXc1a2cwQkpxajJQMm9XWnJXUWRHTGlyVnFvWGJVNG4zYnlBSXpzZTM2TnJZOW1xNkI3MXJnekgzdXcyQnpwTXY5cUZtYWNGL1NjWThVRVh1dkhiVWsycmZyT2d2MVc3OWIzd255dHVXN3NVWXQyQnhwckI4MVM5TW1LSm8xOUUvcTM5ZVNhTjh1aGc2akdVb28vZW0rZDZ6ZEJYd3JKM0t3T1ZLNkg3VzJxUW0zdVRuYzE1Sm8zM1pEcDlCbTZLU1UvblRlTVlreUlqbEFVY2FVd2VaSTZWN1VHcGFtUTZqZmtweVY3Nmw2eGlxTHNCaWpmVHNOUGFwYUM5MEFMWXZ5VlV5aXhEYkdPaEZGdWJrR215UEZlbEhEVXhlcWFRL3FqeVJuNVh0YU8yclJ2dFV4ZDhrb3dMYzdKU1NCM1ZZU2xTQ0s4akE1MkJ5cHk0c2FSaDg5U1FsMzhIZlFRUkJoS1NpQ2xCc0Z6VE0weGZwMnhjaG52SXJieG1QckpmVjM0Z2tGcGJnTzlSUGVFR0dPa09CRnpkSzBESXJVSVF5MUlLNWNQMnBKcEc5WHd3L210czNOS0c2a2xIcGdwV3U0MjRoMUs4SWNJZEdMR21paTU0NDR5VDlBTGFsV3ZnVFVETisrNXM3cG05R3lUL2RjOWwwUGp6SDI1SVJ3eVFwdGIra0ZrYkZNOWJZV1lZN1E1a1VOTkttM2EwQ1BqMGNOcS93bG9FWjgyM2dtTyt2ZzRmcWFleDF1WnI4Und4ZTNuK0FuQWVvNk85YTkzUm9TVkNZTlVLSXZKekhRazBsVWhEbkNNQzlxbHFaSmxwVjhqS1pINnltbEFmdWE2VVlZNGJzOEFwT0UrSGFjdlhTUXZQYThEMmNQZlJmUHJnVUZ2S2MxTG5LUzBLeGx5R0JJVzIxanpDb01HVWJDdmdoekJJY1hOVk1UbmtMV0VVYWs1V0srQ0tyTXl6aDRGYmJybS9idDAvd3JpZlRtaW9xck5aa3NEYzFsYjZOajZxS1RZckdPblJ6MDR0eTZML1hEdlVWbVFJUTVRb0lQTlV2VE1NdmVSL1JXTHFhbHFPWGNDRVAycWxPK1hlbnc2R0hwdHc4OWI5QW1adGE1QytLTjY1WldkcTJtODJOTW9oNXBzUkEyNmhrUVlZNlE0RVBOMUFTeHlBdDlyYmQ2S1NVR0Ywdkp1ZEhjWC9OTXlyZTdZb1l0bkUvc3ZZdHdDV2hGQzRiR1R6MzU0RUg3N0FHLy9vT1F3a3BHYXRXTFZoSTFwRE1nd2h4aGdBODFROU42cDY0UDYwcFJFMjVzbjZNVHMvZmp6OC81bDJicFcrQVVRUzRzZXU2M0U1bnhkdTFoZHZIUDZJMHUyYzRVUFBDYTQwQlZaS0h4MFUrNXJqd3haektUcUU5bWRDV0lNRWRZNEVNTk5mVUYzY2M3bWZuWnBXaFAvdHBsLzZjK0kwbXNleWxxNE1adkFzOGUyd2ZTa2NWZVZKVys3YW9nZCtnNWU0T2tmSjlJU1U5M1dHMTRRaHBsRWRhYm5peXIrME53ak9PU3h4MktWaFFHSklscS9DTkUvVDFGRVdPT1lQS2hCcHI0U2RtUC91Qi9JRWU4b2ZTUVFnTWVhdGUxVCtoSU1TMWJJVk0rcE1ralpBcktOYVJ2MnlwMjJEVWZZS0krU1dCVEdlbUdWWmxIdDIvcFJsV0MyVXRvUlRNSWQxM0dpMDhsaFVVZnJ6N0xybzkrR3h4dzBkTjlNZVlJTGg5cUxXTGEyZHY2V2c4cDRiYnF1bzRJSFNtbUphaXRDemV5aDN3NWFGc1J2b1dGVXVaQVhhRms0eHRmKzdmYk8wUTdGT0VJc0tkYnVzTFJHOFlYVkxJZkpnSjdlR1NkM2MzZmdEQ0c3OHBRcGdiVmV3Nkl2Qmh6QkpzUE5kQjBlaHN2MEhoaGpWeHBmWk5oRHEyYzloU1JVVWhMVUR2a2JseGhlSzNSa0w4SUFpWmErSlpNc0xGWTNBL1JJc3QyU0dGSXkrUSt0MjdkV0RhVnhWa2htS283dE5CR08vajEvdjk2dmNFVlpRN245S0hXVm9uaFp3RzJ2cUZxaGtwYWd0cmtGaE8reFE3VHJ0RWxwd2dDYmdqM2JVZnZ3eE94dUQ5OUIxeGxHUXRUOGtBMXJjanlkVG9CVlhkaXBsbTZQYTZFU2RTSmd5WEtIQzdEZ3hwTjF5RHRyU1ZYUTZVbHFFazNMcjJFeEl2c0o1YmdLb0tBOXpEZlFreWlNTlpCMnNBNFMwVnl5R0g2bkEwcjhuQnJRQnBWTCt5clJuSk1PcUtLbUVRZE9UaWl6T0V5UEtnWjZkcDJ5UVJ4V0ZUVVhJS2FkR09YSGRzMVh6WkU1Q0hnM2N5M1M1bkswV0NqazR3RDR5d1Z5UTAzTlE2NGhLUkYxMkxSQmpkUExLcUpTa3N3bjRvWFlPQ01Nb2RyOHFDR21uclNIc2dDNUVZdm02cmVTMUNUYnVTQitLNmNDbHhiSGdMZXpueTdwMWNobUhiUzNGMTZRTVdvNGZPWFBtZWpQN2VMWDBKMXNydVVxbUlaazZnZEIyK1VPVnlHQnpYVXBCUkJvRU5mMnFqMkNvVVMxS1RFem4wc2pkbU1rMjN3WFk5Wmx4M010MjI5Q29Fbjdvbys2NVFQV3VHRnBPUWo5Nnc0MWFvSHRRSDFKVkdLeFNoek9LOEhOZENrZ1lJb1RXN2JsdExvYWhocUt6eml0djZjUXg0Q3JoNTlDNnVpV29XYU92UkxjeHRUb1p0V0hNOUQyeGxGeEF5OFJiWmNteS9LSE03c1FXM1hPUDBEbHp5eTlWV3JoNkcyeFZmbnRsem91SzQ4Qkx3ZGZRdXJvbnF3dWpvNXp0dGQ2S1l0eHdsWVBYTnRhcjBUcFo2TE1vY3plbEFiR3UveE92cnBwU29ybE1OUWE3SlZ6UDV6S0hrSXVBSG9XeGk5Q2lqR0NrQTRCdWhaUmhadUpLNWZGdWlZN3djc1VhSFZ0dlVKSytXTE1vY3plbEFENzU0bzZUUU5VSTNWQ21Hb3RkanF2RUpNQUcwRkVIQWIwTGNEOGxYTFJBRUlPV3pmc3RNSTJtVGZvU015cndVMVg3cG14cEJsNXZCK0Qyb1pUVlZ3MDJEaGdSUmIvUjZHMm9RbGF1c21hZ1VRY0R2UXQ3Q2l5MmdmNG5VWkVXN20zNDRXb2paMmJBQzFETnVYcmhXajVqS25ERFU4WWRRN0djU1E5Unp0bEdiWjNLNEdEdzYyVE5RS0lPRGs2TnM5dlFxUmRLMlp2Y3BKOUUvak1FSTJwL290cFd4aWR4MlhHczF4RlYrNmxrU1p3L1c2NXhvODEyUkhnT2ZUZUNrVlo3VkJuWVlrN0tzY3JrMFR0UUlJdUdqMDdWaXY2Q1JkNjZyTVd4a0JJK3VwaWlqQUduWmd0MkVkMm0vbTIyUGZyL25TTmZ6OXNwNnR3bVdPb0hPakJwczdTV3ZnM0lITVBLSmt1ZjczYXloOWlhL0hpMlprVndBQk00WDVkcW9YTTVLdWpVMEpTQTdyMVEzR1JuNnNxWTJRTkVLeDhNei9JVGpEY1JVbmZiRGxFbCthR3FMTUVheHUxSm8wWFdOZjFZMHNkVmk5alBkcktIZVBQeU5OODJ1cUFnaVFtUHQyVzY4R1lQdE4xcEVrNHFPTWxUZWVxK1VlMXMrUjZGVzNhL29JVTdWaEFmYUprZEdBbFYwSFpOQjhrU1BHaHBhckF6dGp6RUY2dU55b2dXa3NJT0IwZTJCUmp4ZU5uN2o3dWE0amcxSlYwb0pIWFhYS1FzcTFOYzNjdHdBQ3hzQjhPOVZKZGxmN21rTzVuSjcrUWgwWndNeFVDRXA5VFRwWTJRaDNtSmM5VXVYRjZQZHJZRnJ4SkVSNU1lWUlVOXlvRFkxMERmUVdML3h2Z283aTY3UW5kRmkzTkFBMWVQNFkxOEFjYlFFRWpJejVkcWloR2l0alFkQU5JQmwvQ0o3UGZXbUlucFN5QmFhUGVlQXBPMkNIUEpEbDZ2ZTJEcFFLaEVTWUk3amRxSUZ6VDdRSzBKdkxlM1J2VkFrRW95TzlsMXl3QmlxQ1IvSkNDTENEK1hhc3A0Vk8xNkNubnlTYkwvU1RvYzVjMnJxSTNIaE5zMWQ0d2ZvSkFaN1ZVcUVLczRuNjBwWVFZWTVnZGFNR211NXIrVkNyd1h3bUx3MUFUYzZ4UTNJVXlzRHA1eUJBbWN5M1hYV3NEbDZTNlJyNzVxNlI3dU5TZDR1cGh4OFRkYlFzVzVLT3c2M09YRU54QmhSQXR5T0haOHdSNWdobFR0VE1kQTBQai9seDBkcEJnSmxlRWh1MWxWKy9KVWMvRkZISXdIaFdDaUZBWHViYnBwcHJFRUxLZkhzSjhmc0J2Q2lBMU9WSXFza0hOVENMeVNNcTZlQytsRS8zU0c5Z0VaT29mVGR0aERsQ2lCTTFNMTFERFBuM1dudVAzT3JEZW16VWhnWEJnVHl6QmRSNldtb2hCTmpOZkF1NGpEanRubjY3ZGdqNExYZDZiRHJ1OEY3NDh0R01US0VaUm5zc2U0Mzd3TEhmR1VSbEZXKzZGbVdPME9SRXpVelhjSTd6R0N5OVVXWmpXVCtnTmlJMCtFRFlrUUNjeE54a0pEQi9qalZ0SVFUWXpYd0w4K1VtbzBWajc3SVNaaEN2Skx2dmhVcGo4aTdSbE1EdmNjdXBLSnRndENOWk51NWR4MzVuRUpWVjRObnpiUzhSNWdoTlR0UkFrd3FWV1VMRVU1R3dMOTI4dzJpYnl3V2V1aEJOakJVZVR2NXdRT0d1RmxZSUFYWnozNmFDZGhja0hnbXU3ZXp1MnVtQnFNamJwdHIyWkF1TTFpYmlYWHRVdjZTT3ZZL2xRbFhNR0dHT0VPQkViVTkvTDRPazRJZ0x2Rys2OHc3c0RybEExREdodytYRGRobjR2YzlJWUljaTMzRVhRb0IwM0xlSGZNNHVaRlA5WEhTeXQyNy9PeE5GZnF6bURrSmd0S1NmRkxkVnVrNGFJNHM0OTgvNmJxWUljNFFRRjJyNGF5MHlEa1BTaVpnUXJidUNzZkx0RXpDR2wvdWFIWURSVGhiTkV6bjdZTDk1VlpNV1FvRGQzTGNMekRlTjZjc3RGVTFDRk5WK1NRc1FKVmlVRDh6R2JhblFiRTRndGh6WlRWSDF4dGVmZXdjT01MdDR3L1BmZFhCR21DTWtGS0wya1c5OHY0MmEvdko3LzdBajZMbzhodHdvVDdVY3BtRno0NnVQK1I5dHprNS8vc1R6STA2SmJ4T015Y2ZXWTdIeHdJQjRFSVMweFJCZ2ovQnRDMzQ1Y2VPWjB4MllhOWdLRndyLzQvd2ZSNWNMTUNlQ241MHNqeTEyd2w3WngzdmxDMC83NVdWdnBrcG9zRG1Tb3dnMXlFelZKWE5QRENrQndiOGdUNzRVRVg3SGJGTmZjdXVaWkZubnBpRUVmSDBpR3VnQm5nTUM3ZHVOTkR2RmdMVE5WM01Rd1ozMllmbnNTUzI1ZGEvdENEcldYWE5RU2lxN3IyZG45MjQvK2VEQjdUdjNqTDl6YlBBRm15TzVpbEJEaE9SMVZ4SU9zK3hQa3E5WWswSjJCdDRiMmIzYitIdE5jSDMrVGtlaXRwNitlM0Rma0FBemJGODBUTWxCcEFNQ3pMNUZPTFA4cTg2Zmp2QmdUKzYraTluRnhoOGFxeXlUdTJ2SEdCODd0NEhsK2pkejBhWmhhRTJWWUhPa3ZpTFVrbWQvL0dYVy8rVy9lMWJTSmN1VExMdDNXV05vbXFnbHo3eGI2bjM2dkNlTDhEYzJDeUhBSk50WWZHRDNseUVNTzJQNW9nNHBoYXdsOGl3bzhVV0ZRZlppVVhQTmJjSG1TTDJGcU1sTzQ3N3huVHRuLzJtMDFGY1pISVhJY2tDQTZacmhXNWlUSjBKZWkrRTN0UlBDVlNQUzh1Z2V6N2E0ZUNUVHJtQnpKRk00YXBMak11N2Q0eENwRGdqZ1JOLzBMZVFTOGltWU12eWFOa2l3aG9Zb1RHQ0gzQWtqbklrcTJCeXBaVDVRYSsxTGUzeDNCd1E1M3c3MHR0aG0rRjFuKzk2Zjk3VHd3TDhvdVNFM1RNMTVLYVZBYzVUdStVQnQybE1HZVFvdUNHemZ0bFM2Qmc4eFBnL1hXVXk1VFpRY09nNkxMZTFib2Z1ZnhSZGJEVFJIaVowUDFEcktIay9CQ1lIdFc1MnVRVnlDS3h3L3VLZEt0bFM4NGxHSUcrYVJ0Nyt1emtCemxMcTVRRzNaUG9kVTV0R0NFd0xidHpwZGd4d0dKVFF4RTFpaFJ6ME5sZEZSRGJueThQOWxXOE9QRU5oeFlVNi9xMkV1VU5zeUFuZVhxVTRJTE4vQ25KVHBHbDhhQVRWNHFiQXBzd0VtMytJcDF0bXdvNWhpc2hwYWc4elJldVlDdFljbjJpQjN5UVdCN1ZzNFFwRUFzVW1HLzB3QkdycTNxT2pGa0ZQaFZUT2pvUHcxbDRQTTBUcm5BclhwSTIyUXUrU0N3UFl0dlBxUlQ0SDRkYmRWbkd2dEhoWHQrc1VuU2dPZkU0Nk0rdVZWZ3N6UjZ1Y0J0WTJ6dmpiSVhYSkJZUHUycWI4UUdYTDhHcDN6Wk5NNkhwNnEzNzl4YTB5RDlsczNmMFJQaURsYTNEeWdkajFvVzB0Y0VOaSszZGJmZ01nL0EvMkQ3SjJkWXoxb0xDMmFtYm5aeVd0cjhzODdGWFhXM0JaZ0R0RTRENmhOajRoQjdxSURBdE8zWDM4dXplRHR6aFBQOTFEUTM4aTQ4VnYzL3RVU0hQQXZFZ2YwbXhXTHZlNXFnRGxFNVJ5Z3RoYTJRTG9nTUh5clh6TGRKNE1zTExaTys0WHR1bkVpUTFIZGRIbWxjbk9JN2psQWJWZEdmTVNzaUtMaFczaWREWDgwOFBhZGpuclY0NVMwWG5ZOHNsVytoanFGeDNlVW1rTkZ6Z0Zxcnp1Z0JzV1dxL3QyS0pkUGg4cHhYT2Jya0JMY1hHWU9GVFFIcUZGejRzdlZmYnVhL3gwTnFuNGhKS09qRERPV1M4d3hwRjkxMUdieDdkZ2J1M1puK3RqQ2NISll4VytPSWNQK0l3Tkc1eFdvek9MYkJkOHBZNk44WjZ6WlBWNXpMRjNxSE1GcXZ4clYyWHo3c3dQM0tCdHZkL2RkVW8vUEhFdmxhMjVZRFZlcVNuejdld1NvV0hrNTVZeW1BQUFBQUVsRlRrU3VRbUNDIgp9Cg=="/>
    </extobj>
    <extobj name="334E55B0-647D-440b-865C-3EC943EB4CBC-2">
      <extobjdata type="334E55B0-647D-440b-865C-3EC943EB4CBC" data="ewoJIkltZ1NldHRpbmdKc29uIiA6ICJ7XCJkcGlcIjpcIjYwMFwiLFwiZm9ybWF0XCI6XCJQTkdcIixcInRyYW5zcGFyZW50XCI6dHJ1ZSxcImF1dG9cIjpmYWxzZX0iLAoJIkxhdGV4IiA6ICJYRnNnWEhCcFgzdHJLekY5SUQwZ1hHRnlaMXh0YVc1ZmUxeHdhWDBnUkY5N1hHMWhkR2h5Ylh0TFRIMTlLSEZmYXloY2RHRjFLU0JjTEZ4OFhDd2dYSEJwS0Z4MFlYVXBLUW9nWEYwPSIsCgkiTGF0ZXhJbWdCYXNlNjQiIDogImlWQk9SdzBLR2dvQUFBQU5TVWhFVWdBQUJMTUFBQUJ4QkFNQUFBRGN3L3o5QUFBQU1GQk1WRVgvLy84QUFBQUFBQUFBQUFBQUFBQUFBQUFBQUFBQUFBQUFBQUFBQUFBQUFBQUFBQUFBQUFBQUFBQUFBQUFBQUFBdjNhQjdBQUFBRDNSU1RsTUFJb25ONzkxRUVLc3lWTHRtZHBtMHJIcllBQUFBQ1hCSVdYTUFBQTdFQUFBT3hBR1ZLdzRiQUFBZHUwbEVRVlI0QWUxZEMyeGsxMW0rcyt2MXJOZjIybjBra2FDcVRZbEFJQlM3YkFJU2o0NUJ1MERwWTB5em02YUVhb2EyUkJVRmVhT2sycFpLakV2VEJpaDBYQnJhQ29uTzBEYThpanBXU1FCVndGaHBDNm9xc0ZWVlNBaUpXZnBNaVZodnMzYTdlVFNIN3ovdmMrNDU0N2wzWnRZYmU2N2t1ZWZ4djg0NTMvM1BmODU5T0VsR3gvNzB3RVBWWEhxN3NSVmVHUlg1MlZWUjlmSDFLRW0wSW92S0xpWkU1WThxQnRzREozZG04d2pzemxhSkFxZjhIYUd0L2UzTVdyT3BqSnVRV2ZHSUlWOFAxSi9NeGRlZDdhMVh6a2VrTXFtdThsU0VJRjZjVFdYY2hMaUdVYzBnZTJDU1ZmT0kyNE90VUg1dFJLcUNWdm1aQ0VHME9LUEt1QWxSRGFPS2dmWkFLZk1RYy9WN3NUVjJJMjRyUDdTeXFveWFNTkQrT3hqQ0pzdk1PVzcvbldyZkRUdk81dlBJMkpQdEJGc015ODBOcmN3cW95YUVEVHZVcFRVSFdEenpubjQ3Wk9IcFhCTDJabHU0R2hhY0cxclpWY1pNQ0J0MndFcFBsRjZUb1VWVHQ3ejNZUUxVMDVmb2VPd1JTcjgwQTMrQWRKekpCVnVncmt0UkQyekgyRlpRUUY1bzVWQVpNeUZvMTBFcjNHWnNPVnVid0xHam9waHhaTmpGYlB3ZTlYMXN3eXZwS2RzRFcwRmh5Qk9vaXJPRzhUbFV4a3p3TERxUTJYRkE0NGxzTGVzdzlsM0RnZHdWazh1Ukt1Vmo3NFd0c3h1MEp5KzA4cWlNbUJDMDY0QVZuZ1Mwd2dNUWJXaWRzVytaeWtLSnNSODMyY3lwS1Z0WTc5dzlzWTJGRndnNW9aVkxaY1NFM2h2NjNLV2NCTFJZTnZQTGpDMVpISkNReis4SUdiVjg4MmxQYkZNS1JKYTVTS3JTakJOaUxwVVJFMXlERG1hT3ZGWTJaQlRBc1dwM1JvbUZuWU5ORTAvWG1ZcmI0alNCbXQ3WUtzR201WVJXUHBWaEV3SXRPbkJGQkpSc081WlQ0Tml3KzZIR1dQYWJjVXJBQkh0V0piT2NlMlJyc1daQWFqNW81VlFaTmlGZzFjRXIydlI4MEo0dFBBNW96ZHBVUnpKSGF4YjNaTDZ0aHg3WmpqbFR0MUtiRDFvNVZZWk5VS1ljNlBQRTQ3K2ZyWDFqMkh0d09Jb0l2cHBPU1laTUkxK28xU1BidEwyVzFWYmxnMVpPbFdFVHRDMmpoTlVEYzR4NXU5emJMSFpMeFdLTEpOdHNMVkxUdGJoSHRxSjNGUWlaK2FDVlUyWFloSzZOTzdTVm1FRzk0S3pGMUdCbDdwUmkxcDBQb2FGbnRucklueXByTTYwUWM2c01tcEM1b3c0RlE5M1oxcUltSTQ3UHVPdXFPMm82SDJmUGJDc2hmNW9MV3JsVkJrM1FIVEJLV0QxUWRyZTFVSE1zNi82RmtYWXMzNFpwejJ3eklmbTVvSlZiWmRBRTB3T2psTzZCMUxaV2toekZtbEhYWjBzMFFsNWxieEU5czAyR3ZHSXVhT1ZXR1RSaDd5WWVRb3JVdGxhUzBIWkVOVjlYYk9mYmJlMlpiU29VeStXQ1ZtNlZRUlB5OWRZQjUwcHRheVVKN2VodjVHdDJUa3oyekFZZm0xNkI1b0pXYnBWQkUvTDExZ0huU20xckNXaHQ1V28ybnJ2SXc1ZUJyUko0WmlzUHRQcFFHVEloVDZ2M21lY050NzNNMlNrZnZEbHpxVzB0UGlITzU5SjBKT1A5UzZra0ExdWRyYWNzeXdPdFBsU0dURWpadEE4RmIzaWtmT2FmREZxS04vN05mNy8zMXVVa21mamE2VStkVi9ZVXZuQ1czZm12eUgwT1U5UExWV2xTK09DLzNmSzNaNXZJZi9Mc3p1MC9JTXJIdjFJKzg2azFSZlAyWDMvMHNVZCtnZWNjNnJ0K1NGSDQ1L1MyVmtKUFQxejA2WHJLSHcxRjJYOTVkdmYzaVB1TlZmb05IVUcyRUdHU2JMTExxWW84ME9wRHBUYWg4UDFZWGR2SGJqVmwyN1VydUpteE03aEZ0NkUwVXFSRGo0VVcyK3cwKzBWWk90SG1wUThrOTdLdkY2MDc3UzFlM0V5U0w3RWROT3FYaVh5cUFrYTJnMEorOExhS3pmVVF0YVN5VC9YMC9pZzJIOXhuSVd6NnJ1a1o5cFJmWDd5WmpGMkZwYUhkVGtHZFludityYnlwOG1mbm9oSGFVRGd5UmQwZXFvbU9maDhxbFFsRmRKMTNMRmxXWGVQa3g5a2Z6Q2FGQlFNRkJhMEhyL3dGZklWMFBuVjI5VVBGRHpQMkgrVnZZRURNUXlvS0xDL1lnUTk2aUE5L3NmM3NXakplWXVwTmh6SzExWVdXUlIxcUxUajhEa0g0bGROcnJhUUh2c09lbUUwZXd1dXBMZE1RM3c2ZjdiZTlFWk92c0JMYkRQTnVIYUJNS1UzdnhzZEh2dytWeW9RWGVsWWltL2FvZmxPSGxUL0N2a0dpNGFMVWt5Y25icmtmRmkwWHkxdkpncnB6ZHdQYklZdzFHTGtBUElZd3E4eDUvbU1sRURjTFFCeU9FZ2w1NGJQbmtRUXFWNmtvU2I3NE9DZ0V0QUxVZ3NiNXBXMnRkYWVFNzhibjIwTkFHeTU3c3Q3QnJwRDlwZFh4MExhQkpQYllDdndDZ1dIcXNKN3hPU1piWjZ1SlF5cysrbjJvbENaZ0laQTY1bTJ6cm1sNlUwNFg4RldMV3ZHYkFLMUpWRlFrNlBIZ3djOVFKVXdIMFlRVEdOUFR4YzM3aEpRYWxzL0Y4Z2FSRnEwbnJONm1vSlVrSHZVYWtmb0hiV3R0ZVlVcmdUS1BKSkp0KzY5OGpKY0ZjTWVldkU5ZlRtbGVqNDMwTzhleVlUa2V1RUVkaFZhWDBlOURwVFNoZ1RqazNLbmIyQ2tjcFIzNlBaWHhtUlBUcXI1VEJmYlRzMEpJeGVwbitLWGx6Zmtrd2FYSzM3SkNwTFBCcVRBdjR2eEh6c0NqUGMxU2xWY0RuOHRISlZicnBzTUJNK0cxUU9SUmN6YnZoL2F3MXJ5eURzcWFYbGx2V1Fra1E3d2lmZFdKSzIwbWJUV1ZPdVd5VFVEOW1kdFBuYXFJOFRwMTZsT2FrRytNV0RtUmpFS3JFUi85UGxTaXk2QVhIdUFmTVpwVC9MblhvK2xaT21WbDVvSzMzeDA3ZmpVbEN6Yko3c1YxMlZUVkp4aDdMYjBvVVFkVXFLeWpZSUtPcVZLQmZjd3c5dGZ5OVJ0Y2t0OGlTTkxSc3ZCUk50RHlxQVd0K3dzZ3A3YWlZSW1aaFYzeVBYTE1pOUdBa3A4WExHVjU0UVFGdUd6M3NhZHBkWncwckJCTHMwMEhUSXRCcTl2bzk2RlNtSENVM1VGR1RmSWIrVE1oVTdYTitSS3dQbm80N29iRVUzaDhudXZCWGJwRnBSQVFlVDBoYms0Z0NWNUhCbUlnNTFoVGhIUUdXRDRyQzBINHhCbFpWMk1tT0tvNDBMS29KU1J0Y1R5dVVrc0FYVkdCblRxVEpZSEFiY3VoYjJqSUx3UWFvMGc5dHRMdUdxOVp1S3dJckRNdXhLcVY1Y2tZdExxTWZqOHFoUWtkMFcwelBBNXNoRXoxemN5WUQ4M21HQmgrclB1eWdBczUxd0g0K3Ywc1hObm5sa0JhK0FyZi9VSHdJNzByWmp4TnBFUUJicFdtekVDYWRJS0V1RlZGVWpMUWNxa2xZaFdkT0xlY2x4QkZHUVFIWDI5d09RTTU5TWFHVTJ4Z3Z1SzZDWWZLWlR1aWxoV1ZaWWRLWk5CYkczNXhERnBkUnI4ZmxkeUVnclJ5aFlOcWM4bXk2VVZmZlB5MjExbjV2TW43T1lwQ1ArbjlNNExXRmxjRTYvVHNqTFJ4T1h5MUp3R0RJQ3psYUFBVy9aWmgyV3dib0hoUnRjQ0Zsa1dkOGs3RXNaM2UxaUtEOGoydmhjdWlxc3lnTXlJQWRYRTBaQWhRd0s3dnVUV2JpSGE4YkxhR3RMTmdyaGFMSE81bTNzcnlaQVJhWFVhL0w1WGNoRW5ac2R1ODMrdnJ4aVpVcC92VVZBOG5SWEZObFlzMnN4NnRBZldzUVhVZ2ttdHR1RFlka0hNdS9BQkRldFFyeGhHQWFWbVJ1TkN5cUlPZUNFSXVLMDU1QnFUNVlMVjNFRXpmZHJZc2gzcUZzbWZKb2tsMit0eXBVK2ZPbnZZWEFPQmNzNFZacnFvalk0RTVDSGVKK0FhTHhkWmVGQ0ttdmNsVkNyYjhzMUlWZ1ZaODlQdFVTU2FzeUd1bVBFOVdWUGd2cFJEZlA0SnIzdTlUVVJYOExaYXF3ZkpNaFppazVUQWxGbW9BTGZ1MWh4a05lVnpNS1RRQVdoSjRmTGVpS2ZVamRsdFNwcmpRc3FpMUExT1VPQVBqYXY3UnBYUUZMQ0hYeHBrT0JTMmVFZERpU2Z4WWlDQjJlS2xaT3FzRGZYeGVwdHZTMjc3akxOaFV2VHc3Yk9OS3hGSGJsUmtPeXorcndnaTA0cVB2V1pwVkpabFFiM0x0RThKSWQ1SkdweTRxMi9ZKy8xcjRFdHFiMGFINDJPNjh6T3NCNDE1TEFZNHE5NFNXL2c1TXhReGtIRm9XZFFoYVFIdXFaVFdVWFlRbEY1NzNGcVErL2Y0TFpCYjIyVXE0QnY3M1EwZ1Y3N214RGRoLy9ubXlobGZURDZKREJTWEt3dTNxbHVuRlNWSkxYVEFPMjNFVlA5WWNXU1NQSDRGaGkwQ3IyK2ozcFpKTXVFZFljNFJmSnVPc0tiTGlGOUNhdC9OZDA1OUlEMEJYK2owcnJVNkgxM3JXb3Q5elFyeXNpQ3ZtOG85RHk2SU9RUXNPdzNjOXVBT3N5OHEyUTIyd0swMmxHOTV6U2FYTjJSa3dQbnNybktDUnowaTZtcG5TWlluRFZweVZwUzNibHhzZDF0U3ZDaVBRNmpiNmZhbTBUQmpqODhxMDYyQ3hScWdxMjV6enpSdE9Oa251K1kydm9yTzN2Tkwrc2k2MFZLK1RUTnkwTVdHOGpwU1VObnRJZTRMV2t1S3NtUGhmRmVGTWs1K1Y1Y21TbVloTHRvZHBXWDFnNzU0WWZ0aCszdVFJb3dyWjFwSjR4VXpwa3Raams2WDFWS0RKSzhwcFRFZWdKZVVFUjc4dmxaWUpLM3lFanJ1WEowSk9xZHM3bFJmZEFnQ2MzVGxJYUJYKzVOSEhYR2lwYTVzVVk0cjZyakFBSHVWSjF4VHVDSlpWV2NXNEZJeTBHc1RFamJWQzFFb0F6alhMRUZsTUt4eGxVTW5NYUVtaC9ITERDSVhySnFkU0tGVkpPbGNNRVlaeVNWWjVkKzlRNnJGSk90VU5NcXRPMXJpcUl0Vk42ZHZUUkJFYy9iNVVXaVpzODFqMm1Jb1BoVVZIN1F0U0dVbG5zOVlTcGNkUDMvbWY4T2RiTmswZjZSZDlCVU9IUTBjaGtLMWpiWktycStCUk5EQ1VRbmd0WFRZSWFMVTBrSlVHdWlHdWRkalFXckcvVW91aDJSTmFhSmp1TlVTUXExSkRLUlhqQnNkNTNPMFZiVjdGWEVTcXJEdTBJcVB2WEFSQ1VxOHFMUk9FTVY1WU9KT2E4cVdsdWwrVjVUZ1BEbHFmUVN6OGgzOCtxL0hEWlR2UTZxaExmeTR3WlE4YVd0dHB6d2dWckNuYmJrRnJ5c0ZTTDlEQ0pLaXY1Z2JUaTZoMGpCdUUxc25JeHlNc2w2RUdxRHUwZ3FQZmwwcGpndnhzN29xTDAvU1VMeTBkSnJTS0dNclh6MEtSQ3kxbjNvT3oydUttYktlM3RXaGZhNkJlcTJMTnBMTDlteWJVd3VTcW5ldUN2ZGFnT1N6Z3Rkd0lCalE2RXU5b2xBVmlYSmRObWhIN2JFZlpkSUNrN1BLOEZpakNvOStYU21QQ3BGZ0tkbHhvTFVTdWl0U0VTQTBZbE5kQ0QvOEU3NUF1ME1KdFNldWhHazV0ZmdZTXJkQzJWdGx5WkFaYXgvWGN4bzBKUTh0WmR5VTFhL091clZHRytmYThhUTlQdVd5eWNpNkVYZFNaY2RWU3VucXQ4T2ozcGRLWVVCTkx3VzBYV3UwMCtvV3RvZklCUWVzRmVpKzlDN1R3R0FPUGFsb3M4SjlEQmd5dHdMWVdObXI1cmhidkRBMnRZa2xGOXFLVGVvSFdpdGx3c0xhSUo5TXIxZUE0ZHlKN1E3M3Zhd2xMdzZQZmwwcGp3b0xBVk51Rmx0V0J3Z2IxT3p4bzBkT1RWYUdtRzdUS2RUenpXM3hMT2lZQjY0Q2hGZGpXZ2dhekFhYWhkUU4vOEZWMUVWL1VCU1pFWjF1ZDloN1VUSTlMVTIyd3pEaTdlRnlpeXlhVmxIVEFaN1JTS2pBVEt6WEJGV0o0OVB0U2FVd29pOXNsRmNjUm83Rk4xMmFWeXdhdGlkampXbmVubjllNno2d0Z1MEJyK29tSk5qd0hZKzlVRmxubkFVTXJzSzIxYlc0cDAwUFNJdGFhOFA4L1R0aHJZYktyR21NN0pvNnp0clVhelBWL29IZlpoQUJNMWJOR2xFbWhmTlhrUktvcnRJS2ozNWRLWThLVVhBcnFMV1p1RHhyclQvblM0a3pReXZTOFZsc0Y2RjNEK0xIdkpJWC9xdXp3bDhYOFRoeTAxNnBaRUJlNkVHWHJ0WnlCVmt0SDg5S2lNTFF3dnphTnlRRHBvc3doYWw2U3lVNDZ4blhaQk4yVURzNGtuenhsZVBLQmM0UkhuM1lQbTY1Z2VnQkRyenFjS2wrbHlSK1ZHeVRPRllWTmIrSDIzMXo1VVVjT1JuM1pLMEEyR212UlNNU09kVThPaEdqYnhaRGVUUlFvVnZNR1oyZ3M4VlA0WjhCZXE1WGExb0lmczI0QlNLODFiYUl2YVZZWVdtaktockc3Ym1LT0dlTnJaSXc3L3U0cjg0clVaUk9seDgzYVZKSHhNenA4d3lsQVJ2VmZhRUlNano1MWVrcE1yeXFOQ1EyeHNRRTN0bVhaSktmOEQ3QzcvTjMzVE5CSzdvOEJpKzFXTFhXVXhLVXI5OW1sMTVyZzZQYWgxUWxBVzBzYU1MVGdXQnhZODhjZHJFdENRbXZiMlhnZ1k4TFFRaC9QYTFQcFVURFY0dzB6a2dKdkU2WGRoL1ZqSFM2YkVCRGJkb1M3cVJvVklxWGFFSUpXZVBUcGlZOTVYMHl2S28wSmRiR0toYkJWUzVpWThxZDN0cEk1UGQ2aU9odTBMSkY3SmVkTUZBTmpNTVdFb2JWOXVZdWdBVU9yWXNJaG9SUXJKM3Z1RTlDYU5QOW9SWmtXaGhaaTdJdUtJcUczM3paa3JxTWpKMXhJVFJSMlhwVVVOUEJjTnNHeWtnN0plQVVDbVZsQllYNjdRU3M4K25SdFh6UUNSS3BYbGRvRWpDSy9kakJETGxyQ3hKVGZmZ0FCbmI1NlJQWFFvTFZpeGhFZEhJVldYVDJZYVZtcms0T0ZGdnJHMnoyQ3Axblh5bVNzVlFRQTdVS3FqMENyWXZjeDhGU1Zzc3kybG9oeEo2K2VCL0wwZURoc2dtVmJQNThxUmNnVGxuWnVBWEpkb0JVWmZicS9xYlVyZWIycTFDWmcrYkZHekZCeVdRbkJ1VTV4NWIxd1dOaEZzb3FSSEJxME5rMHNpdzZPUW12N3FtdVBreHNzdE9EYWplc2dQWEJham5idXRSNEVsZWZaWTlCcVU2K3FvNkVYVHVoN0paYS94RmNzYlZFZ3Zhd29IVFpSV0haR1N4RlNWT0VORjZxNlFDc3kralR4THhtaEl0V3JTbTNDbUl5ZDBUejdWaDE5aHFCUXFSTEc3QmtBU2t5TGpXNTRtUzJUeTVuQ1ZhekFqWXMrQ3ExT2V1MWlGQTRXV3JqK3RHTWhIWVdTMTA2QzFqaDdhVVdEUkZrUzhWck84bTlHQzBlVStZemtIQ09RM1lDUkFJclhsVFNIalJlaXd4ZFZyWE1lUzIrTGRZTldaUFRwbFR6OWtLU1UzN05LYmNLbXVtQ2NKKzR3UFc0a0R4TFd0aFhtVlF1R0JxMldpYlZXK0lOUUp6aW8wU1FiODhrY2ZTUWhkZ3dXV3Y2MkZ2enF6em1hQ1ZxYlY1T0dmcDFRMVVhZzFiQTdFK0RaRVBTUXEyYjVPWUJzb2x6bGp4Q3ZLV2tPR3krRXQ3bW9hcDF6TFJDREthV0JNRDQ4K3BEWWgwcHRRa1haVWpGTGYvNFN5ZXc0MzJGK3gyN1ZzWDE0WG12T3pDdm41c2lZYWI3d3dscldnUlpHYmVjY1htdjR5ZmY5Y0JwaThBUkx5dHl5Q1R1QWtjdW1XTHRobDFydmZDaEtvTmdKTk44SVgzcGVWMUlDMERxQ3BSUnUvbWlab2o0Q0xmV2xEVTZFYTJhVkoyamVYZUlwK29qUnQ1SVZldkNyMkw1REZvVytFUUw1RzdyYVRqUTBTRTFwRjJpRlJ4K3NqcVZjVk04cWxRa1lPT241MnJaWHB5bC84NWVNZFZacWFGNExWN0hjcHAxOENsaW9Ka2M1cERCdWFyYmdWbUJFOVBGcHl5NmVyRmtZQXBVQ0FqQ2szQUxXUG5wZEVxSFdRanZPSnRZbmdPbW1ydU1KT05jNkdWZjNKc3BZckRXcHBnakp2Y1RQSzdCMG5hZDRqRHUxT3lzejZ1U3lVU2tzOTRrRThhWUdxV0x1Rm10RlJoK3NmYWhVSm1DYVh4UkdMTmcrRmxQKzI3d3JWSms2TkdqUkxjVFhrcFppZTU0SHNhMWx5dDJMRWExU1FoMHdWQjgvcXdybEdYWGZsVWtzQmZUZVRNZkV5VlJjRFZOZmxNWHFSTjVFby9xM3ZvcmNscXFTNTVLMERWZUM0MWxqMERwaXp3eHdpaytSbkJOczIwZ3Vzd2ZxZis5cHdTcmQ5NmlieGlPN3hIWHBDZTNTdU5lS2pENlkrMUNwVEpqVG5uWEZXcEtnMWJ0NlhMaVZYMExIK29lNWh1RkovRjYzMjlaanVpSGR3cGV3MzkxbU80OWo2VHAxNlYya2RlY2ZMbjJmRmtMZzBNZnJkSEdTZk9UU3cxVCtpa3Yva3hRdVBWNUdjdWVmTDYwbEwxYkYzOVRGdi92MUtMV1VWM3owTWFINWZWOSt5VXRlY3N0N2I0VzAzVlFiUzR4eDE0N1FWUDhQWVM0QXM4ZTZ0cXo0THlvSkx6R3Iwb1FwWWlwdVA5UFNFd1lFVmF6ZGZrbnJzbEZoM2JoZUk0OVM1Y0JFR1lmV1hIajBJYWNQbGNvRUEvOFp1emRRdlBzamE1YlZGWFJ0NnRDOU54aG9GZHNZb2Y5N3RMMnp3WDBWaGN3MFNZcERld1Y4UnM4K0xDTXhRdUw0TnZXTVBKcEpReVdmTWNWd2JSRnEyV1phSEhySHE2dFdmNGhrU1NFS3doYnRXZ2RhNHlZUVk4N3l0b1ZQYmhSdTNsM2IxajZJSHRsNXplZHRTVHp0c3FHb2JOOXVzc2d4RU9ldHJFakdvYldwRmMvWW8wOXN1VlZxRTFiMEJJTE9yQXBUOEl2R1lwaS9xZlBKWjg2cGcrMnExTzJhZmpEUVNzYmJwSmI5SUtuOXpNNVA0ZmM0WGtUR0s4cm5UcHNKWjV1OWFoWTF4UXMzL25zSnhNdEVMSTdXRG45citYU1pvSFdhdjlwOEdrUFpVTVVFTFNvK2Q3Wk0wRkxGTHJXVU5WMG1TOHh4NW1YcEFVOFNXaUh5QTUzbk9Cc0hXbUk1d3VuVVpDRzRDaVZNRHBnZEtrb00vMjQ0WTY5ZUUvWDYxMlZEY2NYRWpwcUlFdE1oYnhhSFZtVDBTVkp1bGRxRUkyZTJTQkNPWXZ2SFJJSitLMno5ZTlwMjhHV3E3TUZVcFFPQ1ZsTDg2THZLZC9Fdi9DakpxZk5iR1hhcTVWSDhuRGVpcXVKYW5UVzAwR0hXaGVudHhwOVU0UjllbjJGTHRtMFRYeXZmdFVHNzFZcmlHSHU2Z09YQ3N6WVIwaDVia256Z2lvOCt3VEZwZ2tNaklnNnR5T2dUYTI2VlFST01NV2pzVmxKTTdaWnlnbUZDeTFnUVRaV2NHQkRlVlFNdHlqSzhDZ090T1hkcnkvRmE2Z055c0dQTWVGOWpGWllMVDhwY2pVQ0dEeGV1bTFwS0JkbGNFcEdycWZXK1hhbWtCL2ExYkRJM25WdGwwQVFqRzQzRlZRRXYzelJsS3JXLzBKcDJiMlRBeEExbDJENmNEYlRRWTNwUEE0WTQwTEkrWEhiRTJYMlFGcU1SbDJXeXhXR3d6ZmpTMFRRb3lHYXFUYW9UMmtuTkJhM2NLb01tR0F2UldNcW9QVDFUUVlYTFRwWm5CalVocGlYN0pUWFZUN0xDL1RDaVR6M3N2SUVXUmFmelJwMERMZlhkRGxSak9qQkVLblhNZUtsdERySVpINEJCTnNWdW55dmlockJkMUcxZnk2VnpjcmxWQmswd29qSGxVNlpFeTU2Sk8wdzVwZllYV2kwM1dNR0lMcm5tWGRPY0JTMkF5WEkxRHJUc3g0QkMvNGl5WnJadUVPT2lBZUwxNGordW1yYUUyRXl0VGhVYzE2bUsxZFdZYVVKRUhOOVVBcnFkZlpWKzN1ZmxVejVCQ3cwOXJwZjlnbXAvb2JYZ2hTR2JlaTd4MjNBdDhoYTA2Rkh0V2EzVGhsYlJSditjdTBuQkdWbzgvS0FrajNFSlduUmwxNnRVSkk0UW02cXp6aWREb1Z5MzI5TVdyNS9NcVRKc2doRXVwbnpzbmx4RUNIblpsRk5xZjZIbHI0bGIxd3Uwc0tTeVVHTkQ2N2hWanZoVlJleW1WekdYeW95SWNSRzEweEt4YkNpQ2JGYTFTdGE4QzArVUs1WFp2RmJJVXFYSE92c3EvYnhGeXBNTFlzQzRvMTVaZFd2M0Yxb2RlNXhnV0Nka2ptdndFSE9XMThLdEVXdlB3SVpXaDYwYUU0b2kxREFGU0ZWMEdXUlF6UXl0RThmeGRJMCtRbXk2MGlRV1FxRldUcStWVTJYWUJHTWlud25ob0dpNmJhK1pja3FGeGhLYjMxc3UxYkJ5Szk1ZVlTbTBKQnFXOHBSYzNKNDJaWmdSTjFRTzBGcVVhZHlYdXFpS2NVNTNQV1pCSUlrZllpWUV0QkMyVFRydUxjMG1XZXhUMFEvL1JXVStyeFd3MU5ZbDA3NUtQNTlpa1VpaFlGODhvRzVSaEtDRjdsdTFTSWFZUE9yMkhqQTlPMFJ0ZTRrdTIxc2hKZXRtOXBpRzFnU0s3Y3Z1V0txbmNITkhvWWk3Sy9xcUZ3b2F5N2IyTkp0ZEs5TkhRcnRhY0FaU2ZMWUpFVmFzQm5SNFJiNUtQKytSNDM2STJGcGVnTmM2NWtYeGFhOTE0WjRQTHVESmdyKzY2WUl2WndoNWJITnNXR0pmYUUxQ1Z2RTFTUmJ2ZVF0ajdEMDNuZWZhaW4rS0RQdjBUWlM1Y0dNYk1MdnB3b1VMTjM0U3ZzeFphcVcvSklUN3BKZWx3ZkliTGtmSWExV3FzcENmMG14MnJVelBPWDJqQ1hKQ0s1ZktpQW5hRmpubEovZkJxN2ZuZGJGSStGNExPRlNIZlhWNlhBUEx0dlRzQVpFVCs3bXQxWmJOZnBxM0RWTWdQK2I1VzI4eUkwOXJkdXUzL1Fka1pzeU5VQm5qRnZGS3MvZzNFWVl4eFdhcWRLcGtUYys2TUxmWFN2S29qSmlnclRrcDc3VVdLcnYzMDFyRk9kTFF3bjNlMjNFSHVldzRmb2RuZ0JsTUh3OW9jUjEzZXRUbDF5U0JqM3VmbzF2ZENsclVDMmZwWTlaNENzbzloRitUUmgxelFpOFUxdlhraVYwNnNPTzRnZDFadnNoVCtpZkZwbXQwWWtyOVZ4WmRJaEk1dlJabXhJdWVwRlRXVitublV3ekYwcW9vbTNyNEZWVy8xb2VXWHovc1BENW5JNS9kb3J2VHpXR3JHN2o4Z2hwcEx2blJ4MHFBNGU3N3ZseWw3TDFYZVdHU2ZPSDAzOG1VT3Jsc3F0UTUxNXc3NUtaS0tjd1lhK0ZOU0Jta0dWRit5bGZwNTMzNjd2bjlobGJ5TVR6UzlHZllYdnpOTnR2aHo5OTB0L2U2cTIxWlg2WTBqelV1N21XbnpSYW1iYXVGcGxldEVKSVZXa2wybFRFVFBJc2kyWDJIVnZJUkNvM3A3K3BHeE1icnVuaGE3MHZ3QjAzRkEyUjdCeE0yVzdCOUoyUHpWMjVvWlZZWk5TRm9jS3B3LzZHVkZENzZ5R2wyNW1YNnVlQ1VqZGQzd1lLYTlyS1p1UmRiUndSOWFhRzVvWlZrVlJrMUlXMVVxT1E2Z0ZiSXJPZFFHYjFmbHVQWWcrMEVXNDBJelErdGpDcmpKa1FzODRyOUw5ZDQxYVBzM2ozUWVXWnZtZ0JGZDdaR2FpMnZSS2diR0JYc2xtVThzcW1NbTlDYjJ0Ui91K2lOYlVSbGV1QkU4RmFmcVkra3VySVY0OUZhNVR0Q1lIdlBCVjlLY1NhVlhVeElDUjRWREtrSFhqeWJTM0EzdHVJN295TGZ2Q0dxUHJ3VkpZbFdaRkhaeFlTby9GSEZxQWRHUFREcWdWRVBqSHBnMUFPakhoajF3S2dINGowdy9tNXMzcXRqWnoxT09Lb1o5VUNtSGlpMkZhejRPZnYrVGladEkrSkQxQU0zT01oU1c0aUhxQU5HVFIxU0R4VG9Yclk1ZHB0RDBqTVNlK2g2NEszc1YyYVRBajNkT2JkMDZCby9hdkF3ZTZEMFNraWZwdWNOV292RDFET1NmZGg2WUhwbkZrMCtTdmVFdDFjUFcrTkg3UjFtRDlUNEozTDViMmxybUlwR3NnOWJEM3h2bFZxOHVZU2Y1K0N6OUdUNzZMaXVlNEJlSlJtUHZKaHdYUnMrTXU0Njc0RUNPYXpwZkE5S1hlZE5HNW0zdnoxd2hMNU1lWElFcmYwZGhRT3BmWXorNDliUkViUU81T0R1YjZOYTlPajQyQ2pXMnQ5Uk9KRGFTM1JQZW1hMFFqeVFnN3V2alpyZzN3ZXF4ZDlOMkZmclJzcWZ3ejF3bkw4K09SZDd3Zmc1M0xLUjZmdmNBelVPcWprMnVvZTR6d054OE5UVFYranc0SVArU05yQmErR29SZnZVQTJYK0QxZHE5TG05MFRIcWdRSDJ3SlQ0bm0zcTMwZ01VTVZJMU9Ic2dUSHhuY05qKy92Zm9nNW4zeC93VnROL0M4ZUIvejAwZXFybWdBLzF0VzVlU1N3TjhVbmY5V3V0ZXFUdllQZEFSZDdocVlRL2YzMndHejlxM1RCNzRFMnZFdElmbE9kaDZockpUcEwvQjl2bFY0WEY0U2lUQUFBQUFFbEZUa1N1UW1DQyIKfQo="/>
    </extobj>
  </extobjs>
</s:customData>
</file>

<file path=customXml/itemProps45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3660</Words>
  <Application>WPS Presentation</Application>
  <PresentationFormat>宽屏</PresentationFormat>
  <Paragraphs>253</Paragraphs>
  <Slides>24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41" baseType="lpstr">
      <vt:lpstr>Arial</vt:lpstr>
      <vt:lpstr>宋体</vt:lpstr>
      <vt:lpstr>Wingdings</vt:lpstr>
      <vt:lpstr>Calibri</vt:lpstr>
      <vt:lpstr>Helvetica Neue</vt:lpstr>
      <vt:lpstr>汉仪书宋二KW</vt:lpstr>
      <vt:lpstr>微软雅黑</vt:lpstr>
      <vt:lpstr>汉仪旗黑</vt:lpstr>
      <vt:lpstr>宋体</vt:lpstr>
      <vt:lpstr>Arial Unicode MS</vt:lpstr>
      <vt:lpstr>Times New Roman Regular</vt:lpstr>
      <vt:lpstr>Georgia Regular</vt:lpstr>
      <vt:lpstr>Chalkboard Regular</vt:lpstr>
      <vt:lpstr>Times New Roman Bold</vt:lpstr>
      <vt:lpstr>Georgia Bold</vt:lpstr>
      <vt:lpstr>Apple Color Emoji</vt:lpstr>
      <vt:lpstr>WPS</vt:lpstr>
      <vt:lpstr>PowerPoint 演示文稿</vt:lpstr>
      <vt:lpstr>PowerPoint 演示文稿</vt:lpstr>
      <vt:lpstr>PowerPoint 演示文稿</vt:lpstr>
      <vt:lpstr>Background</vt:lpstr>
      <vt:lpstr>Background</vt:lpstr>
      <vt:lpstr>Background</vt:lpstr>
      <vt:lpstr>Background</vt:lpstr>
      <vt:lpstr>Background</vt:lpstr>
      <vt:lpstr>Background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张博涛</cp:lastModifiedBy>
  <cp:revision>20</cp:revision>
  <dcterms:created xsi:type="dcterms:W3CDTF">2025-07-27T14:20:25Z</dcterms:created>
  <dcterms:modified xsi:type="dcterms:W3CDTF">2025-07-27T14:20:25Z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1033-6.5.2.8766</vt:lpwstr>
  </property>
  <property fmtid="{D5CDD505-2E9C-101B-9397-08002B2CF9AE}" pid="3" name="ICV">
    <vt:lpwstr>8E7B3D71E667AC622DF385686FCD40AF_41</vt:lpwstr>
  </property>
</Properties>
</file>