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26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2"/>
  </p:handoutMasterIdLst>
  <p:sldIdLst>
    <p:sldId id="256" r:id="rId3"/>
    <p:sldId id="257" r:id="rId5"/>
    <p:sldId id="259" r:id="rId6"/>
    <p:sldId id="258" r:id="rId7"/>
    <p:sldId id="261" r:id="rId8"/>
    <p:sldId id="260" r:id="rId9"/>
    <p:sldId id="271" r:id="rId10"/>
    <p:sldId id="280" r:id="rId11"/>
    <p:sldId id="282" r:id="rId12"/>
    <p:sldId id="281" r:id="rId13"/>
    <p:sldId id="285" r:id="rId14"/>
    <p:sldId id="346" r:id="rId15"/>
    <p:sldId id="345" r:id="rId16"/>
    <p:sldId id="344" r:id="rId17"/>
    <p:sldId id="287" r:id="rId18"/>
    <p:sldId id="288" r:id="rId19"/>
    <p:sldId id="290" r:id="rId20"/>
    <p:sldId id="289" r:id="rId21"/>
    <p:sldId id="278" r:id="rId22"/>
    <p:sldId id="293" r:id="rId23"/>
    <p:sldId id="286" r:id="rId24"/>
    <p:sldId id="295" r:id="rId25"/>
    <p:sldId id="298" r:id="rId26"/>
    <p:sldId id="296" r:id="rId27"/>
    <p:sldId id="297" r:id="rId28"/>
    <p:sldId id="299" r:id="rId29"/>
    <p:sldId id="300" r:id="rId30"/>
    <p:sldId id="264" r:id="rId31"/>
    <p:sldId id="291" r:id="rId32"/>
    <p:sldId id="292" r:id="rId33"/>
    <p:sldId id="304" r:id="rId34"/>
    <p:sldId id="305" r:id="rId35"/>
    <p:sldId id="307" r:id="rId36"/>
    <p:sldId id="308" r:id="rId37"/>
    <p:sldId id="309" r:id="rId38"/>
    <p:sldId id="306" r:id="rId39"/>
    <p:sldId id="312" r:id="rId40"/>
    <p:sldId id="303" r:id="rId41"/>
    <p:sldId id="313" r:id="rId42"/>
    <p:sldId id="294" r:id="rId43"/>
    <p:sldId id="265" r:id="rId44"/>
    <p:sldId id="267" r:id="rId45"/>
    <p:sldId id="269" r:id="rId46"/>
    <p:sldId id="272" r:id="rId47"/>
    <p:sldId id="273" r:id="rId48"/>
    <p:sldId id="274" r:id="rId49"/>
    <p:sldId id="279" r:id="rId50"/>
    <p:sldId id="275" r:id="rId51"/>
    <p:sldId id="276" r:id="rId52"/>
    <p:sldId id="315" r:id="rId53"/>
    <p:sldId id="316" r:id="rId54"/>
    <p:sldId id="317" r:id="rId55"/>
    <p:sldId id="318" r:id="rId56"/>
    <p:sldId id="319" r:id="rId57"/>
    <p:sldId id="320" r:id="rId58"/>
    <p:sldId id="266" r:id="rId59"/>
    <p:sldId id="311" r:id="rId60"/>
    <p:sldId id="324" r:id="rId61"/>
    <p:sldId id="321" r:id="rId62"/>
    <p:sldId id="322" r:id="rId63"/>
    <p:sldId id="325" r:id="rId64"/>
    <p:sldId id="323" r:id="rId65"/>
    <p:sldId id="326" r:id="rId66"/>
    <p:sldId id="283" r:id="rId67"/>
    <p:sldId id="284" r:id="rId68"/>
    <p:sldId id="314" r:id="rId69"/>
    <p:sldId id="343" r:id="rId70"/>
    <p:sldId id="342" r:id="rId7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3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7" Type="http://schemas.openxmlformats.org/officeDocument/2006/relationships/customXml" Target="../customXml/item1.xml"/><Relationship Id="rId76" Type="http://schemas.openxmlformats.org/officeDocument/2006/relationships/customXmlProps" Target="../customXml/itemProps126.xml"/><Relationship Id="rId75" Type="http://schemas.openxmlformats.org/officeDocument/2006/relationships/tableStyles" Target="tableStyles.xml"/><Relationship Id="rId74" Type="http://schemas.openxmlformats.org/officeDocument/2006/relationships/viewProps" Target="viewProps.xml"/><Relationship Id="rId73" Type="http://schemas.openxmlformats.org/officeDocument/2006/relationships/presProps" Target="presProps.xml"/><Relationship Id="rId72" Type="http://schemas.openxmlformats.org/officeDocument/2006/relationships/handoutMaster" Target="handoutMasters/handoutMaster1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spontaneous rate, not starting with reward=0?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set k different or same for all neurons?</a:t>
            </a:r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Model: Efficient code</a:t>
            </a:r>
            <a:br>
              <a:rPr lang="en-US"/>
            </a:br>
            <a:r>
              <a:rPr lang="en-US"/>
              <a:t>dopamine responses are amplified for rare rewards: for normal distribution, high rewards are rarer, leading to a higher response hence higher slope</a:t>
            </a:r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乘</a:t>
            </a:r>
            <a:r>
              <a:rPr lang="en-US" altLang="zh-CN"/>
              <a:t>gamma</a:t>
            </a:r>
            <a:r>
              <a:rPr lang="zh-CN" altLang="en-US"/>
              <a:t>：想象推一堆</a:t>
            </a:r>
            <a:r>
              <a:rPr lang="zh-CN" altLang="en-US"/>
              <a:t>沙子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work similarly well but that are based on different biological mechanisms</a:t>
            </a:r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we were able to account for five empirical findings across two tasks</a:t>
            </a:r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we were able to account for five empirical findings across two tasks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0" Type="http://schemas.openxmlformats.org/officeDocument/2006/relationships/notesSlide" Target="../notesSlides/notesSlide9.xml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tags" Target="../tags/tag16.xml"/><Relationship Id="rId7" Type="http://schemas.openxmlformats.org/officeDocument/2006/relationships/image" Target="../media/image13.png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image" Target="../media/image12.png"/><Relationship Id="rId3" Type="http://schemas.openxmlformats.org/officeDocument/2006/relationships/tags" Target="../tags/tag13.xml"/><Relationship Id="rId2" Type="http://schemas.openxmlformats.org/officeDocument/2006/relationships/image" Target="../media/image11.png"/><Relationship Id="rId16" Type="http://schemas.openxmlformats.org/officeDocument/2006/relationships/notesSlide" Target="../notesSlides/notesSlide10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4.png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image" Target="../media/image15.png"/><Relationship Id="rId10" Type="http://schemas.openxmlformats.org/officeDocument/2006/relationships/tags" Target="../tags/tag17.xml"/><Relationship Id="rId1" Type="http://schemas.openxmlformats.org/officeDocument/2006/relationships/tags" Target="../tags/tag12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tags" Target="../tags/tag21.xml"/><Relationship Id="rId2" Type="http://schemas.openxmlformats.org/officeDocument/2006/relationships/image" Target="../media/image4.png"/><Relationship Id="rId1" Type="http://schemas.openxmlformats.org/officeDocument/2006/relationships/tags" Target="../tags/tag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tags" Target="../tags/tag2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tags" Target="../tags/tag23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3.png"/><Relationship Id="rId7" Type="http://schemas.openxmlformats.org/officeDocument/2006/relationships/tags" Target="../tags/tag27.xml"/><Relationship Id="rId6" Type="http://schemas.openxmlformats.org/officeDocument/2006/relationships/image" Target="../media/image12.png"/><Relationship Id="rId5" Type="http://schemas.openxmlformats.org/officeDocument/2006/relationships/tags" Target="../tags/tag26.xml"/><Relationship Id="rId4" Type="http://schemas.openxmlformats.org/officeDocument/2006/relationships/image" Target="../media/image11.png"/><Relationship Id="rId3" Type="http://schemas.openxmlformats.org/officeDocument/2006/relationships/tags" Target="../tags/tag25.xml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tags" Target="../tags/tag2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tags" Target="../tags/tag30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image" Target="../media/image12.png"/><Relationship Id="rId5" Type="http://schemas.openxmlformats.org/officeDocument/2006/relationships/tags" Target="../tags/tag33.xml"/><Relationship Id="rId4" Type="http://schemas.openxmlformats.org/officeDocument/2006/relationships/image" Target="../media/image11.png"/><Relationship Id="rId3" Type="http://schemas.openxmlformats.org/officeDocument/2006/relationships/tags" Target="../tags/tag32.xml"/><Relationship Id="rId2" Type="http://schemas.openxmlformats.org/officeDocument/2006/relationships/image" Target="../media/image14.pn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5.png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3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tags" Target="../tags/tag38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14.png"/><Relationship Id="rId1" Type="http://schemas.openxmlformats.org/officeDocument/2006/relationships/tags" Target="../tags/tag39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png"/><Relationship Id="rId3" Type="http://schemas.openxmlformats.org/officeDocument/2006/relationships/image" Target="../media/image3.png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image" Target="../media/image23.png"/><Relationship Id="rId1" Type="http://schemas.openxmlformats.org/officeDocument/2006/relationships/tags" Target="../tags/tag4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tags" Target="../tags/tag4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tags" Target="../tags/tag4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tags" Target="../tags/tag47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tags" Target="../tags/tag4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tags" Target="../tags/tag5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tags" Target="../tags/tag52.xml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image" Target="../media/image30.png"/><Relationship Id="rId1" Type="http://schemas.openxmlformats.org/officeDocument/2006/relationships/tags" Target="../tags/tag53.xml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58.xml"/><Relationship Id="rId4" Type="http://schemas.openxmlformats.org/officeDocument/2006/relationships/image" Target="../media/image32.png"/><Relationship Id="rId3" Type="http://schemas.openxmlformats.org/officeDocument/2006/relationships/tags" Target="../tags/tag57.xml"/><Relationship Id="rId2" Type="http://schemas.openxmlformats.org/officeDocument/2006/relationships/image" Target="../media/image31.png"/><Relationship Id="rId1" Type="http://schemas.openxmlformats.org/officeDocument/2006/relationships/tags" Target="../tags/tag56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0.xml"/><Relationship Id="rId2" Type="http://schemas.openxmlformats.org/officeDocument/2006/relationships/image" Target="../media/image33.png"/><Relationship Id="rId1" Type="http://schemas.openxmlformats.org/officeDocument/2006/relationships/tags" Target="../tags/tag59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2.xml"/><Relationship Id="rId2" Type="http://schemas.openxmlformats.org/officeDocument/2006/relationships/image" Target="../media/image34.png"/><Relationship Id="rId1" Type="http://schemas.openxmlformats.org/officeDocument/2006/relationships/tags" Target="../tags/tag6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7.png"/><Relationship Id="rId2" Type="http://schemas.openxmlformats.org/officeDocument/2006/relationships/tags" Target="../tags/tag63.xml"/><Relationship Id="rId1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8.png"/><Relationship Id="rId2" Type="http://schemas.openxmlformats.org/officeDocument/2006/relationships/tags" Target="../tags/tag64.xml"/><Relationship Id="rId1" Type="http://schemas.openxmlformats.org/officeDocument/2006/relationships/image" Target="../media/image3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1" Type="http://schemas.openxmlformats.org/officeDocument/2006/relationships/tags" Target="../tags/tag65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8.png"/><Relationship Id="rId2" Type="http://schemas.openxmlformats.org/officeDocument/2006/relationships/tags" Target="../tags/tag66.xml"/><Relationship Id="rId1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tags" Target="../tags/tag67.xml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48.png"/><Relationship Id="rId2" Type="http://schemas.openxmlformats.org/officeDocument/2006/relationships/image" Target="../media/image40.png"/><Relationship Id="rId19" Type="http://schemas.openxmlformats.org/officeDocument/2006/relationships/image" Target="../media/image47.png"/><Relationship Id="rId18" Type="http://schemas.openxmlformats.org/officeDocument/2006/relationships/tags" Target="../tags/tag79.xml"/><Relationship Id="rId17" Type="http://schemas.openxmlformats.org/officeDocument/2006/relationships/image" Target="../media/image46.png"/><Relationship Id="rId16" Type="http://schemas.openxmlformats.org/officeDocument/2006/relationships/tags" Target="../tags/tag78.xml"/><Relationship Id="rId15" Type="http://schemas.openxmlformats.org/officeDocument/2006/relationships/image" Target="../media/image45.png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54.png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image" Target="../media/image53.png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7" Type="http://schemas.openxmlformats.org/officeDocument/2006/relationships/slideLayout" Target="../slideLayouts/slideLayout2.xml"/><Relationship Id="rId26" Type="http://schemas.openxmlformats.org/officeDocument/2006/relationships/image" Target="../media/image57.png"/><Relationship Id="rId25" Type="http://schemas.openxmlformats.org/officeDocument/2006/relationships/image" Target="../media/image56.png"/><Relationship Id="rId24" Type="http://schemas.openxmlformats.org/officeDocument/2006/relationships/image" Target="../media/image55.png"/><Relationship Id="rId23" Type="http://schemas.openxmlformats.org/officeDocument/2006/relationships/tags" Target="../tags/tag114.xml"/><Relationship Id="rId22" Type="http://schemas.openxmlformats.org/officeDocument/2006/relationships/tags" Target="../tags/tag113.xml"/><Relationship Id="rId21" Type="http://schemas.openxmlformats.org/officeDocument/2006/relationships/tags" Target="../tags/tag112.xml"/><Relationship Id="rId20" Type="http://schemas.openxmlformats.org/officeDocument/2006/relationships/tags" Target="../tags/tag111.xml"/><Relationship Id="rId2" Type="http://schemas.openxmlformats.org/officeDocument/2006/relationships/tags" Target="../tags/tag94.xml"/><Relationship Id="rId19" Type="http://schemas.openxmlformats.org/officeDocument/2006/relationships/tags" Target="../tags/tag110.xml"/><Relationship Id="rId18" Type="http://schemas.openxmlformats.org/officeDocument/2006/relationships/tags" Target="../tags/tag109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image" Target="../media/image40.png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tags" Target="../tags/tag9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tags" Target="../tags/tag11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1" Type="http://schemas.openxmlformats.org/officeDocument/2006/relationships/tags" Target="../tags/tag11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1" Type="http://schemas.openxmlformats.org/officeDocument/2006/relationships/tags" Target="../tags/tag11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0.png"/><Relationship Id="rId1" Type="http://schemas.openxmlformats.org/officeDocument/2006/relationships/tags" Target="../tags/tag11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1" Type="http://schemas.openxmlformats.org/officeDocument/2006/relationships/tags" Target="../tags/tag119.xml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1" Type="http://schemas.openxmlformats.org/officeDocument/2006/relationships/tags" Target="../tags/tag12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1" Type="http://schemas.openxmlformats.org/officeDocument/2006/relationships/tags" Target="../tags/tag12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1" Type="http://schemas.openxmlformats.org/officeDocument/2006/relationships/tags" Target="../tags/tag12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23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2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 </a:t>
            </a:r>
            <a:endParaRPr lang="en-US" altLang="zh-CN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316865" y="3318828"/>
            <a:ext cx="9144000" cy="1655762"/>
          </a:xfrm>
        </p:spPr>
        <p:txBody>
          <a:bodyPr/>
          <a:lstStyle/>
          <a:p>
            <a:pPr algn="l"/>
            <a:r>
              <a:rPr lang="en-US" altLang="zh-CN" dirty="0">
                <a:latin typeface="Georgia Regular" panose="02040502050405090303" charset="0"/>
                <a:cs typeface="Georgia Regular" panose="02040502050405090303" charset="0"/>
              </a:rPr>
              <a:t>Authors: Heiko H. Schütt, Dongjae Kim, Wei Ji Ma</a:t>
            </a:r>
            <a:endParaRPr lang="en-US" altLang="zh-CN" dirty="0">
              <a:latin typeface="Georgia Regular" panose="02040502050405090303" charset="0"/>
              <a:cs typeface="Georgia Regular" panose="02040502050405090303" charset="0"/>
            </a:endParaRPr>
          </a:p>
          <a:p>
            <a:pPr algn="l"/>
            <a:endParaRPr lang="en-US" altLang="zh-CN" dirty="0">
              <a:latin typeface="Georgia Regular" panose="02040502050405090303" charset="0"/>
              <a:cs typeface="Georgia Regular" panose="02040502050405090303" charset="0"/>
            </a:endParaRPr>
          </a:p>
          <a:p>
            <a:pPr algn="l"/>
            <a:endParaRPr lang="en-US" altLang="zh-CN" dirty="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331914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7106920" y="4504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Cochin Regular" panose="02000603020000020003" charset="0"/>
                <a:cs typeface="Cochin Regular" panose="02000603020000020003" charset="0"/>
              </a:rPr>
              <a:t>Presented by Snow</a:t>
            </a:r>
            <a:endParaRPr lang="en-US">
              <a:latin typeface="Cochin Regular" panose="02000603020000020003" charset="0"/>
              <a:cs typeface="Cochin Regular" panose="02000603020000020003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5448935" cy="772160"/>
          </a:xfrm>
        </p:spPr>
        <p:txBody>
          <a:bodyPr/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Efficient Coding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>
                <a:solidFill>
                  <a:schemeClr val="tx1"/>
                </a:solidFill>
                <a:effectLst/>
                <a:latin typeface="Georgia Regular" panose="02040502050405090303" charset="0"/>
                <a:ea typeface="+mj-ea"/>
                <a:cs typeface="Georgia Regular" panose="02040502050405090303" charset="0"/>
              </a:rPr>
              <a:t>neuronal codes are optimized for efficiency, that is, to convey as much </a:t>
            </a:r>
            <a:r>
              <a:rPr lang="en-US">
                <a:solidFill>
                  <a:srgbClr val="FF0000"/>
                </a:solidFill>
                <a:effectLst/>
                <a:latin typeface="Georgia Regular" panose="02040502050405090303" charset="0"/>
                <a:ea typeface="+mj-ea"/>
                <a:cs typeface="Georgia Regular" panose="02040502050405090303" charset="0"/>
              </a:rPr>
              <a:t>information</a:t>
            </a:r>
            <a:r>
              <a:rPr lang="en-US">
                <a:solidFill>
                  <a:schemeClr val="tx1"/>
                </a:solidFill>
                <a:effectLst/>
                <a:latin typeface="Georgia Regular" panose="02040502050405090303" charset="0"/>
                <a:ea typeface="+mj-ea"/>
                <a:cs typeface="Georgia Regular" panose="02040502050405090303" charset="0"/>
              </a:rPr>
              <a:t> as possible with </a:t>
            </a:r>
            <a:r>
              <a:rPr lang="en-US">
                <a:solidFill>
                  <a:srgbClr val="FF0000"/>
                </a:solidFill>
                <a:effectLst/>
                <a:latin typeface="Georgia Regular" panose="02040502050405090303" charset="0"/>
                <a:ea typeface="+mj-ea"/>
                <a:cs typeface="Georgia Regular" panose="02040502050405090303" charset="0"/>
              </a:rPr>
              <a:t>given budgets</a:t>
            </a:r>
            <a:r>
              <a:rPr lang="en-US">
                <a:solidFill>
                  <a:schemeClr val="tx1"/>
                </a:solidFill>
                <a:effectLst/>
                <a:latin typeface="Georgia Regular" panose="02040502050405090303" charset="0"/>
                <a:ea typeface="+mj-ea"/>
                <a:cs typeface="Georgia Regular" panose="02040502050405090303" charset="0"/>
              </a:rPr>
              <a:t> for the number of neurons and the number of action potentials</a:t>
            </a:r>
            <a:endParaRPr lang="en-US">
              <a:solidFill>
                <a:schemeClr val="tx1"/>
              </a:solidFill>
              <a:effectLst/>
              <a:latin typeface="Georgia Regular" panose="02040502050405090303" charset="0"/>
              <a:ea typeface="+mj-ea"/>
              <a:cs typeface="Georgia Regular" panose="02040502050405090303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873500" y="1166495"/>
            <a:ext cx="4281805" cy="553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2400"/>
              <a:t>sensory neuroscience</a:t>
            </a:r>
            <a:endParaRPr 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5448935" cy="772160"/>
          </a:xfrm>
        </p:spPr>
        <p:txBody>
          <a:bodyPr/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Efficient Coding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>
                <a:solidFill>
                  <a:schemeClr val="tx1"/>
                </a:solidFill>
                <a:effectLst/>
                <a:latin typeface="Georgia Regular" panose="02040502050405090303" charset="0"/>
                <a:ea typeface="+mj-ea"/>
                <a:cs typeface="Georgia Regular" panose="02040502050405090303" charset="0"/>
              </a:rPr>
              <a:t>neuronal codes are optimized for efficiency, that is, to convey as much </a:t>
            </a:r>
            <a:r>
              <a:rPr lang="en-US">
                <a:solidFill>
                  <a:srgbClr val="FF0000"/>
                </a:solidFill>
                <a:effectLst/>
                <a:latin typeface="Georgia Regular" panose="02040502050405090303" charset="0"/>
                <a:ea typeface="+mj-ea"/>
                <a:cs typeface="Georgia Regular" panose="02040502050405090303" charset="0"/>
              </a:rPr>
              <a:t>information</a:t>
            </a:r>
            <a:r>
              <a:rPr lang="en-US">
                <a:solidFill>
                  <a:schemeClr val="tx1"/>
                </a:solidFill>
                <a:effectLst/>
                <a:latin typeface="Georgia Regular" panose="02040502050405090303" charset="0"/>
                <a:ea typeface="+mj-ea"/>
                <a:cs typeface="Georgia Regular" panose="02040502050405090303" charset="0"/>
              </a:rPr>
              <a:t> as possible with </a:t>
            </a:r>
            <a:r>
              <a:rPr lang="en-US">
                <a:solidFill>
                  <a:srgbClr val="FF0000"/>
                </a:solidFill>
                <a:effectLst/>
                <a:latin typeface="Georgia Regular" panose="02040502050405090303" charset="0"/>
                <a:ea typeface="+mj-ea"/>
                <a:cs typeface="Georgia Regular" panose="02040502050405090303" charset="0"/>
              </a:rPr>
              <a:t>given budgets</a:t>
            </a:r>
            <a:r>
              <a:rPr lang="en-US">
                <a:solidFill>
                  <a:schemeClr val="tx1"/>
                </a:solidFill>
                <a:effectLst/>
                <a:latin typeface="Georgia Regular" panose="02040502050405090303" charset="0"/>
                <a:ea typeface="+mj-ea"/>
                <a:cs typeface="Georgia Regular" panose="02040502050405090303" charset="0"/>
              </a:rPr>
              <a:t> for the number of neurons and the number of action potentials</a:t>
            </a:r>
            <a:endParaRPr lang="en-US">
              <a:solidFill>
                <a:schemeClr val="tx1"/>
              </a:solidFill>
              <a:effectLst/>
              <a:latin typeface="Georgia Regular" panose="02040502050405090303" charset="0"/>
              <a:ea typeface="+mj-ea"/>
              <a:cs typeface="Georgia Regular" panose="02040502050405090303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873500" y="1166495"/>
            <a:ext cx="4281805" cy="553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2400"/>
              <a:t>sensory neuroscience</a:t>
            </a:r>
            <a:endParaRPr lang="en-US" sz="2400"/>
          </a:p>
        </p:txBody>
      </p:sp>
      <p:sp>
        <p:nvSpPr>
          <p:cNvPr id="5" name="Down Arrow 4"/>
          <p:cNvSpPr/>
          <p:nvPr/>
        </p:nvSpPr>
        <p:spPr>
          <a:xfrm>
            <a:off x="5678805" y="1689735"/>
            <a:ext cx="304165" cy="233108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>
            <p:custDataLst>
              <p:tags r:id="rId1"/>
            </p:custDataLst>
          </p:nvPr>
        </p:nvSpPr>
        <p:spPr>
          <a:xfrm>
            <a:off x="3689985" y="4263390"/>
            <a:ext cx="4281805" cy="553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2400"/>
              <a:t>reward</a:t>
            </a:r>
            <a:endParaRPr lang="en-US" sz="2400"/>
          </a:p>
        </p:txBody>
      </p:sp>
      <p:sp>
        <p:nvSpPr>
          <p:cNvPr id="7" name="Text Box 6"/>
          <p:cNvSpPr txBox="1"/>
          <p:nvPr/>
        </p:nvSpPr>
        <p:spPr>
          <a:xfrm>
            <a:off x="3798570" y="5059045"/>
            <a:ext cx="42818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latin typeface="Rockwell Regular" panose="02060503020205020403" charset="0"/>
                <a:cs typeface="Rockwell Regular" panose="02060503020205020403" charset="0"/>
              </a:rPr>
              <a:t>Reward Prediction Error Neurons? (RPEN)</a:t>
            </a:r>
            <a:endParaRPr lang="en-US">
              <a:latin typeface="Rockwell Regular" panose="02060503020205020403" charset="0"/>
              <a:cs typeface="Rockwell Regular" panose="02060503020205020403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Overview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1. </a:t>
            </a:r>
            <a:r>
              <a:rPr lang="en-US">
                <a:latin typeface="Georgia Regular" panose="02040502050405090303" charset="0"/>
                <a:cs typeface="Georgia Regular" panose="02040502050405090303" charset="0"/>
                <a:sym typeface="+mn-ea"/>
              </a:rPr>
              <a:t>Derive the efficient code</a:t>
            </a:r>
            <a:endParaRPr lang="en-US">
              <a:latin typeface="Georgia Regular" panose="02040502050405090303" charset="0"/>
              <a:cs typeface="Georgia Regular" panose="02040502050405090303" charset="0"/>
              <a:sym typeface="+mn-ea"/>
            </a:endParaRPr>
          </a:p>
          <a:p>
            <a:pPr marL="0" indent="0">
              <a:buNone/>
            </a:pPr>
            <a:endParaRPr lang="en-US">
              <a:latin typeface="Georgia Regular" panose="02040502050405090303" charset="0"/>
              <a:cs typeface="Georgia Regular" panose="02040502050405090303" charset="0"/>
              <a:sym typeface="+mn-ea"/>
            </a:endParaRPr>
          </a:p>
          <a:p>
            <a:pPr marL="0" indent="0">
              <a:buNone/>
            </a:pPr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2. Efficient code satisfies properties of real neurons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  <a:p>
            <a:pPr marL="0" indent="0">
              <a:buNone/>
            </a:pP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  <a:p>
            <a:pPr marL="0" indent="0">
              <a:buNone/>
            </a:pPr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3. How do neurons learn the tuning? Distributional RL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  <a:p>
            <a:pPr marL="0" indent="0">
              <a:buNone/>
            </a:pP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pPr marL="457200" lvl="1" indent="457200">
              <a:buNone/>
            </a:pP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pPr marL="457200" lvl="1" indent="457200">
              <a:buNone/>
            </a:pP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Overview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1. </a:t>
            </a:r>
            <a:r>
              <a:rPr lang="en-US">
                <a:latin typeface="Georgia Regular" panose="02040502050405090303" charset="0"/>
                <a:cs typeface="Georgia Regular" panose="02040502050405090303" charset="0"/>
                <a:sym typeface="+mn-ea"/>
              </a:rPr>
              <a:t>Derive the efficient code</a:t>
            </a:r>
            <a:endParaRPr lang="en-US">
              <a:latin typeface="Georgia Regular" panose="02040502050405090303" charset="0"/>
              <a:cs typeface="Georgia Regular" panose="02040502050405090303" charset="0"/>
              <a:sym typeface="+mn-ea"/>
            </a:endParaRPr>
          </a:p>
          <a:p>
            <a:pPr marL="0" indent="0">
              <a:buNone/>
            </a:pPr>
            <a:endParaRPr lang="en-US">
              <a:latin typeface="Georgia Regular" panose="02040502050405090303" charset="0"/>
              <a:cs typeface="Georgia Regular" panose="02040502050405090303" charset="0"/>
              <a:sym typeface="+mn-ea"/>
            </a:endParaRPr>
          </a:p>
          <a:p>
            <a:pPr marL="0" indent="0">
              <a:buNone/>
            </a:pP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pPr marL="457200" lvl="1" indent="457200">
              <a:buNone/>
            </a:pP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pPr marL="457200" lvl="1" indent="457200">
              <a:buNone/>
            </a:pP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06450" y="2557780"/>
            <a:ext cx="8091805" cy="251587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428750" y="5336540"/>
            <a:ext cx="4389755" cy="415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>
                <a:solidFill>
                  <a:schemeClr val="accent5"/>
                </a:solidFill>
                <a:latin typeface="Georgia Regular" panose="02040502050405090303" charset="0"/>
                <a:cs typeface="Georgia Regular" panose="02040502050405090303" charset="0"/>
              </a:rPr>
              <a:t>with some modifications</a:t>
            </a:r>
            <a:endParaRPr lang="en-US" sz="2000">
              <a:solidFill>
                <a:schemeClr val="accent5"/>
              </a:solidFill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Overview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1. </a:t>
            </a:r>
            <a:r>
              <a:rPr lang="en-US">
                <a:latin typeface="Georgia Regular" panose="02040502050405090303" charset="0"/>
                <a:cs typeface="Georgia Regular" panose="02040502050405090303" charset="0"/>
                <a:sym typeface="+mn-ea"/>
              </a:rPr>
              <a:t>Derive the efficient code</a:t>
            </a:r>
            <a:endParaRPr lang="en-US">
              <a:latin typeface="Georgia Regular" panose="02040502050405090303" charset="0"/>
              <a:cs typeface="Georgia Regular" panose="02040502050405090303" charset="0"/>
              <a:sym typeface="+mn-ea"/>
            </a:endParaRPr>
          </a:p>
          <a:p>
            <a:pPr marL="0" indent="0">
              <a:buNone/>
            </a:pPr>
            <a:r>
              <a:rPr lang="en-US">
                <a:latin typeface="Georgia Regular" panose="02040502050405090303" charset="0"/>
                <a:cs typeface="Georgia Regular" panose="02040502050405090303" charset="0"/>
                <a:sym typeface="+mn-ea"/>
              </a:rPr>
              <a:t>Main idea: Optimize Fisher Information</a:t>
            </a:r>
            <a:r>
              <a:rPr lang="en-US" sz="1600">
                <a:latin typeface="Georgia Regular" panose="02040502050405090303" charset="0"/>
                <a:cs typeface="Georgia Regular" panose="02040502050405090303" charset="0"/>
                <a:sym typeface="+mn-ea"/>
              </a:rPr>
              <a:t>(with certain constraints)</a:t>
            </a:r>
            <a:endParaRPr lang="en-US" sz="1600">
              <a:latin typeface="Georgia Regular" panose="02040502050405090303" charset="0"/>
              <a:cs typeface="Georgia Regular" panose="02040502050405090303" charset="0"/>
              <a:sym typeface="+mn-ea"/>
            </a:endParaRPr>
          </a:p>
          <a:p>
            <a:pPr marL="0" indent="0">
              <a:buNone/>
            </a:pPr>
            <a:endParaRPr lang="en-US">
              <a:latin typeface="Georgia Regular" panose="02040502050405090303" charset="0"/>
              <a:cs typeface="Georgia Regular" panose="02040502050405090303" charset="0"/>
              <a:sym typeface="+mn-ea"/>
            </a:endParaRPr>
          </a:p>
          <a:p>
            <a:pPr marL="0" indent="0">
              <a:buNone/>
            </a:pP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pPr marL="457200" lvl="1" indent="457200">
              <a:buNone/>
            </a:pP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pPr marL="457200" lvl="1" indent="457200">
              <a:buNone/>
            </a:pP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Efficient Code computation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47700" y="1584325"/>
            <a:ext cx="3822700" cy="2641600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 flipV="1">
            <a:off x="2792730" y="1979295"/>
            <a:ext cx="229870" cy="60388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ext Box 5"/>
          <p:cNvSpPr txBox="1"/>
          <p:nvPr/>
        </p:nvSpPr>
        <p:spPr>
          <a:xfrm>
            <a:off x="2080260" y="167259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Georgia Regular" panose="02040502050405090303" charset="0"/>
                <a:cs typeface="Georgia Regular" panose="02040502050405090303" charset="0"/>
              </a:rPr>
              <a:t>half the maximal response</a:t>
            </a:r>
            <a:endParaRPr lang="en-US" sz="1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75665" y="423735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solidFill>
                  <a:schemeClr val="accent4">
                    <a:lumMod val="50000"/>
                  </a:schemeClr>
                </a:solidFill>
                <a:latin typeface="Georgia Regular" panose="02040502050405090303" charset="0"/>
                <a:cs typeface="Georgia Regular" panose="02040502050405090303" charset="0"/>
              </a:rPr>
              <a:t>RPEN’s sigmoid tuning curve</a:t>
            </a:r>
            <a:endParaRPr lang="en-US" sz="2000">
              <a:solidFill>
                <a:schemeClr val="accent4">
                  <a:lumMod val="50000"/>
                </a:schemeClr>
              </a:solidFill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4720590" cy="398780"/>
          </a:xfrm>
        </p:spPr>
        <p:txBody>
          <a:bodyPr>
            <a:normAutofit/>
          </a:bodyPr>
          <a:p>
            <a:r>
              <a:rPr lang="en-US" sz="1555">
                <a:latin typeface="Georgia Regular" panose="02040502050405090303" charset="0"/>
                <a:cs typeface="Georgia Regular" panose="02040502050405090303" charset="0"/>
              </a:rPr>
              <a:t>Efficient Code computation</a:t>
            </a:r>
            <a:endParaRPr lang="en-US" sz="1555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47700" y="1584325"/>
            <a:ext cx="3822700" cy="2641600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 flipV="1">
            <a:off x="2792730" y="1979295"/>
            <a:ext cx="229870" cy="60388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ext Box 5"/>
          <p:cNvSpPr txBox="1"/>
          <p:nvPr/>
        </p:nvSpPr>
        <p:spPr>
          <a:xfrm>
            <a:off x="2080260" y="167259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Georgia Regular" panose="02040502050405090303" charset="0"/>
                <a:cs typeface="Georgia Regular" panose="02040502050405090303" charset="0"/>
              </a:rPr>
              <a:t>half the maximal response</a:t>
            </a:r>
            <a:endParaRPr lang="en-US" sz="1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75665" y="423735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solidFill>
                  <a:schemeClr val="tx1"/>
                </a:solidFill>
                <a:latin typeface="Georgia Regular" panose="02040502050405090303" charset="0"/>
                <a:cs typeface="Georgia Regular" panose="02040502050405090303" charset="0"/>
              </a:rPr>
              <a:t>RPEN’s sigmoid tuning curve</a:t>
            </a:r>
            <a:endParaRPr lang="en-US" sz="2000">
              <a:solidFill>
                <a:schemeClr val="tx1"/>
              </a:solidFill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47700" y="995680"/>
            <a:ext cx="75247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What are the elments of a population coding?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4704080" y="1979295"/>
            <a:ext cx="665797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"/>
            </a:pPr>
            <a:r>
              <a:rPr lang="en-US" sz="2200">
                <a:latin typeface="Georgia Regular" panose="02040502050405090303" charset="0"/>
                <a:cs typeface="Georgia Regular" panose="02040502050405090303" charset="0"/>
              </a:rPr>
              <a:t>Tuning curves(response functions)</a:t>
            </a:r>
            <a:endParaRPr lang="en-US" sz="2200">
              <a:latin typeface="Georgia Regular" panose="02040502050405090303" charset="0"/>
              <a:cs typeface="Georgia Regular" panose="02040502050405090303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sz="1600">
                <a:latin typeface="Georgia Regular" panose="02040502050405090303" charset="0"/>
                <a:cs typeface="Georgia Regular" panose="02040502050405090303" charset="0"/>
              </a:rPr>
              <a:t>(assume they are the same w.r.t. given midpoint=</a:t>
            </a:r>
            <a:r>
              <a:rPr lang="en-US" sz="1600">
                <a:latin typeface="Georgia Regular" panose="02040502050405090303" charset="0"/>
                <a:cs typeface="Georgia Regular" panose="02040502050405090303" charset="0"/>
                <a:sym typeface="+mn-ea"/>
              </a:rPr>
              <a:t>μ</a:t>
            </a:r>
            <a:r>
              <a:rPr lang="en-US" sz="1600">
                <a:latin typeface="Georgia Regular" panose="02040502050405090303" charset="0"/>
                <a:cs typeface="Georgia Regular" panose="02040502050405090303" charset="0"/>
              </a:rPr>
              <a:t>)</a:t>
            </a:r>
            <a:endParaRPr lang="en-US" sz="1600">
              <a:latin typeface="Georgia Regular" panose="02040502050405090303" charset="0"/>
              <a:cs typeface="Georgia Regular" panose="02040502050405090303" charset="0"/>
            </a:endParaRPr>
          </a:p>
          <a:p>
            <a:pPr indent="0">
              <a:buFont typeface="Wingdings" panose="05000000000000000000" charset="0"/>
              <a:buNone/>
            </a:pP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Wingdings" panose="05000000000000000000" charset="0"/>
              <a:buChar char=""/>
            </a:pPr>
            <a:r>
              <a:rPr lang="en-US" sz="2200">
                <a:latin typeface="Georgia Regular" panose="02040502050405090303" charset="0"/>
                <a:cs typeface="Georgia Regular" panose="02040502050405090303" charset="0"/>
              </a:rPr>
              <a:t>Density of neurons with midpoint=</a:t>
            </a:r>
            <a:r>
              <a:rPr lang="en-US" sz="2200">
                <a:latin typeface="Georgia Regular" panose="02040502050405090303" charset="0"/>
                <a:cs typeface="Georgia Regular" panose="02040502050405090303" charset="0"/>
                <a:sym typeface="+mn-ea"/>
              </a:rPr>
              <a:t>μ</a:t>
            </a:r>
            <a:endParaRPr lang="en-US" sz="22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Wingdings" panose="05000000000000000000" charset="0"/>
              <a:buChar char=""/>
            </a:pPr>
            <a:endParaRPr lang="en-US" sz="22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Wingdings" panose="05000000000000000000" charset="0"/>
              <a:buChar char=""/>
            </a:pPr>
            <a:r>
              <a:rPr lang="en-US" sz="2200">
                <a:latin typeface="Georgia Regular" panose="02040502050405090303" charset="0"/>
                <a:cs typeface="Georgia Regular" panose="02040502050405090303" charset="0"/>
              </a:rPr>
              <a:t>Regularization:Mapping from reward to unit interval</a:t>
            </a:r>
            <a:endParaRPr lang="en-US" sz="22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13" name="334E55B0-647D-440b-865C-3EC943EB4CBC-14" descr="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080" y="4636135"/>
            <a:ext cx="5684520" cy="467995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4704080" y="153352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>
                <a:latin typeface="Georgia Regular" panose="02040502050405090303" charset="0"/>
                <a:cs typeface="Georgia Regular" panose="02040502050405090303" charset="0"/>
              </a:rPr>
              <a:t>(given N neurons)</a:t>
            </a:r>
            <a:endParaRPr lang="en-US" sz="1600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4720590" cy="398780"/>
          </a:xfrm>
        </p:spPr>
        <p:txBody>
          <a:bodyPr>
            <a:normAutofit/>
          </a:bodyPr>
          <a:p>
            <a:r>
              <a:rPr lang="en-US" sz="1555">
                <a:latin typeface="Georgia Regular" panose="02040502050405090303" charset="0"/>
                <a:cs typeface="Georgia Regular" panose="02040502050405090303" charset="0"/>
              </a:rPr>
              <a:t>Efficient Code computation</a:t>
            </a:r>
            <a:endParaRPr lang="en-US" sz="1555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47700" y="1584325"/>
            <a:ext cx="3822700" cy="2641600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 flipV="1">
            <a:off x="2792730" y="1979295"/>
            <a:ext cx="229870" cy="60388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ext Box 5"/>
          <p:cNvSpPr txBox="1"/>
          <p:nvPr/>
        </p:nvSpPr>
        <p:spPr>
          <a:xfrm>
            <a:off x="2080260" y="167259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Georgia Regular" panose="02040502050405090303" charset="0"/>
                <a:cs typeface="Georgia Regular" panose="02040502050405090303" charset="0"/>
              </a:rPr>
              <a:t>half the maximal response</a:t>
            </a:r>
            <a:endParaRPr lang="en-US" sz="1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75665" y="423735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solidFill>
                  <a:schemeClr val="tx1"/>
                </a:solidFill>
                <a:latin typeface="Georgia Regular" panose="02040502050405090303" charset="0"/>
                <a:cs typeface="Georgia Regular" panose="02040502050405090303" charset="0"/>
              </a:rPr>
              <a:t>RPEN’s sigmoid tuning curve</a:t>
            </a:r>
            <a:endParaRPr lang="en-US" sz="2000">
              <a:solidFill>
                <a:schemeClr val="tx1"/>
              </a:solidFill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4704080" y="1979295"/>
            <a:ext cx="6657975" cy="2461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"/>
            </a:pPr>
            <a:r>
              <a:rPr lang="en-US" sz="2200">
                <a:latin typeface="Georgia Regular" panose="02040502050405090303" charset="0"/>
                <a:cs typeface="Georgia Regular" panose="02040502050405090303" charset="0"/>
              </a:rPr>
              <a:t>Response function, midpoint = μ</a:t>
            </a:r>
            <a:endParaRPr lang="en-US" sz="2200">
              <a:latin typeface="Georgia Regular" panose="02040502050405090303" charset="0"/>
              <a:cs typeface="Georgia Regular" panose="02040502050405090303" charset="0"/>
            </a:endParaRPr>
          </a:p>
          <a:p>
            <a:pPr indent="0">
              <a:buFont typeface="Wingdings" panose="05000000000000000000" charset="0"/>
              <a:buNone/>
            </a:pPr>
            <a:endParaRPr lang="en-US" sz="22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Wingdings" panose="05000000000000000000" charset="0"/>
              <a:buChar char=""/>
            </a:pPr>
            <a:r>
              <a:rPr lang="en-US" sz="2200">
                <a:latin typeface="Georgia Regular" panose="02040502050405090303" charset="0"/>
                <a:cs typeface="Georgia Regular" panose="02040502050405090303" charset="0"/>
              </a:rPr>
              <a:t>Reward mapping </a:t>
            </a:r>
            <a:endParaRPr lang="en-US" sz="22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Wingdings" panose="05000000000000000000" charset="0"/>
              <a:buChar char=""/>
            </a:pPr>
            <a:endParaRPr lang="en-US" sz="22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Wingdings" panose="05000000000000000000" charset="0"/>
              <a:buChar char=""/>
            </a:pPr>
            <a:r>
              <a:rPr lang="en-US" sz="2200">
                <a:latin typeface="Georgia Regular" panose="02040502050405090303" charset="0"/>
                <a:cs typeface="Georgia Regular" panose="02040502050405090303" charset="0"/>
              </a:rPr>
              <a:t>A prototypical sigmoidal function </a:t>
            </a:r>
            <a:endParaRPr lang="en-US" sz="22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Wingdings" panose="05000000000000000000" charset="0"/>
              <a:buChar char=""/>
            </a:pPr>
            <a:endParaRPr lang="en-US" sz="22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Wingdings" panose="05000000000000000000" charset="0"/>
              <a:buChar char=""/>
            </a:pPr>
            <a:r>
              <a:rPr lang="en-US" sz="2200">
                <a:latin typeface="Georgia Regular" panose="02040502050405090303" charset="0"/>
                <a:cs typeface="Georgia Regular" panose="02040502050405090303" charset="0"/>
              </a:rPr>
              <a:t>Neural Gain    as a function of </a:t>
            </a:r>
            <a:endParaRPr lang="en-US" sz="22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13" name="334E55B0-647D-440b-865C-3EC943EB4CBC-15" descr="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080" y="930910"/>
            <a:ext cx="5684520" cy="467995"/>
          </a:xfrm>
          <a:prstGeom prst="rect">
            <a:avLst/>
          </a:prstGeom>
        </p:spPr>
      </p:pic>
      <p:pic>
        <p:nvPicPr>
          <p:cNvPr id="10" name="334E55B0-647D-440b-865C-3EC943EB4CBC-16" descr="wpsoff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355" y="3382645"/>
            <a:ext cx="315595" cy="307340"/>
          </a:xfrm>
          <a:prstGeom prst="rect">
            <a:avLst/>
          </a:prstGeom>
        </p:spPr>
      </p:pic>
      <p:pic>
        <p:nvPicPr>
          <p:cNvPr id="11" name="334E55B0-647D-440b-865C-3EC943EB4CBC-17" descr="wpsoffic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420" y="2697480"/>
            <a:ext cx="2384425" cy="415925"/>
          </a:xfrm>
          <a:prstGeom prst="rect">
            <a:avLst/>
          </a:prstGeom>
        </p:spPr>
      </p:pic>
      <p:pic>
        <p:nvPicPr>
          <p:cNvPr id="12" name="334E55B0-647D-440b-865C-3EC943EB4CBC-18" descr="wpsoffic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6870" y="4145280"/>
            <a:ext cx="142240" cy="198755"/>
          </a:xfrm>
          <a:prstGeom prst="rect">
            <a:avLst/>
          </a:prstGeom>
        </p:spPr>
      </p:pic>
      <p:pic>
        <p:nvPicPr>
          <p:cNvPr id="14" name="334E55B0-647D-440b-865C-3EC943EB4CBC-19" descr="wpsoffic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1105" y="4121150"/>
            <a:ext cx="201930" cy="1987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4720590" cy="398780"/>
          </a:xfrm>
        </p:spPr>
        <p:txBody>
          <a:bodyPr>
            <a:normAutofit/>
          </a:bodyPr>
          <a:p>
            <a:r>
              <a:rPr lang="en-US" sz="1555">
                <a:latin typeface="Georgia Regular" panose="02040502050405090303" charset="0"/>
                <a:cs typeface="Georgia Regular" panose="02040502050405090303" charset="0"/>
              </a:rPr>
              <a:t>Efficient Code computation</a:t>
            </a:r>
            <a:endParaRPr lang="en-US" sz="1555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7700" y="94107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Problem of efficient code: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09880" y="1727200"/>
            <a:ext cx="4445000" cy="340360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838200" y="5173980"/>
            <a:ext cx="4064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What is the most efficient population to encode the reward stimuli?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4720590" cy="398780"/>
          </a:xfrm>
        </p:spPr>
        <p:txBody>
          <a:bodyPr>
            <a:normAutofit/>
          </a:bodyPr>
          <a:p>
            <a:r>
              <a:rPr lang="en-US" sz="1555">
                <a:latin typeface="Georgia Regular" panose="02040502050405090303" charset="0"/>
                <a:cs typeface="Georgia Regular" panose="02040502050405090303" charset="0"/>
              </a:rPr>
              <a:t>Efficient Code computation</a:t>
            </a:r>
            <a:endParaRPr lang="en-US" sz="1555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7700" y="94107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Problem of efficient code: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09880" y="1727200"/>
            <a:ext cx="4445000" cy="340360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838200" y="5173980"/>
            <a:ext cx="4064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What is the most efficient population to encode the reward stimuli?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09880" y="1701800"/>
            <a:ext cx="406400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200">
                <a:latin typeface="Georgia Regular" panose="02040502050405090303" charset="0"/>
                <a:cs typeface="Georgia Regular" panose="02040502050405090303" charset="0"/>
              </a:rPr>
              <a:t>Given</a:t>
            </a:r>
            <a:endParaRPr lang="en-US" sz="22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3" name="334E55B0-647D-440b-865C-3EC943EB4CBC-20" descr="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705" y="1685290"/>
            <a:ext cx="823595" cy="4140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4720590" cy="398780"/>
          </a:xfrm>
        </p:spPr>
        <p:txBody>
          <a:bodyPr>
            <a:normAutofit/>
          </a:bodyPr>
          <a:p>
            <a:r>
              <a:rPr lang="en-US" sz="1555">
                <a:latin typeface="Georgia Regular" panose="02040502050405090303" charset="0"/>
                <a:cs typeface="Georgia Regular" panose="02040502050405090303" charset="0"/>
              </a:rPr>
              <a:t>Efficient Code computation</a:t>
            </a:r>
            <a:endParaRPr lang="en-US" sz="1555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7700" y="94107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Problem of efficient code: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09880" y="1727200"/>
            <a:ext cx="4445000" cy="340360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838200" y="5173980"/>
            <a:ext cx="4064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What is the most efficient population to encode the reward stimuli?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09880" y="1701800"/>
            <a:ext cx="406400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200">
                <a:latin typeface="Georgia Regular" panose="02040502050405090303" charset="0"/>
                <a:cs typeface="Georgia Regular" panose="02040502050405090303" charset="0"/>
              </a:rPr>
              <a:t>Given</a:t>
            </a:r>
            <a:endParaRPr lang="en-US" sz="22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3" name="334E55B0-647D-440b-865C-3EC943EB4CBC-75" descr="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705" y="1685290"/>
            <a:ext cx="823595" cy="414020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>
            <a:off x="4809490" y="1685290"/>
            <a:ext cx="2209800" cy="361950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4711700" y="135128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Rockwell Regular" panose="02060503020205020403" charset="0"/>
                <a:cs typeface="Rockwell Regular" panose="02060503020205020403" charset="0"/>
              </a:rPr>
              <a:t>Fisher Information</a:t>
            </a:r>
            <a:endParaRPr lang="en-US" sz="2000">
              <a:latin typeface="Rockwell Regular" panose="02060503020205020403" charset="0"/>
              <a:cs typeface="Rockwell Regular" panose="02060503020205020403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078095" y="1930400"/>
            <a:ext cx="1333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maximize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4720590" cy="398780"/>
          </a:xfrm>
        </p:spPr>
        <p:txBody>
          <a:bodyPr>
            <a:normAutofit/>
          </a:bodyPr>
          <a:p>
            <a:r>
              <a:rPr lang="en-US" sz="1555">
                <a:latin typeface="Georgia Regular" panose="02040502050405090303" charset="0"/>
                <a:cs typeface="Georgia Regular" panose="02040502050405090303" charset="0"/>
              </a:rPr>
              <a:t>Efficient Code computation</a:t>
            </a:r>
            <a:endParaRPr lang="en-US" sz="1555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7700" y="94107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Problem of efficient code: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09880" y="1727200"/>
            <a:ext cx="4445000" cy="340360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838200" y="5173980"/>
            <a:ext cx="4064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What is the most efficient population to encode the reward stimuli?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09880" y="1701800"/>
            <a:ext cx="406400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200">
                <a:latin typeface="Georgia Regular" panose="02040502050405090303" charset="0"/>
                <a:cs typeface="Georgia Regular" panose="02040502050405090303" charset="0"/>
              </a:rPr>
              <a:t>Given</a:t>
            </a:r>
            <a:endParaRPr lang="en-US" sz="22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3" name="334E55B0-647D-440b-865C-3EC943EB4CBC-74" descr="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705" y="1685290"/>
            <a:ext cx="823595" cy="414020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>
            <a:off x="4809490" y="1685290"/>
            <a:ext cx="2209800" cy="361950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4711700" y="135128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Rockwell Regular" panose="02060503020205020403" charset="0"/>
                <a:cs typeface="Rockwell Regular" panose="02060503020205020403" charset="0"/>
              </a:rPr>
              <a:t>Fisher Information</a:t>
            </a:r>
            <a:endParaRPr lang="en-US" sz="2000">
              <a:latin typeface="Rockwell Regular" panose="02060503020205020403" charset="0"/>
              <a:cs typeface="Rockwell Regular" panose="02060503020205020403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078095" y="1930400"/>
            <a:ext cx="13335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maximize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  <a:p>
            <a:pPr algn="ctr"/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under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002530" y="242633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Comic Sans MS Regular" panose="030F0902030302020204" charset="0"/>
                <a:cs typeface="Comic Sans MS Regular" panose="030F0902030302020204" charset="0"/>
              </a:rPr>
              <a:t>constraints:</a:t>
            </a:r>
            <a:endParaRPr lang="en-US" sz="2000">
              <a:latin typeface="Comic Sans MS Regular" panose="030F0902030302020204" charset="0"/>
              <a:cs typeface="Comic Sans MS Regular" panose="030F090203030202020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4362450" y="2933065"/>
            <a:ext cx="3086735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upper bound to the expected number of spikes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4720590" cy="398780"/>
          </a:xfrm>
        </p:spPr>
        <p:txBody>
          <a:bodyPr>
            <a:normAutofit/>
          </a:bodyPr>
          <a:p>
            <a:r>
              <a:rPr lang="en-US" sz="1555">
                <a:latin typeface="Georgia Regular" panose="02040502050405090303" charset="0"/>
                <a:cs typeface="Georgia Regular" panose="02040502050405090303" charset="0"/>
              </a:rPr>
              <a:t>Efficient Code computation</a:t>
            </a:r>
            <a:endParaRPr lang="en-US" sz="1555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7700" y="94107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Problem of efficient code: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09880" y="1727200"/>
            <a:ext cx="4445000" cy="340360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838200" y="5173980"/>
            <a:ext cx="4064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What is the most efficient population to encode the reward stimuli?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09880" y="1701800"/>
            <a:ext cx="406400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200">
                <a:latin typeface="Georgia Regular" panose="02040502050405090303" charset="0"/>
                <a:cs typeface="Georgia Regular" panose="02040502050405090303" charset="0"/>
              </a:rPr>
              <a:t>Given</a:t>
            </a:r>
            <a:endParaRPr lang="en-US" sz="22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3" name="334E55B0-647D-440b-865C-3EC943EB4CBC-68" descr="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705" y="1685290"/>
            <a:ext cx="823595" cy="414020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>
            <a:off x="4809490" y="1685290"/>
            <a:ext cx="2209800" cy="361950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5" name="334E55B0-647D-440b-865C-3EC943EB4CBC-69" descr="wpsoff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1575" y="1582420"/>
            <a:ext cx="2498090" cy="46482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4711700" y="135128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Rockwell Regular" panose="02060503020205020403" charset="0"/>
                <a:cs typeface="Rockwell Regular" panose="02060503020205020403" charset="0"/>
              </a:rPr>
              <a:t>Fisher Information</a:t>
            </a:r>
            <a:endParaRPr lang="en-US" sz="2000">
              <a:latin typeface="Rockwell Regular" panose="02060503020205020403" charset="0"/>
              <a:cs typeface="Rockwell Regular" panose="02060503020205020403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078095" y="1930400"/>
            <a:ext cx="13335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maximize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  <a:p>
            <a:pPr algn="ctr"/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under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002530" y="242633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Comic Sans MS Regular" panose="030F0902030302020204" charset="0"/>
                <a:cs typeface="Comic Sans MS Regular" panose="030F0902030302020204" charset="0"/>
              </a:rPr>
              <a:t>constraints:</a:t>
            </a:r>
            <a:endParaRPr lang="en-US" sz="2000">
              <a:latin typeface="Comic Sans MS Regular" panose="030F0902030302020204" charset="0"/>
              <a:cs typeface="Comic Sans MS Regular" panose="030F090203030202020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4362450" y="2933065"/>
            <a:ext cx="3086735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upper bound to the expected number of spikes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14" name="334E55B0-647D-440b-865C-3EC943EB4CBC-70" descr="wpsoffic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9510" y="2312035"/>
            <a:ext cx="3875405" cy="944880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7509510" y="46234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is a free parameter,</a:t>
            </a:r>
            <a:r>
              <a:rPr lang="en-US"/>
              <a:t> </a:t>
            </a:r>
            <a:endParaRPr lang="en-US"/>
          </a:p>
        </p:txBody>
      </p:sp>
      <p:pic>
        <p:nvPicPr>
          <p:cNvPr id="16" name="334E55B0-647D-440b-865C-3EC943EB4CBC-71" descr="wpsoffic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1575" y="3517900"/>
            <a:ext cx="3323590" cy="871220"/>
          </a:xfrm>
          <a:prstGeom prst="rect">
            <a:avLst/>
          </a:prstGeom>
        </p:spPr>
      </p:pic>
      <p:pic>
        <p:nvPicPr>
          <p:cNvPr id="17" name="334E55B0-647D-440b-865C-3EC943EB4CBC-72" descr="wpsoffic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7265" y="4748530"/>
            <a:ext cx="194310" cy="157480"/>
          </a:xfrm>
          <a:prstGeom prst="rect">
            <a:avLst/>
          </a:prstGeom>
        </p:spPr>
      </p:pic>
      <p:pic>
        <p:nvPicPr>
          <p:cNvPr id="18" name="334E55B0-647D-440b-865C-3EC943EB4CBC-73" descr="wpsoffic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885" y="4658995"/>
            <a:ext cx="1150620" cy="3130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4720590" cy="398780"/>
          </a:xfrm>
        </p:spPr>
        <p:txBody>
          <a:bodyPr>
            <a:normAutofit/>
          </a:bodyPr>
          <a:p>
            <a:r>
              <a:rPr lang="en-US" sz="1555">
                <a:latin typeface="Georgia Regular" panose="02040502050405090303" charset="0"/>
                <a:cs typeface="Georgia Regular" panose="02040502050405090303" charset="0"/>
              </a:rPr>
              <a:t>Efficient Code computation</a:t>
            </a:r>
            <a:endParaRPr lang="en-US" sz="1555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7700" y="941070"/>
            <a:ext cx="62604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Zoom back into a single neuron: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3" name="334E55B0-647D-440b-865C-3EC943EB4CBC-29" descr="wpsoffice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47700" y="2197735"/>
            <a:ext cx="2498090" cy="464820"/>
          </a:xfrm>
          <a:prstGeom prst="rect">
            <a:avLst/>
          </a:prstGeom>
        </p:spPr>
      </p:pic>
      <p:pic>
        <p:nvPicPr>
          <p:cNvPr id="4" name="334E55B0-647D-440b-865C-3EC943EB4CBC-30" descr="wpsoffice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35635" y="2927350"/>
            <a:ext cx="3875405" cy="944880"/>
          </a:xfrm>
          <a:prstGeom prst="rect">
            <a:avLst/>
          </a:prstGeom>
        </p:spPr>
      </p:pic>
      <p:sp>
        <p:nvSpPr>
          <p:cNvPr id="6" name="Text Box 5"/>
          <p:cNvSpPr txBox="1"/>
          <p:nvPr>
            <p:custDataLst>
              <p:tags r:id="rId5"/>
            </p:custDataLst>
          </p:nvPr>
        </p:nvSpPr>
        <p:spPr>
          <a:xfrm>
            <a:off x="889000" y="52387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is a free parameter,</a:t>
            </a:r>
            <a:r>
              <a:rPr lang="en-US"/>
              <a:t> </a:t>
            </a:r>
            <a:endParaRPr lang="en-US"/>
          </a:p>
        </p:txBody>
      </p:sp>
      <p:pic>
        <p:nvPicPr>
          <p:cNvPr id="7" name="334E55B0-647D-440b-865C-3EC943EB4CBC-31" descr="wpsoffice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47700" y="4133215"/>
            <a:ext cx="3323590" cy="871220"/>
          </a:xfrm>
          <a:prstGeom prst="rect">
            <a:avLst/>
          </a:prstGeom>
        </p:spPr>
      </p:pic>
      <p:pic>
        <p:nvPicPr>
          <p:cNvPr id="8" name="334E55B0-647D-440b-865C-3EC943EB4CBC-32" descr="wpsoffice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06755" y="5363845"/>
            <a:ext cx="194310" cy="157480"/>
          </a:xfrm>
          <a:prstGeom prst="rect">
            <a:avLst/>
          </a:prstGeom>
        </p:spPr>
      </p:pic>
      <p:pic>
        <p:nvPicPr>
          <p:cNvPr id="18" name="334E55B0-647D-440b-865C-3EC943EB4CBC-33" descr="wpsoffice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000375" y="5274310"/>
            <a:ext cx="1150620" cy="313055"/>
          </a:xfrm>
          <a:prstGeom prst="rect">
            <a:avLst/>
          </a:prstGeom>
        </p:spPr>
      </p:pic>
      <p:sp>
        <p:nvSpPr>
          <p:cNvPr id="10" name="Rectangle 2"/>
          <p:cNvSpPr/>
          <p:nvPr>
            <p:custDataLst>
              <p:tags r:id="rId12"/>
            </p:custDataLst>
          </p:nvPr>
        </p:nvSpPr>
        <p:spPr>
          <a:xfrm>
            <a:off x="517525" y="2006600"/>
            <a:ext cx="4435475" cy="372491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3" name="Text Box 12"/>
          <p:cNvSpPr txBox="1"/>
          <p:nvPr/>
        </p:nvSpPr>
        <p:spPr>
          <a:xfrm>
            <a:off x="5643245" y="3274695"/>
            <a:ext cx="50177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Chalkboard Regular" panose="03050602040202020205" charset="0"/>
                <a:cs typeface="Chalkboard Regular" panose="03050602040202020205" charset="0"/>
              </a:rPr>
              <a:t>these results are </a:t>
            </a:r>
            <a:r>
              <a:rPr lang="en-US" sz="2400">
                <a:solidFill>
                  <a:srgbClr val="C00000"/>
                </a:solidFill>
                <a:latin typeface="Chalkboard Regular" panose="03050602040202020205" charset="0"/>
                <a:cs typeface="Chalkboard Regular" panose="03050602040202020205" charset="0"/>
              </a:rPr>
              <a:t>independent</a:t>
            </a:r>
            <a:r>
              <a:rPr lang="en-US" sz="2400">
                <a:latin typeface="Chalkboard Regular" panose="03050602040202020205" charset="0"/>
                <a:cs typeface="Chalkboard Regular" panose="03050602040202020205" charset="0"/>
              </a:rPr>
              <a:t> of the exact shape of the sigmoid tuning curves(h</a:t>
            </a:r>
            <a:r>
              <a:rPr lang="en-US" sz="1200">
                <a:latin typeface="Chalkboard Regular" panose="03050602040202020205" charset="0"/>
                <a:cs typeface="Chalkboard Regular" panose="03050602040202020205" charset="0"/>
              </a:rPr>
              <a:t>0</a:t>
            </a:r>
            <a:r>
              <a:rPr lang="en-US" sz="2400">
                <a:latin typeface="Chalkboard Regular" panose="03050602040202020205" charset="0"/>
                <a:cs typeface="Chalkboard Regular" panose="03050602040202020205" charset="0"/>
              </a:rPr>
              <a:t>)</a:t>
            </a:r>
            <a:endParaRPr lang="en-US" sz="1600">
              <a:latin typeface="Chalkboard Regular" panose="03050602040202020205" charset="0"/>
              <a:cs typeface="Chalkboard Regular" panose="03050602040202020205" charset="0"/>
            </a:endParaRPr>
          </a:p>
        </p:txBody>
      </p:sp>
      <p:pic>
        <p:nvPicPr>
          <p:cNvPr id="19" name="334E55B0-647D-440b-865C-3EC943EB4CBC-34" descr="wpsoffice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5368290" y="941070"/>
            <a:ext cx="5684520" cy="467995"/>
          </a:xfrm>
          <a:prstGeom prst="rect">
            <a:avLst/>
          </a:prstGeom>
        </p:spPr>
      </p:pic>
      <p:sp>
        <p:nvSpPr>
          <p:cNvPr id="20" name="Right Arrow Callout 19"/>
          <p:cNvSpPr/>
          <p:nvPr/>
        </p:nvSpPr>
        <p:spPr>
          <a:xfrm>
            <a:off x="4737100" y="2005330"/>
            <a:ext cx="821055" cy="3737610"/>
          </a:xfrm>
          <a:prstGeom prst="rightArrowCallou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4720590" cy="398780"/>
          </a:xfrm>
        </p:spPr>
        <p:txBody>
          <a:bodyPr>
            <a:normAutofit/>
          </a:bodyPr>
          <a:p>
            <a:r>
              <a:rPr lang="en-US" sz="1555">
                <a:latin typeface="Georgia Regular" panose="02040502050405090303" charset="0"/>
                <a:cs typeface="Georgia Regular" panose="02040502050405090303" charset="0"/>
              </a:rPr>
              <a:t>Efficient Code computation</a:t>
            </a:r>
            <a:endParaRPr lang="en-US" sz="1555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7700" y="941070"/>
            <a:ext cx="62604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Zoom back into a single neuron: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4785995" y="1783715"/>
            <a:ext cx="5017770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Chalkboard Regular" panose="03050602040202020205" charset="0"/>
                <a:cs typeface="Chalkboard Regular" panose="03050602040202020205" charset="0"/>
              </a:rPr>
              <a:t>slope k; spontaneous firing rate r*</a:t>
            </a:r>
            <a:endParaRPr lang="en-US" sz="2400">
              <a:latin typeface="Chalkboard Regular" panose="03050602040202020205" charset="0"/>
              <a:cs typeface="Chalkboard Regular" panose="03050602040202020205" charset="0"/>
            </a:endParaRPr>
          </a:p>
          <a:p>
            <a:endParaRPr lang="en-US" sz="2400">
              <a:latin typeface="Chalkboard Regular" panose="03050602040202020205" charset="0"/>
              <a:cs typeface="Chalkboard Regular" panose="03050602040202020205" charset="0"/>
            </a:endParaRPr>
          </a:p>
          <a:p>
            <a:r>
              <a:rPr lang="en-US" sz="2400">
                <a:latin typeface="Chalkboard Regular" panose="03050602040202020205" charset="0"/>
                <a:cs typeface="Chalkboard Regular" panose="03050602040202020205" charset="0"/>
              </a:rPr>
              <a:t>we fit these two parameters:</a:t>
            </a:r>
            <a:endParaRPr lang="en-US" sz="2400">
              <a:latin typeface="Chalkboard Regular" panose="03050602040202020205" charset="0"/>
              <a:cs typeface="Chalkboard Regular" panose="03050602040202020205" charset="0"/>
            </a:endParaRPr>
          </a:p>
          <a:p>
            <a:r>
              <a:rPr lang="en-US" sz="2400">
                <a:latin typeface="Chalkboard Regular" panose="03050602040202020205" charset="0"/>
                <a:cs typeface="Chalkboard Regular" panose="03050602040202020205" charset="0"/>
              </a:rPr>
              <a:t>minimize MSE of thesholds</a:t>
            </a:r>
            <a:endParaRPr lang="en-US" sz="2400">
              <a:latin typeface="Chalkboard Regular" panose="03050602040202020205" charset="0"/>
              <a:cs typeface="Chalkboard Regular" panose="03050602040202020205" charset="0"/>
            </a:endParaRPr>
          </a:p>
          <a:p>
            <a:r>
              <a:rPr lang="en-US" sz="1600">
                <a:latin typeface="Chalkboard Regular" panose="03050602040202020205" charset="0"/>
                <a:cs typeface="Chalkboard Regular" panose="03050602040202020205" charset="0"/>
              </a:rPr>
              <a:t>(between efficient code and measured neurons)</a:t>
            </a:r>
            <a:endParaRPr lang="en-US" sz="1600">
              <a:latin typeface="Chalkboard Regular" panose="03050602040202020205" charset="0"/>
              <a:cs typeface="Chalkboard Regular" panose="03050602040202020205" charset="0"/>
            </a:endParaRPr>
          </a:p>
          <a:p>
            <a:endParaRPr lang="en-US" sz="1600">
              <a:latin typeface="Chalkboard Regular" panose="03050602040202020205" charset="0"/>
              <a:cs typeface="Chalkboard Regular" panose="03050602040202020205" charset="0"/>
            </a:endParaRPr>
          </a:p>
          <a:p>
            <a:r>
              <a:rPr lang="en-US" sz="2400">
                <a:latin typeface="Chalkboard Regular" panose="03050602040202020205" charset="0"/>
                <a:cs typeface="Chalkboard Regular" panose="03050602040202020205" charset="0"/>
              </a:rPr>
              <a:t>c.d.f. of beta distributions as the sigmoid response functions </a:t>
            </a:r>
            <a:endParaRPr lang="en-US" sz="2400">
              <a:latin typeface="Chalkboard Regular" panose="03050602040202020205" charset="0"/>
              <a:cs typeface="Chalkboard Regular" panose="03050602040202020205" charset="0"/>
            </a:endParaRPr>
          </a:p>
        </p:txBody>
      </p:sp>
      <p:pic>
        <p:nvPicPr>
          <p:cNvPr id="19" name="334E55B0-647D-440b-865C-3EC943EB4CBC-35" descr="wpsoffice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68290" y="941070"/>
            <a:ext cx="5684520" cy="46799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47700" y="1685290"/>
            <a:ext cx="3654425" cy="25266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01600"/>
            <a:ext cx="11082655" cy="1325880"/>
          </a:xfrm>
        </p:spPr>
        <p:txBody>
          <a:bodyPr>
            <a:normAutofit/>
          </a:bodyPr>
          <a:p>
            <a:r>
              <a:rPr lang="en-US" sz="3555">
                <a:latin typeface="Georgia Regular" panose="02040502050405090303" charset="0"/>
                <a:cs typeface="Georgia Regular" panose="02040502050405090303" charset="0"/>
              </a:rPr>
              <a:t>Cumulative Distribution Function of Beta Distribution</a:t>
            </a:r>
            <a:endParaRPr lang="en-US" sz="3555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000885" y="997585"/>
            <a:ext cx="7803515" cy="58604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4720590" cy="398780"/>
          </a:xfrm>
        </p:spPr>
        <p:txBody>
          <a:bodyPr>
            <a:normAutofit/>
          </a:bodyPr>
          <a:p>
            <a:r>
              <a:rPr lang="en-US" sz="1555">
                <a:latin typeface="Georgia Regular" panose="02040502050405090303" charset="0"/>
                <a:cs typeface="Georgia Regular" panose="02040502050405090303" charset="0"/>
              </a:rPr>
              <a:t>Efficient Code computation</a:t>
            </a:r>
            <a:endParaRPr lang="en-US" sz="1555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7700" y="941070"/>
            <a:ext cx="62604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Zoom back into a single neuron: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647700" y="1685290"/>
            <a:ext cx="50177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Chalkboard Regular" panose="03050602040202020205" charset="0"/>
                <a:cs typeface="Chalkboard Regular" panose="03050602040202020205" charset="0"/>
              </a:rPr>
              <a:t>c.d.f. of beta distributions as the sigmoid response functions </a:t>
            </a:r>
            <a:endParaRPr lang="en-US" sz="2400">
              <a:latin typeface="Chalkboard Regular" panose="03050602040202020205" charset="0"/>
              <a:cs typeface="Chalkboard Regular" panose="03050602040202020205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47700" y="2799080"/>
            <a:ext cx="40640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beta distribution is parameterized by a, b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r>
              <a:rPr lang="en-US" sz="1400">
                <a:latin typeface="Georgia Regular" panose="02040502050405090303" charset="0"/>
                <a:cs typeface="Georgia Regular" panose="02040502050405090303" charset="0"/>
              </a:rPr>
              <a:t>for a neuron with</a:t>
            </a:r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 slope k, midpoint p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r>
              <a:rPr lang="en-US" sz="1400">
                <a:latin typeface="Georgia Regular" panose="02040502050405090303" charset="0"/>
                <a:cs typeface="Georgia Regular" panose="02040502050405090303" charset="0"/>
              </a:rPr>
              <a:t>set</a:t>
            </a:r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 a=kp, b=k(1-p)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595110" y="487045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good boundary behavior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876925" y="657225"/>
            <a:ext cx="5017770" cy="37680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What’s new?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29895" y="1277620"/>
            <a:ext cx="8091805" cy="2515870"/>
          </a:xfrm>
          <a:prstGeom prst="rect">
            <a:avLst/>
          </a:prstGeom>
        </p:spPr>
      </p:pic>
      <p:pic>
        <p:nvPicPr>
          <p:cNvPr id="5" name="334E55B0-647D-440b-865C-3EC943EB4CBC-26" descr="wpsoffice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59765" y="3924300"/>
            <a:ext cx="2498090" cy="464820"/>
          </a:xfrm>
          <a:prstGeom prst="rect">
            <a:avLst/>
          </a:prstGeom>
        </p:spPr>
      </p:pic>
      <p:pic>
        <p:nvPicPr>
          <p:cNvPr id="14" name="334E55B0-647D-440b-865C-3EC943EB4CBC-27" descr="wpsoffice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47700" y="4653915"/>
            <a:ext cx="3875405" cy="944880"/>
          </a:xfrm>
          <a:prstGeom prst="rect">
            <a:avLst/>
          </a:prstGeom>
        </p:spPr>
      </p:pic>
      <p:pic>
        <p:nvPicPr>
          <p:cNvPr id="16" name="334E55B0-647D-440b-865C-3EC943EB4CBC-28" descr="wpsoffice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59765" y="5859780"/>
            <a:ext cx="3323590" cy="87122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5037455" y="50380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a special case: 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7" name="334E55B0-647D-440b-865C-3EC943EB4CBC-62" descr="wpsoffic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4555" y="5156200"/>
            <a:ext cx="828675" cy="23685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Overview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>
                <a:solidFill>
                  <a:schemeClr val="bg2">
                    <a:lumMod val="75000"/>
                  </a:schemeClr>
                </a:solidFill>
                <a:latin typeface="Georgia Regular" panose="02040502050405090303" charset="0"/>
                <a:cs typeface="Georgia Regular" panose="02040502050405090303" charset="0"/>
              </a:rPr>
              <a:t>1. </a:t>
            </a:r>
            <a:r>
              <a:rPr lang="en-US">
                <a:solidFill>
                  <a:schemeClr val="bg2">
                    <a:lumMod val="75000"/>
                  </a:schemeClr>
                </a:solidFill>
                <a:latin typeface="Georgia Regular" panose="02040502050405090303" charset="0"/>
                <a:cs typeface="Georgia Regular" panose="02040502050405090303" charset="0"/>
                <a:sym typeface="+mn-ea"/>
              </a:rPr>
              <a:t>Derive the efficient code</a:t>
            </a:r>
            <a:endParaRPr lang="en-US">
              <a:solidFill>
                <a:schemeClr val="bg2">
                  <a:lumMod val="75000"/>
                </a:schemeClr>
              </a:solidFill>
              <a:latin typeface="Georgia Regular" panose="02040502050405090303" charset="0"/>
              <a:cs typeface="Georgia Regular" panose="02040502050405090303" charset="0"/>
              <a:sym typeface="+mn-ea"/>
            </a:endParaRPr>
          </a:p>
          <a:p>
            <a:pPr marL="0" indent="0">
              <a:buNone/>
            </a:pPr>
            <a:endParaRPr lang="en-US">
              <a:latin typeface="Georgia Regular" panose="02040502050405090303" charset="0"/>
              <a:cs typeface="Georgia Regular" panose="02040502050405090303" charset="0"/>
              <a:sym typeface="+mn-ea"/>
            </a:endParaRPr>
          </a:p>
          <a:p>
            <a:pPr marL="0" indent="0">
              <a:buNone/>
            </a:pPr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2. Efficient code satisfies properties of real neurons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  <a:p>
            <a:pPr marL="0" indent="0">
              <a:buNone/>
            </a:pPr>
            <a:endParaRPr lang="en-US">
              <a:solidFill>
                <a:schemeClr val="bg2">
                  <a:lumMod val="75000"/>
                </a:schemeClr>
              </a:solidFill>
              <a:latin typeface="Georgia Regular" panose="02040502050405090303" charset="0"/>
              <a:cs typeface="Georgia Regular" panose="02040502050405090303" charset="0"/>
            </a:endParaRPr>
          </a:p>
          <a:p>
            <a:pPr marL="0" indent="0">
              <a:buNone/>
            </a:pPr>
            <a:r>
              <a:rPr lang="en-US">
                <a:solidFill>
                  <a:schemeClr val="bg2">
                    <a:lumMod val="75000"/>
                  </a:schemeClr>
                </a:solidFill>
                <a:latin typeface="Georgia Regular" panose="02040502050405090303" charset="0"/>
                <a:cs typeface="Georgia Regular" panose="02040502050405090303" charset="0"/>
              </a:rPr>
              <a:t>3. How do neurons learn the tuning? Distributional RL</a:t>
            </a:r>
            <a:endParaRPr lang="en-US">
              <a:solidFill>
                <a:schemeClr val="bg2">
                  <a:lumMod val="75000"/>
                </a:schemeClr>
              </a:solidFill>
              <a:latin typeface="Georgia Regular" panose="02040502050405090303" charset="0"/>
              <a:cs typeface="Georgia Regular" panose="02040502050405090303" charset="0"/>
            </a:endParaRPr>
          </a:p>
          <a:p>
            <a:pPr marL="0" indent="0">
              <a:buNone/>
            </a:pP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pPr marL="457200" lvl="1" indent="457200">
              <a:buNone/>
            </a:pP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pPr marL="457200" lvl="1" indent="457200">
              <a:buNone/>
            </a:pP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Application 1: variable-reward task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09880" y="1727200"/>
            <a:ext cx="4445000" cy="340360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800735" y="14243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reward condition: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419350" y="28003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Eshel et al.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47700" y="515493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Chalkboard Regular" panose="03050602040202020205" charset="0"/>
                <a:cs typeface="Chalkboard Regular" panose="03050602040202020205" charset="0"/>
              </a:rPr>
              <a:t>vertical bars: seven values of reward with probability</a:t>
            </a:r>
            <a:endParaRPr lang="en-US">
              <a:latin typeface="Chalkboard Regular" panose="03050602040202020205" charset="0"/>
              <a:cs typeface="Chalkboard Regular" panose="03050602040202020205" charset="0"/>
            </a:endParaRPr>
          </a:p>
          <a:p>
            <a:endParaRPr lang="en-US">
              <a:latin typeface="Chalkboard Regular" panose="03050602040202020205" charset="0"/>
              <a:cs typeface="Chalkboard Regular" panose="03050602040202020205" charset="0"/>
            </a:endParaRPr>
          </a:p>
          <a:p>
            <a:r>
              <a:rPr lang="en-US">
                <a:latin typeface="Chalkboard Regular" panose="03050602040202020205" charset="0"/>
                <a:cs typeface="Chalkboard Regular" panose="03050602040202020205" charset="0"/>
              </a:rPr>
              <a:t>smooth curve: fitted moment-matched log-normal distribution</a:t>
            </a:r>
            <a:endParaRPr lang="en-US">
              <a:latin typeface="Chalkboard Regular" panose="03050602040202020205" charset="0"/>
              <a:cs typeface="Chalkboard Regular" panose="03050602040202020205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4660" y="258445"/>
            <a:ext cx="4949825" cy="43243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1780">
                <a:latin typeface="Georgia Regular" panose="02040502050405090303" charset="0"/>
                <a:cs typeface="Georgia Regular" panose="02040502050405090303" charset="0"/>
              </a:rPr>
              <a:t>Application 1: variable-reward task</a:t>
            </a:r>
            <a:endParaRPr lang="en-US" sz="178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54660" y="96520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Data &amp; Model fitting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4660" y="258445"/>
            <a:ext cx="4949825" cy="43243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1780">
                <a:latin typeface="Georgia Regular" panose="02040502050405090303" charset="0"/>
                <a:cs typeface="Georgia Regular" panose="02040502050405090303" charset="0"/>
              </a:rPr>
              <a:t>Application 1: variable-reward task</a:t>
            </a:r>
            <a:endParaRPr lang="en-US" sz="178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54660" y="96520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Data &amp; Model fitting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54660" y="1822450"/>
            <a:ext cx="9907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Comic Sans MS Regular" panose="030F0902030302020204" charset="0"/>
                <a:cs typeface="Comic Sans MS Regular" panose="030F0902030302020204" charset="0"/>
              </a:rPr>
              <a:t>Step 1: Fitting Logistic sigmoid functions to measured neurons</a:t>
            </a:r>
            <a:r>
              <a:rPr lang="en-US"/>
              <a:t> </a:t>
            </a:r>
            <a:endParaRPr lang="en-US"/>
          </a:p>
        </p:txBody>
      </p:sp>
      <p:pic>
        <p:nvPicPr>
          <p:cNvPr id="4" name="334E55B0-647D-440b-865C-3EC943EB4CBC-43" descr="wpsoff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60" y="2618105"/>
            <a:ext cx="6296660" cy="116776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54660" y="4309745"/>
            <a:ext cx="57658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/>
              <a:t>maximum-likelihood estimation based on Poisson noise</a:t>
            </a:r>
            <a:endParaRPr lang="en-US" sz="1600"/>
          </a:p>
        </p:txBody>
      </p:sp>
      <p:pic>
        <p:nvPicPr>
          <p:cNvPr id="10" name="334E55B0-647D-440b-865C-3EC943EB4CBC-44" descr="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75" y="4832985"/>
            <a:ext cx="6751955" cy="106426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454660" y="608330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/>
              <a:t>where</a:t>
            </a:r>
            <a:endParaRPr lang="en-US" sz="1600"/>
          </a:p>
        </p:txBody>
      </p:sp>
      <p:pic>
        <p:nvPicPr>
          <p:cNvPr id="12" name="334E55B0-647D-440b-865C-3EC943EB4CBC-45" descr="wpsoff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610" y="6158230"/>
            <a:ext cx="1513840" cy="23749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4660" y="258445"/>
            <a:ext cx="4949825" cy="43243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1780">
                <a:latin typeface="Georgia Regular" panose="02040502050405090303" charset="0"/>
                <a:cs typeface="Georgia Regular" panose="02040502050405090303" charset="0"/>
              </a:rPr>
              <a:t>Application 1: variable-reward task</a:t>
            </a:r>
            <a:endParaRPr lang="en-US" sz="178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54660" y="96520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Data &amp; Model fitting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54660" y="182245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Comic Sans MS Regular" panose="030F0902030302020204" charset="0"/>
                <a:cs typeface="Comic Sans MS Regular" panose="030F0902030302020204" charset="0"/>
              </a:rPr>
              <a:t>Step 2:</a:t>
            </a:r>
            <a:r>
              <a:rPr lang="en-US"/>
              <a:t> </a:t>
            </a:r>
            <a:endParaRPr lang="en-US"/>
          </a:p>
        </p:txBody>
      </p:sp>
      <p:pic>
        <p:nvPicPr>
          <p:cNvPr id="5" name="334E55B0-647D-440b-865C-3EC943EB4CBC-36" descr="wpsoff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" y="1930400"/>
            <a:ext cx="314960" cy="254635"/>
          </a:xfrm>
          <a:prstGeom prst="rect">
            <a:avLst/>
          </a:prstGeom>
        </p:spPr>
      </p:pic>
      <p:pic>
        <p:nvPicPr>
          <p:cNvPr id="6" name="334E55B0-647D-440b-865C-3EC943EB4CBC-37" descr="wpsoffice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66725" y="2628265"/>
            <a:ext cx="2498090" cy="464820"/>
          </a:xfrm>
          <a:prstGeom prst="rect">
            <a:avLst/>
          </a:prstGeom>
        </p:spPr>
      </p:pic>
      <p:pic>
        <p:nvPicPr>
          <p:cNvPr id="14" name="334E55B0-647D-440b-865C-3EC943EB4CBC-38" descr="wpsoffice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54660" y="3357880"/>
            <a:ext cx="3875405" cy="944880"/>
          </a:xfrm>
          <a:prstGeom prst="rect">
            <a:avLst/>
          </a:prstGeom>
        </p:spPr>
      </p:pic>
      <p:sp>
        <p:nvSpPr>
          <p:cNvPr id="15" name="Text Box 14"/>
          <p:cNvSpPr txBox="1"/>
          <p:nvPr>
            <p:custDataLst>
              <p:tags r:id="rId7"/>
            </p:custDataLst>
          </p:nvPr>
        </p:nvSpPr>
        <p:spPr>
          <a:xfrm>
            <a:off x="454660" y="56692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is a free parameter,</a:t>
            </a:r>
            <a:r>
              <a:rPr lang="en-US"/>
              <a:t> </a:t>
            </a:r>
            <a:endParaRPr lang="en-US"/>
          </a:p>
        </p:txBody>
      </p:sp>
      <p:pic>
        <p:nvPicPr>
          <p:cNvPr id="16" name="334E55B0-647D-440b-865C-3EC943EB4CBC-39" descr="wpsoffice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66725" y="4563745"/>
            <a:ext cx="3323590" cy="871220"/>
          </a:xfrm>
          <a:prstGeom prst="rect">
            <a:avLst/>
          </a:prstGeom>
        </p:spPr>
      </p:pic>
      <p:pic>
        <p:nvPicPr>
          <p:cNvPr id="17" name="334E55B0-647D-440b-865C-3EC943EB4CBC-40" descr="wpsoffice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72415" y="5794375"/>
            <a:ext cx="194310" cy="157480"/>
          </a:xfrm>
          <a:prstGeom prst="rect">
            <a:avLst/>
          </a:prstGeom>
        </p:spPr>
      </p:pic>
      <p:pic>
        <p:nvPicPr>
          <p:cNvPr id="18" name="334E55B0-647D-440b-865C-3EC943EB4CBC-41" descr="wpsoffice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566035" y="5704840"/>
            <a:ext cx="1150620" cy="31305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4660" y="258445"/>
            <a:ext cx="4949825" cy="43243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1780">
                <a:latin typeface="Georgia Regular" panose="02040502050405090303" charset="0"/>
                <a:cs typeface="Georgia Regular" panose="02040502050405090303" charset="0"/>
              </a:rPr>
              <a:t>Application 1: variable-reward task</a:t>
            </a:r>
            <a:endParaRPr lang="en-US" sz="178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54660" y="96520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Data &amp; Model fitting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54660" y="182245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Comic Sans MS Regular" panose="030F0902030302020204" charset="0"/>
                <a:cs typeface="Comic Sans MS Regular" panose="030F0902030302020204" charset="0"/>
              </a:rPr>
              <a:t>Step 2:</a:t>
            </a:r>
            <a:r>
              <a:rPr lang="en-US"/>
              <a:t> </a:t>
            </a:r>
            <a:endParaRPr lang="en-US"/>
          </a:p>
        </p:txBody>
      </p:sp>
      <p:pic>
        <p:nvPicPr>
          <p:cNvPr id="5" name="334E55B0-647D-440b-865C-3EC943EB4CBC-42" descr="wpsoff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" y="1930400"/>
            <a:ext cx="314960" cy="25463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54660" y="2628265"/>
            <a:ext cx="60083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maximize the probability of the observed midpoints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4660" y="258445"/>
            <a:ext cx="4949825" cy="43243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1780">
                <a:latin typeface="Georgia Regular" panose="02040502050405090303" charset="0"/>
                <a:cs typeface="Georgia Regular" panose="02040502050405090303" charset="0"/>
              </a:rPr>
              <a:t>Application 1: variable-reward task</a:t>
            </a:r>
            <a:endParaRPr lang="en-US" sz="178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54660" y="96520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Data &amp; Model fitting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54660" y="182245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Comic Sans MS Regular" panose="030F0902030302020204" charset="0"/>
                <a:cs typeface="Comic Sans MS Regular" panose="030F0902030302020204" charset="0"/>
              </a:rPr>
              <a:t>Step 2:</a:t>
            </a:r>
            <a:r>
              <a:rPr lang="en-US"/>
              <a:t> </a:t>
            </a:r>
            <a:endParaRPr lang="en-US"/>
          </a:p>
        </p:txBody>
      </p:sp>
      <p:pic>
        <p:nvPicPr>
          <p:cNvPr id="5" name="334E55B0-647D-440b-865C-3EC943EB4CBC-46" descr="wpsoff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" y="1930400"/>
            <a:ext cx="314960" cy="25463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54660" y="2628265"/>
            <a:ext cx="60083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maximize the probability of the observed midpoints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6" name="334E55B0-647D-440b-865C-3EC943EB4CBC-47" descr="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" y="3372485"/>
            <a:ext cx="1744980" cy="29591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4660" y="258445"/>
            <a:ext cx="4949825" cy="43243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1780">
                <a:latin typeface="Georgia Regular" panose="02040502050405090303" charset="0"/>
                <a:cs typeface="Georgia Regular" panose="02040502050405090303" charset="0"/>
              </a:rPr>
              <a:t>Application 1: variable-reward task</a:t>
            </a:r>
            <a:endParaRPr lang="en-US" sz="178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54660" y="96520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Data &amp; Model fitting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54660" y="1822450"/>
            <a:ext cx="6080125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Comic Sans MS Regular" panose="030F0902030302020204" charset="0"/>
                <a:cs typeface="Comic Sans MS Regular" panose="030F0902030302020204" charset="0"/>
              </a:rPr>
              <a:t>Step 3: </a:t>
            </a:r>
            <a:r>
              <a:rPr lang="en-US" sz="2400">
                <a:latin typeface="Georgia Regular" panose="02040502050405090303" charset="0"/>
                <a:cs typeface="Georgia Regular" panose="02040502050405090303" charset="0"/>
                <a:sym typeface="+mn-ea"/>
              </a:rPr>
              <a:t>slope k; spontaneous firing rate r*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  <a:p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  <a:sym typeface="+mn-ea"/>
              </a:rPr>
              <a:t>minimize MSE of thesholds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  <a:sym typeface="+mn-ea"/>
              </a:rPr>
              <a:t>(between efficient code and </a:t>
            </a:r>
            <a:endParaRPr lang="en-US" sz="2400">
              <a:latin typeface="Georgia Regular" panose="02040502050405090303" charset="0"/>
              <a:cs typeface="Georgia Regular" panose="02040502050405090303" charset="0"/>
              <a:sym typeface="+mn-ea"/>
            </a:endParaRPr>
          </a:p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  <a:sym typeface="+mn-ea"/>
              </a:rPr>
              <a:t>measured neurons)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 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47000" y="1487170"/>
            <a:ext cx="3654425" cy="2526665"/>
          </a:xfrm>
          <a:prstGeom prst="rect">
            <a:avLst/>
          </a:prstGeom>
        </p:spPr>
      </p:pic>
      <p:pic>
        <p:nvPicPr>
          <p:cNvPr id="9" name="334E55B0-647D-440b-865C-3EC943EB4CBC-48" descr="wpsoff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85" y="4219575"/>
            <a:ext cx="6576060" cy="72453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737985" cy="685800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6801485" y="1484630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39 dopaminergic RPENs measured by Eshel et al.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813550" y="23660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(preprocessed)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10" name="Text Box 9"/>
          <p:cNvSpPr txBox="1"/>
          <p:nvPr>
            <p:custDataLst>
              <p:tags r:id="rId3"/>
            </p:custDataLst>
          </p:nvPr>
        </p:nvSpPr>
        <p:spPr>
          <a:xfrm>
            <a:off x="6801485" y="477520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Efficient code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54660" y="258445"/>
            <a:ext cx="4949825" cy="432435"/>
          </a:xfrm>
        </p:spPr>
        <p:txBody>
          <a:bodyPr>
            <a:normAutofit/>
          </a:bodyPr>
          <a:p>
            <a:r>
              <a:rPr lang="en-US" sz="1780">
                <a:latin typeface="Georgia Regular" panose="02040502050405090303" charset="0"/>
                <a:cs typeface="Georgia Regular" panose="02040502050405090303" charset="0"/>
              </a:rPr>
              <a:t>Application 1: variable-reward task</a:t>
            </a:r>
            <a:endParaRPr lang="en-US" sz="1780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660" y="258445"/>
            <a:ext cx="4949825" cy="432435"/>
          </a:xfrm>
        </p:spPr>
        <p:txBody>
          <a:bodyPr>
            <a:normAutofit/>
          </a:bodyPr>
          <a:p>
            <a:r>
              <a:rPr lang="en-US" sz="1780">
                <a:latin typeface="Georgia Regular" panose="02040502050405090303" charset="0"/>
                <a:cs typeface="Georgia Regular" panose="02040502050405090303" charset="0"/>
              </a:rPr>
              <a:t>Application 1: variable-reward task</a:t>
            </a:r>
            <a:endParaRPr lang="en-US" sz="178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54660" y="97726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 i="1">
                <a:latin typeface="Georgia Bold Italic" panose="02040502050405090303" charset="0"/>
                <a:cs typeface="Georgia Bold Italic" panose="02040502050405090303" charset="0"/>
              </a:rPr>
              <a:t>Predictions:</a:t>
            </a:r>
            <a:endParaRPr lang="en-US" sz="2800" b="1" i="1">
              <a:latin typeface="Georgia Bold Italic" panose="02040502050405090303" charset="0"/>
              <a:cs typeface="Georgia Bold Italic" panose="02040502050405090303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7695" y="1931035"/>
            <a:ext cx="9483725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AutoNum type="arabicPeriod"/>
            </a:pPr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RPEN midpoints cover the reward distribution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AutoNum type="arabicPeriod"/>
            </a:pP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AutoNum type="arabicPeriod"/>
            </a:pPr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RPEN gain increases with threshold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AutoNum type="arabicPeriod"/>
            </a:pP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AutoNum type="arabicPeriod"/>
            </a:pPr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RPEN tuning curve asymmetry flips with increasing threshold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AutoNum type="arabicPeriod"/>
            </a:pP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AutoNum type="arabicPeriod"/>
            </a:pPr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RPEN slope decreases with threshold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67080" y="5901690"/>
            <a:ext cx="9809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accent2">
                    <a:lumMod val="60000"/>
                    <a:lumOff val="40000"/>
                  </a:schemeClr>
                </a:solidFill>
                <a:latin typeface="Comic Sans MS Regular" panose="030F0902030302020204" charset="0"/>
                <a:cs typeface="Comic Sans MS Regular" panose="030F0902030302020204" charset="0"/>
              </a:rPr>
              <a:t>My </a:t>
            </a:r>
            <a:r>
              <a:rPr lang="en-US">
                <a:solidFill>
                  <a:schemeClr val="accent2">
                    <a:lumMod val="60000"/>
                    <a:lumOff val="40000"/>
                  </a:schemeClr>
                </a:solidFill>
                <a:latin typeface="Comic Sans MS Regular" panose="030F0902030302020204" charset="0"/>
                <a:cs typeface="Comic Sans MS Regular" panose="030F0902030302020204" charset="0"/>
              </a:rPr>
              <a:t>question: Why *these* predictions?</a:t>
            </a:r>
            <a:endParaRPr lang="en-US">
              <a:solidFill>
                <a:schemeClr val="accent2">
                  <a:lumMod val="60000"/>
                  <a:lumOff val="40000"/>
                </a:schemeClr>
              </a:solidFill>
              <a:latin typeface="Comic Sans MS Regular" panose="030F0902030302020204" charset="0"/>
              <a:cs typeface="Comic Sans MS Regular" panose="030F090203030202020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660" y="258445"/>
            <a:ext cx="4949825" cy="432435"/>
          </a:xfrm>
        </p:spPr>
        <p:txBody>
          <a:bodyPr>
            <a:normAutofit/>
          </a:bodyPr>
          <a:p>
            <a:r>
              <a:rPr lang="en-US" sz="1780">
                <a:latin typeface="Georgia Regular" panose="02040502050405090303" charset="0"/>
                <a:cs typeface="Georgia Regular" panose="02040502050405090303" charset="0"/>
              </a:rPr>
              <a:t>Application 1: variable-reward task</a:t>
            </a:r>
            <a:endParaRPr lang="en-US" sz="1780">
              <a:latin typeface="Georgia Regular" panose="02040502050405090303" charset="0"/>
              <a:cs typeface="Georgia Regular" panose="02040502050405090303" charset="0"/>
            </a:endParaRPr>
          </a:p>
        </p:txBody>
      </p:sp>
      <p:cxnSp>
        <p:nvCxnSpPr>
          <p:cNvPr id="3" name="Elbow Connector 2"/>
          <p:cNvCxnSpPr/>
          <p:nvPr/>
        </p:nvCxnSpPr>
        <p:spPr>
          <a:xfrm>
            <a:off x="607695" y="651510"/>
            <a:ext cx="386080" cy="265430"/>
          </a:xfrm>
          <a:prstGeom prst="bentConnector3">
            <a:avLst>
              <a:gd name="adj1" fmla="val 50164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Text Box 3"/>
          <p:cNvSpPr txBox="1"/>
          <p:nvPr/>
        </p:nvSpPr>
        <p:spPr>
          <a:xfrm>
            <a:off x="934085" y="651510"/>
            <a:ext cx="4064000" cy="3651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780">
                <a:effectLst/>
                <a:latin typeface="Georgia Regular" panose="02040502050405090303" charset="0"/>
                <a:ea typeface="+mj-ea"/>
                <a:cs typeface="Georgia Regular" panose="02040502050405090303" charset="0"/>
              </a:rPr>
              <a:t>Predictions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55955" y="1278890"/>
            <a:ext cx="76009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Comic Sans MS Regular" panose="030F0902030302020204" charset="0"/>
                <a:cs typeface="Comic Sans MS Regular" panose="030F0902030302020204" charset="0"/>
              </a:rPr>
              <a:t>Prediction 1: RPEN midpoints cover the reward distribution</a:t>
            </a:r>
            <a:endParaRPr lang="en-US" sz="2000">
              <a:latin typeface="Comic Sans MS Regular" panose="030F0902030302020204" charset="0"/>
              <a:cs typeface="Comic Sans MS Regular" panose="030F090203030202020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2008505"/>
            <a:ext cx="12192000" cy="284099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874520" y="50184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Cochin Regular" panose="02000603020000020003" charset="0"/>
                <a:cs typeface="Cochin Regular" panose="02000603020000020003" charset="0"/>
              </a:rPr>
              <a:t>difference not significant</a:t>
            </a:r>
            <a:endParaRPr lang="en-US">
              <a:latin typeface="Cochin Regular" panose="02000603020000020003" charset="0"/>
              <a:cs typeface="Cochin Regular" panose="02000603020000020003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660" y="258445"/>
            <a:ext cx="4949825" cy="432435"/>
          </a:xfrm>
        </p:spPr>
        <p:txBody>
          <a:bodyPr>
            <a:normAutofit/>
          </a:bodyPr>
          <a:p>
            <a:r>
              <a:rPr lang="en-US" sz="1780">
                <a:latin typeface="Georgia Regular" panose="02040502050405090303" charset="0"/>
                <a:cs typeface="Georgia Regular" panose="02040502050405090303" charset="0"/>
              </a:rPr>
              <a:t>Application 1: variable-reward task</a:t>
            </a:r>
            <a:endParaRPr lang="en-US" sz="1780">
              <a:latin typeface="Georgia Regular" panose="02040502050405090303" charset="0"/>
              <a:cs typeface="Georgia Regular" panose="02040502050405090303" charset="0"/>
            </a:endParaRPr>
          </a:p>
        </p:txBody>
      </p:sp>
      <p:cxnSp>
        <p:nvCxnSpPr>
          <p:cNvPr id="3" name="Elbow Connector 2"/>
          <p:cNvCxnSpPr/>
          <p:nvPr/>
        </p:nvCxnSpPr>
        <p:spPr>
          <a:xfrm>
            <a:off x="607695" y="651510"/>
            <a:ext cx="386080" cy="265430"/>
          </a:xfrm>
          <a:prstGeom prst="bentConnector3">
            <a:avLst>
              <a:gd name="adj1" fmla="val 50164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Text Box 3"/>
          <p:cNvSpPr txBox="1"/>
          <p:nvPr/>
        </p:nvSpPr>
        <p:spPr>
          <a:xfrm>
            <a:off x="934085" y="651510"/>
            <a:ext cx="4064000" cy="3651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780">
                <a:effectLst/>
                <a:latin typeface="Georgia Regular" panose="02040502050405090303" charset="0"/>
                <a:ea typeface="+mj-ea"/>
                <a:cs typeface="Georgia Regular" panose="02040502050405090303" charset="0"/>
              </a:rPr>
              <a:t>Predictions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55955" y="1278890"/>
            <a:ext cx="76009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Comic Sans MS Regular" panose="030F0902030302020204" charset="0"/>
                <a:cs typeface="Comic Sans MS Regular" panose="030F0902030302020204" charset="0"/>
              </a:rPr>
              <a:t>Prediction 2: RPEN gain increases with theshold</a:t>
            </a:r>
            <a:endParaRPr lang="en-US" sz="2000">
              <a:latin typeface="Comic Sans MS Regular" panose="030F0902030302020204" charset="0"/>
              <a:cs typeface="Comic Sans MS Regular" panose="030F090203030202020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2625"/>
          <a:stretch>
            <a:fillRect/>
          </a:stretch>
        </p:blipFill>
        <p:spPr>
          <a:xfrm>
            <a:off x="655955" y="2039620"/>
            <a:ext cx="4064000" cy="369760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993775" y="573722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solidFill>
                  <a:srgbClr val="0070C0"/>
                </a:solidFill>
                <a:latin typeface="Cochin Regular" panose="02000603020000020003" charset="0"/>
                <a:cs typeface="Cochin Regular" panose="02000603020000020003" charset="0"/>
              </a:rPr>
              <a:t>Blue</a:t>
            </a:r>
            <a:r>
              <a:rPr lang="en-US" sz="2000">
                <a:latin typeface="Cochin Regular" panose="02000603020000020003" charset="0"/>
                <a:cs typeface="Cochin Regular" panose="02000603020000020003" charset="0"/>
              </a:rPr>
              <a:t>: </a:t>
            </a:r>
            <a:r>
              <a:rPr lang="en-US" sz="2000">
                <a:solidFill>
                  <a:srgbClr val="0070C0"/>
                </a:solidFill>
                <a:latin typeface="Cochin Regular" panose="02000603020000020003" charset="0"/>
                <a:cs typeface="Cochin Regular" panose="02000603020000020003" charset="0"/>
              </a:rPr>
              <a:t>Efficient code</a:t>
            </a:r>
            <a:endParaRPr lang="en-US" sz="2000">
              <a:solidFill>
                <a:srgbClr val="0070C0"/>
              </a:solidFill>
              <a:latin typeface="Cochin Regular" panose="02000603020000020003" charset="0"/>
              <a:cs typeface="Cochin Regular" panose="02000603020000020003" charset="0"/>
            </a:endParaRPr>
          </a:p>
          <a:p>
            <a:r>
              <a:rPr lang="en-US" sz="2000">
                <a:latin typeface="Cochin Regular" panose="02000603020000020003" charset="0"/>
                <a:cs typeface="Cochin Regular" panose="02000603020000020003" charset="0"/>
              </a:rPr>
              <a:t>Black: Measured neurons</a:t>
            </a:r>
            <a:endParaRPr lang="en-US" sz="2000">
              <a:latin typeface="Cochin Regular" panose="02000603020000020003" charset="0"/>
              <a:cs typeface="Cochin Regular" panose="020006030200000200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5485765" y="5975985"/>
            <a:ext cx="5645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this empirical finding has not been reported before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2189480" y="46234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significant positive relationship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5148580" y="2265680"/>
            <a:ext cx="646557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with same expected number of spikes: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  <a:p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higher theshold→respond to fewer rewards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  <a:p>
            <a:pPr marL="3657600" lvl="8" indent="457200"/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↓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  <a:p>
            <a:pPr marL="2286000" lvl="5" indent="457200"/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afford a higher gain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660" y="258445"/>
            <a:ext cx="4949825" cy="432435"/>
          </a:xfrm>
        </p:spPr>
        <p:txBody>
          <a:bodyPr>
            <a:normAutofit/>
          </a:bodyPr>
          <a:p>
            <a:r>
              <a:rPr lang="en-US" sz="1780">
                <a:latin typeface="Georgia Regular" panose="02040502050405090303" charset="0"/>
                <a:cs typeface="Georgia Regular" panose="02040502050405090303" charset="0"/>
              </a:rPr>
              <a:t>Application 1: variable-reward task</a:t>
            </a:r>
            <a:endParaRPr lang="en-US" sz="1780">
              <a:latin typeface="Georgia Regular" panose="02040502050405090303" charset="0"/>
              <a:cs typeface="Georgia Regular" panose="02040502050405090303" charset="0"/>
            </a:endParaRPr>
          </a:p>
        </p:txBody>
      </p:sp>
      <p:cxnSp>
        <p:nvCxnSpPr>
          <p:cNvPr id="3" name="Elbow Connector 2"/>
          <p:cNvCxnSpPr/>
          <p:nvPr/>
        </p:nvCxnSpPr>
        <p:spPr>
          <a:xfrm>
            <a:off x="607695" y="651510"/>
            <a:ext cx="386080" cy="265430"/>
          </a:xfrm>
          <a:prstGeom prst="bentConnector3">
            <a:avLst>
              <a:gd name="adj1" fmla="val 50164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Text Box 3"/>
          <p:cNvSpPr txBox="1"/>
          <p:nvPr/>
        </p:nvSpPr>
        <p:spPr>
          <a:xfrm>
            <a:off x="934085" y="651510"/>
            <a:ext cx="4064000" cy="3651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780">
                <a:effectLst/>
                <a:latin typeface="Georgia Regular" panose="02040502050405090303" charset="0"/>
                <a:ea typeface="+mj-ea"/>
                <a:cs typeface="Georgia Regular" panose="02040502050405090303" charset="0"/>
              </a:rPr>
              <a:t>Predictions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55955" y="1278890"/>
            <a:ext cx="100025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Comic Sans MS Regular" panose="030F0902030302020204" charset="0"/>
                <a:cs typeface="Comic Sans MS Regular" panose="030F0902030302020204" charset="0"/>
              </a:rPr>
              <a:t>Prediction 3: RPEN tuning curve asymmetry flips with increasing theshold </a:t>
            </a:r>
            <a:endParaRPr lang="en-US" sz="2000">
              <a:latin typeface="Comic Sans MS Regular" panose="030F0902030302020204" charset="0"/>
              <a:cs typeface="Comic Sans MS Regular" panose="030F090203030202020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47700" y="1946275"/>
            <a:ext cx="6102350" cy="4217035"/>
          </a:xfrm>
          <a:prstGeom prst="rect">
            <a:avLst/>
          </a:prstGeom>
        </p:spPr>
      </p:pic>
      <p:cxnSp>
        <p:nvCxnSpPr>
          <p:cNvPr id="12" name="Curved Connector 11"/>
          <p:cNvCxnSpPr/>
          <p:nvPr/>
        </p:nvCxnSpPr>
        <p:spPr>
          <a:xfrm flipV="1">
            <a:off x="1682115" y="2184400"/>
            <a:ext cx="3308350" cy="2391410"/>
          </a:xfrm>
          <a:prstGeom prst="curvedConnector3">
            <a:avLst>
              <a:gd name="adj1" fmla="val 50019"/>
            </a:avLst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708275" y="4262120"/>
            <a:ext cx="0" cy="530225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513205" y="4792345"/>
            <a:ext cx="1195070" cy="62801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Text Box 14"/>
          <p:cNvSpPr txBox="1"/>
          <p:nvPr/>
        </p:nvSpPr>
        <p:spPr>
          <a:xfrm>
            <a:off x="926465" y="54444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Cochin Regular" panose="02000603020000020003" charset="0"/>
                <a:cs typeface="Cochin Regular" panose="02000603020000020003" charset="0"/>
              </a:rPr>
              <a:t>Threshold</a:t>
            </a:r>
            <a:endParaRPr lang="en-US">
              <a:latin typeface="Cochin Regular" panose="02000603020000020003" charset="0"/>
              <a:cs typeface="Cochin Regular" panose="02000603020000020003" charset="0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5123180" y="2079625"/>
            <a:ext cx="2536190" cy="265430"/>
          </a:xfrm>
          <a:prstGeom prst="rightArrow">
            <a:avLst/>
          </a:prstGeom>
          <a:solidFill>
            <a:schemeClr val="bg2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5316220" y="1816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increase the gain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7792085" y="20034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lower theshold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660" y="258445"/>
            <a:ext cx="4949825" cy="432435"/>
          </a:xfrm>
        </p:spPr>
        <p:txBody>
          <a:bodyPr>
            <a:normAutofit/>
          </a:bodyPr>
          <a:p>
            <a:r>
              <a:rPr lang="en-US" sz="1780">
                <a:latin typeface="Georgia Regular" panose="02040502050405090303" charset="0"/>
                <a:cs typeface="Georgia Regular" panose="02040502050405090303" charset="0"/>
              </a:rPr>
              <a:t>Application 1: variable-reward task</a:t>
            </a:r>
            <a:endParaRPr lang="en-US" sz="1780">
              <a:latin typeface="Georgia Regular" panose="02040502050405090303" charset="0"/>
              <a:cs typeface="Georgia Regular" panose="02040502050405090303" charset="0"/>
            </a:endParaRPr>
          </a:p>
        </p:txBody>
      </p:sp>
      <p:cxnSp>
        <p:nvCxnSpPr>
          <p:cNvPr id="3" name="Elbow Connector 2"/>
          <p:cNvCxnSpPr/>
          <p:nvPr/>
        </p:nvCxnSpPr>
        <p:spPr>
          <a:xfrm>
            <a:off x="607695" y="651510"/>
            <a:ext cx="386080" cy="265430"/>
          </a:xfrm>
          <a:prstGeom prst="bentConnector3">
            <a:avLst>
              <a:gd name="adj1" fmla="val 50164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Text Box 3"/>
          <p:cNvSpPr txBox="1"/>
          <p:nvPr/>
        </p:nvSpPr>
        <p:spPr>
          <a:xfrm>
            <a:off x="934085" y="651510"/>
            <a:ext cx="4064000" cy="3651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780">
                <a:effectLst/>
                <a:latin typeface="Georgia Regular" panose="02040502050405090303" charset="0"/>
                <a:ea typeface="+mj-ea"/>
                <a:cs typeface="Georgia Regular" panose="02040502050405090303" charset="0"/>
              </a:rPr>
              <a:t>Predictions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55955" y="1278890"/>
            <a:ext cx="100025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Comic Sans MS Regular" panose="030F0902030302020204" charset="0"/>
                <a:cs typeface="Comic Sans MS Regular" panose="030F0902030302020204" charset="0"/>
              </a:rPr>
              <a:t>Prediction 3: RPEN tuning curve asymmetry flips with increasing theshold </a:t>
            </a:r>
            <a:endParaRPr lang="en-US" sz="2000">
              <a:latin typeface="Comic Sans MS Regular" panose="030F0902030302020204" charset="0"/>
              <a:cs typeface="Comic Sans MS Regular" panose="030F090203030202020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54660" y="1939925"/>
            <a:ext cx="4841240" cy="308102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921385" y="5191125"/>
            <a:ext cx="4076700" cy="765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Fit two linear response functions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(following Dabney’s work)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727065" y="242633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Degree of asymmetry: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10" name="334E55B0-647D-440b-865C-3EC943EB4CBC-49" descr="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7065" y="3079115"/>
            <a:ext cx="2189480" cy="1351280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>
            <a:off x="7272655" y="3343910"/>
            <a:ext cx="13760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Text Box 11"/>
          <p:cNvSpPr txBox="1"/>
          <p:nvPr/>
        </p:nvSpPr>
        <p:spPr>
          <a:xfrm>
            <a:off x="8745220" y="3159760"/>
            <a:ext cx="2449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slope above theshold</a:t>
            </a:r>
            <a:endParaRPr lang="en-US"/>
          </a:p>
        </p:txBody>
      </p:sp>
      <p:cxnSp>
        <p:nvCxnSpPr>
          <p:cNvPr id="13" name="Straight Arrow Connector 12"/>
          <p:cNvCxnSpPr/>
          <p:nvPr>
            <p:custDataLst>
              <p:tags r:id="rId4"/>
            </p:custDataLst>
          </p:nvPr>
        </p:nvCxnSpPr>
        <p:spPr>
          <a:xfrm>
            <a:off x="7737475" y="4246245"/>
            <a:ext cx="13760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Text Box 13"/>
          <p:cNvSpPr txBox="1"/>
          <p:nvPr>
            <p:custDataLst>
              <p:tags r:id="rId5"/>
            </p:custDataLst>
          </p:nvPr>
        </p:nvSpPr>
        <p:spPr>
          <a:xfrm>
            <a:off x="9210040" y="4062095"/>
            <a:ext cx="2449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slope below theshold</a:t>
            </a:r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660" y="258445"/>
            <a:ext cx="4949825" cy="432435"/>
          </a:xfrm>
        </p:spPr>
        <p:txBody>
          <a:bodyPr>
            <a:normAutofit/>
          </a:bodyPr>
          <a:p>
            <a:r>
              <a:rPr lang="en-US" sz="1780">
                <a:latin typeface="Georgia Regular" panose="02040502050405090303" charset="0"/>
                <a:cs typeface="Georgia Regular" panose="02040502050405090303" charset="0"/>
              </a:rPr>
              <a:t>Application 1: variable-reward task</a:t>
            </a:r>
            <a:endParaRPr lang="en-US" sz="1780">
              <a:latin typeface="Georgia Regular" panose="02040502050405090303" charset="0"/>
              <a:cs typeface="Georgia Regular" panose="02040502050405090303" charset="0"/>
            </a:endParaRPr>
          </a:p>
        </p:txBody>
      </p:sp>
      <p:cxnSp>
        <p:nvCxnSpPr>
          <p:cNvPr id="3" name="Elbow Connector 2"/>
          <p:cNvCxnSpPr/>
          <p:nvPr/>
        </p:nvCxnSpPr>
        <p:spPr>
          <a:xfrm>
            <a:off x="607695" y="651510"/>
            <a:ext cx="386080" cy="265430"/>
          </a:xfrm>
          <a:prstGeom prst="bentConnector3">
            <a:avLst>
              <a:gd name="adj1" fmla="val 50164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Text Box 3"/>
          <p:cNvSpPr txBox="1"/>
          <p:nvPr/>
        </p:nvSpPr>
        <p:spPr>
          <a:xfrm>
            <a:off x="934085" y="651510"/>
            <a:ext cx="4064000" cy="3651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780">
                <a:effectLst/>
                <a:latin typeface="Georgia Regular" panose="02040502050405090303" charset="0"/>
                <a:ea typeface="+mj-ea"/>
                <a:cs typeface="Georgia Regular" panose="02040502050405090303" charset="0"/>
              </a:rPr>
              <a:t>Predictions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55955" y="1278890"/>
            <a:ext cx="100025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Comic Sans MS Regular" panose="030F0902030302020204" charset="0"/>
                <a:cs typeface="Comic Sans MS Regular" panose="030F0902030302020204" charset="0"/>
              </a:rPr>
              <a:t>Prediction 3: RPEN tuning curve asymmetry flips with increasing theshold </a:t>
            </a:r>
            <a:endParaRPr lang="en-US" sz="2000">
              <a:latin typeface="Comic Sans MS Regular" panose="030F0902030302020204" charset="0"/>
              <a:cs typeface="Comic Sans MS Regular" panose="030F090203030202020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55955" y="1939925"/>
            <a:ext cx="4495800" cy="416560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512570" y="61931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Cochin Regular" panose="02000603020000020003" charset="0"/>
                <a:cs typeface="Cochin Regular" panose="02000603020000020003" charset="0"/>
              </a:rPr>
              <a:t>strong positive relationship</a:t>
            </a:r>
            <a:endParaRPr lang="en-US">
              <a:latin typeface="Cochin Regular" panose="02000603020000020003" charset="0"/>
              <a:cs typeface="Cochin Regular" panose="02000603020000020003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660" y="258445"/>
            <a:ext cx="4949825" cy="432435"/>
          </a:xfrm>
        </p:spPr>
        <p:txBody>
          <a:bodyPr>
            <a:normAutofit/>
          </a:bodyPr>
          <a:p>
            <a:r>
              <a:rPr lang="en-US" sz="1780">
                <a:latin typeface="Georgia Regular" panose="02040502050405090303" charset="0"/>
                <a:cs typeface="Georgia Regular" panose="02040502050405090303" charset="0"/>
              </a:rPr>
              <a:t>Application 1: variable-reward task</a:t>
            </a:r>
            <a:endParaRPr lang="en-US" sz="1780">
              <a:latin typeface="Georgia Regular" panose="02040502050405090303" charset="0"/>
              <a:cs typeface="Georgia Regular" panose="02040502050405090303" charset="0"/>
            </a:endParaRPr>
          </a:p>
        </p:txBody>
      </p:sp>
      <p:cxnSp>
        <p:nvCxnSpPr>
          <p:cNvPr id="3" name="Elbow Connector 2"/>
          <p:cNvCxnSpPr/>
          <p:nvPr/>
        </p:nvCxnSpPr>
        <p:spPr>
          <a:xfrm>
            <a:off x="607695" y="651510"/>
            <a:ext cx="386080" cy="265430"/>
          </a:xfrm>
          <a:prstGeom prst="bentConnector3">
            <a:avLst>
              <a:gd name="adj1" fmla="val 50164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Text Box 3"/>
          <p:cNvSpPr txBox="1"/>
          <p:nvPr/>
        </p:nvSpPr>
        <p:spPr>
          <a:xfrm>
            <a:off x="934085" y="651510"/>
            <a:ext cx="4064000" cy="3651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780">
                <a:effectLst/>
                <a:latin typeface="Georgia Regular" panose="02040502050405090303" charset="0"/>
                <a:ea typeface="+mj-ea"/>
                <a:cs typeface="Georgia Regular" panose="02040502050405090303" charset="0"/>
              </a:rPr>
              <a:t>Predictions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55955" y="1278890"/>
            <a:ext cx="100025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Comic Sans MS Regular" panose="030F0902030302020204" charset="0"/>
                <a:cs typeface="Comic Sans MS Regular" panose="030F0902030302020204" charset="0"/>
              </a:rPr>
              <a:t>Prediction 3: RPEN tuning curve asymmetry flips with increasing theshold </a:t>
            </a:r>
            <a:endParaRPr lang="en-US" sz="2000">
              <a:latin typeface="Comic Sans MS Regular" panose="030F0902030302020204" charset="0"/>
              <a:cs typeface="Comic Sans MS Regular" panose="030F09020303020202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55955" y="2802890"/>
            <a:ext cx="67564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latin typeface="Cochin Regular" panose="02000603020000020003" charset="0"/>
                <a:cs typeface="Cochin Regular" panose="02000603020000020003" charset="0"/>
              </a:rPr>
              <a:t>What is the meaning of asymmetry here?</a:t>
            </a:r>
            <a:endParaRPr lang="en-US" sz="2800">
              <a:latin typeface="Cochin Regular" panose="02000603020000020003" charset="0"/>
              <a:cs typeface="Cochin Regular" panose="02000603020000020003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77875" y="3638550"/>
            <a:ext cx="4502150" cy="249618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660" y="258445"/>
            <a:ext cx="4949825" cy="432435"/>
          </a:xfrm>
        </p:spPr>
        <p:txBody>
          <a:bodyPr>
            <a:normAutofit/>
          </a:bodyPr>
          <a:p>
            <a:r>
              <a:rPr lang="en-US" sz="1780">
                <a:latin typeface="Georgia Regular" panose="02040502050405090303" charset="0"/>
                <a:cs typeface="Georgia Regular" panose="02040502050405090303" charset="0"/>
              </a:rPr>
              <a:t>Application 1: variable-reward task</a:t>
            </a:r>
            <a:endParaRPr lang="en-US" sz="1780">
              <a:latin typeface="Georgia Regular" panose="02040502050405090303" charset="0"/>
              <a:cs typeface="Georgia Regular" panose="02040502050405090303" charset="0"/>
            </a:endParaRPr>
          </a:p>
        </p:txBody>
      </p:sp>
      <p:cxnSp>
        <p:nvCxnSpPr>
          <p:cNvPr id="3" name="Elbow Connector 2"/>
          <p:cNvCxnSpPr/>
          <p:nvPr/>
        </p:nvCxnSpPr>
        <p:spPr>
          <a:xfrm>
            <a:off x="607695" y="651510"/>
            <a:ext cx="386080" cy="265430"/>
          </a:xfrm>
          <a:prstGeom prst="bentConnector3">
            <a:avLst>
              <a:gd name="adj1" fmla="val 50164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Text Box 3"/>
          <p:cNvSpPr txBox="1"/>
          <p:nvPr/>
        </p:nvSpPr>
        <p:spPr>
          <a:xfrm>
            <a:off x="934085" y="651510"/>
            <a:ext cx="4064000" cy="3651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780">
                <a:effectLst/>
                <a:latin typeface="Georgia Regular" panose="02040502050405090303" charset="0"/>
                <a:ea typeface="+mj-ea"/>
                <a:cs typeface="Georgia Regular" panose="02040502050405090303" charset="0"/>
              </a:rPr>
              <a:t>Predictions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55955" y="1278890"/>
            <a:ext cx="76009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Comic Sans MS Regular" panose="030F0902030302020204" charset="0"/>
                <a:cs typeface="Comic Sans MS Regular" panose="030F0902030302020204" charset="0"/>
              </a:rPr>
              <a:t>Prediction 4: RPEN slope decreases with theshold </a:t>
            </a:r>
            <a:endParaRPr lang="en-US" sz="2000">
              <a:latin typeface="Comic Sans MS Regular" panose="030F0902030302020204" charset="0"/>
              <a:cs typeface="Comic Sans MS Regular" panose="030F090203030202020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54660" y="1939925"/>
            <a:ext cx="4368800" cy="4381500"/>
          </a:xfrm>
          <a:prstGeom prst="rect">
            <a:avLst/>
          </a:prstGeom>
        </p:spPr>
      </p:pic>
      <p:sp>
        <p:nvSpPr>
          <p:cNvPr id="9" name="Text Box 8"/>
          <p:cNvSpPr txBox="1"/>
          <p:nvPr>
            <p:custDataLst>
              <p:tags r:id="rId3"/>
            </p:custDataLst>
          </p:nvPr>
        </p:nvSpPr>
        <p:spPr>
          <a:xfrm>
            <a:off x="3714115" y="573722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solidFill>
                  <a:srgbClr val="0070C0"/>
                </a:solidFill>
                <a:latin typeface="Cochin Regular" panose="02000603020000020003" charset="0"/>
                <a:cs typeface="Cochin Regular" panose="02000603020000020003" charset="0"/>
              </a:rPr>
              <a:t>Blue</a:t>
            </a:r>
            <a:r>
              <a:rPr lang="en-US" sz="2000">
                <a:latin typeface="Cochin Regular" panose="02000603020000020003" charset="0"/>
                <a:cs typeface="Cochin Regular" panose="02000603020000020003" charset="0"/>
              </a:rPr>
              <a:t>: </a:t>
            </a:r>
            <a:r>
              <a:rPr lang="en-US" sz="2000">
                <a:solidFill>
                  <a:srgbClr val="0070C0"/>
                </a:solidFill>
                <a:latin typeface="Cochin Regular" panose="02000603020000020003" charset="0"/>
                <a:cs typeface="Cochin Regular" panose="02000603020000020003" charset="0"/>
              </a:rPr>
              <a:t>Efficient code</a:t>
            </a:r>
            <a:endParaRPr lang="en-US" sz="2000">
              <a:solidFill>
                <a:srgbClr val="0070C0"/>
              </a:solidFill>
              <a:latin typeface="Cochin Regular" panose="02000603020000020003" charset="0"/>
              <a:cs typeface="Cochin Regular" panose="02000603020000020003" charset="0"/>
            </a:endParaRPr>
          </a:p>
          <a:p>
            <a:r>
              <a:rPr lang="en-US" sz="2000">
                <a:latin typeface="Cochin Regular" panose="02000603020000020003" charset="0"/>
                <a:cs typeface="Cochin Regular" panose="02000603020000020003" charset="0"/>
              </a:rPr>
              <a:t>Black: Measured neurons</a:t>
            </a:r>
            <a:endParaRPr lang="en-US" sz="2000">
              <a:latin typeface="Cochin Regular" panose="02000603020000020003" charset="0"/>
              <a:cs typeface="Cochin Regular" panose="02000603020000020003" charset="0"/>
            </a:endParaRPr>
          </a:p>
        </p:txBody>
      </p:sp>
      <p:sp>
        <p:nvSpPr>
          <p:cNvPr id="10" name="Text Box 9"/>
          <p:cNvSpPr txBox="1"/>
          <p:nvPr>
            <p:custDataLst>
              <p:tags r:id="rId4"/>
            </p:custDataLst>
          </p:nvPr>
        </p:nvSpPr>
        <p:spPr>
          <a:xfrm>
            <a:off x="6270625" y="5607685"/>
            <a:ext cx="5380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this empirical finding has not been reported before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901315" y="23450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Cochin Regular" panose="02000603020000020003" charset="0"/>
                <a:cs typeface="Cochin Regular" panose="02000603020000020003" charset="0"/>
              </a:rPr>
              <a:t>significant negative linear relationship</a:t>
            </a:r>
            <a:endParaRPr lang="en-US">
              <a:latin typeface="Cochin Regular" panose="02000603020000020003" charset="0"/>
              <a:cs typeface="Cochin Regular" panose="02000603020000020003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823460" y="3380740"/>
            <a:ext cx="6993890" cy="1137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response functions are </a:t>
            </a:r>
            <a:r>
              <a:rPr lang="en-US" sz="2400">
                <a:solidFill>
                  <a:schemeClr val="accent2">
                    <a:lumMod val="60000"/>
                    <a:lumOff val="40000"/>
                  </a:schemeClr>
                </a:solidFill>
                <a:latin typeface="Georgia Regular" panose="02040502050405090303" charset="0"/>
                <a:cs typeface="Georgia Regular" panose="02040502050405090303" charset="0"/>
              </a:rPr>
              <a:t>shallower</a:t>
            </a:r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 in regions with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  <a:p>
            <a:r>
              <a:rPr lang="en-US" sz="2400">
                <a:solidFill>
                  <a:schemeClr val="accent2">
                    <a:lumMod val="60000"/>
                    <a:lumOff val="40000"/>
                  </a:schemeClr>
                </a:solidFill>
                <a:latin typeface="Georgia Regular" panose="02040502050405090303" charset="0"/>
                <a:cs typeface="Georgia Regular" panose="02040502050405090303" charset="0"/>
              </a:rPr>
              <a:t>lower</a:t>
            </a:r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 reward density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(⟹cover broader reward ranges with fewer neurons)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Application 2: variable-distribution task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00735" y="14243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reward condition: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47700" y="1948180"/>
            <a:ext cx="2946400" cy="3733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610100" y="2100580"/>
            <a:ext cx="2971800" cy="358140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1078230" y="5855335"/>
            <a:ext cx="2759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‘normal’ distribution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9" name="Text Box 8"/>
          <p:cNvSpPr txBox="1"/>
          <p:nvPr>
            <p:custDataLst>
              <p:tags r:id="rId5"/>
            </p:custDataLst>
          </p:nvPr>
        </p:nvSpPr>
        <p:spPr>
          <a:xfrm>
            <a:off x="5283200" y="5855335"/>
            <a:ext cx="2759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‘uniform’ distribution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155315" y="6265545"/>
            <a:ext cx="3062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(with the same mean)</a:t>
            </a:r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3034030" y="1406525"/>
            <a:ext cx="2337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Rothenhoefer et al.</a:t>
            </a:r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660" y="258445"/>
            <a:ext cx="4949825" cy="432435"/>
          </a:xfrm>
        </p:spPr>
        <p:txBody>
          <a:bodyPr>
            <a:normAutofit/>
          </a:bodyPr>
          <a:p>
            <a:r>
              <a:rPr lang="en-US" sz="1780">
                <a:latin typeface="Georgia Regular" panose="02040502050405090303" charset="0"/>
                <a:cs typeface="Georgia Regular" panose="02040502050405090303" charset="0"/>
              </a:rPr>
              <a:t>Application 2: variable-distribution task</a:t>
            </a:r>
            <a:endParaRPr lang="en-US" sz="178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54660" y="1416685"/>
            <a:ext cx="7581900" cy="375920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54660" y="101346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example neurons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538085" y="1170305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solidFill>
                  <a:schemeClr val="accent2">
                    <a:lumMod val="60000"/>
                    <a:lumOff val="40000"/>
                  </a:schemeClr>
                </a:solidFill>
                <a:latin typeface="Cochin Regular" panose="02000603020000020003" charset="0"/>
                <a:cs typeface="Cochin Regular" panose="02000603020000020003" charset="0"/>
              </a:rPr>
              <a:t>steeper</a:t>
            </a:r>
            <a:r>
              <a:rPr lang="en-US" sz="2400">
                <a:latin typeface="Cochin Regular" panose="02000603020000020003" charset="0"/>
                <a:cs typeface="Cochin Regular" panose="02000603020000020003" charset="0"/>
              </a:rPr>
              <a:t> response functions for ‘normal’ than ‘uniform’</a:t>
            </a:r>
            <a:endParaRPr lang="en-US" sz="2400">
              <a:latin typeface="Cochin Regular" panose="02000603020000020003" charset="0"/>
              <a:cs typeface="Cochin Regular" panose="02000603020000020003" charset="0"/>
            </a:endParaRPr>
          </a:p>
        </p:txBody>
      </p:sp>
      <p:sp>
        <p:nvSpPr>
          <p:cNvPr id="12" name="Text Box 11"/>
          <p:cNvSpPr txBox="1"/>
          <p:nvPr>
            <p:custDataLst>
              <p:tags r:id="rId3"/>
            </p:custDataLst>
          </p:nvPr>
        </p:nvSpPr>
        <p:spPr>
          <a:xfrm>
            <a:off x="6777355" y="802005"/>
            <a:ext cx="4655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main finding of Rothenhoefer et al. :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658735" y="222059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(dopamine responses are amplified for rare rewards)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660" y="258445"/>
            <a:ext cx="4949825" cy="432435"/>
          </a:xfrm>
        </p:spPr>
        <p:txBody>
          <a:bodyPr>
            <a:normAutofit/>
          </a:bodyPr>
          <a:p>
            <a:r>
              <a:rPr lang="en-US" sz="1780">
                <a:latin typeface="Georgia Regular" panose="02040502050405090303" charset="0"/>
                <a:cs typeface="Georgia Regular" panose="02040502050405090303" charset="0"/>
              </a:rPr>
              <a:t>Application 2: variable-distribution task</a:t>
            </a:r>
            <a:endParaRPr lang="en-US" sz="178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54660" y="101346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all neurons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54660" y="1581785"/>
            <a:ext cx="7531100" cy="3911600"/>
          </a:xfrm>
          <a:prstGeom prst="rect">
            <a:avLst/>
          </a:prstGeom>
        </p:spPr>
      </p:pic>
      <p:sp>
        <p:nvSpPr>
          <p:cNvPr id="6" name="Text Box 5"/>
          <p:cNvSpPr txBox="1"/>
          <p:nvPr>
            <p:custDataLst>
              <p:tags r:id="rId3"/>
            </p:custDataLst>
          </p:nvPr>
        </p:nvSpPr>
        <p:spPr>
          <a:xfrm>
            <a:off x="7538085" y="1170305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solidFill>
                  <a:schemeClr val="accent2">
                    <a:lumMod val="60000"/>
                    <a:lumOff val="40000"/>
                  </a:schemeClr>
                </a:solidFill>
                <a:latin typeface="Cochin Regular" panose="02000603020000020003" charset="0"/>
                <a:cs typeface="Cochin Regular" panose="02000603020000020003" charset="0"/>
              </a:rPr>
              <a:t>steeper</a:t>
            </a:r>
            <a:r>
              <a:rPr lang="en-US" sz="2400">
                <a:latin typeface="Cochin Regular" panose="02000603020000020003" charset="0"/>
                <a:cs typeface="Cochin Regular" panose="02000603020000020003" charset="0"/>
              </a:rPr>
              <a:t> response functions for ‘normal’ than ‘uniform’</a:t>
            </a:r>
            <a:endParaRPr lang="en-US" sz="2400">
              <a:latin typeface="Cochin Regular" panose="02000603020000020003" charset="0"/>
              <a:cs typeface="Cochin Regular" panose="02000603020000020003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Overview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>
                <a:solidFill>
                  <a:schemeClr val="bg2">
                    <a:lumMod val="75000"/>
                  </a:schemeClr>
                </a:solidFill>
                <a:latin typeface="Georgia Regular" panose="02040502050405090303" charset="0"/>
                <a:cs typeface="Georgia Regular" panose="02040502050405090303" charset="0"/>
              </a:rPr>
              <a:t>1. </a:t>
            </a:r>
            <a:r>
              <a:rPr lang="en-US">
                <a:solidFill>
                  <a:schemeClr val="bg2">
                    <a:lumMod val="75000"/>
                  </a:schemeClr>
                </a:solidFill>
                <a:latin typeface="Georgia Regular" panose="02040502050405090303" charset="0"/>
                <a:cs typeface="Georgia Regular" panose="02040502050405090303" charset="0"/>
                <a:sym typeface="+mn-ea"/>
              </a:rPr>
              <a:t>Derive the efficient code</a:t>
            </a:r>
            <a:endParaRPr lang="en-US">
              <a:solidFill>
                <a:schemeClr val="bg2">
                  <a:lumMod val="75000"/>
                </a:schemeClr>
              </a:solidFill>
              <a:latin typeface="Georgia Regular" panose="02040502050405090303" charset="0"/>
              <a:cs typeface="Georgia Regular" panose="02040502050405090303" charset="0"/>
              <a:sym typeface="+mn-ea"/>
            </a:endParaRPr>
          </a:p>
          <a:p>
            <a:pPr marL="0" indent="0">
              <a:buNone/>
            </a:pPr>
            <a:endParaRPr lang="en-US">
              <a:latin typeface="Georgia Regular" panose="02040502050405090303" charset="0"/>
              <a:cs typeface="Georgia Regular" panose="02040502050405090303" charset="0"/>
              <a:sym typeface="+mn-ea"/>
            </a:endParaRPr>
          </a:p>
          <a:p>
            <a:pPr marL="0" indent="0">
              <a:buNone/>
            </a:pPr>
            <a:r>
              <a:rPr lang="en-US">
                <a:solidFill>
                  <a:schemeClr val="bg2">
                    <a:lumMod val="75000"/>
                  </a:schemeClr>
                </a:solidFill>
                <a:latin typeface="Georgia Regular" panose="02040502050405090303" charset="0"/>
                <a:cs typeface="Georgia Regular" panose="02040502050405090303" charset="0"/>
              </a:rPr>
              <a:t>2. Efficient code satisfies properties of real neurons</a:t>
            </a:r>
            <a:endParaRPr lang="en-US">
              <a:solidFill>
                <a:schemeClr val="bg2">
                  <a:lumMod val="75000"/>
                </a:schemeClr>
              </a:solidFill>
              <a:latin typeface="Georgia Regular" panose="02040502050405090303" charset="0"/>
              <a:cs typeface="Georgia Regular" panose="02040502050405090303" charset="0"/>
            </a:endParaRPr>
          </a:p>
          <a:p>
            <a:pPr marL="0" indent="0">
              <a:buNone/>
            </a:pPr>
            <a:endParaRPr lang="en-US">
              <a:solidFill>
                <a:schemeClr val="bg2">
                  <a:lumMod val="75000"/>
                </a:schemeClr>
              </a:solidFill>
              <a:latin typeface="Georgia Regular" panose="02040502050405090303" charset="0"/>
              <a:cs typeface="Georgia Regular" panose="02040502050405090303" charset="0"/>
            </a:endParaRP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  <a:latin typeface="Georgia Regular" panose="02040502050405090303" charset="0"/>
                <a:cs typeface="Georgia Regular" panose="02040502050405090303" charset="0"/>
              </a:rPr>
              <a:t>3. How do neurons learn the tuning? Distributional RL</a:t>
            </a:r>
            <a:endParaRPr lang="en-US">
              <a:solidFill>
                <a:schemeClr val="tx1"/>
              </a:solidFill>
              <a:latin typeface="Georgia Regular" panose="02040502050405090303" charset="0"/>
              <a:cs typeface="Georgia Regular" panose="02040502050405090303" charset="0"/>
            </a:endParaRPr>
          </a:p>
          <a:p>
            <a:pPr marL="0" indent="0">
              <a:buNone/>
            </a:pP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pPr marL="457200" lvl="1" indent="457200">
              <a:buNone/>
            </a:pP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pPr marL="457200" lvl="1" indent="457200">
              <a:buNone/>
            </a:pP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                           Reinforcement Learning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pic>
        <p:nvPicPr>
          <p:cNvPr id="4" name="334E55B0-647D-440b-865C-3EC943EB4CBC-1" descr="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1584325"/>
            <a:ext cx="7251065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800">
                <a:solidFill>
                  <a:schemeClr val="accent6">
                    <a:lumMod val="60000"/>
                    <a:lumOff val="40000"/>
                  </a:schemeClr>
                </a:solidFill>
                <a:latin typeface="Georgia Regular" panose="02040502050405090303" charset="0"/>
                <a:cs typeface="Georgia Regular" panose="02040502050405090303" charset="0"/>
              </a:rPr>
              <a:t>Distributional</a:t>
            </a:r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 Reinforcement Learning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pic>
        <p:nvPicPr>
          <p:cNvPr id="4" name="334E55B0-647D-440b-865C-3EC943EB4CBC-2" descr="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1426845"/>
            <a:ext cx="6362065" cy="62039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732155" y="1938020"/>
            <a:ext cx="622935" cy="83947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r>
              <a:rPr lang="en-US" sz="4800">
                <a:latin typeface="Arial" panose="020B0604020202090204" pitchFamily="34" charset="0"/>
                <a:cs typeface="Arial" panose="020B0604020202090204" pitchFamily="34" charset="0"/>
              </a:rPr>
              <a:t>↓</a:t>
            </a:r>
            <a:endParaRPr lang="en-US" sz="48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47700" y="2777490"/>
            <a:ext cx="4799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Rockwell Regular" panose="02060503020205020403" charset="0"/>
                <a:cs typeface="Rockwell Regular" panose="02060503020205020403" charset="0"/>
              </a:rPr>
              <a:t>random variable </a:t>
            </a:r>
            <a:r>
              <a:rPr lang="en-US" sz="1600">
                <a:latin typeface="Georgia Regular" panose="02040502050405090303" charset="0"/>
                <a:cs typeface="Georgia Regular" panose="02040502050405090303" charset="0"/>
              </a:rPr>
              <a:t>instead of an expected value</a:t>
            </a:r>
            <a:endParaRPr lang="en-US" sz="16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6850" y="3593465"/>
            <a:ext cx="11798300" cy="29337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800">
                <a:solidFill>
                  <a:schemeClr val="tx1"/>
                </a:solidFill>
                <a:latin typeface="Georgia Regular" panose="02040502050405090303" charset="0"/>
                <a:cs typeface="Georgia Regular" panose="02040502050405090303" charset="0"/>
              </a:rPr>
              <a:t>Distributional</a:t>
            </a:r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 Reinforcement Learning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pic>
        <p:nvPicPr>
          <p:cNvPr id="4" name="334E55B0-647D-440b-865C-3EC943EB4CBC-3" descr="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1426845"/>
            <a:ext cx="6362065" cy="6203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47700" y="2253615"/>
            <a:ext cx="8204200" cy="40894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800">
                <a:solidFill>
                  <a:schemeClr val="tx1"/>
                </a:solidFill>
                <a:latin typeface="Georgia Regular" panose="02040502050405090303" charset="0"/>
                <a:cs typeface="Georgia Regular" panose="02040502050405090303" charset="0"/>
              </a:rPr>
              <a:t>Distributional</a:t>
            </a:r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 Reinforcement Learning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788670" y="1569085"/>
            <a:ext cx="4377690" cy="568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400">
                <a:latin typeface="Comic Sans MS Regular" panose="030F0902030302020204" charset="0"/>
                <a:cs typeface="Comic Sans MS Regular" panose="030F0902030302020204" charset="0"/>
              </a:rPr>
              <a:t>The Wasserstein Metric</a:t>
            </a:r>
            <a:endParaRPr lang="en-US" sz="2400">
              <a:latin typeface="Comic Sans MS Regular" panose="030F0902030302020204" charset="0"/>
              <a:cs typeface="Comic Sans MS Regular" panose="030F09020303020202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440815" y="2281555"/>
            <a:ext cx="72758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calculate the distance between two distributions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8" name="334E55B0-647D-440b-865C-3EC943EB4CBC-4" descr="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2823845"/>
            <a:ext cx="6469380" cy="89598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800">
                <a:solidFill>
                  <a:schemeClr val="tx1"/>
                </a:solidFill>
                <a:latin typeface="Georgia Regular" panose="02040502050405090303" charset="0"/>
                <a:cs typeface="Georgia Regular" panose="02040502050405090303" charset="0"/>
              </a:rPr>
              <a:t>Distributional</a:t>
            </a:r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 Reinforcement Learning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47700" y="1457325"/>
            <a:ext cx="61518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How to implement in tasks?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800">
                <a:solidFill>
                  <a:schemeClr val="tx1"/>
                </a:solidFill>
                <a:latin typeface="Georgia Regular" panose="02040502050405090303" charset="0"/>
                <a:cs typeface="Georgia Regular" panose="02040502050405090303" charset="0"/>
              </a:rPr>
              <a:t>Distributional</a:t>
            </a:r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 Reinforcement Learning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47700" y="1457325"/>
            <a:ext cx="61518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How to implement in tasks?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47700" y="2219960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400">
                <a:sym typeface="+mn-ea"/>
              </a:rPr>
              <a:t>Approximate the distribution(continuous) with a </a:t>
            </a:r>
            <a:r>
              <a:rPr lang="en-US" sz="2400">
                <a:solidFill>
                  <a:schemeClr val="accent6"/>
                </a:solidFill>
                <a:sym typeface="+mn-ea"/>
              </a:rPr>
              <a:t>discrete</a:t>
            </a:r>
            <a:r>
              <a:rPr lang="en-US" sz="2400">
                <a:sym typeface="+mn-ea"/>
              </a:rPr>
              <a:t> set of parametrized value functions</a:t>
            </a:r>
            <a:endParaRPr lang="en-US" sz="2400">
              <a:sym typeface="+mn-ea"/>
            </a:endParaRP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47700" y="3787775"/>
            <a:ext cx="5240020" cy="238950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801485" y="5010150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solidFill>
                  <a:schemeClr val="accent2">
                    <a:lumMod val="75000"/>
                  </a:schemeClr>
                </a:solidFill>
                <a:latin typeface="Georgia Regular" panose="02040502050405090303" charset="0"/>
                <a:cs typeface="Georgia Regular" panose="02040502050405090303" charset="0"/>
              </a:rPr>
              <a:t>“highly expressive and computationally friendly”</a:t>
            </a:r>
            <a:endParaRPr lang="en-US" sz="2000">
              <a:solidFill>
                <a:schemeClr val="accent2">
                  <a:lumMod val="75000"/>
                </a:schemeClr>
              </a:solidFill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800">
                <a:solidFill>
                  <a:schemeClr val="tx1"/>
                </a:solidFill>
                <a:latin typeface="Georgia Regular" panose="02040502050405090303" charset="0"/>
                <a:cs typeface="Georgia Regular" panose="02040502050405090303" charset="0"/>
              </a:rPr>
              <a:t>Distributional</a:t>
            </a:r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 Reinforcement Learning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pic>
        <p:nvPicPr>
          <p:cNvPr id="4" name="334E55B0-647D-440b-865C-3EC943EB4CBC-5" descr="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1426845"/>
            <a:ext cx="6362065" cy="6203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47700" y="2253615"/>
            <a:ext cx="8204200" cy="40894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528050" y="49256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accent5">
                    <a:lumMod val="75000"/>
                  </a:schemeClr>
                </a:solidFill>
                <a:latin typeface="Georgia Regular" panose="02040502050405090303" charset="0"/>
                <a:cs typeface="Georgia Regular" panose="02040502050405090303" charset="0"/>
              </a:rPr>
              <a:t>projection onto the support</a:t>
            </a:r>
            <a:endParaRPr lang="en-US">
              <a:solidFill>
                <a:schemeClr val="accent5">
                  <a:lumMod val="75000"/>
                </a:schemeClr>
              </a:solidFill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800">
                <a:solidFill>
                  <a:schemeClr val="tx1"/>
                </a:solidFill>
                <a:latin typeface="Georgia Regular" panose="02040502050405090303" charset="0"/>
                <a:cs typeface="Georgia Regular" panose="02040502050405090303" charset="0"/>
              </a:rPr>
              <a:t>DRL in dopamine neurons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221740"/>
            <a:ext cx="12192000" cy="379285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800">
                <a:solidFill>
                  <a:schemeClr val="tx1"/>
                </a:solidFill>
                <a:latin typeface="Georgia Regular" panose="02040502050405090303" charset="0"/>
                <a:cs typeface="Georgia Regular" panose="02040502050405090303" charset="0"/>
              </a:rPr>
              <a:t>DRL in dopamine neurons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8480" y="1282700"/>
            <a:ext cx="5240020" cy="2389505"/>
          </a:xfrm>
          <a:prstGeom prst="rect">
            <a:avLst/>
          </a:prstGeom>
        </p:spPr>
      </p:pic>
      <p:pic>
        <p:nvPicPr>
          <p:cNvPr id="7" name="334E55B0-647D-440b-865C-3EC943EB4CBC-6" descr="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40" y="2731135"/>
            <a:ext cx="342900" cy="333375"/>
          </a:xfrm>
          <a:prstGeom prst="rect">
            <a:avLst/>
          </a:prstGeom>
        </p:spPr>
      </p:pic>
      <p:pic>
        <p:nvPicPr>
          <p:cNvPr id="8" name="334E55B0-647D-440b-865C-3EC943EB4CBC-7" descr="wpsoff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220" y="2239010"/>
            <a:ext cx="347922" cy="329184"/>
          </a:xfrm>
          <a:prstGeom prst="rect">
            <a:avLst/>
          </a:prstGeom>
        </p:spPr>
      </p:pic>
      <p:pic>
        <p:nvPicPr>
          <p:cNvPr id="9" name="334E55B0-647D-440b-865C-3EC943EB4CBC-8" descr="wpsoffic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8905" y="2004060"/>
            <a:ext cx="347472" cy="379546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655955" y="6000115"/>
            <a:ext cx="50952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Rectangles 10"/>
          <p:cNvSpPr/>
          <p:nvPr/>
        </p:nvSpPr>
        <p:spPr>
          <a:xfrm>
            <a:off x="836930" y="5408295"/>
            <a:ext cx="398145" cy="5918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Rectangles 11"/>
          <p:cNvSpPr/>
          <p:nvPr>
            <p:custDataLst>
              <p:tags r:id="rId6"/>
            </p:custDataLst>
          </p:nvPr>
        </p:nvSpPr>
        <p:spPr>
          <a:xfrm>
            <a:off x="1235075" y="4867275"/>
            <a:ext cx="398145" cy="11328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Rectangles 12"/>
          <p:cNvSpPr/>
          <p:nvPr>
            <p:custDataLst>
              <p:tags r:id="rId7"/>
            </p:custDataLst>
          </p:nvPr>
        </p:nvSpPr>
        <p:spPr>
          <a:xfrm>
            <a:off x="1639570" y="4577715"/>
            <a:ext cx="398145" cy="1422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Rectangles 13"/>
          <p:cNvSpPr/>
          <p:nvPr>
            <p:custDataLst>
              <p:tags r:id="rId8"/>
            </p:custDataLst>
          </p:nvPr>
        </p:nvSpPr>
        <p:spPr>
          <a:xfrm>
            <a:off x="2037715" y="4010660"/>
            <a:ext cx="398145" cy="19894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5" name="Rectangles 14"/>
          <p:cNvSpPr/>
          <p:nvPr>
            <p:custDataLst>
              <p:tags r:id="rId9"/>
            </p:custDataLst>
          </p:nvPr>
        </p:nvSpPr>
        <p:spPr>
          <a:xfrm>
            <a:off x="2442210" y="4239895"/>
            <a:ext cx="398145" cy="1760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Rectangles 15"/>
          <p:cNvSpPr/>
          <p:nvPr>
            <p:custDataLst>
              <p:tags r:id="rId10"/>
            </p:custDataLst>
          </p:nvPr>
        </p:nvSpPr>
        <p:spPr>
          <a:xfrm>
            <a:off x="2846705" y="4456430"/>
            <a:ext cx="398145" cy="1543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" name="Rectangles 16"/>
          <p:cNvSpPr/>
          <p:nvPr>
            <p:custDataLst>
              <p:tags r:id="rId11"/>
            </p:custDataLst>
          </p:nvPr>
        </p:nvSpPr>
        <p:spPr>
          <a:xfrm>
            <a:off x="3250565" y="4674870"/>
            <a:ext cx="398145" cy="13252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8" name="Rectangles 17"/>
          <p:cNvSpPr/>
          <p:nvPr>
            <p:custDataLst>
              <p:tags r:id="rId12"/>
            </p:custDataLst>
          </p:nvPr>
        </p:nvSpPr>
        <p:spPr>
          <a:xfrm>
            <a:off x="3655695" y="5049520"/>
            <a:ext cx="398145" cy="95059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" name="Rectangles 18"/>
          <p:cNvSpPr/>
          <p:nvPr>
            <p:custDataLst>
              <p:tags r:id="rId13"/>
            </p:custDataLst>
          </p:nvPr>
        </p:nvSpPr>
        <p:spPr>
          <a:xfrm>
            <a:off x="4060825" y="5314315"/>
            <a:ext cx="398145" cy="685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Rectangles 19"/>
          <p:cNvSpPr/>
          <p:nvPr>
            <p:custDataLst>
              <p:tags r:id="rId14"/>
            </p:custDataLst>
          </p:nvPr>
        </p:nvSpPr>
        <p:spPr>
          <a:xfrm>
            <a:off x="4458335" y="5821680"/>
            <a:ext cx="398145" cy="1784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21" name="334E55B0-647D-440b-865C-3EC943EB4CBC-9" descr="wpsoffic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53055" y="4049395"/>
            <a:ext cx="347472" cy="407039"/>
          </a:xfrm>
          <a:prstGeom prst="rect">
            <a:avLst/>
          </a:prstGeom>
        </p:spPr>
      </p:pic>
      <p:sp>
        <p:nvSpPr>
          <p:cNvPr id="22" name="Text Box 21"/>
          <p:cNvSpPr txBox="1"/>
          <p:nvPr/>
        </p:nvSpPr>
        <p:spPr>
          <a:xfrm>
            <a:off x="329565" y="14484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Comic Sans MS Regular" panose="030F0902030302020204" charset="0"/>
                <a:cs typeface="Comic Sans MS Regular" panose="030F0902030302020204" charset="0"/>
              </a:rPr>
              <a:t>State x</a:t>
            </a:r>
            <a:endParaRPr lang="en-US">
              <a:latin typeface="Comic Sans MS Regular" panose="030F0902030302020204" charset="0"/>
              <a:cs typeface="Comic Sans MS Regular" panose="030F0902030302020204" charset="0"/>
            </a:endParaRPr>
          </a:p>
        </p:txBody>
      </p:sp>
      <p:sp>
        <p:nvSpPr>
          <p:cNvPr id="23" name="Text Box 22"/>
          <p:cNvSpPr txBox="1"/>
          <p:nvPr>
            <p:custDataLst>
              <p:tags r:id="rId16"/>
            </p:custDataLst>
          </p:nvPr>
        </p:nvSpPr>
        <p:spPr>
          <a:xfrm>
            <a:off x="329565" y="37877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Comic Sans MS Regular" panose="030F0902030302020204" charset="0"/>
                <a:cs typeface="Comic Sans MS Regular" panose="030F0902030302020204" charset="0"/>
              </a:rPr>
              <a:t>State x’</a:t>
            </a:r>
            <a:endParaRPr lang="en-US">
              <a:latin typeface="Comic Sans MS Regular" panose="030F0902030302020204" charset="0"/>
              <a:cs typeface="Comic Sans MS Regular" panose="030F0902030302020204" charset="0"/>
            </a:endParaRPr>
          </a:p>
        </p:txBody>
      </p:sp>
      <p:pic>
        <p:nvPicPr>
          <p:cNvPr id="24" name="334E55B0-647D-440b-865C-3EC943EB4CBC-10" descr="wpsoffice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51195" y="1881505"/>
            <a:ext cx="4699635" cy="502285"/>
          </a:xfrm>
          <a:prstGeom prst="rect">
            <a:avLst/>
          </a:prstGeom>
        </p:spPr>
      </p:pic>
      <p:sp>
        <p:nvSpPr>
          <p:cNvPr id="25" name="Text Box 24"/>
          <p:cNvSpPr txBox="1"/>
          <p:nvPr/>
        </p:nvSpPr>
        <p:spPr>
          <a:xfrm>
            <a:off x="5666740" y="1216025"/>
            <a:ext cx="64408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For each value function      , prediction error:</a:t>
            </a:r>
            <a:r>
              <a:rPr lang="en-US"/>
              <a:t>  </a:t>
            </a:r>
            <a:endParaRPr lang="en-US"/>
          </a:p>
        </p:txBody>
      </p:sp>
      <p:pic>
        <p:nvPicPr>
          <p:cNvPr id="26" name="334E55B0-647D-440b-865C-3EC943EB4CBC-11" descr="wpsoffice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980170" y="1216025"/>
            <a:ext cx="347472" cy="379546"/>
          </a:xfrm>
          <a:prstGeom prst="rect">
            <a:avLst/>
          </a:prstGeom>
        </p:spPr>
      </p:pic>
      <p:sp>
        <p:nvSpPr>
          <p:cNvPr id="27" name="Text Box 26"/>
          <p:cNvSpPr txBox="1"/>
          <p:nvPr/>
        </p:nvSpPr>
        <p:spPr>
          <a:xfrm>
            <a:off x="5778500" y="266954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Asymmetry update rule: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28" name="334E55B0-647D-440b-865C-3EC943EB4CBC-12" descr="wpsoffic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78500" y="3429000"/>
            <a:ext cx="5715000" cy="452120"/>
          </a:xfrm>
          <a:prstGeom prst="rect">
            <a:avLst/>
          </a:prstGeom>
        </p:spPr>
      </p:pic>
      <p:pic>
        <p:nvPicPr>
          <p:cNvPr id="29" name="334E55B0-647D-440b-865C-3EC943EB4CBC-13" descr="wpsoffice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78500" y="4168140"/>
            <a:ext cx="5715000" cy="409234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800">
                <a:solidFill>
                  <a:schemeClr val="tx1"/>
                </a:solidFill>
                <a:latin typeface="Georgia Regular" panose="02040502050405090303" charset="0"/>
                <a:cs typeface="Georgia Regular" panose="02040502050405090303" charset="0"/>
              </a:rPr>
              <a:t>DRL in dopamine neurons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pic>
        <p:nvPicPr>
          <p:cNvPr id="4" name="334E55B0-647D-440b-865C-3EC943EB4CBC-50" descr="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145" y="1315720"/>
            <a:ext cx="7054850" cy="509905"/>
          </a:xfrm>
          <a:prstGeom prst="rect">
            <a:avLst/>
          </a:prstGeom>
        </p:spPr>
      </p:pic>
      <p:pic>
        <p:nvPicPr>
          <p:cNvPr id="5" name="334E55B0-647D-440b-865C-3EC943EB4CBC-51" descr="wpsoff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011680"/>
            <a:ext cx="7059168" cy="461052"/>
          </a:xfrm>
          <a:prstGeom prst="rect">
            <a:avLst/>
          </a:prstGeom>
        </p:spPr>
      </p:pic>
      <p:sp>
        <p:nvSpPr>
          <p:cNvPr id="30" name="Text Box 29"/>
          <p:cNvSpPr txBox="1"/>
          <p:nvPr/>
        </p:nvSpPr>
        <p:spPr>
          <a:xfrm>
            <a:off x="704215" y="2772410"/>
            <a:ext cx="6922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Cochin Regular" panose="02000603020000020003" charset="0"/>
                <a:cs typeface="Cochin Regular" panose="02000603020000020003" charset="0"/>
              </a:rPr>
              <a:t>where f is a function that transforms the prediction error</a:t>
            </a:r>
            <a:endParaRPr lang="en-US">
              <a:latin typeface="Cochin Regular" panose="02000603020000020003" charset="0"/>
              <a:cs typeface="Cochin Regular" panose="02000603020000020003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800">
                <a:solidFill>
                  <a:schemeClr val="tx1"/>
                </a:solidFill>
                <a:latin typeface="Georgia Regular" panose="02040502050405090303" charset="0"/>
                <a:cs typeface="Georgia Regular" panose="02040502050405090303" charset="0"/>
              </a:rPr>
              <a:t>DRL in dopamine neurons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pic>
        <p:nvPicPr>
          <p:cNvPr id="4" name="334E55B0-647D-440b-865C-3EC943EB4CBC-52" descr="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145" y="1315720"/>
            <a:ext cx="7054850" cy="509905"/>
          </a:xfrm>
          <a:prstGeom prst="rect">
            <a:avLst/>
          </a:prstGeom>
        </p:spPr>
      </p:pic>
      <p:pic>
        <p:nvPicPr>
          <p:cNvPr id="5" name="334E55B0-647D-440b-865C-3EC943EB4CBC-53" descr="wpsoff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011680"/>
            <a:ext cx="7059168" cy="461052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583690" y="297116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take</a:t>
            </a:r>
            <a:r>
              <a:rPr lang="en-US"/>
              <a:t> 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8"/>
              <p:cNvSpPr txBox="1"/>
              <p:nvPr/>
            </p:nvSpPr>
            <p:spPr>
              <a:xfrm>
                <a:off x="2280222" y="2999041"/>
                <a:ext cx="1917065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𝑓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𝑥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)=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𝑠𝑖𝑔𝑛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𝑥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9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0222" y="2999041"/>
                <a:ext cx="1917065" cy="370840"/>
              </a:xfrm>
              <a:prstGeom prst="rect">
                <a:avLst/>
              </a:prstGeom>
              <a:blipFill rotWithShape="1">
                <a:blip r:embed="rId3"/>
                <a:stretch>
                  <a:fillRect l="-30" t="-154" r="30" b="15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334E55B0-647D-440b-865C-3EC943EB4CBC-54" descr="wpsoff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635" y="2962275"/>
            <a:ext cx="2170430" cy="37465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800">
                <a:solidFill>
                  <a:schemeClr val="tx1"/>
                </a:solidFill>
                <a:latin typeface="Georgia Regular" panose="02040502050405090303" charset="0"/>
                <a:cs typeface="Georgia Regular" panose="02040502050405090303" charset="0"/>
              </a:rPr>
              <a:t>DRL in dopamine neurons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pic>
        <p:nvPicPr>
          <p:cNvPr id="10" name="334E55B0-647D-440b-865C-3EC943EB4CBC-55" descr="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1362710"/>
            <a:ext cx="6304280" cy="489585"/>
          </a:xfrm>
          <a:prstGeom prst="rect">
            <a:avLst/>
          </a:prstGeom>
        </p:spPr>
      </p:pic>
      <p:pic>
        <p:nvPicPr>
          <p:cNvPr id="13" name="334E55B0-647D-440b-865C-3EC943EB4CBC-57" descr="wpsoff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" y="2064385"/>
            <a:ext cx="6300216" cy="48916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800">
                <a:solidFill>
                  <a:schemeClr val="tx1"/>
                </a:solidFill>
                <a:latin typeface="Georgia Regular" panose="02040502050405090303" charset="0"/>
                <a:cs typeface="Georgia Regular" panose="02040502050405090303" charset="0"/>
              </a:rPr>
              <a:t>DRL in dopamine neurons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pic>
        <p:nvPicPr>
          <p:cNvPr id="10" name="334E55B0-647D-440b-865C-3EC943EB4CBC-56" descr="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1362710"/>
            <a:ext cx="6304280" cy="489585"/>
          </a:xfrm>
          <a:prstGeom prst="rect">
            <a:avLst/>
          </a:prstGeom>
        </p:spPr>
      </p:pic>
      <p:cxnSp>
        <p:nvCxnSpPr>
          <p:cNvPr id="4" name="Straight Connector 3"/>
          <p:cNvCxnSpPr/>
          <p:nvPr>
            <p:custDataLst>
              <p:tags r:id="rId2"/>
            </p:custDataLst>
          </p:nvPr>
        </p:nvCxnSpPr>
        <p:spPr>
          <a:xfrm>
            <a:off x="655955" y="6000115"/>
            <a:ext cx="50952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Rectangles 4"/>
          <p:cNvSpPr/>
          <p:nvPr>
            <p:custDataLst>
              <p:tags r:id="rId3"/>
            </p:custDataLst>
          </p:nvPr>
        </p:nvSpPr>
        <p:spPr>
          <a:xfrm>
            <a:off x="836930" y="5408295"/>
            <a:ext cx="398145" cy="5918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Rectangles 11"/>
          <p:cNvSpPr/>
          <p:nvPr>
            <p:custDataLst>
              <p:tags r:id="rId4"/>
            </p:custDataLst>
          </p:nvPr>
        </p:nvSpPr>
        <p:spPr>
          <a:xfrm>
            <a:off x="1235075" y="4867275"/>
            <a:ext cx="398145" cy="11328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Rectangles 12"/>
          <p:cNvSpPr/>
          <p:nvPr>
            <p:custDataLst>
              <p:tags r:id="rId5"/>
            </p:custDataLst>
          </p:nvPr>
        </p:nvSpPr>
        <p:spPr>
          <a:xfrm>
            <a:off x="1639570" y="4577715"/>
            <a:ext cx="398145" cy="1422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Rectangles 13"/>
          <p:cNvSpPr/>
          <p:nvPr>
            <p:custDataLst>
              <p:tags r:id="rId6"/>
            </p:custDataLst>
          </p:nvPr>
        </p:nvSpPr>
        <p:spPr>
          <a:xfrm>
            <a:off x="2037715" y="4010660"/>
            <a:ext cx="398145" cy="19894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5" name="Rectangles 14"/>
          <p:cNvSpPr/>
          <p:nvPr>
            <p:custDataLst>
              <p:tags r:id="rId7"/>
            </p:custDataLst>
          </p:nvPr>
        </p:nvSpPr>
        <p:spPr>
          <a:xfrm>
            <a:off x="2442210" y="4239895"/>
            <a:ext cx="398145" cy="1760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Rectangles 15"/>
          <p:cNvSpPr/>
          <p:nvPr>
            <p:custDataLst>
              <p:tags r:id="rId8"/>
            </p:custDataLst>
          </p:nvPr>
        </p:nvSpPr>
        <p:spPr>
          <a:xfrm>
            <a:off x="2846705" y="4456430"/>
            <a:ext cx="398145" cy="1543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" name="Rectangles 16"/>
          <p:cNvSpPr/>
          <p:nvPr>
            <p:custDataLst>
              <p:tags r:id="rId9"/>
            </p:custDataLst>
          </p:nvPr>
        </p:nvSpPr>
        <p:spPr>
          <a:xfrm>
            <a:off x="3250565" y="4674870"/>
            <a:ext cx="398145" cy="13252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8" name="Rectangles 17"/>
          <p:cNvSpPr/>
          <p:nvPr>
            <p:custDataLst>
              <p:tags r:id="rId10"/>
            </p:custDataLst>
          </p:nvPr>
        </p:nvSpPr>
        <p:spPr>
          <a:xfrm>
            <a:off x="3655695" y="5049520"/>
            <a:ext cx="398145" cy="95059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" name="Rectangles 18"/>
          <p:cNvSpPr/>
          <p:nvPr>
            <p:custDataLst>
              <p:tags r:id="rId11"/>
            </p:custDataLst>
          </p:nvPr>
        </p:nvSpPr>
        <p:spPr>
          <a:xfrm>
            <a:off x="4060825" y="5314315"/>
            <a:ext cx="398145" cy="685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Rectangles 19"/>
          <p:cNvSpPr/>
          <p:nvPr>
            <p:custDataLst>
              <p:tags r:id="rId12"/>
            </p:custDataLst>
          </p:nvPr>
        </p:nvSpPr>
        <p:spPr>
          <a:xfrm>
            <a:off x="4458335" y="5821680"/>
            <a:ext cx="398145" cy="1784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3514725" y="3639185"/>
            <a:ext cx="0" cy="2710815"/>
          </a:xfrm>
          <a:prstGeom prst="line">
            <a:avLst/>
          </a:prstGeom>
          <a:ln w="31750" cap="rnd">
            <a:gradFill>
              <a:gsLst>
                <a:gs pos="0">
                  <a:srgbClr val="7B32B2"/>
                </a:gs>
                <a:gs pos="100000">
                  <a:srgbClr val="401A5D"/>
                </a:gs>
              </a:gsLst>
            </a:gra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Text Box 22"/>
          <p:cNvSpPr txBox="1"/>
          <p:nvPr>
            <p:custDataLst>
              <p:tags r:id="rId13"/>
            </p:custDataLst>
          </p:nvPr>
        </p:nvSpPr>
        <p:spPr>
          <a:xfrm>
            <a:off x="329565" y="37877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Comic Sans MS Regular" panose="030F0902030302020204" charset="0"/>
                <a:cs typeface="Comic Sans MS Regular" panose="030F0902030302020204" charset="0"/>
              </a:rPr>
              <a:t>State x’</a:t>
            </a:r>
            <a:endParaRPr lang="en-US">
              <a:latin typeface="Comic Sans MS Regular" panose="030F0902030302020204" charset="0"/>
              <a:cs typeface="Comic Sans MS Regular" panose="030F09020303020202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514725" y="363918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Cochin Regular" panose="02000603020000020003" charset="0"/>
                <a:cs typeface="Cochin Regular" panose="02000603020000020003" charset="0"/>
              </a:rPr>
              <a:t>upper quartile of the distribution</a:t>
            </a:r>
            <a:endParaRPr lang="en-US" sz="2000">
              <a:latin typeface="Cochin Regular" panose="02000603020000020003" charset="0"/>
              <a:cs typeface="Cochin Regular" panose="02000603020000020003" charset="0"/>
            </a:endParaRPr>
          </a:p>
        </p:txBody>
      </p:sp>
      <p:pic>
        <p:nvPicPr>
          <p:cNvPr id="8" name="334E55B0-647D-440b-865C-3EC943EB4CBC-58" descr="wpsoffice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651510" y="2064385"/>
            <a:ext cx="6300216" cy="48916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800">
                <a:solidFill>
                  <a:schemeClr val="tx1"/>
                </a:solidFill>
                <a:latin typeface="Georgia Regular" panose="02040502050405090303" charset="0"/>
                <a:cs typeface="Georgia Regular" panose="02040502050405090303" charset="0"/>
              </a:rPr>
              <a:t>DRL in dopamine neurons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cxnSp>
        <p:nvCxnSpPr>
          <p:cNvPr id="4" name="Straight Connector 3"/>
          <p:cNvCxnSpPr/>
          <p:nvPr>
            <p:custDataLst>
              <p:tags r:id="rId1"/>
            </p:custDataLst>
          </p:nvPr>
        </p:nvCxnSpPr>
        <p:spPr>
          <a:xfrm>
            <a:off x="655955" y="6000115"/>
            <a:ext cx="50952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Rectangles 4"/>
          <p:cNvSpPr/>
          <p:nvPr>
            <p:custDataLst>
              <p:tags r:id="rId2"/>
            </p:custDataLst>
          </p:nvPr>
        </p:nvSpPr>
        <p:spPr>
          <a:xfrm>
            <a:off x="836930" y="5408295"/>
            <a:ext cx="398145" cy="5918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Rectangles 11"/>
          <p:cNvSpPr/>
          <p:nvPr>
            <p:custDataLst>
              <p:tags r:id="rId3"/>
            </p:custDataLst>
          </p:nvPr>
        </p:nvSpPr>
        <p:spPr>
          <a:xfrm>
            <a:off x="1235075" y="4867275"/>
            <a:ext cx="398145" cy="11328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Rectangles 12"/>
          <p:cNvSpPr/>
          <p:nvPr>
            <p:custDataLst>
              <p:tags r:id="rId4"/>
            </p:custDataLst>
          </p:nvPr>
        </p:nvSpPr>
        <p:spPr>
          <a:xfrm>
            <a:off x="1639570" y="4577715"/>
            <a:ext cx="398145" cy="1422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Rectangles 13"/>
          <p:cNvSpPr/>
          <p:nvPr>
            <p:custDataLst>
              <p:tags r:id="rId5"/>
            </p:custDataLst>
          </p:nvPr>
        </p:nvSpPr>
        <p:spPr>
          <a:xfrm>
            <a:off x="2037715" y="4010660"/>
            <a:ext cx="398145" cy="19894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5" name="Rectangles 14"/>
          <p:cNvSpPr/>
          <p:nvPr>
            <p:custDataLst>
              <p:tags r:id="rId6"/>
            </p:custDataLst>
          </p:nvPr>
        </p:nvSpPr>
        <p:spPr>
          <a:xfrm>
            <a:off x="2442210" y="4239895"/>
            <a:ext cx="398145" cy="1760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Rectangles 15"/>
          <p:cNvSpPr/>
          <p:nvPr>
            <p:custDataLst>
              <p:tags r:id="rId7"/>
            </p:custDataLst>
          </p:nvPr>
        </p:nvSpPr>
        <p:spPr>
          <a:xfrm>
            <a:off x="2846705" y="4456430"/>
            <a:ext cx="398145" cy="1543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" name="Rectangles 16"/>
          <p:cNvSpPr/>
          <p:nvPr>
            <p:custDataLst>
              <p:tags r:id="rId8"/>
            </p:custDataLst>
          </p:nvPr>
        </p:nvSpPr>
        <p:spPr>
          <a:xfrm>
            <a:off x="3250565" y="4674870"/>
            <a:ext cx="398145" cy="13252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8" name="Rectangles 17"/>
          <p:cNvSpPr/>
          <p:nvPr>
            <p:custDataLst>
              <p:tags r:id="rId9"/>
            </p:custDataLst>
          </p:nvPr>
        </p:nvSpPr>
        <p:spPr>
          <a:xfrm>
            <a:off x="3655695" y="5049520"/>
            <a:ext cx="398145" cy="95059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" name="Rectangles 18"/>
          <p:cNvSpPr/>
          <p:nvPr>
            <p:custDataLst>
              <p:tags r:id="rId10"/>
            </p:custDataLst>
          </p:nvPr>
        </p:nvSpPr>
        <p:spPr>
          <a:xfrm>
            <a:off x="4060825" y="5314315"/>
            <a:ext cx="398145" cy="685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Rectangles 19"/>
          <p:cNvSpPr/>
          <p:nvPr>
            <p:custDataLst>
              <p:tags r:id="rId11"/>
            </p:custDataLst>
          </p:nvPr>
        </p:nvSpPr>
        <p:spPr>
          <a:xfrm>
            <a:off x="4458335" y="5821680"/>
            <a:ext cx="398145" cy="1784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3156585" y="3639185"/>
            <a:ext cx="0" cy="2710815"/>
          </a:xfrm>
          <a:prstGeom prst="line">
            <a:avLst/>
          </a:prstGeom>
          <a:ln w="31750" cap="rnd">
            <a:gradFill>
              <a:gsLst>
                <a:gs pos="0">
                  <a:srgbClr val="7B32B2"/>
                </a:gs>
                <a:gs pos="100000">
                  <a:srgbClr val="401A5D"/>
                </a:gs>
              </a:gsLst>
            </a:gra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Text Box 22"/>
          <p:cNvSpPr txBox="1"/>
          <p:nvPr>
            <p:custDataLst>
              <p:tags r:id="rId12"/>
            </p:custDataLst>
          </p:nvPr>
        </p:nvSpPr>
        <p:spPr>
          <a:xfrm>
            <a:off x="329565" y="33356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Comic Sans MS Regular" panose="030F0902030302020204" charset="0"/>
                <a:cs typeface="Comic Sans MS Regular" panose="030F0902030302020204" charset="0"/>
              </a:rPr>
              <a:t>State x’</a:t>
            </a:r>
            <a:endParaRPr lang="en-US">
              <a:latin typeface="Comic Sans MS Regular" panose="030F0902030302020204" charset="0"/>
              <a:cs typeface="Comic Sans MS Regular" panose="030F090203030202020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474460" y="3948430"/>
            <a:ext cx="5240020" cy="2389505"/>
          </a:xfrm>
          <a:prstGeom prst="rect">
            <a:avLst/>
          </a:prstGeom>
        </p:spPr>
      </p:pic>
      <p:cxnSp>
        <p:nvCxnSpPr>
          <p:cNvPr id="21" name="Straight Connector 20"/>
          <p:cNvCxnSpPr/>
          <p:nvPr>
            <p:custDataLst>
              <p:tags r:id="rId15"/>
            </p:custDataLst>
          </p:nvPr>
        </p:nvCxnSpPr>
        <p:spPr>
          <a:xfrm>
            <a:off x="4155440" y="3639185"/>
            <a:ext cx="0" cy="2710815"/>
          </a:xfrm>
          <a:prstGeom prst="line">
            <a:avLst/>
          </a:prstGeom>
          <a:ln w="31750" cap="rnd">
            <a:gradFill>
              <a:gsLst>
                <a:gs pos="0">
                  <a:srgbClr val="7B32B2"/>
                </a:gs>
                <a:gs pos="100000">
                  <a:srgbClr val="401A5D"/>
                </a:gs>
              </a:gsLst>
            </a:gra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>
            <p:custDataLst>
              <p:tags r:id="rId16"/>
            </p:custDataLst>
          </p:nvPr>
        </p:nvCxnSpPr>
        <p:spPr>
          <a:xfrm>
            <a:off x="3840480" y="3627120"/>
            <a:ext cx="0" cy="2710815"/>
          </a:xfrm>
          <a:prstGeom prst="line">
            <a:avLst/>
          </a:prstGeom>
          <a:ln w="31750" cap="rnd">
            <a:gradFill>
              <a:gsLst>
                <a:gs pos="0">
                  <a:srgbClr val="7B32B2"/>
                </a:gs>
                <a:gs pos="100000">
                  <a:srgbClr val="401A5D"/>
                </a:gs>
              </a:gsLst>
            </a:gra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>
            <p:custDataLst>
              <p:tags r:id="rId17"/>
            </p:custDataLst>
          </p:nvPr>
        </p:nvCxnSpPr>
        <p:spPr>
          <a:xfrm>
            <a:off x="3524250" y="3639185"/>
            <a:ext cx="0" cy="2710815"/>
          </a:xfrm>
          <a:prstGeom prst="line">
            <a:avLst/>
          </a:prstGeom>
          <a:ln w="31750" cap="rnd">
            <a:gradFill>
              <a:gsLst>
                <a:gs pos="0">
                  <a:srgbClr val="7B32B2"/>
                </a:gs>
                <a:gs pos="100000">
                  <a:srgbClr val="401A5D"/>
                </a:gs>
              </a:gsLst>
            </a:gra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>
            <p:custDataLst>
              <p:tags r:id="rId18"/>
            </p:custDataLst>
          </p:nvPr>
        </p:nvCxnSpPr>
        <p:spPr>
          <a:xfrm>
            <a:off x="2789555" y="3639185"/>
            <a:ext cx="0" cy="2710815"/>
          </a:xfrm>
          <a:prstGeom prst="line">
            <a:avLst/>
          </a:prstGeom>
          <a:ln w="31750" cap="rnd">
            <a:gradFill>
              <a:gsLst>
                <a:gs pos="0">
                  <a:srgbClr val="7B32B2"/>
                </a:gs>
                <a:gs pos="100000">
                  <a:srgbClr val="401A5D"/>
                </a:gs>
              </a:gsLst>
            </a:gra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>
            <p:custDataLst>
              <p:tags r:id="rId19"/>
            </p:custDataLst>
          </p:nvPr>
        </p:nvCxnSpPr>
        <p:spPr>
          <a:xfrm>
            <a:off x="1120775" y="3669665"/>
            <a:ext cx="0" cy="2710815"/>
          </a:xfrm>
          <a:prstGeom prst="line">
            <a:avLst/>
          </a:prstGeom>
          <a:ln w="31750" cap="rnd">
            <a:gradFill>
              <a:gsLst>
                <a:gs pos="0">
                  <a:srgbClr val="7B32B2"/>
                </a:gs>
                <a:gs pos="100000">
                  <a:srgbClr val="401A5D"/>
                </a:gs>
              </a:gsLst>
            </a:gra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>
            <p:custDataLst>
              <p:tags r:id="rId20"/>
            </p:custDataLst>
          </p:nvPr>
        </p:nvCxnSpPr>
        <p:spPr>
          <a:xfrm>
            <a:off x="1442085" y="3679190"/>
            <a:ext cx="0" cy="2710815"/>
          </a:xfrm>
          <a:prstGeom prst="line">
            <a:avLst/>
          </a:prstGeom>
          <a:ln w="31750" cap="rnd">
            <a:gradFill>
              <a:gsLst>
                <a:gs pos="0">
                  <a:srgbClr val="7B32B2"/>
                </a:gs>
                <a:gs pos="100000">
                  <a:srgbClr val="401A5D"/>
                </a:gs>
              </a:gsLst>
            </a:gra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>
            <p:custDataLst>
              <p:tags r:id="rId21"/>
            </p:custDataLst>
          </p:nvPr>
        </p:nvCxnSpPr>
        <p:spPr>
          <a:xfrm>
            <a:off x="1781810" y="3679190"/>
            <a:ext cx="0" cy="2710815"/>
          </a:xfrm>
          <a:prstGeom prst="line">
            <a:avLst/>
          </a:prstGeom>
          <a:ln w="31750" cap="rnd">
            <a:gradFill>
              <a:gsLst>
                <a:gs pos="0">
                  <a:srgbClr val="7B32B2"/>
                </a:gs>
                <a:gs pos="100000">
                  <a:srgbClr val="401A5D"/>
                </a:gs>
              </a:gsLst>
            </a:gra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>
            <p:custDataLst>
              <p:tags r:id="rId22"/>
            </p:custDataLst>
          </p:nvPr>
        </p:nvCxnSpPr>
        <p:spPr>
          <a:xfrm>
            <a:off x="2112010" y="3679190"/>
            <a:ext cx="0" cy="2710815"/>
          </a:xfrm>
          <a:prstGeom prst="line">
            <a:avLst/>
          </a:prstGeom>
          <a:ln w="31750" cap="rnd">
            <a:gradFill>
              <a:gsLst>
                <a:gs pos="0">
                  <a:srgbClr val="7B32B2"/>
                </a:gs>
                <a:gs pos="100000">
                  <a:srgbClr val="401A5D"/>
                </a:gs>
              </a:gsLst>
            </a:gra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>
            <p:custDataLst>
              <p:tags r:id="rId23"/>
            </p:custDataLst>
          </p:nvPr>
        </p:nvCxnSpPr>
        <p:spPr>
          <a:xfrm>
            <a:off x="2422525" y="3679190"/>
            <a:ext cx="0" cy="2710815"/>
          </a:xfrm>
          <a:prstGeom prst="line">
            <a:avLst/>
          </a:prstGeom>
          <a:ln w="31750" cap="rnd">
            <a:gradFill>
              <a:gsLst>
                <a:gs pos="0">
                  <a:srgbClr val="7B32B2"/>
                </a:gs>
                <a:gs pos="100000">
                  <a:srgbClr val="401A5D"/>
                </a:gs>
              </a:gsLst>
            </a:gra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Right Arrow 30"/>
          <p:cNvSpPr/>
          <p:nvPr/>
        </p:nvSpPr>
        <p:spPr>
          <a:xfrm>
            <a:off x="4777105" y="4728210"/>
            <a:ext cx="1980565" cy="384175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32" name="334E55B0-647D-440b-865C-3EC943EB4CBC-59" descr="wpsoffice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7700" y="1374775"/>
            <a:ext cx="6300216" cy="526701"/>
          </a:xfrm>
          <a:prstGeom prst="rect">
            <a:avLst/>
          </a:prstGeom>
        </p:spPr>
      </p:pic>
      <p:pic>
        <p:nvPicPr>
          <p:cNvPr id="33" name="334E55B0-647D-440b-865C-3EC943EB4CBC-60" descr="wpsoffice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7700" y="2028190"/>
            <a:ext cx="6300216" cy="476533"/>
          </a:xfrm>
          <a:prstGeom prst="rect">
            <a:avLst/>
          </a:prstGeom>
        </p:spPr>
      </p:pic>
      <p:pic>
        <p:nvPicPr>
          <p:cNvPr id="34" name="334E55B0-647D-440b-865C-3EC943EB4CBC-61" descr="wpsoffice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820025" y="1419860"/>
            <a:ext cx="2549525" cy="108458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660" y="258445"/>
            <a:ext cx="4949825" cy="432435"/>
          </a:xfrm>
        </p:spPr>
        <p:txBody>
          <a:bodyPr>
            <a:normAutofit/>
          </a:bodyPr>
          <a:p>
            <a:r>
              <a:rPr lang="en-US" sz="1780">
                <a:latin typeface="Georgia Regular" panose="02040502050405090303" charset="0"/>
                <a:cs typeface="Georgia Regular" panose="02040502050405090303" charset="0"/>
              </a:rPr>
              <a:t>Application 1: variable-reward task</a:t>
            </a:r>
            <a:endParaRPr lang="en-US" sz="1780">
              <a:latin typeface="Georgia Regular" panose="02040502050405090303" charset="0"/>
              <a:cs typeface="Georgia Regular" panose="02040502050405090303" charset="0"/>
            </a:endParaRPr>
          </a:p>
        </p:txBody>
      </p:sp>
      <p:cxnSp>
        <p:nvCxnSpPr>
          <p:cNvPr id="3" name="Elbow Connector 2"/>
          <p:cNvCxnSpPr/>
          <p:nvPr/>
        </p:nvCxnSpPr>
        <p:spPr>
          <a:xfrm>
            <a:off x="607695" y="651510"/>
            <a:ext cx="386080" cy="265430"/>
          </a:xfrm>
          <a:prstGeom prst="bentConnector3">
            <a:avLst>
              <a:gd name="adj1" fmla="val 50164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Text Box 3"/>
          <p:cNvSpPr txBox="1"/>
          <p:nvPr/>
        </p:nvSpPr>
        <p:spPr>
          <a:xfrm>
            <a:off x="934085" y="651510"/>
            <a:ext cx="4064000" cy="3651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780">
                <a:effectLst/>
                <a:latin typeface="Georgia Regular" panose="02040502050405090303" charset="0"/>
                <a:ea typeface="+mj-ea"/>
                <a:cs typeface="Georgia Regular" panose="02040502050405090303" charset="0"/>
              </a:rPr>
              <a:t>Predictions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55955" y="1278890"/>
            <a:ext cx="100025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Comic Sans MS Regular" panose="030F0902030302020204" charset="0"/>
                <a:cs typeface="Comic Sans MS Regular" panose="030F0902030302020204" charset="0"/>
              </a:rPr>
              <a:t>Prediction 3: RPEN tuning curve asymmetry flips with increasing theshold </a:t>
            </a:r>
            <a:endParaRPr lang="en-US" sz="2000">
              <a:latin typeface="Comic Sans MS Regular" panose="030F0902030302020204" charset="0"/>
              <a:cs typeface="Comic Sans MS Regular" panose="030F09020303020202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55955" y="2802890"/>
            <a:ext cx="67564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latin typeface="Cochin Regular" panose="02000603020000020003" charset="0"/>
                <a:cs typeface="Cochin Regular" panose="02000603020000020003" charset="0"/>
              </a:rPr>
              <a:t>What is the meaning of asymmetry here?</a:t>
            </a:r>
            <a:endParaRPr lang="en-US" sz="2800">
              <a:latin typeface="Cochin Regular" panose="02000603020000020003" charset="0"/>
              <a:cs typeface="Cochin Regular" panose="02000603020000020003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77875" y="3638550"/>
            <a:ext cx="4502150" cy="249618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Learning rules for the efficient code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91210" y="1621155"/>
            <a:ext cx="530479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"/>
            </a:pPr>
            <a:r>
              <a:rPr lang="en-US" sz="3600">
                <a:latin typeface="Cochin Regular" panose="02000603020000020003" charset="0"/>
                <a:cs typeface="Cochin Regular" panose="02000603020000020003" charset="0"/>
              </a:rPr>
              <a:t> Quantile learning</a:t>
            </a:r>
            <a:endParaRPr lang="en-US" sz="3600">
              <a:latin typeface="Cochin Regular" panose="02000603020000020003" charset="0"/>
              <a:cs typeface="Cochin Regular" panose="02000603020000020003" charset="0"/>
            </a:endParaRPr>
          </a:p>
          <a:p>
            <a:pPr marL="285750" indent="-285750">
              <a:buFont typeface="Wingdings" panose="05000000000000000000" charset="0"/>
              <a:buChar char=""/>
            </a:pPr>
            <a:endParaRPr lang="en-US" sz="3600">
              <a:latin typeface="Cochin Regular" panose="02000603020000020003" charset="0"/>
              <a:cs typeface="Cochin Regular" panose="02000603020000020003" charset="0"/>
            </a:endParaRPr>
          </a:p>
          <a:p>
            <a:pPr marL="285750" indent="-285750">
              <a:buFont typeface="Wingdings" panose="05000000000000000000" charset="0"/>
              <a:buChar char=""/>
            </a:pPr>
            <a:r>
              <a:rPr lang="en-US" sz="3600">
                <a:latin typeface="Cochin Regular" panose="02000603020000020003" charset="0"/>
                <a:cs typeface="Cochin Regular" panose="02000603020000020003" charset="0"/>
              </a:rPr>
              <a:t> Slope learning</a:t>
            </a:r>
            <a:endParaRPr lang="en-US" sz="3600">
              <a:latin typeface="Cochin Regular" panose="02000603020000020003" charset="0"/>
              <a:cs typeface="Cochin Regular" panose="02000603020000020003" charset="0"/>
            </a:endParaRPr>
          </a:p>
          <a:p>
            <a:pPr marL="285750" indent="-285750">
              <a:buFont typeface="Wingdings" panose="05000000000000000000" charset="0"/>
              <a:buChar char=""/>
            </a:pPr>
            <a:endParaRPr lang="en-US" sz="3600">
              <a:latin typeface="Cochin Regular" panose="02000603020000020003" charset="0"/>
              <a:cs typeface="Cochin Regular" panose="02000603020000020003" charset="0"/>
            </a:endParaRPr>
          </a:p>
          <a:p>
            <a:pPr marL="285750" indent="-285750">
              <a:buFont typeface="Wingdings" panose="05000000000000000000" charset="0"/>
              <a:buChar char=""/>
            </a:pPr>
            <a:r>
              <a:rPr lang="en-US" sz="3600">
                <a:latin typeface="Cochin Regular" panose="02000603020000020003" charset="0"/>
                <a:cs typeface="Cochin Regular" panose="02000603020000020003" charset="0"/>
              </a:rPr>
              <a:t> Gain</a:t>
            </a:r>
            <a:endParaRPr lang="en-US" sz="3600">
              <a:latin typeface="Cochin Regular" panose="02000603020000020003" charset="0"/>
              <a:cs typeface="Cochin Regular" panose="02000603020000020003" charset="0"/>
            </a:endParaRPr>
          </a:p>
          <a:p>
            <a:pPr marL="285750" indent="-285750">
              <a:buFont typeface="Wingdings" panose="05000000000000000000" charset="0"/>
              <a:buChar char=""/>
            </a:pPr>
            <a:endParaRPr lang="en-US" sz="3600">
              <a:latin typeface="Cochin Regular" panose="02000603020000020003" charset="0"/>
              <a:cs typeface="Cochin Regular" panose="02000603020000020003" charset="0"/>
            </a:endParaRPr>
          </a:p>
          <a:p>
            <a:pPr marL="285750" indent="-285750">
              <a:buFont typeface="Wingdings" panose="05000000000000000000" charset="0"/>
              <a:buChar char=""/>
            </a:pPr>
            <a:endParaRPr lang="en-US" sz="3600">
              <a:latin typeface="Cochin Regular" panose="02000603020000020003" charset="0"/>
              <a:cs typeface="Cochin Regular" panose="02000603020000020003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886960" y="2512060"/>
            <a:ext cx="6763385" cy="402717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115" y="258445"/>
            <a:ext cx="3561715" cy="565785"/>
          </a:xfrm>
        </p:spPr>
        <p:txBody>
          <a:bodyPr/>
          <a:p>
            <a:r>
              <a:rPr lang="en-US" sz="1555">
                <a:latin typeface="Georgia Regular" panose="02040502050405090303" charset="0"/>
                <a:cs typeface="Georgia Regular" panose="02040502050405090303" charset="0"/>
              </a:rPr>
              <a:t>Learning rules for the efficient code</a:t>
            </a:r>
            <a:endParaRPr lang="en-US" sz="1555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39115" y="92773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Quantile learning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9115" y="1604645"/>
            <a:ext cx="5270500" cy="33274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941060" y="1609090"/>
            <a:ext cx="5759450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If reward &gt; midpoint, shift the curve to the right, step size = </a:t>
            </a:r>
            <a:r>
              <a:rPr lang="en-US" sz="2000" b="1">
                <a:latin typeface="Georgia Bold" panose="02040502050405090303" charset="0"/>
                <a:cs typeface="Georgia Bold" panose="02040502050405090303" charset="0"/>
              </a:rPr>
              <a:t>b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If reward &lt; midpoint, shift the curve to the left, step size = </a:t>
            </a:r>
            <a:r>
              <a:rPr lang="en-US" sz="2000" b="1">
                <a:latin typeface="Georgia Bold" panose="02040502050405090303" charset="0"/>
                <a:cs typeface="Georgia Bold" panose="02040502050405090303" charset="0"/>
              </a:rPr>
              <a:t>a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converge to the </a:t>
            </a:r>
            <a:r>
              <a:rPr lang="en-US" sz="2000" b="1">
                <a:latin typeface="Georgia Bold" panose="02040502050405090303" charset="0"/>
                <a:cs typeface="Georgia Bold" panose="02040502050405090303" charset="0"/>
              </a:rPr>
              <a:t>p </a:t>
            </a:r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th quantile of the reward distribution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where </a:t>
            </a:r>
            <a:r>
              <a:rPr lang="en-US" sz="2000" b="1">
                <a:latin typeface="Georgia Bold" panose="02040502050405090303" charset="0"/>
                <a:cs typeface="Georgia Bold" panose="02040502050405090303" charset="0"/>
              </a:rPr>
              <a:t>ap = b(1 - p)</a:t>
            </a:r>
            <a:endParaRPr lang="en-US" sz="2000" b="1">
              <a:latin typeface="Georgia Bold" panose="02040502050405090303" charset="0"/>
              <a:cs typeface="Georgia Bold" panose="02040502050405090303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115" y="258445"/>
            <a:ext cx="3561715" cy="565785"/>
          </a:xfrm>
        </p:spPr>
        <p:txBody>
          <a:bodyPr/>
          <a:p>
            <a:r>
              <a:rPr lang="en-US" sz="1555">
                <a:latin typeface="Georgia Regular" panose="02040502050405090303" charset="0"/>
                <a:cs typeface="Georgia Regular" panose="02040502050405090303" charset="0"/>
              </a:rPr>
              <a:t>Learning rules for the efficient code</a:t>
            </a:r>
            <a:endParaRPr lang="en-US" sz="1555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39115" y="92773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Expectile learning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941060" y="1609090"/>
            <a:ext cx="575945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If reward &gt; midpoint, shift the curve to the right, step size = </a:t>
            </a:r>
            <a:r>
              <a:rPr lang="en-US" sz="2000" b="1">
                <a:latin typeface="Georgia Bold" panose="02040502050405090303" charset="0"/>
                <a:cs typeface="Georgia Bold" panose="02040502050405090303" charset="0"/>
              </a:rPr>
              <a:t>b * </a:t>
            </a:r>
            <a:r>
              <a:rPr lang="en-US" sz="2000">
                <a:latin typeface="Georgia" panose="02040502050405090303" charset="0"/>
                <a:cs typeface="Georgia" panose="02040502050405090303" charset="0"/>
              </a:rPr>
              <a:t>prediction error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If reward &lt; midpoint, shift the curve to the left, step size = </a:t>
            </a:r>
            <a:r>
              <a:rPr lang="en-US" sz="2000" b="1">
                <a:latin typeface="Georgia Bold" panose="02040502050405090303" charset="0"/>
                <a:cs typeface="Georgia Bold" panose="02040502050405090303" charset="0"/>
              </a:rPr>
              <a:t>a * </a:t>
            </a:r>
            <a:r>
              <a:rPr lang="en-US" sz="2000">
                <a:latin typeface="Georgia" panose="02040502050405090303" charset="0"/>
                <a:cs typeface="Georgia" panose="02040502050405090303" charset="0"/>
              </a:rPr>
              <a:t>prediction error</a:t>
            </a:r>
            <a:endParaRPr lang="en-US" sz="2000" b="1">
              <a:latin typeface="Georgia Bold" panose="02040502050405090303" charset="0"/>
              <a:cs typeface="Georgia Bold" panose="02040502050405090303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9115" y="1746250"/>
            <a:ext cx="5219700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115" y="258445"/>
            <a:ext cx="3561715" cy="565785"/>
          </a:xfrm>
        </p:spPr>
        <p:txBody>
          <a:bodyPr/>
          <a:p>
            <a:r>
              <a:rPr lang="en-US" sz="1555">
                <a:latin typeface="Georgia Regular" panose="02040502050405090303" charset="0"/>
                <a:cs typeface="Georgia Regular" panose="02040502050405090303" charset="0"/>
              </a:rPr>
              <a:t>Learning rules for the efficient code</a:t>
            </a:r>
            <a:endParaRPr lang="en-US" sz="1555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39115" y="92773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Slope learning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9115" y="1661795"/>
            <a:ext cx="5346700" cy="32131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668645" y="1435735"/>
            <a:ext cx="49174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Comic Sans MS Regular" panose="030F0902030302020204" charset="0"/>
                <a:cs typeface="Comic Sans MS Regular" panose="030F0902030302020204" charset="0"/>
              </a:rPr>
              <a:t>In the efficient code, the RPEN slope should be proportional to the local probability density of rewards</a:t>
            </a:r>
            <a:endParaRPr lang="en-US">
              <a:latin typeface="Comic Sans MS Regular" panose="030F0902030302020204" charset="0"/>
              <a:cs typeface="Comic Sans MS Regular" panose="030F0902030302020204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115" y="258445"/>
            <a:ext cx="3561715" cy="565785"/>
          </a:xfrm>
        </p:spPr>
        <p:txBody>
          <a:bodyPr/>
          <a:p>
            <a:r>
              <a:rPr lang="en-US" sz="1555">
                <a:latin typeface="Georgia Regular" panose="02040502050405090303" charset="0"/>
                <a:cs typeface="Georgia Regular" panose="02040502050405090303" charset="0"/>
              </a:rPr>
              <a:t>Learning rules for the efficient code</a:t>
            </a:r>
            <a:endParaRPr lang="en-US" sz="1555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39115" y="92773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Gain    Method 1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39115" y="16090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Gain learning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9115" y="2290445"/>
            <a:ext cx="51435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115" y="258445"/>
            <a:ext cx="3561715" cy="565785"/>
          </a:xfrm>
        </p:spPr>
        <p:txBody>
          <a:bodyPr/>
          <a:p>
            <a:r>
              <a:rPr lang="en-US" sz="1555">
                <a:latin typeface="Georgia Regular" panose="02040502050405090303" charset="0"/>
                <a:cs typeface="Georgia Regular" panose="02040502050405090303" charset="0"/>
              </a:rPr>
              <a:t>Learning rules for the efficient code</a:t>
            </a:r>
            <a:endParaRPr lang="en-US" sz="1555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39115" y="92773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Gain    Method 2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39115" y="1609090"/>
            <a:ext cx="89649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Fixed gain per neuron, determined by quantile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9115" y="2479040"/>
            <a:ext cx="5295900" cy="31623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115" y="258445"/>
            <a:ext cx="3561715" cy="565785"/>
          </a:xfrm>
        </p:spPr>
        <p:txBody>
          <a:bodyPr/>
          <a:p>
            <a:r>
              <a:rPr lang="en-US" sz="1555">
                <a:latin typeface="Georgia Regular" panose="02040502050405090303" charset="0"/>
                <a:cs typeface="Georgia Regular" panose="02040502050405090303" charset="0"/>
              </a:rPr>
              <a:t>Learning rules for the efficient code</a:t>
            </a:r>
            <a:endParaRPr lang="en-US" sz="1555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39115" y="10642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Comparison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9115" y="1914525"/>
            <a:ext cx="5295900" cy="23114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518795"/>
            <a:ext cx="10674985" cy="807085"/>
          </a:xfrm>
        </p:spPr>
        <p:txBody>
          <a:bodyPr>
            <a:no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Efficient Code computation Details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4720590" cy="398780"/>
          </a:xfrm>
        </p:spPr>
        <p:txBody>
          <a:bodyPr>
            <a:normAutofit/>
          </a:bodyPr>
          <a:p>
            <a:r>
              <a:rPr lang="en-US" sz="1555">
                <a:latin typeface="Georgia Regular" panose="02040502050405090303" charset="0"/>
                <a:cs typeface="Georgia Regular" panose="02040502050405090303" charset="0"/>
              </a:rPr>
              <a:t>Efficient Code computation</a:t>
            </a:r>
            <a:endParaRPr lang="en-US" sz="1555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54685" y="927735"/>
            <a:ext cx="74809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We start by defining a ‘standard’ population of RPENs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4720590" cy="398780"/>
          </a:xfrm>
        </p:spPr>
        <p:txBody>
          <a:bodyPr>
            <a:normAutofit/>
          </a:bodyPr>
          <a:p>
            <a:r>
              <a:rPr lang="en-US" sz="1555">
                <a:latin typeface="Georgia Regular" panose="02040502050405090303" charset="0"/>
                <a:cs typeface="Georgia Regular" panose="02040502050405090303" charset="0"/>
              </a:rPr>
              <a:t>Efficient Code computation</a:t>
            </a:r>
            <a:endParaRPr lang="en-US" sz="1555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Discussion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47700" y="1534795"/>
            <a:ext cx="651446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Task design: No action required by the animal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the reward received and the change in value of the current state are confounded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5" name="Down Arrow 4"/>
          <p:cNvSpPr/>
          <p:nvPr/>
        </p:nvSpPr>
        <p:spPr>
          <a:xfrm>
            <a:off x="3328670" y="1931035"/>
            <a:ext cx="260350" cy="59372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47700" y="1584325"/>
            <a:ext cx="3822700" cy="2641600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 flipV="1">
            <a:off x="2792730" y="1979295"/>
            <a:ext cx="229870" cy="60388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ext Box 5"/>
          <p:cNvSpPr txBox="1"/>
          <p:nvPr/>
        </p:nvSpPr>
        <p:spPr>
          <a:xfrm>
            <a:off x="2080260" y="167259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Georgia Regular" panose="02040502050405090303" charset="0"/>
                <a:cs typeface="Georgia Regular" panose="02040502050405090303" charset="0"/>
              </a:rPr>
              <a:t>half the maximal response</a:t>
            </a:r>
            <a:endParaRPr lang="en-US" sz="1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75665" y="423735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solidFill>
                  <a:schemeClr val="tx1"/>
                </a:solidFill>
                <a:latin typeface="Georgia Regular" panose="02040502050405090303" charset="0"/>
                <a:cs typeface="Georgia Regular" panose="02040502050405090303" charset="0"/>
              </a:rPr>
              <a:t>RPEN’s sigmoid tuning curve</a:t>
            </a:r>
            <a:endParaRPr lang="en-US" sz="2000">
              <a:solidFill>
                <a:schemeClr val="tx1"/>
              </a:solidFill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4704080" y="1979295"/>
            <a:ext cx="6657975" cy="2461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"/>
            </a:pPr>
            <a:r>
              <a:rPr lang="en-US" sz="2200">
                <a:latin typeface="Georgia Regular" panose="02040502050405090303" charset="0"/>
                <a:cs typeface="Georgia Regular" panose="02040502050405090303" charset="0"/>
              </a:rPr>
              <a:t>Response function, midpoint = μ</a:t>
            </a:r>
            <a:endParaRPr lang="en-US" sz="2200">
              <a:latin typeface="Georgia Regular" panose="02040502050405090303" charset="0"/>
              <a:cs typeface="Georgia Regular" panose="02040502050405090303" charset="0"/>
            </a:endParaRPr>
          </a:p>
          <a:p>
            <a:pPr indent="0">
              <a:buFont typeface="Wingdings" panose="05000000000000000000" charset="0"/>
              <a:buNone/>
            </a:pPr>
            <a:endParaRPr lang="en-US" sz="22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Wingdings" panose="05000000000000000000" charset="0"/>
              <a:buChar char=""/>
            </a:pPr>
            <a:r>
              <a:rPr lang="en-US" sz="2200">
                <a:latin typeface="Georgia Regular" panose="02040502050405090303" charset="0"/>
                <a:cs typeface="Georgia Regular" panose="02040502050405090303" charset="0"/>
              </a:rPr>
              <a:t>Reward mapping </a:t>
            </a:r>
            <a:endParaRPr lang="en-US" sz="22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Wingdings" panose="05000000000000000000" charset="0"/>
              <a:buChar char=""/>
            </a:pPr>
            <a:endParaRPr lang="en-US" sz="22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Wingdings" panose="05000000000000000000" charset="0"/>
              <a:buChar char=""/>
            </a:pPr>
            <a:r>
              <a:rPr lang="en-US" sz="2200">
                <a:latin typeface="Georgia Regular" panose="02040502050405090303" charset="0"/>
                <a:cs typeface="Georgia Regular" panose="02040502050405090303" charset="0"/>
              </a:rPr>
              <a:t>A prototypical sigmoidal function </a:t>
            </a:r>
            <a:endParaRPr lang="en-US" sz="22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Wingdings" panose="05000000000000000000" charset="0"/>
              <a:buChar char=""/>
            </a:pPr>
            <a:endParaRPr lang="en-US" sz="22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Wingdings" panose="05000000000000000000" charset="0"/>
              <a:buChar char=""/>
            </a:pPr>
            <a:r>
              <a:rPr lang="en-US" sz="2200">
                <a:latin typeface="Georgia Regular" panose="02040502050405090303" charset="0"/>
                <a:cs typeface="Georgia Regular" panose="02040502050405090303" charset="0"/>
              </a:rPr>
              <a:t>Neural Gain    as a function of </a:t>
            </a:r>
            <a:endParaRPr lang="en-US" sz="22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13" name="334E55B0-647D-440b-865C-3EC943EB4CBC-63" descr="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080" y="930910"/>
            <a:ext cx="5684520" cy="467995"/>
          </a:xfrm>
          <a:prstGeom prst="rect">
            <a:avLst/>
          </a:prstGeom>
        </p:spPr>
      </p:pic>
      <p:pic>
        <p:nvPicPr>
          <p:cNvPr id="10" name="334E55B0-647D-440b-865C-3EC943EB4CBC-64" descr="wpsoff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355" y="3382645"/>
            <a:ext cx="315595" cy="307340"/>
          </a:xfrm>
          <a:prstGeom prst="rect">
            <a:avLst/>
          </a:prstGeom>
        </p:spPr>
      </p:pic>
      <p:pic>
        <p:nvPicPr>
          <p:cNvPr id="11" name="334E55B0-647D-440b-865C-3EC943EB4CBC-65" descr="wpsoffic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420" y="2697480"/>
            <a:ext cx="2384425" cy="415925"/>
          </a:xfrm>
          <a:prstGeom prst="rect">
            <a:avLst/>
          </a:prstGeom>
        </p:spPr>
      </p:pic>
      <p:pic>
        <p:nvPicPr>
          <p:cNvPr id="12" name="334E55B0-647D-440b-865C-3EC943EB4CBC-66" descr="wpsoffic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6870" y="4145280"/>
            <a:ext cx="142240" cy="198755"/>
          </a:xfrm>
          <a:prstGeom prst="rect">
            <a:avLst/>
          </a:prstGeom>
        </p:spPr>
      </p:pic>
      <p:pic>
        <p:nvPicPr>
          <p:cNvPr id="14" name="334E55B0-647D-440b-865C-3EC943EB4CBC-67" descr="wpsoffic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1105" y="4121150"/>
            <a:ext cx="201930" cy="198755"/>
          </a:xfrm>
          <a:prstGeom prst="rect">
            <a:avLst/>
          </a:prstGeom>
        </p:spPr>
      </p:pic>
      <p:sp>
        <p:nvSpPr>
          <p:cNvPr id="15" name="Title 14"/>
          <p:cNvSpPr/>
          <p:nvPr>
            <p:ph type="title"/>
          </p:nvPr>
        </p:nvSpPr>
        <p:spPr/>
        <p:txBody>
          <a:bodyPr/>
          <a:p>
            <a:r>
              <a:rPr lang="en-US"/>
              <a:t> </a:t>
            </a:r>
            <a:endParaRPr lang="en-US"/>
          </a:p>
        </p:txBody>
      </p:sp>
      <p:sp>
        <p:nvSpPr>
          <p:cNvPr id="16" name="Title 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74700" y="38544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Discussion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1154430" y="5091430"/>
            <a:ext cx="10662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We assumed that every neuron with a midpoint = </a:t>
            </a:r>
            <a:r>
              <a:rPr lang="en-US" sz="2800">
                <a:latin typeface="Georgia Regular" panose="02040502050405090303" charset="0"/>
                <a:cs typeface="Georgia Regular" panose="02040502050405090303" charset="0"/>
                <a:sym typeface="+mn-ea"/>
              </a:rPr>
              <a:t>μ is the same.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18" name="Rectangle 2"/>
          <p:cNvSpPr/>
          <p:nvPr>
            <p:custDataLst>
              <p:tags r:id="rId9"/>
            </p:custDataLst>
          </p:nvPr>
        </p:nvSpPr>
        <p:spPr>
          <a:xfrm>
            <a:off x="517525" y="5020310"/>
            <a:ext cx="11147425" cy="711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Discussion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67080" y="1474470"/>
            <a:ext cx="936180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In classical reinforcement learning, we set the same learning rate for negative PE and positive PE.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  <a:p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What about setting two different ones respectively? Would that help in better fitting behavioral data, or extract some latent variables for further analysis?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  <p:tag name="KSO_WM_UNIT_PLACING_PICTURE_USER_VIEWPORT" val="{&quot;height&quot;:5823,&quot;width&quot;:6400}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JIkltZ1NldHRpbmdKc29uIiA6ICJ7XCJkcGlcIjpcIjYwMFwiLFwiZm9ybWF0XCI6XCJQTkdcIixcInRyYW5zcGFyZW50XCI6dHJ1ZSxcImF1dG9cIjp0cnVlfSIsCgkiTGF0ZXgiIDogIlhGc2dVU2g0TEdFcElEMGdYRzFoZEdoaVludEZmU0JTS0hnc1lTa2dLeUJjWjJGdGJXRWdYRzFoZEdoaVludEZmU0JSS0ZoZVhIQnlhVzFsTEVGZVhIQnlhVzFsS1NCY1hRPT0iLAoJIkxhdGV4SW1nQmFzZTY0IiA6ICJpVkJPUncwS0dnb0FBQUFOU1VoRVVnQUFCTWtBQUFCWUJBTUFBQUFkQzcxU0FBQUFNRkJNVkVYLy8vOEFBQUFBQUFBQUFBQUFBQUFBQUFBQUFBQUFBQUFBQUFBQUFBQUFBQUFBQUFBQUFBQUFBQUFBQUFBQUFBQXYzYUI3QUFBQUQzUlNUbE1BSWxTSnU5M3Z6WmtRTW5abXEwUnhzdVJlQUFBQUNYQklXWE1BQUE3RUFBQU94QUdWS3c0YkFBQWdBRWxFUVZSNEFlMWRmWXhzU1ZXLzh6MDkzMGhZUG96TUpId3NKcEtaUDhDQS8vUmdoRWpFOVBPUFhkaEY5NDZFZlVZRmVrQjNGMktnSHlDQ1J1M1p5QzZDWWsrUUxCQ0lNMzhvWWdMMG9JQ29JVDBRUVVDaFd4VEVHSmpSM1ptM3UyL2ZscjlUbjZmcVZuZmZ2bjNmN3BMc3pXUnUxYWxUcCtxYyt0V3BVM1Z2ZHlmSjQ5ZmpGc2hZWUM5REdZRXdWdVVSMm5tYzlZZmJBdThSTHlxdXdGaVZpemY3ZU0wZk5ndlV4Rm54TG85VnVYaXpqOWY4SWJQQWdoQml2MmlmeDZwY3ROSEg2LzN3V1dBS0tPc1Y3ZlpZbGRIbzVDMUZXK2Ixcmp2aXVVYzVYWTVLRTY5NWxOVVkydnl6ZWtOWkdNTU1VTWF5b3lWdDVZSldhZjd5YU8zRnVXZnVpOU1mRldvNUtpWHA5cVBTKzl5TnpwK3Y1ZVlGNDdvUTk0N0M3L0c2eW9Xc3NseDhyZWJkcUtSdjR0bEhOVjJTU3NsZGx4L2J1L2Z1Z3lPWnVTM0VBeU5VV0hnN1ozYVZDMW1sOWpBWFZqeDkzZGxqWmtqS1VtbWlmbE54ZTF6N210TWpSbGtOSVk1SDZOVzZKOTVWN211VmlXZTh1SDcrbTIrTHdXQk9ISTNROGdEV0JmRllHWkxTVkVvT0h2Mlo4eVBQdTFIOHlzLytlTXp3allkaTFMNjBpaGh0aTFuanlPQ1YrMWpsejFNMGdPdnlZYllMM2VKTGRTQnM4M0pBS0pEOW5PcG8rUDhxRTdWYzU2VzN2dkVmV1psS2xxZlNwTmpOU0MrQnNKUnlGVnc2NjJrV25xOUxmeXZiN0xMWTRzU3V1SGpESFhmY2RzUEYrdm0rcEd2Q2pmWC9VMnlUUW93U080T2R5ZWVWNDFiQjBMMzIwMDk5K25QcjR2eVE5NHZTVTJJN0pCWE5UNDNraitPdE5Kekp2ZFNlWTEvMUNwQzUybk9GbENwUnBhVEs4ZTAzTTBadUxsUkI1eDhJWlFLTzUvLzY3M2QrKzZ0Qy9IcFlsbFI5ekRDWlBjbHJDVmRVMVdVaFJnbU9acjMxMWFzY3M4ckhoZml5YkdjU2ZkNVFMZHIvSjRJTm9LVVdTNlJhbldLMVphM3J5VkZkeENWdnlrN25GK3RpemNsY2VzRS9ONmpndFY5NzE3dSsrVE1wVW1jYnJoU3BNbFdhRVpsNTZiVlZMRE41TzNwOURpMmhMV2tuTCtqOHY0RzR4YnE0dWlGcHp4TGlWVUhoU2hESy85MGZ2RVFKT251YjR2eXN5cDYvOFVqbE1UMHZCRElHWmF1Q095Q3Zjc1FxbnhmaVMxcmFvaEFCRUNyMTBkYjJRZDNDVG5sL1lIbXV3b1dhZkFwU3U0L1FmK2Yvd0hJUEpkTWNaU1NsaWRHaGNsd2ZiU0FTV0ZOcCtiOVVsU2JFYU5zNDFvL0J5US9LRVo4V0x3VmI1ZWwvV1JjSWdtb0J5cFlBTXFOWlc0UjR2NXVIVGFxeDd4S3VybWpESk1rOFpYL2E5dU9FMnNoOVRhRHVCY2Z0VmM1YTVjbEMzR3lad1h0c001U1lLelB3V09UZDhwb1pKVE1ydmF1ZHFNOUVsek1vYTdPVG40V0d2eEtVcWxMU0h1UEozMEN0NjdROHJwcVZaTEltcm9Zb20yaUlzMzBqWXdXUmdVbXJleU1iQmlONEVueENJdmU3cmxKVG5Mdk0wTlEwS3U4NExyOXlhQlc0THhiZW82LytZdDdoblhJeUM2YnFyS21DSXBKa21UYlFDODViZjBoY3pxQ3NLNWlQUWNnZ05seHo1YW8weTBOZzE4ajRxUzdGU0FkMk5EQlhkZ05mMXZiQ2J6aUliZDdxVW1aOVJXa0tVekNtVlB3Q3k5WERoWXlWWlpOb1Q1dzZzbDg1dEVyTmYzU0ZuaCs2cWtsRjNNOXlZeWM3WlN5Wjh3U1pTZVp6TytLT2NDN1V2WG5XRU16aUphdTB4T0E4dG4yNGdDYnQvRGFkZjFvU2x4dmVpZ2xuUWtBMFZ4anR0TVFsVStUdUdGNjJLazU0bzR2SDNlUSs4MTRwUkRuK29ISmdsU2NKRDg1WUliMnVMek5CZVpzZndEZFR4dm83UlNoYllpNEVEamhBR2NVTWJPVS9RR1JtZTFXeVNrbnFSTnMyeWtoVUNXVWQ1dnpoUERqS0psSnh0c1liYXZqK29tc1dXODdUZ21FdVdNS2NCMFE4N3I1a2k0WW1BR3ErWG9TVlBhc0FndjY1SXNhSEw4NEhvelE4dEdmd1FQcG9aamhyZnc2Tk11WnlZWC9QM3NBZ243TEpETEk5STdCa2xaSk5BdjNBYSttdEE0djdGQ3FVWFhHbG1Fd2NaWmc2TjdsQ3BOWTkvNzNnK1NuRFNQRytjNEJkYjZHQ2cvR3RhQ3BGNzYzN0cxeFVXTm16Q3NiSDcycFM4NWJNV214Q1JGdk5SMHc1aFBOVnlYQmxVWWFKNU51SElyRjlWNUd5MnlaYnRrb3pQQVkyalhoM0YxeDU1Q0daRE1xU0trY1pNT2Y3QjJ5MGVWdzFIVjJGeU1uYlJYaWUrL3NrYWJtU0lWMmo0dTREUUlvN2Z3Z3JjNnVncStGVGUrQnV4ellTbnhDMmVQUkUyNHY2UnE5UE5iSW9TN3p6TXJETXdwaE1PRkJvQTlYU1ZWcmtZOHNhZGNuTlF0dlFMTXBtT2Nvd1RzR3JNalNZcnRFK0xyc0JVK3hwcnJiZFdraENaNVFJYzBVY05mbStNYXpNclhMQW5aNXFlNVhQaU9sUkduWWE5aysxR0lUN2N3MHVpYUNzSGZpeWRYK3JUREdFQ1ZSTFY2bkN4emJhOHc0Yi9DaERsSmhGMlNKREdiMloyZ3ZxZ1hSb1NUWHV6QzBWNjd2ZG1DNDUveTdMYTZNRXpUTm5jSzFzVVE0ck02dE0xSG0vVkZmZ2Q1MVJXaXhVZEQwZEk3VXN4Zy9NZkpTOWozclRDbERXNFZORm5UNCtxSHRkdWtwSmQxaGdWZ0xLS3Z2b2ZvV2g3RHBmUTZsY2pTMURsVDV2OEpPWDM1SGNTZmhZV1F6VFExVlQvOXNQSmpDeWM0YVp5czRxZDNNK0xZUG12UTF5Mm13bng5c29uRjVobTcyaVFueVUxVGNnWjlaMVdVcnQ4dTFQUWhHTEhhRFNWY0lEcTkzQnFwU0FzbGs1T2VzMitxL0FQMnlIcmJhZGxza2lQd1ZsakJROHFJbStFblI3c2c4dVdXV1hyQ0NrTzJFNzkyeGxaeFdBM3l3a1ZnQldkM0ZrY21rd2VvWmUvTTRnWEZTSWg3SUZPUSttYmF5aGhLWXVEaU1DVGVCVDNWejVLcTFhQk9zbXdsc0pLRHVRSnhvMU8xbzBiL2JDZGpEc05oeWY2ZE1wZWtGSEhiMkVyK2NzdThxaDRHeCtHYTBmc0ZVdlc5bGFoZHpXVVNpQmRpSGJtcmhRZ3VjSjVOZkc5NDRleXBia1BtbkpMZkxVSHBseW16VzhqdndGbGI4R0trMzNjUnUyQXlXZ3JIT1ZwSFYyak13MkE1U2gwVkdHWGNJT0FrOWxtYnF3eFQ1eW1WY05aODFLYWxrSEpBNXd3dEtDSk1PU3JXeXRBakJtVHhScGhIWjA1ZmxoOWpPTjVMOTN6SERucnhKeWVpalRieE45eEdPaXgzV0hqTkpCZmt2bHI0RktTOE9XbWhKUVZwVW9XekR1aTJML1hhYWdTcmFZYzJrYWhVTXVETG84QTcwdVBGdzQ2RmNqbEVENXhnVjZ4dXI4YWJheXRVb2p1OE9FQU5ROTFZSlhoVHZCMDZSeGIrdmo3MW85bEUzN1p6NnFlM1QyMkdNOWhhSm1mYmtHS3NINzc3UEdzc2tTVUZhVEtMT2ljUWJxS2FnS2FOZ05TNnhjbHRFSk5SYmVTaHFjZzJETGFEQnNaUFMvTDFIckZJZXNhWjVzWldNVldqQjNzNUpVTHlUOXhPSXR5MWFRTWpQMGRHbW9ZQTlsc3pHVWtTV1pHSnI1WnBTdWdVcDRCSDNJV3NzbVMwQlozZlJmU1cvSFZpSHVYQkJkWi9zaEtmUllCTXZkWFptWmtkN2ZwMGFFZkRkMWh6OVJpVlRXVm1taHZWNVdCS2htMTErTm9UQmJZeFRLc2dzZFJxbkdlVDJVYmNaUUJzMTRLRUJILzcrcUpWd0RsWENVc2MzN2wwbVBqN0pKTzB1a2NJcHFJcXNNK2JKOTFmcVVad0N2UjNVOE5NQ1NGOWJueHlRZWZ5elRwRzBJN1VDT1ZHbXNzclpLMHg4TEk0MXAwTWdzMVU5ODhkbkxKT01UMDdNdm14cDk3cE5mcWIrNUY1WmhLb1drVWZNZXlob3hsRzN5VTJuNWdNOVlQeGxQcGVTNU4xNytWcWEvblNFdWZ5aktQbno3K1N0Nm9WaCtLanZubzR3aWdzZ3FSQ2pUWXViNlI5UlY0cG9XRzJGN2YzVWNVdnJtRjZUenBzbHJuSGlrc3JJS1RRaTc4WFVDaVd4T1RrWFlsdzhLb2Q0am1oTG4vZ3RGVG9CSi9VbGQzQ3J3UW12bHZ3MkY3bGk5OW5tK1FKcWpES0NOR0FmemgwL1ZHbE4wTEpVcUh4Zm5LYjI5K21kN3ZOOEgxdmx6cWtzUFE5bjFNRGwvbmZkR1daV2pyT09qckFYK0l5ZmZwSWk4b1RLcmRneE5vYjJ2ZzJ1N0d4bDV5ekUwTVNjZm1kSFIyNlgrdk1vcU5DRk9zMHdVeE9naHd1Sys3ekVzaVY5Y3F6UnBmYWk5WmkvNXowRnQ0RmhRdkRWWlNXL0N5OUU5TGlScUg4NHdOTTFSZGhCRldlcHBSdGJZMEZMSFVpbHBpL3ZYa3UrYzdjMGJDeW1wcTdIWnl0UVlnckwzb0grNHpOUk9GbFVNeGxDR01WRTBMUlN6S0xZaXdCakcxaWY5Z1U4TDNWWHJoRmczOHljN0VpQVUxMGVtdUJHanJOSUMweVZEY25jNkJYaFFaVEU4ams2cEpzMkFSV2k4VEdIUDN4cytLZ3F2U2syKzV6MTlHZDVtbXhlbWczckdHZnVtR2Nxb3MxbEZ5UjN2dXVwVklWNW5jdU9vbEx4Ym5PMURVRzIzNHdlWE16NEdURnYyUGhobEszVjBsNjROWFdGV25mQXpsRzM2S0NQOTdyZlNYUUpzeGkxVVl3NUVjZEt4ZS8vMTFFbnJuNnJVcGMzSitNek1JYit5U3NmMWlUUFF6TmNQTXFhRGc2QXBkY1JTRnh0VlNJY3ZaSy9ZY1JHVS9xNE9QOVBQQlNqcjJ0TzRzRXJldkVQWlFrMjhJWUl5VW4vTFNrUDRjSFhQNU1aUkNYQ1FScDE1S1BWUnRzeWUvSnFHK0gwd3lnZ2I4dEp6TzZrZXk4b09aUjhVbHplNUw2TnRvbUhtN1ZSQlgxT0Uyb0JqeVJSc2wzaTlVZFB6cWhWYTlTNzByNnVzMG1CbmVJeVhZcnBUbFovMWpabDAxQkZMVTl4TXpRUVRqSWxBRWhObVYxSk9JTzZRbHpXTmRFNGNLVzFROXJUbllMUlhJaWp6anN2d1liS3pEU3QvREpYdzNFNXRYTWtaWExFU2tVQjdQSnRKRDBTWmRDMlFLSGQrVkxXaWthSlJOdkdCZDJDZW5uQ1UwV25aVHFZVnZQSUZ1aWJYL1FYRVkyNkQ3Y2lqakpoWlY5cmpSR3pRV0VxckVFL003ZElweUk1cWR0Vm5tTkNMZmx1Y1U4WGFJRjkyWUY2eDQ0Y3FVbXJiZUVyVmh2cGYrWXNmOUx1QTUrRFNLRU0veGZsUkRHWFU1cDZ1OUZGOGt2bklDUmhESlV6ZG01U2cxRWF1S284QUpkdEwxMll5RUdVSGNMV2YyWnQ0VHQwTS9aUitTcVJRUmxxSzF5UWV5dFpCdXNUa20yVHEvRWFjUVRHMlVQMkNxVlBrVGdmL2RFSE9xVXJGL2t1clVPeW1vM3lQaC9xd3JTanIvcFNkMHd0a1J5MnBNRXVzdnF5S0VkRmwxSXduZjlPVWNDcGVEdWwzZVY1RDFtRW91eGRPODVnTGt1bVc4UXRQKzRuZndhTzlEY1pRWENWNk9OeFRrdHFCZGJGQzZ4TFdFa3NPUkZrS0ROR0ZaVkFOWGt0YmpxRnN5MGNaMm84MVNPR2FSaWhjeUNIcmdKOGtWOTkzNUh6V2FHN1NOQTQ1OWlXUkxLZTBDbTAxWWtqY0JQMUkxVG54OTA3bVdXMWJ3YkFXQzd4MVkvQW1ldkNCTjM1QWlzOSsrVUpOUzJnMWZ0bm52MXEwZlZkV3NyOHVoakpTd1Z6bi83Wm5LeUpSWEtVa0ZXYlZBdDUydVZEb2VNVHpZWG9ReXVidGVuR1hVTHZNOWdWVm42SHN2T2Y1TWxqZW43bXFBb1dqdEQzRGhXWDRTQ1ppLzRqUHFCSXJIMGFiTlVPU0RrU3J0TW9xMnRMNmVHS3JvSzhwU3NlSGZQMUlrWnRxSmozSjJzZXJMelA0Q09pZW9tS0MrWHVFOVNBdjJmd3ZVRUVQM0hWTFJycUp5Kzc4R0R6VnB3MmNHUnM2ZUhZRFhaQnkzejRyd0ZzTmhWV0NCekRQRDFwOGN3SHg4QnhiWGl0QlpoREtUaXdjS2cwMUhlVUxjNUNnVUhhbDhyUXY0R1RTUXhuVWlyM2p6Zlp0Y0l5OW9CTXVpeGNnWFVUaHlMbFRWZVBBR3V6NEpWdGJXdVVBVFYzS2x1RnczTzZZcXQ1T1p0SzhYVlBUTStuYkdveFpJWmhLQmxwSSt0NTVkYXg1UkcwWmxDSDVMSEU1Z3JMVWV1bnZBV1lhN3FxWGhWV2lkL1lNbEpEc0tYSDZ2L1hjSHRWbUJxR3NvYjBQbU8rV3M5dSt4S1JSaG9MSlZEU1k4NEdUaUU1d3Rpa0E0UFp0ODBHaUF2TU1XbEFEOWt4Mnd0cWhHK3lDQWxheVNnZE5IUVYwWlBsWlROTmJkcWNOY01JMU1Dc0VUK3NOM3FIdnFjZXdHcXlnWG1HdURFTlpBa1dQdzBxa3dxNG12cCtkbFJHcHNFcjRBSXR4OFVrMVhMQmNlMkZmWkg0QXlsYllURitTc2RTTUNVUWR5dkJwZWo0MTZTRERZZE8xMkFMOWtzckM4YTY1QWo5MWw4QXNNUnM4dnloWGJ0cDRHL295RW9PSldFMnlDbGhpZUNjVnpDbDBWenpBYXE5cTRNQVRHa093VWkvWkZtWURRWjhpTmlPdVdNcEZHZXlmUVJuRkhWdW1QMTBoTmt3YTk4SXFZUmRqd2hHNGV6L1V4R2JMMTVFMVNNa0JLSnZtUzE5S1VrNU9kVzJHTW5TYitUS0szbVBIWlIzUU4xUmxtR1ZQaThuY0dnK1RBRFBHbWVLaGhFMWJ0ZTJCUDFPUnJGSkRVNWtDK3ZZVmgzTi9TT2EzRkRzRzBWOERzMUxxVmwxNkcwWFgwMnlyMFpnaUs2TS9oZnN5dUpqamtKT00yRE5FN0VPTVd5VlNZWlhnbnExMU0xTTRIdUdhTGd4Q1dZczdwVTJhMUExakxvNnlXWTZ5ZnZ1MmhvdDFCcUFNejhuaEo5eVVzYjNNbTZodkc4N053V0xJS3VoVE1DTmw1Ulo2Y0tqRjFEeGZabVJqRUU5Tk9uNG5mMmhLVHRpSVM5cXNEZnNNeTZoM0QyV2RMTXJvdU16S1JGKzRta1ZWb2dERGFKMEpOUUgxSGR1Z1NuZ0hnTTF6ZmhpNHhsbk52bDNTWnJGR1RGZ254RkcyeEZGR2ptQ1hDOUZOZ213V0dRQnhMOHNoS1Yzd05NRHFkYU1QYjR3ODVXcGliTGtyRHJuSktta2NpRzEwd0hTd1lRM0xCV0FRSXpvR0hIWmtxMnpFSlUvSktJdTh4ZGppd0tKNXl3eGFWQ1V5bDlFNkUycEdVSmIzQUxCenlBdzNqelY1M2k2TkhHVkozWkxWMjRQYnJKcE8wc21raVhBQXhDeURwTXpUMGdJbkpDNzFZUmhHWHBmZlVVamZVM2l4N3B4bnJCYWhEQ3ozUjhwZ1RVdU9EMGtyWEFNelVnN2NwTUswc1lCVGZBQnBwc0pvQk0rWEJaL0NKMGtuM29vR2c4S3U1aXFxRXUzckRDQXlvU1lnZUdvYTBIZjBvZDlsdzd1Z0NrNjVFRmV2Mm9qTFExbVRvUXlMZHd3ak1Ld2w5MGRabFVhWEpJUTl6dlNtRDZIbTY5V0hpOGhrbGJvM0ZvWVpxNEdMWStKRHNobXVnYWF1dmJlWmpFd3JKZnN5L2cxVHVnTlZMM0NFbnNlMlp3Qjl6THJEVlNKSHNhYkZySHE0SldKMnhSenBBTkIyRDZ0SVo5dmtQSlJ0QmlqYk1senVmc0s2MkJkbGk0TGtrelk4SUhSQ2hxWld4TTkvMDF4ZDFtS2tJbG1sd1J5T1kwSDM3SVRBQnNGNFlNY2d2MHlUWnlOcGlON1I1R3dNTXp0d0xZOUl5NUE4WDdiZ3Vtc1kwYnlERWovV0FFTlJsV0FYdTRISGNQWk1XK3BlajU1dlc1NEJlMHpMSXhPTmpRUi8rdkpRZG1BWEdMVkJPelJjN2c2MUxkTzBDM3NjQTZYVTU4bkpLSU1pS3IrT2wrTy9RRU11Y2Q4cjlUSmtsVm9VenJDZ09iVVBOMlJHUWhxdWdhYkEzRW1IWTUzSnhqQWxvNnhpRnpMVFBEM0UzYlVaV3VwY0x0aGpHcTZoS2lVdHRtbXZadGI4c2xEVzNGcXdXRFpuLzZxUHJTdW1yOTc3OW81SUQ1WHN3d2s2WU50alpUWnBQay9lQmZPK3BZNlNhTE1kTzdta2pmNlZ5U3BvS09JMEcyekRIaDhTWUdqUVVSd2FKWDJQZE9Qb0NCdGpJcFo3WHBZa3oxRG1uTEtkb3VhM2RQUHlJYlNGUElqK1NZYm1HcTRTeFhyV1dwbFFjNHp6TXR0UG1lZ2N6MXMxZkpSTnZsQnhWcUVaSUdUdDYrcDdROTRQWmViejVBY1FjZXpxNWs5Vm1Ha1RlTXhJUjZ3d0d2cHFiTVdrRWRxMmJQNUJ1U1lQUHk2amc0eDl6ZDNpSXk1cHEyTWMxU2loM29xcDIwbFdyUk9BKzJRckdnM0pKY01VbnYxcituQ1Y2Q0REaE9VUlRIS2p1YlpzS3ZlS2ViSnJqcjVSMTFzeGpTd0tSVWpCUTBPd2Q4d0R0Ni9BYWRPYUxYR0pCZVB0YUtmd2dLUG5UeTFiTTZNT0hVd0M5ZjB1c3NwbXpDZFI2M3UyVmpWMi9BclJRL3BIc2FXUkFkMTdKcTN1TFg3MFk0c0t2Ri9tRzlwOWdRMU5haXRYYnFlWUpRcXFsTFJkckllWkdKeEtBM2ZIcnNWc0tqZktEaTY0NEQrS012bWpJSmdVa2NGTitiZ0FpTDFzUHhMN2VYSnlCR3dOanJEMklaM1lvMmt3RU53djlXR1V6eXFQa3hhTE5DeG5sUytZQUNLWHFaa0F4QXVXUDVvQUR1M3BCUVFHUE91eEJUZnY4WktVRmZWbE5ic0pXMlhOcTAvSkhia3VGRlNKbnNmdGFpbXc3YWtUU0ttSjJLZ3psdndvTzAwM2JMMllMNU9mcEFlb3M2aW1FWGQxQVVTWHNSTFo1OG5yYkRkankzTWtVbU1GNGlXc2J2ZXRKSzJDS1ovWlp2QlRJZFNPdmdyV3N2aGRPbzYzZ0VYS2JuWlVETFB5ZGNjWnZPR2xDdUR5K2wxdUdUQXlZaWhiY0ZNVHNseHdJMThLNkptYWhWVkNQR2RuclE0MXY3OW5wY0s3SGRsTUpKRWJaZXNQc3dVcGhySUR1VlEySWhQOXdITk9HTWhJajlqbnlhc3dkeS9TMVNHa1JSc0tFU001Vlk0NnY3SzBDb0Zma1ZlK2NxNS92d0oreXJvRWxMWDRjQmtSbTNhYXRFNE56Yi9EbHhsdmpHbEhnSnN6TVEzUzBYZGxSenBlaXFGc3pxMWlNQ0JiMFpwUWM4MzFyNkJLNU1zT3RaU1dBbHhqMzBxRnRYczJFMG5rUmxuclBqWS9ZaWhyeUlhZ29UYjk5OU5YYjZnR1U4Ky93ZTViMlk0MG5GM1d4U0EzbEsycUtTMGFUWHVSVTlxeHVUQWhyUUtIcHJ6cVJFT2s0azJTQjdiY1pjekJTL0txQkR4N0t0WG12S3dhOEd2MlkyaUpGbDJPeDdZNzlXVjFSa25HVU5aMVVodDJERWhvQ2pWMWZ5bGJVQ1hhS3gxUmZWeWIwbTRWRmdrZ0VGMVRaZkgvdVZGbXYvT0w1RVJRaGxXQ0dsbzNjYzJUeFpsUXZ3UExveFNxN0Z3djVkVEZQMDlPMjBOMkptRllodDI3NWtWT3lVZ1FPdTFiUlZtbHE5Ri96K1ZlOGhRWlNHR2Q5YjUyZWNiRlY1QlYrWUVVbU5xRk5qMk10d0R4WnRMb3JjTG10dU1zN3pOTVRpYkZvVlpkcUw3cmlwQmplTUEzaU5pUUVUeTVWVXJhemwycGFUYkpWbkpvNlJxTXBFWkEyUVZYUFlLeXFtb0lZSk5MemtMOUxjbEVVeXJic1I5OVVRSlNiZ010czh1aWJEcE1ZSDdUdFRvd2hhOHM5c29oNUFHUHdEUEtLdXVLcFZMZlFsbnpDUDlPaFBacG1ubmFuWGVEVWhXL2h2L3drdHErSy9iNDlucy8zOU0xNUEwc1pvWEU2VERaclh2b3ltdkROZytPdFU4cTY4c3FYWWNzc2g5cHBDNmFiaXJXV1ZvalNrR1Y2S01sKzBvaUhpZFJQTHRzZ2dJcE5CUGhhbDUxR3dGbHpGQlpsT0dWVERsSFNLazlpTDZiY0RKUDZ3YVVWajVOTlVqUE9IWk0wdHpmWTlkOG9xVEdMcVk0dUsvODlyY0NDckozQjNxaUgyYWtzOHpxbzYvQUd2VlN2UUs3dml1RE9SNlZ5Y2RkcEl5NjRDNUlSZFRTYS9PY3NUTksvR2xoSExwOEduV01TdlUxTFlUU05veDJ0TkZTRW1XVERFckpQVmc1cUIyNjBCc1dKUkhtbEdrNlcxUUtQN3RIZDNtTm9OS3FEaStrQWNoSytnUGdVczZzTVlrU20vbWZHMlV0MWptMVltNHl5eTdVUmFvR3FLa21VbzFVbXFCUjJmU2lNaERhR1NkVDBYVjE3OW93ekpGT3gyNVZQbGNOQS9lR1JFdmRxbVZZM0YxWnBRS2VOZXk2TGxEQk5CWnBkUFdTWTBJS1RtbmZFdGFGZE5md1RocGRIVmtSNVNjbzJiQjhTSFJOWEVaYjNVUDFyb0VwUjF6cThScjZDSGY1TzB6OHMwdC9KTVFuN1VUMWo4c1FHT28xc2lHYkxhb1NGcWtqMWNXT01zREpqc3JTLzVaZ2E1RWoyMVJ1bEszejVWeitEdE9KbS9lVnFyalNVYmEvU3daVkMycjYxTlpvcytlRjViU1hEcDNNazN6djFvSmhkbTBQTXdtYW5SbWxsbHhZb2lvMFhBU2VrV0Nzc2k2M0djME5ZcGk2UWs3QUJPMm1palV0Q0xBdWFkV3VhNFhNWjRBSlZFR0hEMVRZSUhGTGc3UE1KK1NRU05rMFBlQXVmMU51UW13YkZ2aW4xODFiLzlVeXNKTEZ0TGpJRlg1QmgwNEZWUUk2ajZWQWdpMlpxYnRsbXFjaEhSeEk1MGJaQVIrQTdzTm9ZZDJGZjIxeDNtc1NUUjdRZ1Q2dllGQTk1SHNUV1U2N0hDNEt4TW5ncFdKTW13d1FkVjI2VVRHSHZDeHFoN2pzaHFzWWsyQ3NvbVpBWTQrS0ZxOWlxK245VmlsUmEzWWRrb3NmSnRLRStLS095KzZ5MEVuUkk4L01jQ2RVRzlIQ0Y2VG5hckhTSlMvV2syeWovZ3QrSC9QRG1NaDc3cWNMTVJ2NHZFYmY1RUJOYXc5Y1VDVzh3bklxKzNueVVKTW11Zm1hQVVucmlKMkJPdVJHMlFtUHBldVVzYitQdWRDa243STBQMTI0U2N2T25PSnVIK01YVGw4ZmRHRGFUSFJOeCtqNkVLRk5wa053VUZ1OUtSbHVuQkVzS1J0WTd0US8rYkowbVRCV3dZQnNKYWtrTFoyMTNZbVE1YTR5ODZGOEd5dnJWWGdId21VbFBUWnNOWFJZajZFaWdXV0RVcDByY0FGSDJEZHNVMDVkeTRINmhwNy9QdEdWSzRYNnJkL0t4NzRLSDd1UEIwbGF3RVRkMXh5ZGszTnljMGN4RkZRSnB3ZlNjK0J6UnZLczJuek5nQlRhWlpOUmQ4Tzc1VVpaZGNmVit6RzVTMUsvOVp1ODc0dFE2MllFdFhxWUVZcmNtOHlvVE9lVmdmbEpCcjVmem9sS2tqOXRZSXo0Q3JoQ0JDQzEzMFVndEVHSVlzTDMwUVVmTy93UU1hMzFFMkdzZ25EeXZyM2FIckZSQlBXaURQOEo4MUhyNHBVbzcxNUkydEttMzNVVG9ZTzYzSDNRU2tubktzdEFHTG1PQmQ2VDJkQ1ZaeG9kVExnK1JXdjBPakQyU1BLZFlHUXBJYUgwZ1gvNkJCV0wzL2prMys1ck1RZHFMeldoY0U5QnBIT3NvNmcwcWQ2STZ0S3ZWeU5XT25CU2FFTnpOTERUdVZIV09OWnlKbTlUYWwzRXlFcGRTU3RLN0dxR2U0UjQ2YlR5WlREL2ZabWhSbHhsYVpWUDNFN1Y4VVB1UFYxNzRubVFTOWViMy9WQ1RRcHVoQWNQaFAveFlxS0l5L29uendIY0Y3eEVVYjcyOXYyZ3NzcGFxN3diVTZLNUJlTEV4OTF2bDdNcS9CdjlGc1ViOENsYm5LZE5pYXQ3bFdleUxSNXdmdzdEc3d1L1pORkxubGkvaGI0azkrSGsyZHpSSFFobEc4WTlVckloVmN2K293NGdRTE9YUVFHaVRkckMzR09tUVZHVk1ITnVTU1orRW5wVlV0R2JyQis2WHNOaDc3bGNKSlViWmRaNzBCWW1laDFyOGZoNk9QRUNHYlA4YUYxY1hjczJxcGNUS3FBWVMxMFhOTitNSVVTOG9HYUJmUFV0WlRwdmFsZ1hXVFVVdWNacExuWmpWdmt2c043N2thYy9JM1VnK3pUajlKYTNaOU8zWFg0ZHBaOFhaM1h4RnNiMjEyZC9FMFNLaUJSU3VZckNHaGV0N2FoS0pvSmtjdklrUCtlVTgxSllUbWovWXE4ZEk2eEtQelA3eDNaZUZsWUprYzJaV2tUZWpXODc1Uk5uTVJzbm04YlZQUy9LVnV3V1ppbTFpbmlKczMwaldTNTVQM1hudDUrUEFFR0RiTEZuQ25FMzZ4V1NVK0xpRFMrLzR3YjR4VVBOZ0ZOREl0MTJZMTJlZ2JKcU5yblllR1ZyMSthU3BIRitLOGx3aTFaSFhMejFoanVrMkNQR1o1UGNLdC9YcnZQYzlHREJyWVFVdmx2b292Wnpiei83UFNua3MvVlhxNFFWbVFRb1MvQjl2Qy9ibytLVmQ1NTl3N0hSaHVLSVo4dE5QK0dwNzVVQzMzdm5FNnhnZkpNZWdHNTNYTVZWV25obi9kWC9JTVYrci9GTCsxWStuZlJhNll6S2tubFJwcjk5anRVY2tGeEJRQ292aS9pRGJjWit3a0pxUmg0bHVjcFJOa3BGeWV0WlplRlR0OVZ2ZmVObmxrMEF5OCswS2VMbzVSSmY0ZGdjVkFQSFpSSjhnM2hLTHB2NDFJM25QK2RrbHE0U0RvYUdCQUY1VVRaanRqQ3V0NE5TSC8yWEc4OWYvdnRyWFJPdGRBOFo5eXhDbFRHdjF2WTRBbUpXV1pZN0draGROd0dOYktGcXdEZWt2UVVUOWd6aFEraVVsM09ZcEtMbHBhdUVJT0RTNE03a1JWa3JYQkVHaTlXbGFzdE5oMHhyakIvUk04c1ZTaDVjS2xSTlY0cFp4ZjcrY09NQ0Y5MEtUMGg0SVV0UDhqaUYwVFBKbVVGSGdSbnVhMEVvWGFVa3BlM0ZvQ3N2eWpxRmdHRitJVnQ5UGJycEJ4WU5reXg2MytTK2NXUWhNYXZNeVZpZG50SjVvdlArYU9wOFh2ZThidmZpSTNlN3BBcWxxelF4TFBoUE91cFIwRkFGY0V4UzRHcm9JV3Y2TTcwck5nb0k0MVdhUFo0Yk1SMjF5b3grcHR6MHc2WW9iNlM5MmRNSU1VWUt2dncveG5LTmFhV3JGSHo1ZjZUN0p6bFh3cm9YclVRRVJVbXBDbmJtZytody9QbGNqemFYa3hpMXlxemFwSDhuREp1YXcxWUQxZWpCYnI3R0s0T2VhdVFUTVRaWHlTb2grTjhlMHFlNVZ3MWhVTVVMeGJhRjZqZGtWdElnT3B3Zk56Wlp5RGszNHJwRnJRS1VYZjNJKzNBWUZXeVhvc3hadWZMMXRDdzVRNWthVi9XTXhORUpKYXVVVlBOTnhPRWRWZDh1TUp3djRNQloxRGZlKzdFMDNQUlZYd1lBQUFLc1NVUkJWTHlQUGFIbGkydEJXL216VWF2TTZNTVhkcVF2SmVhRFJTV3ZjMjNsM0xQbTEyWjB6cEpWcW9oQ01YdWszM04rVEJ6aGlKS0FMM25adHhjMFYzU2NveExpeEx2elJrR3g2bkdybUVjYW1UZzF6V05EOW9ub1dKT09WdlhEUGxmd1NLYktWV2txZFArRlZWa3Q1aFFiR21VWGdvWm54cHpSOHRGaklETjNObTRWODZ6cndWRE9TWjV6MlhWNk9KN2ptaGgyU3A1RHh2Z3NwYXFVckpmMk1PT2cyTmxEVjZOc1A3RE15bmpuc2hQMmhmdEFicTVzM0NyeUdUeTZleFRLbU04VGtqWXkxVUl4S2ovM3FKOWpVRDlLVlNscGpCVWtjenUxOHo1QTRaWGs2NldFcyt3cFNKTS9IdlRyNU1qTlpRWG1xR1ZZNGxiQklWNjhxMGs2L0xDZXZrTXcxOVVaYTM3a2FpSVBVNWtxTFptdm5zalQ4R0Nlcm4vZ05aalpsYmJVMEIwNWlrN05CTHZPRE1OQVFuTjdZUEhnd241VzZjaStIbVVycncrUEZqbzVGOHpLZUQ0ODI3ZUNsQkpWd2psR3IyQXZNdFdLSFpmSlZ3TmpyZ3lQbkRMeFQ2Yk52b1Nsc1J4Q1A2dkl0Mlp1ampRNmFYN2pLbEttU0N2RGNhZ1lwNHR0b3ZvMlhMU2dSSldTV2pFSEZPdTZlWlFjS3h0RXE4SkJuTzFIT0RhOVQ5ZEdHQWFRVHNaQUtONjg2V2VWRDZkbmZ4aHR0VDBzOEpoOGZiUmVsdGdjdnZobUsxMExTbmtxelkrMUtubTZxUjhEOTBqNU1ndnZFSy9veFZnWHh3aURyMStMU2N4SksyQ1ZxVEYzeExabkJVOGRiZjN5RXFXcGxCU00yR09xZUMrdXh4aEdwMVh6SEVPTkxuWm9qU0pXcVlibmZVTmJpVFB3YitDTmN6eGkxTEpVaW54M2NuRWQ3Q3YxeFVVRU5hZkNRL2FnL0JwbEMxbGxNWHUrVWFSN2tlOFpMaUttbERvbHFaUWNQRlppZ0Q1V2FZOTFITkZINkZCeU1hdHNqaFVKbWs2MStrV0VodUdSdkplalV1U3JreDlKSllhM05abDNZelpjVkg2T2dsYVplR3YrSnZwenZuK2NlTEsvMkdJbDVhaFUrVkt4MWgrNVdrOTVGSXpPclBML3NVdm14NFlrWEc4QUFBQUFTVVZPUks1Q1lJST0iCn0K"/>
    </extobj>
    <extobj name="334E55B0-647D-440b-865C-3EC943EB4CBC-2">
      <extobjdata type="334E55B0-647D-440b-865C-3EC943EB4CBC" data="ewoJIkltZ1NldHRpbmdKc29uIiA6ICJ7XCJkcGlcIjpcIjYwMFwiLFwiZm9ybWF0XCI6XCJQTkdcIixcInRyYW5zcGFyZW50XCI6dHJ1ZSxcImF1dG9cIjp0cnVlfSIsCgkiTGF0ZXgiIDogIklGeGJXaWg0TENCaEtTQmNiM1psY25ObGRIdEVmWHM5ZlNCU0tIZ3NJR0VwSUNzZ1hHZGhiVzFoSUZvb1dDY3NJRUVuS1Z4ZCIsCgkiTGF0ZXhJbWdCYXNlNjQiIDogImlWQk9SdzBLR2dvQUFBQU5TVWhFVWdBQUJGUUFBQUJzQkFNQUFBQzJ0ZnV3QUFBQU1GQk1WRVgvLy84QUFBQUFBQUFBQUFBQUFBQUFBQUFBQUFBQUFBQUFBQUFBQUFBQUFBQUFBQUFBQUFBQUFBQUFBQUFBQUFBdjNhQjdBQUFBRDNSU1RsTUFJdS9OcTkyN21VUXlkbFNKRUdZRi9zaEpBQUFBQ1hCSVdYTUFBQTdFQUFBT3hBR1ZLdzRiQUFBZHZVbEVRVlI0QWUwOVc0d2t5VkhWcy9PZTZlN3hJWVFzMityeHdsbEdZUGZhaHpFU2p4N0F3a2pJbnVYc3c4YVNxWkhGUXlDZ0Z5eHNrQ3g2TUkrenhFZVAvQUdTTFRRanNJVDRNTDBZbTA5NmhNUWh2bnA4K0l3eE92V0FMUkNQMHl5ek4rczczOTBtRVZtVm1SR1pXVmxaMWUzVENycTBtb3JNaklpTXlJek1pSXlxNmsyU0IrNzZ1RERYdzc5NDlNREp0eERvZ1JtQnNiRVVnQzVQSGhqQkZvSThjQ1B3K1U4SWNlK1Bub2JybFYvdGlzdnpCMDdBaFVBUHpBZzBoUGlmWEppdFZIenRnWkZySWNnRE53SmJRdXdxb2JhRk9GRHc0cjRZQVdzRTFvVFkwMVdqeGJhaXgySUIyQ093SXNTNXJsc1c0cll1TElERkNMQVJtQXF4b3l1YVF0elVoUVd3R0FFMkFtTnhTY29UY1orVUZ1QmlCTWdJRE1TenBIUXNya2hwQVM1R2dJeEF5dmFSTm5WSEJHc0JMa1lBb2hPVlZzSEJZRUh1WW5RV0kwQkdnS1pWb0hwVmlGdWtkUUV1UmtDUEFFdXJKQW1jbGc5MDJ3SllqQUFaQWN2andLNXlnN1F1d01VSTZCRmdhUlVacXl3U0szcHdGZ0FkQVo1V1NlQUV0TmhWNlBnc1lEMENQSzJTZEJheGloNmFCY0JIZ0tkVmt2SGlCTVRIWjFGU0kyQ2xWWklKZlhpb2tCYjN4UWdraVpWV1NmcUxiRzA5czJqV0k4dW9aaUtlcGVNcXRGWmFKUkhpYmhYeUJXNCtBczNldlozYWd6RVRjZTFlcXhKYWFaVjF3WjRJVmVYMi94Y2Y4bEgxa3d3ekViOXNZMjZsVldDVGVlbGw2L3YvVWtmSFFqeGZXNStaaUd2M1dwWFFUYXNjVkdXeHdJY1JnT1BBYzdVSFlpYmk1SE9IdFRzMmhJMDNHcmdBc3RJcUZ6Tkd0VnZ2TGVpblVuV0UzSlg0MVVHdXFFa3F4SjA2M1VnYVRmelFlWFVlYTVmMWd5VFNXM3BBQ2w2d3gyT1RXYi91R0x6VzIwdlZ5bks1cTNLc2pGOU5FL2hDUnB4VzdpTW5NTVFyOTZyejJLL3YrR2huVDkwOW8wVVh0dElxY0hSK2c0c1VYN01zanVLUkE1aWxjZ2RvNTlOVVVaTk5NSldTb1daeS9lRXBLUnJpWnZyOXBENEtYQldIVVhobFNJM3UrOE1vY09MWkpSaExNeWJnK3ZYOU5aRWlTVXJsWnRqZmlFSkZUYTRKOXRwcG1VUU5GdGdRNG9ldXFoZ2NkdE9iMTd2UXh5VmR3emRpZTBTdnlXeWZBVjBqbjRrUXJqWEFNcmxyc0t4RVVsV1RhYlVEMENweis0UjRROWhyK3lIWXI2eUxacjZXNi9zOWEwQzJTcDRUZzBHZkd4TFlZdzVNeVlhV3UxVGtoOS82SHpaQ3N2K2lVMVd6b2t6dW1td05XY2tNY0UyV3hlWEQ3M3Jra2NjZXZTNitYYkpRRmRmVlYxUGo0TWlaYm5Ob0xPaElVZUl4dFFQRTNxZURuc0VVWlZJanVuSEV5U29tOUhWOEY2Zk5UandQQlYvWEIxeCtQWHZJR1c2SERJMmpscFpLNUM2bEwwTUl6NENsQ2RFODg3Q200aVRyQ05nZGxuVkoycnZNWFZIaWJiYkxBMGxYanZuVmQ3Lzl3L0w2TlNnU0w3OCt4elRZaWpnaElqcmdrSDRFMU9nNjJ4OGxhUDNkai9SUTdtOERxZC8yc3lsQVY3ZHBlektzRk5reFVxZFFJcmVEWDdVaVBBT1dKcUI1aGkvZWsybmM2dU5BQ1BHdHY1bjNDMk5SUVFKdyszUXpZTVRwMXhtakRlem0zcC9wdWpFVXlhZy9TWjJDUnFvSE5NSkp4QWsxNzQ4ekJiejlEZUEzV002eWxrLzA0SG5SRHNGcWR1Y1ZZUUhURXJsSnQ3WEE4QXg0TkZtWHR2SnAzUmtNaExpbjU2emk4NUFPTXc1TzNPR0hTTEFxOFozNWlFUG5LRGUxcFI1MVJscTRtc0FvYU80MHJRSlNuWloxTWhMR3kyNzAyRjZZWEN1Smk4cDQ4L2F3M0J5M2VpazhBejVOeGpCSjVDdVl0aEJmTXpNSXowTjJLd2pSaHdWbjBEbnhKbitXQk0vbzZPK1lZSWgxeTVDMnFFaW11aWEwRkpwL21sWlpUOFYzbFBheFR5TjllTHVmYm9ZWDVOdm5Va2FsQ0VHNVM2bkxFTUl6NE5NRUtHZytka1ZjN1poT0lNbHdZa3BsRUd3alFoZ2tpN2hMSTk2a3c0S2dacGU3cmltMUc4T3hKdFFLZVNEeXRzcVhVN05mRkhjRm91NmExaDVkYUUxbS9nYXBKaFNVdXlaUFF4YWNBYThtbUNjakRyYkRKdW00VWdJT3JZNkVkUmJ4QmZOQUl6WjlTSG5EYUFISEk3T3prZXE2WUZyb3pwcXZIQW54NC9qYlhwLy81Qk9RUXlydkZsUFFlMFlRVU5Jd1g1NWpNSTVkRk10dEJLZ05CV2ZBcXdsc3dEUjA3VkczQUE4TFdiRkVMQmgxUWV6QklsNWh4dEJqSjZzK3lFQm1hYU5TdHlWU1FmT1lPZ21LanY2RFhEOUFaS0JvRkc0Qi9ybXBRQ00vVk1WanRzNVViZjE3b2R5YTViL3ZhTEFxRUp3QnZ5WURxdXd5VjdaWEpXWm9pZzlTVm9sRnZDVmVNTm8wV1JDTE0wWWZzcTNPZVhXdVVKZGhoSkRmbkVMWDJYWDUxbWRvVXhHTXNoNlpSaXdlcUdKL3Zwc2hmRDI5cTFqNzd4dW1iejlDY1cxNEJ2eWFkRURaUGNWeXdOSlZzT1BvRm9WUmZGOFdYd1JXNXdyQklVNUp5THZGZ3R3SjBKSGhUL3cyclJoWHYyOHl3NnhPVHlrZ0FpUHhXSUxuaUR0NSs3dzN3NlJVYmo2TVZNeFNtSk5hTTFDZ0NTUzI5U0xlNUZZS215MmR3Wkx1aC9maHpHTU9Hdzd4aUlUSTdLa2w3dWtrL1piQWk5QVZ1aTJSQ3B1YjlHQVdnUjlDNmZBQUhFTzlsM0w4VlJaL2haaEV0cFhLM1NyYmRvbzdDczVBZ1Nad0JOQ0Ivd1hOb09IK2JFSzI0azVWUzNvVGw5Z3RWWFNJcDBTdk51MW9ER1RuaWd6dVRSbzhrZnI2NEg1UnNGS2Q1UVZQQU9IcWVEN25NbVZiWlhYV0xrV1ozRE9ZU25BR2lqVHA2bXlJL1lTcVRjTUxWeEZlc3ltT2NIczRVTFVPOFRMaE5pUzdpSjErZzMzM1JjVmtUdmNoQzZsbllycHZUQVA1d092RE9wNGJtUzExcGk0TWNabmNNNWhLY0FhS05FRS9kVnVLTjdRMmtYR1ZaVEo5TnNIRXlnMmxxRU84VHZhb3dVMkZsaVJXK2cyL0x5YzVRWU0zQTlTZUg4ZlV4Q1lvRUlZdWQzTEowcmttNEpCcG1kd3ptRXB3Qm9vMG1hb0pkdDRVMkdkK0lSK1FvdHYrU3pJOXY2dmFYV0x5Q0xkN290QVNPLzJXUUZTcjdVMWp6UWFzem0yZnd0ekNBUkdtQStYYzdEZklVaUFZczRCbGNzOWdLcUVaS05RRXozdlMzVHJ2SDNYSm1hVk00dzBJV25FYzFSSkxYT0srM3FBM3lLblNUcjhseVVEamxYVWEyOTZhVy9TRGtkMEo2UlpDRnlYdDJ0enNVZk12azd1K3FRUm5vRkFUakJVdzA5Ym8wdHdHVkd4VTBmMGFQcE1EVHVvNDRDRytVT3N2YVpHb3RzL1RiNUxMSWZ5ZDV3VXAxcVA1OE1NdzlwQ3c2a0g1TEN1MytUR09JTlVHeStTdWJ5ckJHU2pXSk0zVWZjcCtSWDViejN1RXJoY1lxSFpOak9jaDd1aXp3c2JQYTQ2NHAzRVRoWWhIdDg0TFNObFdNQU5YM0FNSk9TNHpsWW9hbWgyVllNd0dsc2hkMzFTQ00xQ3NDVzZpNEQxUzZZV0lhaXZtNUV0cS9XQ3p1d2NOcVVtUWVJaFh4TmRkNGdsMHpsZjg5dng5UGp4VU9uQzdybE16cGM5ODVPL0c2UmY4SjNNUHNmQmR3YURjOVUyRjZPN09RTEVtR01YZmhIY3REZ2s5Z3RNS0VmMmEzSWI3NXRHamgzalo4OTZRazM1TFFCRDdyTng0SXYySmM1U284YmZpM2JjUkNGeWZmZlR1anpyTkYvTmE4V09UaE1KT09qQjB5dEI3S21qUnZiLzZaNjUrV1JaZW5WNzltSzR0QU9ySVhXb3FHeC9zUHZ6ckJSM20xWjRaY0RWUkxEQno5bHpTSjQ5b3NwYk5keXVNOHZ1eDNERDJUWDdLUXd4Q09ZeGc2TzFqbHBPUTJlaUxTOXozOEZ2SDZ4bmc4RkVWelQ4V2w2bjRwU1Q1VWg1QlpBM0gydmNweEpyM2dkazNrUU5aR3hDb1dWYjhCMEowNVVhNkxTNHpvTGpUZW5LWG1jcFdENFpYdkVsM3U3S3JRUTJNQWVOY2x5VGdhS0tiOGJuNnZXVWJYemRIQWIyYmlBWjdXZUJSTkRoMnRRSVZUeWY5QmcxRGUxb3ZydjRsK1VmY2tWWXZuMG5XKzRFZWtnVCtpNWFkNUhldnp0WjRqTm1tTDFxb3p1dmNVM0xHUytRVElHVWZFR0p4N1ZyaXAzYWFBL1FnL1RlZUpiOFg5dWIxNUM0eGxXWVBaaFl1SldJeTJuTjA5c3lBb3draGdyVWg5ajF4QkVFcEFWdVo5eHFaSU05SDRKaXZtMzREc29ubExOYWtFWS9neWVYK2pTUnA5YXdaWVIxOVVWemhmUFZ2WEhCbnQ2S0RUNFpldVlEcEFCQkNYYkEwWHE5ZzJKc1ZtTjBIOStHK0NSMHZZMmJ6Sy9ZQ1lNZzE1UzR4bFkraW5jQ2wvVVYzaC9XS0JTY0JLaGVBZzZZcWhzanZWSlhxM0ovTWpnRmpIdlRabkZMN1FiV2JmZ09Tdmo1VFovUVRlVUJhRWk5czQ1QVBRcExDbThKeUlsZnVwOXhVNEtzVlc1aGFaVXlybkdwS09MMlpsNkZXcmR6TmRuYWc3SXJiRTVBSkR0bDJCS2JaSkVsZHVjT21nc0ptMTFIVzE3WTZySm11ZlROZ2EyS3c1UysxaGh3SFJTMkFCMWtxL3BpOUp1WGc3cE1IaHJJUm4yckx1YVdvWFI3MXQ3SWhYeE5YeDlBSnFyOUhzUms4ekE5UHNJWEtJRUUzd2t4cGVCYUFwVlUydS9UYmppVnVuTWxGbGdJWWlKL0UwOEU0dU4vV2xUdHNLbklIZ0pIUStlUnBOa3QwQUh3ellHdEM4YTJYSm1sVEhOeVFRV2QySUFoUURDelhnbEVoZmZzdEl5VlBwN0dpODV5c0JobTd0N0xIYzZleXd2TUgvTzc3cytxVVI1L2dCM3ludVgvNldOSDFXeDd1V0lWcGxiTzg3UlA4ZjA5dDg5WFd5QStVSTNHSndSVm9XcnlyVkpVN0Z3QzhzYjMyZEFzQUdJVzg4elhKcTM1Vkgwc25CN1Jkd3I0WnNEUmhOT2lCZ3g5QU1HeFBRYVpxb2I0TmpEek5xbXBrUGJWejAyK0FDVUgyaVNMQWUrOVVsdkJNQjZzVEQvYUhzc0x6NTFpM2pWajBLVGNqbHdvMzM2THJ4TU1lcXFacW9GNzUxekFENWlzWWFPcndmZXhhYmhrWFdWWVN1c3BNM3NmM3VKcmNoa1hRVkZiRTVibEV2Y2dudCttT25IY0dMRTFNZHdnTllNUU9lVldsMGpnZmhqYndnZmtzdXNiV2NFMEEvY2hHQnVkeFR1cGFlWkFCK3dJK0RZQ0gvcTdEVmVpcGJqdTJIQnVzTU1vMEkwQTNWWFFkS0o3OFBpYjRsKzlVKzR2RUdmSkQxc1Z1UmprUzBwLzJRMzZ6b3R4R3BLQ3BETlNacTVsbVo2Qk5kenZ3em9DbGlla09JUnlCUFY1VnFkUTl5TkJ4Zno0c3Bqem1vK2xKL2dBdDFGSVdTM2lPZ0F1aUJMVEhScW9HUU5heVA0RHlocnhpU3FOUEpMUEtHZG9QZ2JqKzYrb3daMlRkQnJDclBJWVhrTjNqVm43QjEwSDNQQ01GaWtPQXZwbTdwNnd0LzF0WmJrMGRNcFYxTTlqL2tBV0VTeTlvd2h6d3o0Q2xDU09DTDNYTmN6N1dFbGZZVmxzSkJrbTNpMms2M0YrUEFmdmN3WVpESjUyRDhXNkdBZHZKSFlUVy95SXJlLzRPalQwQWVNZ3dabHNLbWxXcUhkdmpZQ3RudWg2QWlYaWVGTGZVaWF1ZnUrVGYzeUd0SEt3dmQ4aFV5STllTkxzeW5sVWJuZW5kUHdOY0U0T04wRk13Wjl6VDh2YXlVa2RGYk9qNlRvcXgyOXBCSUE2R1haNWtEcXd4T3FyOTA0eGYyM0lwV1MzNzJ6V1VFenRtS3FkbXJBb0tOSzN5QlpKVFFmUUJDOFJXMVpDRTB3ZXluL3B5aDB4bFNGS1ZGM0tjMHhQWm5mbFRNQU5jRTRNT1VETjlEbVpOTFFQV0ZGZm83K1o0TU0wazdlQVF0OW1EUUUveUJ5bkEzT2hxVlhiVENSb2hFdWJSRElMd1lZbjFRdDk4VElXbFZmYjVEcm92WHBKZFozL2ErYmtVUEo5bk9SREVtZVFPbVVyL3B1bGxCVWRqM1RseEZNd0ExOFJ3QVFnZUZBNWdqbSt6eWdxRkxVMEtzeFdLZVppcFFMQmxaU0t5TGkxVCtVZ3V5TmgyS1k2QWNEalN6dGc1bXVyY2drTldwUUtYd3FFaWdNQXN0d2Rad3dkNDdUUkRBK1BDRUN0MHpTQjN3RlNhMUxkdjRlcFRaekl0UzlFTWNFMDBPZ0x3b0xBRFkzREFLaXNVbHZTTFNyanFBbXphOUVqT2t6OUh1ajhJU2tBdjV4cllMc1hCdU5CeEJDd2dlNEs2b1F5RXc2cW9Bc04yM1FZeElkMjYrbXhYVVZoZ1hIY1VYSEN2S0RkTkJqMHVYazh5UXl3WnBFNk9XYWY0ZW1TSDducFlYVFFEZmsyUVlsbWNTQ3E2UkxBKytwcG9TcGdpS3l2UG1DeFJMOWVuNmJjTmN3SUdCUmhSWGtqWnZQZ3hkT1lYUW1Ocmd1WmpLbE5xSGVCYmxIZEVjWHAybDFKR01LNGJQbUZKWFdwUUl1U09UUWExbU44YkhFQXd0VWM2UmJCb0J2eWFJTVhneFN4ZlRzSWdySTYrR3VMeXVycGc5SGFMQ2FtcGdKOGhiNzh0Z3d6NTVUY1ZDQ2dOaWtKbGQ0elJUZ3dQYTRKUzcwUXlCaEdGSVpNQ09qdzFSUDRCbmpJY2cyMmdpbkxqYWl5NkRneFhDeHJ1d3R1c1I3eXljQWI4bWdEeHRreFVkS0Y3emltNkJCNkRYdFp5cG14Z2llbmlCR2lNN0cxejBQU2JTcm5QeHpocEoyZmZkaVpvUHJzS0NFMGlEeGl6UGExUHdhNHlKc0dOd2FWUVZibXJKNE9ndC9aTDdIMW0yWC9oREJTYXlraEdHaU1ZNkhPcVFUdzh2UGMyZlFFWDdZMWNEbVJYc1pJL0tuc0NOUDVZcGR6bmc0bnBROXpRbWFCdXlERzZraGJVOUFUWm5PakpHZkQ5SG41QVZvZWY2U3h5QjhKYTN0bTFGeEw0eDY3aUdmQnJncTduQm5LWXdpVGZaS3lpQyttQlFZV0ZadllIVTUxRFN5YXNoY21rcHRtL3BaR3RFMUJlWCs3elFRTWQ4RXljQ1pxUHFZRFFjclNrVU9nNVRBbGVnN1hEUnNRcUQ3Rm1rVHZhVk5aZVRJNTNwZFQ2VC9FTStEV0JkODZ5S0I0ZFYyQ1NkUWN1c0ttM2ZXanJrUU9yaTJwTXhVciswQWRaZmxPQkFUMTFHZElhVVAyK0t2ZWNHSmpOcWtLcmVzYzQ0VlFUNGJMYzB5Vy9xWlNIV1BEU1gzMjVvMDJsOVd3eU1KS2owSUVaS0RBVjlVVWhVdXBGYWZTUGdLWTAzT3dUdlYxYWsxZXhraitiMm5YSWh6MDdMdW5ZY1NrMnpvV3hkYzhFQlEveE5xdWlNaHhRVEZvRmM0WDBlWlEzeDFrZVlpV3p5QjF0S3V0M0U3cWlRY0hBREhnMVNaSmo5Y09hS1NoK1ZqUkdvZnI5WGRJNllFY0UwaURCdHNxNU5hRTNuWXlCcGlWeStvTDVPTFFKNFpoV0t0M0l4Qkd3K2tuMGljekFlUFpjcGhza0tjRkJscUxRaEJCV21MaGN2Zzl4cXR2Z0daRFZKelpCaU9WelM0WUszd2JXOFUrczNKbzgybFEycnVnM1lrQWZtZ0d2SnVTTFFqQnVmZGJVb2tRQTZ6cFZpOGlUNEh2WVU3Vng0WmdUTjUrTXlTakRRcnp0OXB1YU1NZHRsRFZnVElxbG01N3dQbG1PVFZIb0R0czByU0xUbHVlNkxSa0xLMjdFSmdpeGJob1VMMVJkYnNNbTNsVEVDcGN1TkFOZVRSTHpSU0drbDBNcEVTT2VCY25IQzdvT0RJN3VGcm8rQXpvcU45S242VGRvNjkweG1PQUt6MDBwaDJCWFVCdlBWNTNHckdMZnVBTVlCN1NhM3puVHFMQmV6M1ZCQVZCWmVCMG9KSG9mc2owVGRLWDduL1dHUlVZMzFVSzE5aWduQWxlWDJ4QkhtMHBEWUdhRlhQM0FESGcxSVY4VW9oOG1hNXR3RFlNakZneVAyYnF6S2RVN00ramxYMHNhVzlRN2dGV2NrcllNaEswbVh4Vk40Z0lZMnNEc2l0TnNnbnBIR2dIb0QzVkJBMVZURkJNMlJOQWg5ZjlUdFE0MGV3REdlb3Vja3RWQU1kQzFudVFWMDBpNU5YMjBxVFNGZWtLZjBRWm53S3NKK2FJUTA5U0JEVUZMWndGTkd0bEI2RU9TR3hZbUZNZTVNY0tRay9SYmtqekpYSTVlaUlTQjhmbWI5TGtMd1VEZmQ1Nlh4M0tDcUZGQm5tdUhJdGVEZXlhc0FBWXBhR0gyTFhoWlZPMTdoUGxBbzR4dWtHb0t6aUozdEtuQTkyeE0vK0FNZURXaFh4VDJRWFBHanVwVENDK3JzRGpENkFDVFFseUk0R1IremtyKzRKZTVsQ2JWTVFmV2Z1a1EveHFmdjhLZWJXQmJmbzNNeHBGTjBCYXhmREExaFRmREhaUWpFdzRseW5TRkhkQ2JINVA5bUJBclBTbm9lQmE1SzVnS2Uxa3lQQU5jazB6c1picWFoNkQ1YVlFNnhkVkRuY3VRT0cxZ2NsYUlQY2hpZmV6cG5DQ3Q4ZTJzVDJNbStJYnpDRkNQOVdGM3FONkpYUDhRL3pRWlVCQVRML2pvQXY0dUU2TUtmZG9pU1dMK1lHeHpxaEZ4Rzg3TytLMGRyRncxeVdJb1RlUi9td054VjI2djYzcEpQZjdUaDlCdXJsbmtybUFxWkREd0E4N1FESEJOcEtUTkhxV0hoVXZueU9paUlGdEhyRzkyYjZwbWVVZFRVUlBHR21RaCt4Z01VemcwRndPYkRiTzNFVDFmVHJLRlBOQmVxWGVTODRXVzB4eVVOK2o2ZGxhR0xRUlRSRXZrRWNPU3p6dFE2aGlZcDFYUWNMS2xlbkdLMU9EanpqUVhRRVZIQ1pMa1h1bWFHbXBvWWNyalZ3NjE1WTQybFNZZFU1bCtZMEx3R1dDYVpDbzlSYU5KVkpWUG1kWTdBeHdkc1pydFMxQkdlenZFQnUvVmxZR05sZnpCVkJiTFBkQlAwWEhwM2dGZVhSWDd0ZFJHaWpPVlI3cFpYOERtUElNdXNqZlBhTXcvNWJnWlh0Vy9lTUEwTkJBcDV5Nm5KNmNhVnNDUmJ1MWtxSENzekUzazRtYmVOb1FXaWE5d1o1RTcybFFhMUhQYTZUZDdCcGdtVXN4R1NuS2tNa3ZGdksxU1JkMGRIYkhoZ293ZGxuRTB6eEh3WFhDMmdVRnFwbnBYbGtqclVENmc2RzFpc2VoVVlaQTNMOVd1MG5rdVI4VVlua1c0b09DZWJNTTV4RzFxLzFRVzVaL2owRk5NZ3hhR3BxeEhmUTdZeU1lQWFnN1dpalk5NnVhN2l2cUFET015RnZESURQdWU3TGVHM05HbXNrRm5wWFFHcUNaU3RNK29oSmdzWlVvYzViRG41dWdJT0p0OHR1U0xzZHd0VUVZd21UdjJ1MWRKSzRXeE82ZG9xMFF1Mk1IRkNiekFkVC8vVFpwbWVwcWo0djdGdy9CZUZna2x3L3NEM0VPYXRQVWk3RnRwOThVd3pEODk1RUQvTWhCWnpUZU9QdG1rQjNJN2FZaXY1ckhLVTNxL1Q0R01lRWJvYlFhNW8wMWxuVGhIdVo1dkdEWGRHYUNhSU40M3NUVUNGWDFRNGdCYi9KZXJvMHkzYzJTY3dEMWVaVW90R2ZoQk4rYmowMWM5QVFUVXlRTTJSTEthQnJ3aVRrZC9yNU01cWFmMGN5cDRWMEU1cFJ5N2t6bVpsamlST2FSdGNnQ0N0YnluZWRZRjhCTVkzVDB3QVVYa3RqYmV6VGhPaURtTzVGQ3VQZ3RienhtME50TzlEQ2NiWlJXM1pIVXp5QjF0S3R0bVNLVUk0Um1nbW9Ed1g4R2h2cTBVZ1B0dll3VmROYVFOUVJnWjVYanpGdmo1R0lHL2VtT3VqUjdVOERWakdzRWx3a2pqUG5INWlMemU4aWpBZURGSGdpL0d3dWFUWFExeGRRSjcxUlhzWHpoTDYrcmJOUGxsbVhKS09lNVc5aC9GN2QrSHd3Z2dIMU01dW56anlpa3EzRDc1bjMrYW9xamY5K2YvZFpTVEhXY25vSVlheFNIUnZDUGVCMWo3TnlGazN3UGdvOFpzTDRBSkgrVVo1STQybFd2RXhzdG5nR3J5NVE5MlVXOXhxYytici82QXJCQjMzLzZSczN3b3JKdXQ0L29UcVNSNTYrMGNzZm5mSDhxNGZ0ZUgvOTZpellwTEdFSzBzMzdZWDc3SzJNOGZqZTdlVHJiUzkrUHA4eDNKUC9mMVBpNU50N3ZIK2htTDl5YU52N2s2eEhEb2NJdjhNQ3VHL0FWYU1RYkZCWXo1MWFWTUVBOUVZRFlmVnhOUGYyMXFVM3h2a253TzF1NDIvS3hHODYrSVU0YmQ4SkxNRzNaWlgrNW9VMm1USVM2ZkFhckp2bEpiblNlU1ZOVll1N29aUFZ0SDNlTnVqb05EbDE5bUVSbDZUSTY4aEpsWjl3SkxvQmYxRmx0ZDhiRDhFWk5XVnp3cTdoNGF2TTNlKzZZM1RCR2dSazljWmVKL0VYNVJpd3lPRzFNeHVvZ0MwYzI0bVFuOHIxUHdjMUszY25xNWFTcGVuOEhmR1hzSGxQNVZYSFhGOTZocXVQL0oxYWY1TGpxRDNOR21NbnpPU0ZBK0ExU1R5ZVhEanozeUZ2anZsZlY0OXNWMXFIcmtzZXRaeXNzd05wQ2w0elZ4SFhsa0IyREVnbERrK21QdmtteGg5L0JjSTNaaTh5RGtWVU16Ry9DVzNnOTMzd05yRjloLzRQTG5KR0FJMjl4VUV2aVJ2TmM5STVzZjc3MmI0dkwvS3R3d2lJZGU4WnFuSmZMVG4zK0ZKb0xmcUlQZnB0TzZycE1ZSzBrKysrYXIzNUNZLzlaOVhRWm91c1F5bGZweVI1dktRRzJGUm9nQXhEVUpJQWFhYkIwRHFKNm1mbVRBc0NUSUd2RHcwVlhUQXcyR2dXa1dGSWVScXJjMlB2WG81UzhZc200Z3BXU3dJRTcwYjdvVUpZZkw1STQybGZTT2gzdHhWYXdteFJ6aWRmVHhnTFRLbWEvZXFRUC83dFI1SzQ1dmVhdmR5cEgyRW03Yi9Hb21ZaStLMllhS2JrcXh5K1NPTlpWbTVINnVCSXJWUk9HNzkzZ2RYVnBNd2tRT0VkaVVqOTZ0RzUrNGRkNmFsQ1JTdlFoenFaem1pWjB5Wmx2YTdaZGhsc2tkYXlyc0xZK3lUcUU5VnBOaVZ2RTYrbmlzaU9kOTFaNjZzdjh4U1pFTURoVVV2amVzNDNnWXUzWXIvUStQUWt6V0l2MHIvQ3BNaWNkdmxiNWpsOGxSOVpkbVl6VXAxakphUnkrTFR2UXVHSXZaOWZialZsby9ZdXNpektlbWRHYnpicFppQTRkU3VkY2poM1RKWktxaVZJM1ZwSmhadEk1ZUZvUElxQS9UZEZIN3owYkptdE5TVEVOWmFJMDFPekNJODNQSE55SzdLcGY3emJlaldCM1RaRzBNUmFRbXhheWlkZlN4YUtwWE4zeU52QzRTZFUyZlV6bTVVNXJFVGFGRFY3V2lmR29seDhGNUpPTzV5WjE5UVJyWks2SkZhbExNTVZwSEg0dnR1SzFDa3NhTjBaT1JHM2t6OWtUbEU3dEtYWnlLelZpL09UKzVlOUdCZEs1dW5DYkZZeE90bzVmRk5QSW9pY1FyVWJpRFUyOUhUcVhudnlaeWNPWlRrY2FjOHVHajBMaHJmbkpYV0tXNWFGR2FGS3NScmFPWHhTUXlxNExFNnpGSnVJWitCOUhibjZuc2lITlQrSVpDdzVod3JQT0dTQm5tSnZkRzVDbWV5QldsQ2NHM3dHZ2RMVHBaYkpnTXVLL1pxaHRFeEdIWFlrT1ZYbXo0YXdsUnZiaEdIMGtVa2ZmT2kxcXMrcm5KYmYxUDYxWTMzbUtVSmw1S1dSbXRvNC9GdGNoelhVYnIrVC9LSEthREE2ZktXOUhTdjJicmJaNXJaVnFlWlZ5TFRldlBUMjc4WGE2cVY0UW14U3lqZGZTeXVJaDFGNUs2VWU1ZFc3RU1wekZld1N0ejljcE8rVm5ySXRiL3pFL3VxbWtWMUR0Q2srTGhpZGJSeDZJWkUzMFF3ckY1VDR2VVVuQVlsWHNCaW43VjhKLzJVaEhlVXY4ZlJDSGRlcmt4NWJUems3dXQzelVwRk10cEtOZkVJZEVWOFRwcUVnS3NWdHdETjB2OTFWL3VFUFlCY08xbGVWU29CQmlWeFVWYmIxS29KZmM1eW4xY1o3R1VhbElzZjdTT1hoYURjaWZPNlNZeDUwNU80aTlWVGovNTJVVFdia2NkODJPWXpWRnU5dTVvVE4rSU16OU5ZbnZNOEtySDROdml0Rm9YQmRoYmM1dTdnZzZzNmtsczFzU2lzNHZ6bEhzdEx2MXZpVEF2VFN5MlpjVng5VDFpRkhzV0R2ZDlYSFU3QzdNcmJkMmNVeExuNVpiYlZXeGVtcmljUXpVYk5lS0ZyZWo0TDlSenMyS01GT0lWMXphT0RiZUQ3RjUrdVYxeDVxT0p5emRZTTYwVFYzMUxaTndhN0xuNWc4SG1iMEJqNDFmbXdmVGxsOXVWZWo2YXVIeUROVi9Rcy82L1c0WG9RSjlQUVR3QUFBQUFTVVZPUks1Q1lJST0iCn0K"/>
    </extobj>
    <extobj name="334E55B0-647D-440b-865C-3EC943EB4CBC-3">
      <extobjdata type="334E55B0-647D-440b-865C-3EC943EB4CBC" data="ewoJIkltZ1NldHRpbmdKc29uIiA6ICJ7XCJkcGlcIjpcIjYwMFwiLFwiZm9ybWF0XCI6XCJQTkdcIixcInRyYW5zcGFyZW50XCI6dHJ1ZSxcImF1dG9cIjp0cnVlfSIsCgkiTGF0ZXgiIDogIklGeGJXaWg0TENCaEtTQmNiM1psY25ObGRIdEVmWHM5ZlNCU0tIZ3NJR0VwSUNzZ1hHZGhiVzFoSUZvb1dDY3NJRUVuS1Z4ZCIsCgkiTGF0ZXhJbWdCYXNlNjQiIDogImlWQk9SdzBLR2dvQUFBQU5TVWhFVWdBQUJGUUFBQUJzQkFNQUFBQzJ0ZnV3QUFBQU1GQk1WRVgvLy84QUFBQUFBQUFBQUFBQUFBQUFBQUFBQUFBQUFBQUFBQUFBQUFBQUFBQUFBQUFBQUFBQUFBQUFBQUFBQUFBdjNhQjdBQUFBRDNSU1RsTUFJdS9OcTkyN21VUXlkbFNKRUdZRi9zaEpBQUFBQ1hCSVdYTUFBQTdFQUFBT3hBR1ZLdzRiQUFBZHZVbEVRVlI0QWUwOVc0d2t5VkhWcy9PZTZlN3hJWVFzMityeHdsbEdZUGZhaHpFU2p4N0F3a2pJbnVYc3c4YVNxWkhGUXlDZ0Z5eHNrQ3g2TUkrenhFZVAvQUdTTFRRanNJVDRNTDBZbTA5NmhNUWh2bnA4K0l3eE92V0FMUkNQMHl5ek4rczczOTBtRVZtVm1SR1pXVmxaMWUzVENycTBtb3JNaklpTXlJek1pSXlxNmsyU0IrNzZ1RERYdzc5NDlNREp0eERvZ1JtQnNiRVVnQzVQSGhqQkZvSThjQ1B3K1U4SWNlK1Bub2JybFYvdGlzdnpCMDdBaFVBUHpBZzBoUGlmWEppdFZIenRnWkZySWNnRE53SmJRdXdxb2JhRk9GRHc0cjRZQVdzRTFvVFkwMVdqeGJhaXgySUIyQ093SXNTNXJsc1c0cll1TElERkNMQVJtQXF4b3l1YVF0elVoUVd3R0FFMkFtTnhTY29UY1orVUZ1QmlCTWdJRE1TenBIUXNya2hwQVM1R2dJeEF5dmFSTm5WSEJHc0JMa1lBb2hPVlZzSEJZRUh1WW5RV0kwQkdnS1pWb0hwVmlGdWtkUUV1UmtDUEFFdXJKQW1jbGc5MDJ3SllqQUFaQWN2andLNXlnN1F1d01VSTZCRmdhUlVacXl3U0szcHdGZ0FkQVo1V1NlQUV0TmhWNlBnc1lEMENQSzJTZEJheGloNmFCY0JIZ0tkVmt2SGlCTVRIWjFGU0kyQ2xWWklKZlhpb2tCYjN4UWdraVpWV1NmcUxiRzA5czJqV0k4dW9aaUtlcGVNcXRGWmFKUkhpYmhYeUJXNCtBczNldlozYWd6RVRjZTFlcXhKYWFaVjF3WjRJVmVYMi94Y2Y4bEgxa3d3ekViOXNZMjZsVldDVGVlbGw2L3YvVWtmSFFqeGZXNStaaUd2M1dwWFFUYXNjVkdXeHdJY1JnT1BBYzdVSFlpYmk1SE9IdFRzMmhJMDNHcmdBc3RJcUZ6Tkd0VnZ2TGVpblVuV0UzSlg0MVVHdXFFa3F4SjA2M1VnYVRmelFlWFVlYTVmMWd5VFNXM3BBQ2w2d3gyT1RXYi91R0x6VzIwdlZ5bks1cTNLc2pGOU5FL2hDUnB4VzdpTW5NTVFyOTZyejJLL3YrR2huVDkwOW8wVVh0dElxY0hSK2c0c1VYN01zanVLUkE1aWxjZ2RvNTlOVVVaTk5NSldTb1daeS9lRXBLUnJpWnZyOXBENEtYQldIVVhobFNJM3UrOE1vY09MWkpSaExNeWJnK3ZYOU5aRWlTVXJsWnRqZmlFSkZUYTRKOXRwcG1VUU5GdGdRNG9ldXFoZ2NkdE9iMTd2UXh5VmR3emRpZTBTdnlXeWZBVjBqbjRrUXJqWEFNcmxyc0t4RVVsV1RhYlVEMENweis0UjRROWhyK3lIWXI2eUxacjZXNi9zOWEwQzJTcDRUZzBHZkd4TFlZdzVNeVlhV3UxVGtoOS82SHpaQ3N2K2lVMVd6b2t6dW1td05XY2tNY0UyV3hlWEQ3M3Jra2NjZXZTNitYYkpRRmRmVlYxUGo0TWlaYm5Ob0xPaElVZUl4dFFQRTNxZURuc0VVWlZJanVuSEV5U29tOUhWOEY2Zk5UandQQlYvWEIxeCtQWHZJR1c2SERJMmpscFpLNUM2bEwwTUl6NENsQ2RFODg3Q200aVRyQ05nZGxuVkoycnZNWFZIaWJiYkxBMGxYanZuVmQ3Lzl3L0w2TlNnU0w3OCt4elRZaWpnaElqcmdrSDRFMU9nNjJ4OGxhUDNkai9SUTdtOERxZC8yc3lsQVY3ZHBlektzRk5reFVxZFFJcmVEWDdVaVBBT1dKcUI1aGkvZWsybmM2dU5BQ1BHdHY1bjNDMk5SUVFKdyszUXpZTVRwMXhtakRlem0zcC9wdWpFVXlhZy9TWjJDUnFvSE5NSkp4QWsxNzQ4ekJiejlEZUEzV002eWxrLzA0SG5SRHNGcWR1Y1ZZUUhURXJsSnQ3WEE4QXg0TkZtWHR2SnAzUmtNaExpbjU2emk4NUFPTXc1TzNPR0hTTEFxOFozNWlFUG5LRGUxcFI1MVJscTRtc0FvYU80MHJRSlNuWloxTWhMR3kyNzAyRjZZWEN1Smk4cDQ4L2F3M0J5M2VpazhBejVOeGpCSjVDdVl0aEJmTXpNSXowTjJLd2pSaHdWbjBEbnhKbitXQk0vbzZPK1lZSWgxeTVDMnFFaW11aWEwRkpwL21sWlpUOFYzbFBheFR5TjllTHVmYm9ZWDVOdm5Va2FsQ0VHNVM2bkxFTUl6NE5NRUtHZytka1ZjN1poT0lNbHdZa3BsRUd3alFoZ2tpN2hMSTk2a3c0S2dacGU3cmltMUc4T3hKdFFLZVNEeXRzcVhVN05mRkhjRm91NmExaDVkYUUxbS9nYXBKaFNVdXlaUFF4YWNBYThtbUNjakRyYkRKdW00VWdJT3JZNkVkUmJ4QmZOQUl6WjlTSG5EYUFISEk3T3prZXE2WUZyb3pwcXZIQW54NC9qYlhwLy81Qk9RUXlydkZsUFFlMFlRVU5Jd1g1NWpNSTVkRk10dEJLZ05CV2ZBcXdsc3dEUjA3VkczQUE4TFdiRkVMQmgxUWV6QklsNWh4dEJqSjZzK3lFQm1hYU5TdHlWU1FmT1lPZ21LanY2RFhEOUFaS0JvRkc0Qi9ybXBRQ00vVk1WanRzNVViZjE3b2R5YTViL3ZhTEFxRUp3QnZ5WURxdXd5VjdaWEpXWm9pZzlTVm9sRnZDVmVNTm8wV1JDTE0wWWZzcTNPZVhXdVVKZGhoSkRmbkVMWDJYWDUxbWRvVXhHTXNoNlpSaXdlcUdKL3Zwc2hmRDI5cTFqNzd4dW1iejlDY1cxNEJ2eWFkRURaUGNWeXdOSlZzT1BvRm9WUmZGOFdYd1JXNXdyQklVNUp5THZGZ3R3SjBKSGhUL3cyclJoWHYyOHl3NnhPVHlrZ0FpUHhXSUxuaUR0NSs3dzN3NlJVYmo2TVZNeFNtSk5hTTFDZ0NTUzI5U0xlNUZZS215MmR3Wkx1aC9maHpHTU9Hdzd4aUlUSTdLa2w3dWtrL1piQWk5QVZ1aTJSQ3B1YjlHQVdnUjlDNmZBQUhFTzlsM0w4VlJaL2haaEV0cFhLM1NyYmRvbzdDczVBZ1Nad0JOQ0Ivd1hOb09IK2JFSzI0azVWUzNvVGw5Z3RWWFNJcDBTdk51MW9ER1RuaWd6dVRSbzhrZnI2NEg1UnNGS2Q1UVZQQU9IcWVEN25NbVZiWlhYV0xrV1ozRE9ZU25BR2lqVHA2bXlJL1lTcVRjTUxWeEZlc3ltT2NIczRVTFVPOFRMaE5pUzdpSjErZzMzM1JjVmtUdmNoQzZsbllycHZUQVA1d092RE9wNGJtUzExcGk0TWNabmNNNWhLY0FhS05FRS9kVnVLTjdRMmtYR1ZaVEo5TnNIRXlnMmxxRU84VHZhb3dVMkZsaVJXK2cyL0x5YzVRWU0zQTlTZUg4ZlV4Q1lvRUlZdWQzTEowcmttNEpCcG1kd3ptRXB3Qm9vMG1hb0pkdDRVMkdkK0lSK1FvdHYrU3pJOXY2dmFYV0x5Q0xkN290QVNPLzJXUUZTcjdVMWp6UWFzem0yZnd0ekNBUkdtQStYYzdEZklVaUFZczRCbGNzOWdLcUVaS05RRXozdlMzVHJ2SDNYSm1hVk00dzBJV25FYzFSSkxYT0srM3FBM3lLblNUcjhseVVEamxYVWEyOTZhVy9TRGtkMEo2UlpDRnlYdDJ0enNVZk12azd1K3FRUm5vRkFUakJVdzA5Ym8wdHdHVkd4VTBmMGFQcE1EVHVvNDRDRytVT3N2YVpHb3RzL1RiNUxMSWZ5ZDV3VXAxcVA1OE1NdzlwQ3c2a0g1TEN1MytUR09JTlVHeStTdWJ5ckJHU2pXSk0zVWZjcCtSWDViejN1RXJoY1lxSFpOak9jaDd1aXp3c2JQYTQ2NHAzRVRoWWhIdDg0TFNObFdNQU5YM0FNSk9TNHpsWW9hbWgyVllNd0dsc2hkMzFTQ00xQ3NDVzZpNEQxUzZZV0lhaXZtNUV0cS9XQ3p1d2NOcVVtUWVJaFh4TmRkNGdsMHpsZjg5dng5UGp4VU9uQzdybE16cGM5ODVPL0c2UmY4SjNNUHNmQmR3YURjOVUyRjZPN09RTEVtR01YZmhIY3REZ2s5Z3RNS0VmMmEzSWI3NXRHamgzalo4OTZRazM1TFFCRDdyTng0SXYySmM1U284YmZpM2JjUkNGeWZmZlR1anpyTkYvTmE4V09UaE1KT09qQjB5dEI3S21qUnZiLzZaNjUrV1JaZW5WNzltSzR0QU9ySVhXb3FHeC9zUHZ6ckJSM20xWjRaY0RWUkxEQno5bHpTSjQ5b3NwYk5keXVNOHZ1eDNERDJUWDdLUXd4Q09ZeGc2TzFqbHBPUTJlaUxTOXozOEZ2SDZ4bmc4RkVWelQ4V2w2bjRwU1Q1VWg1QlpBM0gydmNweEpyM2dkazNrUU5aR3hDb1dWYjhCMEowNVVhNkxTNHpvTGpUZW5LWG1jcFdENFpYdkVsM3U3S3JRUTJNQWVOY2x5VGdhS0tiOGJuNnZXVWJYemRIQWIyYmlBWjdXZUJSTkRoMnRRSVZUeWY5QmcxRGUxb3ZydjRsK1VmY2tWWXZuMG5XKzRFZWtnVCtpNWFkNUhldnp0WjRqTm1tTDFxb3p1dmNVM0xHUytRVElHVWZFR0p4N1ZyaXAzYWFBL1FnL1RlZUpiOFg5dWIxNUM0eGxXWVBaaFl1SldJeTJuTjA5c3lBb3draGdyVWg5ajF4QkVFcEFWdVo5eHFaSU05SDRKaXZtMzREc29ubExOYWtFWS9neWVYK2pTUnA5YXdaWVIxOVVWemhmUFZ2WEhCbnQ2S0RUNFpldVlEcEFCQkNYYkEwWHE5ZzJKc1ZtTjBIOStHK0NSMHZZMmJ6Sy9ZQ1lNZzE1UzR4bFkraW5jQ2wvVVYzaC9XS0JTY0JLaGVBZzZZcWhzanZWSlhxM0ovTWpnRmpIdlRabkZMN1FiV2JmZ09Tdmo1VFovUVRlVUJhRWk5czQ1QVBRcExDbThKeUlsZnVwOXhVNEtzVlc1aGFaVXlybkdwS09MMlpsNkZXcmR6TmRuYWc3SXJiRTVBSkR0bDJCS2JaSkVsZHVjT21nc0ptMTFIVzE3WTZySm11ZlROZ2EyS3c1UysxaGh3SFJTMkFCMWtxL3BpOUp1WGc3cE1IaHJJUm4yckx1YVdvWFI3MXQ3SWhYeE5YeDlBSnFyOUhzUms4ekE5UHNJWEtJRUUzd2t4cGVCYUFwVlUydS9UYmppVnVuTWxGbGdJWWlKL0UwOEU0dU4vV2xUdHNLbklIZ0pIUStlUnBOa3QwQUh3ellHdEM4YTJYSm1sVEhOeVFRV2QySUFoUURDelhnbEVoZmZzdEl5VlBwN0dpODV5c0JobTd0N0xIYzZleXd2TUgvTzc3cytxVVI1L2dCM3ludVgvNldOSDFXeDd1V0lWcGxiTzg3UlA4ZjA5dDg5WFd5QStVSTNHSndSVm9XcnlyVkpVN0Z3QzhzYjMyZEFzQUdJVzg4elhKcTM1Vkgwc25CN1Jkd3I0WnNEUmhOT2lCZ3g5QU1HeFBRYVpxb2I0TmpEek5xbXBrUGJWejAyK0FDVUgyaVNMQWUrOVVsdkJNQjZzVEQvYUhzc0x6NTFpM2pWajBLVGNqbHdvMzM2THJ4TU1lcXFacW9GNzUxekFENWlzWWFPcndmZXhhYmhrWFdWWVN1c3BNM3NmM3VKcmNoa1hRVkZiRTVibEV2Y2dudCttT25IY0dMRTFNZHdnTllNUU9lVldsMGpnZmhqYndnZmtzdXNiV2NFMEEvY2hHQnVkeFR1cGFlWkFCK3dJK0RZQ0gvcTdEVmVpcGJqdTJIQnVzTU1vMEkwQTNWWFFkS0o3OFBpYjRsKzlVKzR2RUdmSkQxc1Z1UmprUzBwLzJRMzZ6b3R4R3BLQ3BETlNacTVsbVo2Qk5kenZ3em9DbGlla09JUnlCUFY1VnFkUTl5TkJ4Zno0c3Bqem1vK2xKL2dBdDFGSVdTM2lPZ0F1aUJMVEhScW9HUU5heVA0RHlocnhpU3FOUEpMUEtHZG9QZ2JqKzYrb3daMlRkQnJDclBJWVhrTjNqVm43QjEwSDNQQ01GaWtPQXZwbTdwNnd0LzF0WmJrMGRNcFYxTTlqL2tBV0VTeTlvd2h6d3o0Q2xDU09DTDNYTmN6N1dFbGZZVmxzSkJrbTNpMms2M0YrUEFmdmN3WVpESjUyRDhXNkdBZHZKSFlUVy95SXJlLzRPalQwQWVNZ3dabHNLbWxXcUhkdmpZQ3RudWg2QWlYaWVGTGZVaWF1ZnUrVGYzeUd0SEt3dmQ4aFV5STllTkxzeW5sVWJuZW5kUHdOY0U0T04wRk13Wjl6VDh2YXlVa2RGYk9qNlRvcXgyOXBCSUE2R1haNWtEcXd4T3FyOTA0eGYyM0lwV1MzNzJ6V1VFenRtS3FkbXJBb0tOSzN5QlpKVFFmUUJDOFJXMVpDRTB3ZXluL3B5aDB4bFNGS1ZGM0tjMHhQWm5mbFRNQU5jRTRNT1VETjlEbVpOTFFQV0ZGZm83K1o0TU0wazdlQVF0OW1EUUUveUJ5bkEzT2hxVlhiVENSb2hFdWJSRElMd1lZbjFRdDk4VElXbFZmYjVEcm92WHBKZFozL2ErYmtVUEo5bk9SREVtZVFPbVVyL3B1bGxCVWRqM1RseEZNd0ExOFJ3QVFnZUZBNWdqbSt6eWdxRkxVMEtzeFdLZVppcFFMQmxaU0t5TGkxVCtVZ3V5TmgyS1k2QWNEalN6dGc1bXVyY2drTldwUUtYd3FFaWdNQXN0d2Rad3dkNDdUUkRBK1BDRUN0MHpTQjN3RlNhMUxkdjRlcFRaekl0UzlFTWNFMDBPZ0x3b0xBRFkzREFLaXNVbHZTTFNyanFBbXphOUVqT2t6OUh1ajhJU2tBdjV4cllMc1hCdU5CeEJDd2dlNEs2b1F5RXc2cW9Bc04yM1FZeElkMjYrbXhYVVZoZ1hIY1VYSEN2S0RkTkJqMHVYazh5UXl3WnBFNk9XYWY0ZW1TSDducFlYVFFEZmsyUVlsbWNTQ3E2UkxBKytwcG9TcGdpS3l2UG1DeFJMOWVuNmJjTmN3SUdCUmhSWGtqWnZQZ3hkT1lYUW1Ocmd1WmpLbE5xSGVCYmxIZEVjWHAybDFKR01LNGJQbUZKWFdwUUl1U09UUWExbU44YkhFQXd0VWM2UmJCb0J2eWFJTVhneFN4ZlRzSWdySTYrR3VMeXVycGc5SGFMQ2FtcGdKOGhiNzh0Z3d6NTVUY1ZDQ2dOaWtKbGQ0elJUZ3dQYTRKUzcwUXlCaEdGSVpNQ09qdzFSUDRCbmpJY2cyMmdpbkxqYWl5NkRneFhDeHJ1d3R1c1I3eXljQWI4bWdEeHRreFVkS0Y3emltNkJCNkRYdFp5cG14Z2llbmlCR2lNN0cxejBQU2JTcm5QeHpocEoyZmZkaVpvUHJzS0NFMGlEeGl6UGExUHdhNHlKc0dOd2FWUVZibXJKNE9ndC9aTDdIMW0yWC9oREJTYXlraEdHaU1ZNkhPcVFUdzh2UGMyZlFFWDdZMWNEbVJYc1pJL0tuc0NOUDVZcGR6bmc0bnBROXpRbWFCdXlERzZraGJVOUFUWm5PakpHZkQ5SG41QVZvZWY2U3h5QjhKYTN0bTFGeEw0eDY3aUdmQnJncTduQm5LWXdpVGZaS3lpQyttQlFZV0ZadllIVTUxRFN5YXNoY21rcHRtL3BaR3RFMUJlWCs3elFRTWQ4RXljQ1pxUHFZRFFjclNrVU9nNVRBbGVnN1hEUnNRcUQ3Rm1rVHZhVk5aZVRJNTNwZFQ2VC9FTStEV0JkODZ5S0I0ZFYyQ1NkUWN1c0ttM2ZXanJrUU9yaTJwTXhVciswQWRaZmxPQkFUMTFHZElhVVAyK0t2ZWNHSmpOcWtLcmVzYzQ0VlFUNGJMYzB5Vy9xWlNIV1BEU1gzMjVvMDJsOVd3eU1KS2owSUVaS0RBVjlVVWhVdXBGYWZTUGdLWTAzT3dUdlYxYWsxZXhraitiMm5YSWh6MDdMdW5ZY1NrMnpvV3hkYzhFQlEveE5xdWlNaHhRVEZvRmM0WDBlWlEzeDFrZVlpV3p5QjF0S3V0M0U3cWlRY0hBREhnMVNaSmo5Y09hS1NoK1ZqUkdvZnI5WGRJNllFY0UwaURCdHNxNU5hRTNuWXlCcGlWeStvTDVPTFFKNFpoV0t0M0l4Qkd3K2tuMGljekFlUFpjcGhza0tjRkJscUxRaEJCV21MaGN2Zzl4cXR2Z0daRFZKelpCaU9WelM0WUszd2JXOFUrczNKbzgybFEycnVnM1lrQWZtZ0d2SnVTTFFqQnVmZGJVb2tRQTZ6cFZpOGlUNEh2WVU3Vng0WmdUTjUrTXlTakRRcnp0OXB1YU1NZHRsRFZnVElxbG01N3dQbG1PVFZIb0R0czByU0xUbHVlNkxSa0xLMjdFSmdpeGJob1VMMVJkYnNNbTNsVEVDcGN1TkFOZVRSTHpSU0drbDBNcEVTT2VCY25IQzdvT0RJN3VGcm8rQXpvcU45S242VGRvNjkweG1PQUt6MDBwaDJCWFVCdlBWNTNHckdMZnVBTVlCN1NhM3puVHFMQmV6M1ZCQVZCWmVCMG9KSG9mc2owVGRLWDduL1dHUlVZMzFVSzE5aWduQWxlWDJ4QkhtMHBEWUdhRlhQM0FESGcxSVY4VW9oOG1hNXR3RFlNakZneVAyYnF6S2RVN00ramxYMHNhVzlRN2dGV2NrcllNaEswbVh4Vk40Z0lZMnNEc2l0TnNnbnBIR2dIb0QzVkJBMVZURkJNMlJOQWg5ZjlUdFE0MGV3REdlb3Vja3RWQU1kQzFudVFWMDBpNU5YMjBxVFNGZWtLZjBRWm53S3NKK2FJUTA5U0JEVUZMWndGTkd0bEI2RU9TR3hZbUZNZTVNY0tRay9SYmtqekpYSTVlaUlTQjhmbWI5TGtMd1VEZmQ1Nlh4M0tDcUZGQm5tdUhJdGVEZXlhc0FBWXBhR0gyTFhoWlZPMTdoUGxBbzR4dWtHb0t6aUozdEtuQTkyeE0vK0FNZURXaFh4VDJRWFBHanVwVENDK3JzRGpENkFDVFFseUk0R1IremtyKzRKZTVsQ2JWTVFmV2Z1a1EveHFmdjhLZWJXQmJmbzNNeHBGTjBCYXhmREExaFRmREhaUWpFdzRseW5TRkhkQ2JINVA5bUJBclBTbm9lQmE1SzVnS2Uxa3lQQU5jazB6c1picWFoNkQ1YVlFNnhkVkRuY3VRT0cxZ2NsYUlQY2hpZmV6cG5DQ3Q4ZTJzVDJNbStJYnpDRkNQOVdGM3FONkpYUDhRL3pRWlVCQVRML2pvQXY0dUU2TUtmZG9pU1dMK1lHeHpxaEZ4Rzg3TytLMGRyRncxeVdJb1RlUi9td054VjI2djYzcEpQZjdUaDlCdXJsbmtybUFxWkREd0E4N1FESEJOcEtUTkhxV0hoVXZueU9paUlGdEhyRzkyYjZwbWVVZFRVUlBHR21RaCt4Z01VemcwRndPYkRiTzNFVDFmVHJLRlBOQmVxWGVTODRXVzB4eVVOK2o2ZGxhR0xRUlRSRXZrRWNPU3p6dFE2aGlZcDFYUWNMS2xlbkdLMU9EanpqUVhRRVZIQ1pMa1h1bWFHbXBvWWNyalZ3NjE1WTQybFNZZFU1bCtZMEx3R1dDYVpDbzlSYU5KVkpWUG1kWTdBeHdkc1pydFMxQkdlenZFQnUvVmxZR05sZnpCVkJiTFBkQlAwWEhwM2dGZVhSWDd0ZFJHaWpPVlI3cFpYOERtUElNdXNqZlBhTXcvNWJnWlh0Vy9lTUEwTkJBcDV5Nm5KNmNhVnNDUmJ1MWtxSENzekUzazRtYmVOb1FXaWE5d1o1RTcybFFhMUhQYTZUZDdCcGdtVXN4R1NuS2tNa3ZGdksxU1JkMGRIYkhoZ293ZGxuRTB6eEh3WFhDMmdVRnFwbnBYbGtqclVENmc2RzFpc2VoVVlaQTNMOVd1MG5rdVI4VVlua1c0b09DZWJNTTV4RzFxLzFRVzVaL2owRk5NZ3hhR3BxeEhmUTdZeU1lQWFnN1dpalk5NnVhN2l2cUFET015RnZESURQdWU3TGVHM05HbXNrRm5wWFFHcUNaU3RNK29oSmdzWlVvYzViRG41dWdJT0p0OHR1U0xzZHd0VUVZd21UdjJ1MWRKSzRXeE82ZG9xMFF1Mk1IRkNiekFkVC8vVFpwbWVwcWo0djdGdy9CZUZna2x3L3NEM0VPYXRQVWk3RnRwOThVd3pEODk1RUQvTWhCWnpUZU9QdG1rQjNJN2FZaXY1ckhLVTNxL1Q0R01lRWJvYlFhNW8wMWxuVGhIdVo1dkdEWGRHYUNhSU40M3NUVUNGWDFRNGdCYi9KZXJvMHkzYzJTY3dEMWVaVW90R2ZoQk4rYmowMWM5QVFUVXlRTTJSTEthQnJ3aVRrZC9yNU01cWFmMGN5cDRWMEU1cFJ5N2t6bVpsamlST2FSdGNnQ0N0YnluZWRZRjhCTVkzVDB3QVVYa3RqYmV6VGhPaURtTzVGQ3VQZ3RienhtME50TzlEQ2NiWlJXM1pIVXp5QjF0S3R0bVNLVUk0Um1nbW9Ed1g4R2h2cTBVZ1B0dll3VmROYVFOUVJnWjVYanpGdmo1R0lHL2VtT3VqUjdVOERWakdzRWx3a2pqUG5INWlMemU4aWpBZURGSGdpL0d3dWFUWFExeGRRSjcxUlhzWHpoTDYrcmJOUGxsbVhKS09lNVc5aC9GN2QrSHd3Z2dIMU01dW56anlpa3EzRDc1bjMrYW9xamY5K2YvZFpTVEhXY25vSVlheFNIUnZDUGVCMWo3TnlGazN3UGdvOFpzTDRBSkgrVVo1STQybFd2RXhzdG5nR3J5NVE5MlVXOXhxYytici82QXJCQjMzLzZSczN3b3JKdXQ0L29UcVNSNTYrMGNzZm5mSDhxNGZ0ZUgvOTZpellwTEdFSzBzMzdZWDc3SzJNOGZqZTdlVHJiUzkrUHA4eDNKUC9mMVBpNU50N3ZIK2htTDl5YU52N2s2eEhEb2NJdjhNQ3VHL0FWYU1RYkZCWXo1MWFWTUVBOUVZRFlmVnhOUGYyMXFVM3h2a253TzF1NDIvS3hHODYrSVU0YmQ4SkxNRzNaWlgrNW9VMm1USVM2ZkFhckp2bEpiblNlU1ZOVll1N29aUFZ0SDNlTnVqb05EbDE5bUVSbDZUSTY4aEpsWjl3SkxvQmYxRmx0ZDhiRDhFWk5XVnp3cTdoNGF2TTNlKzZZM1RCR2dSazljWmVKL0VYNVJpd3lPRzFNeHVvZ0MwYzI0bVFuOHIxUHdjMUszY25xNWFTcGVuOEhmR1hzSGxQNVZYSFhGOTZocXVQL0oxYWY1TGpxRDNOR21NbnpPU0ZBK0ExU1R5ZVhEanozeUZ2anZsZlY0OXNWMXFIcmtzZXRaeXNzd05wQ2w0elZ4SFhsa0IyREVnbERrK21QdmtteGg5L0JjSTNaaTh5RGtWVU16Ry9DVzNnOTMzd05yRjloLzRQTG5KR0FJMjl4VUV2aVJ2TmM5STVzZjc3MmI0dkwvS3R3d2lJZGU4WnFuSmZMVG4zK0ZKb0xmcUlQZnB0TzZycE1ZSzBrKysrYXIzNUNZLzlaOVhRWm91c1F5bGZweVI1dktRRzJGUm9nQXhEVUpJQWFhYkIwRHFKNm1mbVRBc0NUSUd2RHcwVlhUQXcyR2dXa1dGSWVScXJjMlB2WG81UzhZc200Z3BXU3dJRTcwYjdvVUpZZkw1STQybGZTT2gzdHhWYXdteFJ6aWRmVHhnTFRLbWEvZXFRUC83dFI1SzQ1dmVhdmR5cEgyRW03Yi9Hb21ZaStLMllhS2JrcXh5K1NPTlpWbTVINnVCSXJWUk9HNzkzZ2RYVnBNd2tRT0VkaVVqOTZ0RzUrNGRkNmFsQ1JTdlFoenFaem1pWjB5Wmx2YTdaZGhsc2tkYXlyc0xZK3lUcUU5VnBOaVZ2RTYrbmlzaU9kOTFaNjZzdjh4U1pFTURoVVV2amVzNDNnWXUzWXIvUStQUWt6V0l2MHIvQ3BNaWNkdmxiNWpsOGxSOVpkbVl6VXAxakphUnkrTFR2UXVHSXZaOWZialZsby9ZdXNpektlbWRHYnpicFppQTRkU3VkY2poM1RKWktxaVZJM1ZwSmhadEk1ZUZvUElxQS9UZEZIN3owYkptdE5TVEVOWmFJMDFPekNJODNQSE55SzdLcGY3emJlaldCM1RaRzBNUmFRbXhheWlkZlN4YUtwWE4zeU52QzRTZFUyZlV6bTVVNXJFVGFGRFY3V2lmR29seDhGNUpPTzV5WjE5UVJyWks2SkZhbExNTVZwSEg0dnR1SzFDa3NhTjBaT1JHM2t6OWtUbEU3dEtYWnlLelZpL09UKzVlOUdCZEs1dW5DYkZZeE90bzVmRk5QSW9pY1FyVWJpRFUyOUhUcVhudnlaeWNPWlRrY2FjOHVHajBMaHJmbkpYV0tXNWFGR2FGS3NScmFPWHhTUXlxNExFNnpGSnVJWitCOUhibjZuc2lITlQrSVpDdzVod3JQT0dTQm5tSnZkRzVDbWV5QldsQ2NHM3dHZ2RMVHBaYkpnTXVLL1pxaHRFeEdIWFlrT1ZYbXo0YXdsUnZiaEdIMGtVa2ZmT2kxcXMrcm5KYmYxUDYxWTMzbUtVSmw1S1dSbXRvNC9GdGNoelhVYnIrVC9LSEthREE2ZktXOUhTdjJicmJaNXJaVnFlWlZ5TFRldlBUMjc4WGE2cVY0UW14U3lqZGZTeXVJaDFGNUs2VWU1ZFc3RU1wekZld1N0ejljcE8rVm5ySXRiL3pFL3VxbWtWMUR0Q2srTGhpZGJSeDZJWkUzMFF3ckY1VDR2VVVuQVlsWHNCaW43VjhKLzJVaEhlVXY4ZlJDSGRlcmt4NWJUems3dXQzelVwRk10cEtOZkVJZEVWOFRwcUVnS3NWdHdETjB2OTFWL3VFUFlCY08xbGVWU29CQmlWeFVWYmIxS29KZmM1eW4xY1o3R1VhbElzZjdTT1hoYURjaWZPNlNZeDUwNU80aTlWVGovNTJVVFdia2NkODJPWXpWRnU5dTVvVE4rSU16OU5ZbnZNOEtySDROdml0Rm9YQmRoYmM1dTdnZzZzNmtsczFzU2lzNHZ6bEhzdEx2MXZpVEF2VFN5MlpjVng5VDFpRkhzV0R2ZDlYSFU3QzdNcmJkMmNVeExuNVpiYlZXeGVtcmljUXpVYk5lS0ZyZWo0TDlSenMyS01GT0lWMXphT0RiZUQ3RjUrdVYxeDVxT0p5emRZTTYwVFYzMUxaTndhN0xuNWc4SG1iMEJqNDFmbXdmVGxsOXVWZWo2YXVIeUROVi9Rcy82L1c0WG9RSjlQUVR3QUFBQUFTVVZPUks1Q1lJST0iCn0K"/>
    </extobj>
    <extobj name="334E55B0-647D-440b-865C-3EC943EB4CBC-4">
      <extobjdata type="334E55B0-647D-440b-865C-3EC943EB4CBC" data="ewoJIkltZ1NldHRpbmdKc29uIiA6ICJ7XCJkcGlcIjpcIjYwMFwiLFwiZm9ybWF0XCI6XCJQTkdcIixcInRyYW5zcGFyZW50XCI6dHJ1ZSxcImF1dG9cIjp0cnVlfSIsCgkiTGF0ZXgiIDogIlhGdGtYM3R3ZlNoR0xFY3BJRG85SUZ4cGJtWmZlMVVzVm4wZ1hIeFZJQzBnVmx4OFgzdHdmVnhkIiwKCSJMYXRleEltZ0Jhc2U2NCIgOiAiaVZCT1J3MEtHZ29BQUFBTlNVaEVVZ0FBQTVVQUFBQi9CQU1BQUFDTnNmdVpBQUFBTUZCTVZFWC8vLzhBQUFBQUFBQUFBQUFBQUFBQUFBQUFBQUFBQUFBQUFBQUFBQUFBQUFBQUFBQUFBQUFBQUFBQUFBQUFBQUF2M2FCN0FBQUFEM1JTVGxNQUVESkVWSGFKcTd2Tjc1bG1JdDN0OW9wUEFBQUFDWEJJV1hNQUFBN0VBQUFPeEFHVkt3NGJBQUFhRzBsRVFWUjRBZTA5Yll3azExRTlzeCszWHpPeldFSXhGNUVaUkg2Z1JHUldFUEZsSlROQmxvS0k1RjFIeXNuaFIyWVZFUnRoeEN3aXlKR2RhSllmS0pnVG1RMGZJbWZKTnd0U2duMUdOMHVDOENVbm1FWGlRNG9DdTRveGtBVFlDU0NTTzhDOTJERytHOS90bytwMXYrL3FudTZaMmQxWmEvckhkcjE2OWVyVnEzcXZYdFhyN2xuUEcrQjZZR1dBUm4yYTVQNm9EOEVwVlMvOVlkRHg5RE9uSklEczlsZ2tXZXp0eXc1R0IvaWJvK00xUWs0TGJKbHptMlBITUlGVHlYa3NralJlVGlWRFF1SzMzQTZVbHBEOHBNZ0tyTVM3eXJQcVNYVVowYzl4U0hKTU16VFgvbWJFSUU0VkxUUzR3SFpQVlE3UFN5dkpQZSs4OExHblhvOFh1blVudmo1UjdWdC83aVo3OXRkS0FlM3NGdDdMUjZlNU1ITVArVWNmRDhReC9xYlZvTkY0cElXVWtpd3l2RjZMRmVFY1c5ZnJIL2wxNmpKSWRQSUFubjZjZDhTT2RubTUwOFhiTk9NbTVaZ1QvelBWWkwyYjdMTnV2NFFHNTFudjZrdVhMbDE2NlVvNzFNVlV1M2YxQmlJR0hFTEc3eUhEeThEZ1ZTbkNESFJ6NDlMbEsyd3RRQkdTU0ZvQ1dPQXFqbDkzOVZ0Nnc2bkFLUGJmUTUzR2dkK081TTgrOFRHZjlhcFFPY3QyT0VrOWZoSTViRWFKNkxCWGw3TytPVTA1ZjBLRFpXMjBHNXdvV0FPSTNoNUlLRTJMeWlubVJUZEJIMmw5N05TRlI5cU0zWTJUWjRyOXIxNmRlL0ptMEdYdkpYNkZwVmhiL2ppMGVPNDl3Q1h6VXd4RjN3dkRpcnlZZ1hvSFE4UFRyZi9zeitNdERCeDhrUm82WWN1WlIyRVc0dldaSjM1aG4vUE9QdklVUjl4K290Uy9MNHJpd3ZNdHp1RFdFdy9LNnFrdkJqd3ZCbjJrdFNYd2dhVzVMZGtSd0hrM0JxaEFuNjlJMHJkK0NZcHhMSDRBNm44NUpIOEgyd0RmR29iOU9YWWNBWEtIc2E0VUxnTEkrT3ozUGEvR05BOG5LQWxiWWxVTEJxSFVEb2gzQStMem90RUE5d3dzSXZidlpzTTNBZXEvbHdVdVFoSlJUZHpCbGhzRVdxSmF0eVVvZ0Rub2NrY1U0RjVqY2RzRytxTlBTT3JHYTE2RkhZWEZtZ0JrOWZBQXVxLy82OGNHWkZyeHZBNUZHYUhCQnVNdVJURUdXL3lQS2cwQTFVRFFmYXVkTWJraUpMR2E2TVVpY3hlZVZyOUVlR0IwN0tBS2VXWGpwc01VekwvZmtxVGVJbnUvMHNvQ3NWOHAwc0VnbkRwOXAwaVpZUkN3eDVnYktrUm9FRVpoT1pGR2Iza3dDY05XRlJEVVp0RFM5Um9oaWQxR0s2KzZzME9yaFQxbFJ5OXl1R2hMVVNPSVJLdTZNZGZBV2ZVWSswNVl1V1RyUnpRYTRvNU93OUdSemEvSlJZQTUyYlZySW5hcEhEQTlOR25yS2dJMUt4S1dEb0NsUFJ1a1pwQkhlbHQyV0MrdTg0YlRuK2VCK1hGYXE2c1FIY1I4RDZ5U2txTDBQQnlDaktaODE0SHJ0SVBBdUM3N2NjMEVoc2s4L2kxYm1WRWFYQUt1bTZZNERUa0tFNSswVkFDV0paTjR4dEJqZWx2NnNlbGwxdG9sZU44ZGE2bDVjNUhuWGJrMlk1ODJCRVpkZHdWbU5iS2hvRWg5eHhYa2VrNlREVVJmV3laR2xXZ05vdFJyaWdnaFA1S0ZTUmRWZ2tERkh2MTVZeExTa2tTeEF6eE0wYmlSejZrMXBKajQ5dDR4YTA4d1NmczJld2w3cU9zZFVaK1BEWUFGVmJyN1h0enVIYkNhaVNHaE5ZZ2hRc21RSTJQYjFxaE5VSmgzcDBmbnJ0Nk9sa1Nuc0dDWW9nWURxN3FzOUM1cndQelczakZET0dKT2prSGxwbXdZQUMxdE9zNFFTWUZGbnJxWXZmYlJmbTFnbGNucFpOUFNHaXpDUUV6S2FjdTJabTJDMGpsZ2FVcVJOYWNITFVrTVp4aldka3gxazVBWXpHOFphTWthcDJSWUp2YXVtcmJsWitJM2E4bG54QURFUit0UkxHa05yanIrWlRGcXpGR01iZnlzbzhiOGtVRkRTMktRbUFWd0hoc21SaTlscVBEZTNUdVdJc0luM0MwaEp6ZXZzczZ6WVc4Wkp1MHhsY0NXYTFHc2FRMTI3QkRCeTV2aFh4UzdhRHlHVTEyanVtWm1QYlFrUmd1elVJeE5MMmVvdE52ZE8yYU1QVnQxY0I3RVhWSEZBQ3JvNFZRbE9naXgyNDJ3bk42V3ZoMGllTVVoVXhJUDk1OURmVkE1eStXbXRpVTRqMzJkb1FubnFjMFV6Ry81bDltSVEvSVdkYkN5b0NkUkJhb0RVNFpqS0tXMnBSc2llS3ZtSWtvdkpRYUJSbG96MTFzMnVLUzJaWHg2V2FhV1RjWFpCQmZwUXpQY0VicUdlRmpJNnlPWW94YSswMlRVaU5TMmRFTUVyMk9zcVVFa0JPMFk4MkZWSEtHRXpGTGJNajY5N0ZBeFF0MVpiWXQwV2dOR0owS25PZDIrUy9ybU9ZaENCbXFUMnBadWlPQU4vN29TQkJPNjlUTHRUWE13YVcwSnppUE83eFBiSFg5a0lKNlNaRlo0OTNPaWJBb0R3aExPZDA3ZkZzRFJsTXhHSjFGS2JVczNSQmc2dmVSNjFIVy9hRzkyYVcwSnpzTlk1NlltWVhzMkVWalM5NDY1b1BHaTRmZEZFNXpNUk81cUhoTDUwUkdsNERQNmUycGJGbUVvcGhoRHA1ZWUxMUFQR1pCM1dUY3NJdExhRXZRZDQvZG5xWk5OakwrMnNDKzRDcVFSZ3pydkFBaDNRbGk3elJzSEN3MHJWZFVJanc5TWJVdUlFSzBVWk9qMDB2TmdyOUtaK2wxcndNbHQrZDZidCtFQk1UaVBUWXVGVnB5bkloT01hTlpEb3RXdVJtMkRUU0JjdHBIUXBaRVI3OFhOSmJkeFg4dzk3L3pyNXo4VnZLNmMrLzYvZXZUSm0xVm84cjZidlc5L1dHdWEycFlkWnlzYU9yM2tqOXcwVmN3NDJWdFNXMloraHZWODlxdjRtc1NhTmtnTExCaWJjMWlKNTRncklkd2sxcDNnQVU4MXFlM1NXekNDM2pMdDQ1ZGF2eXY0cEx2REhpMjZoY1VFVjlYellLeUEvbytRVVlXaitaOFN3WnZVb085c1JVT25seDQ4azljZDk0RVRXcENTRUJMWDJPdjczcnVQbG1HODFJRENGaFZLMFFVbFFpYnUxQVltUDlYY3kxWkQ3dnhXb0kvMkc3SCtRbWRnd1dBMDI1WmY2OEdhZkVDZWIxV1FJcmhLVm1Nc1VoclVRNFN3eWREcFpmRDBUL210cG5OQVJrbENDSHd2T3lvQnVyblYwYWVHUTFpbkhHQkZwWmVSWitySTZRRDAxWFZZMm9nOHVYWXhuNlB6SEx1OVhiNXdEWm9HVS93ZitQdFIxVno3ajVHb0pZNmJ2bkg5T3J5aDlOeDF1SlFtRlJ0S2czcUlFRklPbjE3Q3JORVcwalRiVlRJRUVDV0pUZU41OE43R0ZtTHpkM3hqKzdVcG01UXg2aXE5UE5EOHZkMFd0M1pYUG9mcUhIbTZqbXRhand1Y1pqRUllQUZLdUt0Y0MzenMrU0NKSzJxS0EvYWJVUndvRGVvaFF0aHUrUFFTMzVwVGZtM0JQUWFsSkhHbHJvVHhLYzQzT3hMV3FkdlVrRUUvWVRxWjhWL1hxUzBZdlIwMThVMHlDS1JOQkM5aFBoYzNUNGdtRWdVT1VkalNLNE8yV2l1OENoNHhkUVZOV2x2cUlVTEFZd1RwcFlkYzE0VklIVGQ3UzJSTGlFcStHZkR3NlMxTmRFRG1GQ0RCSVNmSTFhalFTTFRGZWVMT05WRXI3L0JZZUY4V0pJRFA5c0oxZWM4UFIxM3ZrdVFtMEZhMkxEQjJmemhaUVI2cHJyUzJCRGJXakJ0QmV1bmhJRGRDMGJQS3FuSXdpV3dKc3pXWXEvZzJaR0FYeVVBSDRGQm1UUzl6R0czMHVZY2Zmdmo1Sjl2VzJiQkppbjdKaUZqTmFsR0NuVEdVUldEd2pwMEVpNSsvUmdvbDZuS0Y0enkwWTBrd3dwZTdISWxISE5JRnBiVmx4Wm1XSTBndjRmVjlsYWpQRTE0b2tTM1ZZTUdxbThGUXFiK2cwVjBIanhMSXErdFVTd1M2eVpnakpVRUhQbUpYd05xOUp0d1BXalhxMnRRYWFHQkxyVXZZa3Z4cVdLV2RzcVMxWmQyWmx2a0VMa2NUaVFUeEFlWjJXRk1qVGtHVDJCSzJLQkgvRnFtVkp6dUd6dHcxZzE1ZVhqdVMxZ0dLUUhUb1lCMEVyUDExQitsNTJXdGZDTEdQeTg1czRNZ1ZqcmN4YlNrbmZGdDRiUS9lTll1ZXdwUUdXOEpMU0VtTENWeU9KSTRBY0pxR0dzcElaNnZSVXBKbzFSeXNLUFVCV0xLclZSbVdvRnNMYm92dkhabXZma2dMdzFRakFRRnJGV3dJSkhGWGV3WlJPUkRLdEtWVXVxKzI3N1MyaEtGWTAzS1ZXRWRwaGNVSG1PRVdiais2NUt5UzJMS3R3ZzF3SGpFU3dBTGVkNnJCUmlKYjZNVEZxVFdRZE1OcDdTTFVudUhXRFlZeGJTbVY3cXZJT0tVdGNRRnRtYkowTE51YXRRbEx3RGFVYnBWS3BoUFlFaUpIWVF5dnBVQ2lmd2kwbGgyMHRuY1VwZjl5cVBqSEdrVGs1Qkk2YW5KSlVtSk1XOHJULzhGdGlTSEN1aW5Fc0MvSGNtNndxRUlidHEycHdxc1QyQkxpQWZrSVZJdnRURmw1aWJSbFMwNG1yeENYWGpaQkFTc0VVeHVWekJQYnJlTEtwaTNsQWhyY2xsUjZ1UjRuUWNJNlVHV3dBOHdTL284K1RiUTQ3eW5uRDg0akx0UUVWK1N1U3pDUlVFOUJ6Z21yQ3l5Q29FYnJwWWMvOG9Hdi9PWDk5My9sQXhmMFJ4WmVXOFp5QkpPQlVLWXR0d1dQd1cxWmdLRUlMc0Y5T21xYXZrQW53ei9rNmhFWU5WZ1ljWmZscHE1M2syQmQrc3FyZ2ZNUWR0R1pDQmptb3dEbFhkODdpdEoveVdvRlFEZkdtNVpsVUVoNFNSZVAxTWR0eTY0UUNUN0tGbURLL1JKRXQxS1FxUFFTRXpIeWtydTJFQUh2ZGNHM3RhMmpCZHpmbHZnb2FpMGtCMk50aXBiRW5iS2x2bmRVdWtRamdRSmJHdHNwZkkwZ0xtT2o5Mk9uaytDVzVtNnV5NjVvT3JndGE4SVhDbFplVkhwWkVFTzA3L0tZUXJJQVlDK2M3a3YwS3U5dlN3aDlwSGVHcnRkMTVoWk0yUkp3c3VmYWp0VkFMemJGcEpQSXpGZi9Cb2Y0WWRQZm5JRjFDVU94MWxWVWVqbnI0d2pkcS9lMDFJSUdsSUVRaTBWNWZxeFZKdGt2d1JqUzExU1VYUXd1WVlIYUx3dGgvMGpTWEtGYWhiaUdGaTVMTW1oc3gwdHQxcFhWb3dGR3ZpNUI2a05UdEQzTHRtWnQwbElSR084RGNZUGVxL3F2UzJBZ3AwR2QyQkExUWFnNHRxSXR0L2RwdEE3WUlXeUp6M1RsQVhmWVl2eHRpVGw5MXh3ZnZjR1pOUDFMdUM1Z09VeVJwNWhKMW1WRkpqVVlhMXA3dXRrL1pVc3dQeGwwbVMyaFZMUDJTeVRBd0drYkFlMVNrWmlHSEFvYzlicEVxVGNNaVRMVU8ya0dSYUlDUmtxNzhPc2ZFVWJvdnk3M1ZCNEN5eVRXTHRTNVQ5UFpPeUxFcm1pK1hKQmc0TFFqQ3VFOVB2eXlpQk1WUjIxTFBBTmZNM3FPQ0ZZTW1nUUYyTU13WHFsSDVJWDliVmxUemg4bVhLemZCOVdEQ3pBdjZQN1F4RVNVMElIWVZSZzRWVTBrektjTkUyT1ZzblRHQnRoM1daU2lPR3BiWXJSWUZjejVQUzhqRGdPZHRnQnJCUWFmaTRvLys5dXlvNXhhbi9RU2Y0aW5hc21IR2MyV2hhT0xPT24yclNxMDc3S0ppM2hPSW9rR2VINDVhbHZpdWpSSHNtZGtWVkxXdEFCT2tpMXZQbXBpOUxkbFE3azVXQ1pvbHg5RjljNzYvMVdDMjN2OVp4K0VXM0FSenhheCszVlJIM3RIeWwyTG91enVvZUFiYkNxakVXNVdVZGVtUVNrTG83WWxpbURPd0haWGRqWU1nRytvYlh0N1VhZG5oQzB0SzNXVTh5OEdkbW1WNE1NQy96TzRkMzZaL1o2dmRBditiOTJTRlZmYmlvV2ppeGo5YlZwVk5UY2xvZDhyME5vTisveXlLM2dOZkZhQXZrZ3c0ZmNaeDEwWjFZa0x5UGpRK1NSSU5uZHRhVnVwcmhiQ0tyZExCZ1dkZnhWKzZXWDlUYjFkY0t3cUExUkxXSFNBWGxMQWZlNE5kMmR0YXNmNllXdFl2dnQ5R0tXdEh2VzZ4RXpLV0pmbGlNQXpyYURJK080NWs3Zkd3N1dsYmFXYVdsZ2RicGRwUEI1ZDNZRFhOVi8yUDQyZ1dwaStzemVXdGZSUzY1WUNEN1RrSjZoSDJlMjBHUFovcXZFd3VGSGIwdk90K2ViZkhVWThyUzNvNDVVS2VieUhSSzR0YlN1Qk5Vb2h1emJEQ1hZT21UVkwrTG9tUDBUUXZuVnRPdGxnTFRLTnVlK1RsdThGSzFtN09xWWszYkJ2Y1pzelQyMEZPbnZ0OHdKTWZSKzVMZXRtREhodVJDNFdmaUlJbmprNm53VEo4YnEydEsxVWtJS0JzdEdkTHNBc3k0RlJvV0lUK1N5cXBMUG1MS05tVkJvRGRySnlWWXhBMTVHaHZQRG5DM1prS1FBV05KZXVWY0djV2RlS3FjQ1IyN0pzaXQyUjUyYXB4Q0tJUVp0cVpUbjFqaTBkSzhGaHptN1FiQzk0RWwzWmhpZ1cxbWFSSGZGZFlVYXRGUGZESGVqNzBPa1VFUldvcVpvMW9BSXpmVVhSTFJyb2xRcmpNSFEwMjVxc1kwdUpiTGtWeGNMUklIL1ZhMXVSTHpvaG5hcExDWFZnbUNvNnNSczdramhXZ3VCcGc3ZkNpUGdPUUkxMStCZ0IxbVlsMUI3Z3VVMmh5dmx3QjNYY2hRcjNha0NOcFIvTXkwb2FKYnBZeVZyZ3l3eTZkaTZZY0F5MzhZRXU3WVc3Z25abTJGWXVQMHpHU082T0J1R2xRR1BuNytER05KcXJCc1Bjam1UbFNPSmFxUld1ck1xZERxNkpETWFSeFM0K0dUM2tiTUVFcFpEL25EcUdEekNvNDQydzByejVVR05icGNQWUgyaFVuVnQ3YXNrTC9CNDVtR0crUWZDMDhLeW91UkVRY0Ruc0ZVS0RiU0dBZlhjMENBUWQxaE5OdlgrMXA2ek5JRVY1RldTcVJ0STdrcmhXT2dpODJoSmJLK082bk1YNS8vVTFQR2pmNG14aCtheUUvR2ZWVk9hWVRBMDZwMzhCRi8ybkhaSGhjUUV3RHErdnNjMTUxNk0weUxtQmFleWc2eEo3RlFPb0s2RVF2Uk9Lc2dldWJWbklaZDBkRFVJOWlMTVZrczI0UTdBWXBDaVdZMGZwU09KYWFUcVlaSTA3SUNMczR1VndOY21EQVZoN1FoWGdVdmVsYUM4KytsZ0w5TUhZTTQ5ZC80aWpDVkNQTzhvS0xKRnF5T0Fmb2JPc3V3bTJ4ZTR0KzBFQTNUUDYvOVJYN3ZxMU5yVHRQZllGejN2NzlkOEFrRDF6L2M4OGdiNTR2ZVM5T1VEZi91U2ZybEhzSFEwaVVZc2RCWXBZYXNjc0pJcGRMSzdvK2pLTm5wTEV0dElxL014Mzd1ZVBWdUN3aDYxTXQ4TVJnZDFXT0NQd2I0SGNVTkpkUUFzVkk2NnExaWNIWWVyMm5QZ3Uxd1RzKzdFKyswSFdBL2FkUTZzZGJFWExGb29YRzJ5d0NBTkdFVnpnSTFZRi9BcC8yQmFVcXQ2QlFNdTFaZ2hBYVJBLzQza2RsWEpmbXoxdFVBOVhLT2greTJGRlNXSmJLUWV6TEdCeUwzejhMUndqdU5hQUczUWcxYXQ3d0E2N2d2K2xBLzZuUmx2TVVyMzdEeDQ5NkFZRldUQW11MzN4K1UvQlFld3VVTTl0NmswQW51RXByb1dFNHFEZnVFK0JrRGN1dlhRVGg3WGF1d0x5Z3Job1MwUmZ2bmtGVnRWQmdBWjR5KzJYeXRDUjZxZGhVbDY4MW1Mc3Q2azJnK0x5YnZ5Z3NhSnM2VmdwKzhYMk0zL0JHOTNYK2xZcGJEMHZ0RnJSTnNsS2RJeWdkU3BBMTVaZTlzL0RWZkNjNkVjUUIvZTV3VnlweVdTa0pVcUQwTUhmQmVQNDZFajdPaGY3U2lzbENXa2xSNmFDeVBYcjJyNjM0RzV3VGtPSnlKRFJ5ajlmZTRwZHZmaTNrc29FaXM1cGhGbC84aVZLZ3lqRmkwKzJyMTZzamxhZUtlNnNvbmhTa3BCV2NoaFVSTkx1YS9hYnRaTVNwNW1HeUVhbnZScVZDZFprYkduaVQ2OUVhZkIwcEtFa0lhM2tpRmNQVndnOHE5cVdsUkEyU2Jndk1DMjIzcjZVaXNDWHVhekNuUzVFYWZCMEpLSWtJYTNraU5kaVhZNkQzWFZOVlRaU2hPQ0w2VS9kY21LVFZqMmVOa1JwOEhSa29pU2hyV1RMSnpMcEJTMzA4U0NBSjRNOXV6RXZMeHlTNkRqa291YlA0K2hPc0k3UzRBbDJyM1ZGU1VKYlNXdUVJQ1F1Vlk1YUZmc21MeTNHUmxxY1JQNHBKemU3YUZNY0xJc1V6WS9qVG1ud09QcnB6NU9RSk1KS0ZpOXdyVldPYWh2UlNDYkZVVnBuMStMWnYxZ2Z1KzJTZUFMY2Z4akhRMEhZTXNKS1Z2L3c2R0FIVWZaUFV5YlhkcVp0c2V4ZnpLUUprL3V6R3drRm9jR1I4RTNQaEpBa3lrb21jemp0NGE5djdGbi81aWRQbm4yYmJZTlN4QTkxVTZRQ056dDIyV1hVdVkrUStDVHZoQzJqckdTS0JhYzllSnk2WlB2VXFjVFJ5WUg0Y1JLVGNWenBnRHhZajJ0eC9IV0VCbysvVTdJSFFwSW9LNW50Nit6bDFpOTVjQmkrWnVLOVRzOUNSQlZidTFFMWtmZ1djZW9YU1h4Q0ZZUUdUNmhudXh0Q2trZ3JHVzFiYlB0ZWZEbjJOdzBzRlBKR0xHVFhxdklpZVlLbjZnbG9TZjdPRUZGNVdpaENnNmNrQ2lGSnBKVU1FZkY5Z1IvenY2MWVXaGUxU2Y4UjhGNTZGMXVVRDBwRloyTndKelI0U2xJUmtrUmFTUmNSRXBkZHZhekJxMGZMV2lrS25Cb2d1MmdPY09nWDFUL0huK3RkaGY5MEQvL29mZ1dMTSt6S2pVczMyK29ycW13YkhvSmQ1cy9EQWpaN1FIL1orajBXUW9NQjhZbi9kU1dKc1pJbUhTUXUrMXBSQjJjU0hmMU1QNjIzU1FRdkp2VGVpWmh4SW5pTUhsemNsdmh5RWx4M1pYdFFCYi9rRktyejRwWWtRTURWb0ZGOWdnVlhraGdyYVhMTkd5ZDNXZ1dBZGVkOUFiTiswRkl0L1E3YnI2dnZmY0ZuN0hmK1pUbWd1d2NlT243dUo3VTJtYjl2TS9iWkg1U1l6QVB3VnU5N1pKRURyZ2JOK3BNcnVaTEVXVW5KWmZ6RE5JWG0wQ3hidHpBaktVNG56bHpUZE5mUUoyVkdleFFiTUttSjQ2MmdPTVZlQyswdSszQTFLS3RPR0hBbGliT1NFazQrRjFNb0JkVUdlbzFLdGFlaDhnQ1BPMmxPT2xiN0lXQkF0MHoveVYvSnJtcmtTKzQwTFlTYlRUNDgwOVNvVHhoMEpZbTFrcFJPUEJlVENCMFl4WThZNi93NFBJcGZ1WGFZNG44dzF0K0RiMWN0a2lJenJKZDN0NDk4K0xiVDNBREJuTlhaa0VWWGtsZ3J5ZDc4OE9tbFJCakFOL2FONGtnS21VK01oSTNGQkY3RzFMNGt5emxQMHVFdDUwMnRTYjJyRlFKdzZ1UEJQZnNyVHRVSkkxeEo0cTBVaUpkNWtiRi8rNjRURnZWWXVvUFl0YXNZTHpublN2RHE1N2FxejBZRzc0cG1mS0JrVm9MZ0Q2N3UrSWc5c0NTdzduWlU0M1BXcDJmNEVadStidk15TzFGdHhoZEtaaVgveW8zTFZ3em5NNzRqaXBmc3dJaFQ4ODViSytDRE5WemREbzNpbVo5eTdSdkhTc2tVdWFlOXFBMmZQQjNhcll4UHRzNldpN1dIOG9Zdk40dzN3VmZkZGFkLzlaSS9sbHpyRGEvamt4cGcyemdkNkt3Ny9XcS9vTzkxTnAzcUNXSnNOR0NsbC82S0kxbER2ZkU3ZGFhaVdHY2tiM1NFbVY3eVg3dXhobHhURHhFV0ppN1dVczVZRmMzMGN0cEpML21IZk5WUTVJbUxIU3ZiMmNMQVE2OGRoYVBlSm9Pa1pTMmdtT290SzlJSk5IWWFLQnJwNWJ5V1NncFJDL2hvbmwvaC84VVVGWlA3bUdsZ3RVOTZDVDhXSjgrM0dwdGpKdnhFSEVNRG5YN3BKUjdpSGZJbUV4ZHJhRzc4Q242LzlCSi8xU0o0QVdqaVlzZlBmTHBFOExtby92U1NTQy9WN3k0MXdtMVRieitCeDBjRDhKTmhzVTh2UVZJd04zOTRNajJKWXNmSGJwUWtzQmwyRmQ1OWVvbDE0UytzblNkaVhOVjBBcDI2QnN6MDBuMTZpUUkyZzVlN0ppNzIxSzBWTDRDWlhpNlFTNi9PMDVhSmk0M1g1T25YVm96MHNod2tINVpZa0lLdWVON0V4VnBxR2J0aVhYODUxcXR0VWdJR2gzak5IYXB1Z2hzZkRUU003NnhiVlVveWZvaTNsUFJEUklyREJIY1NHbWlJM3c3RHpxYWNGeXE1Q1B4M2dJdmtWbm9TSWs3NlNLaUJqdjRUdHZBUElLZ0xIb3NkZWhNWFM2bG1ySEExM1phMWJWSTIrRTNndTB0SFpOVUVPVVlhcUdqSHNkbUlEM1hodzczdkhLaHZNc2RJK29rb3VnWVcyQzFaL0xwNnozbjZla21pK1NGZWMxMlZKOUI0YWdDK05WME9KY3UxTjZXTURmMzlaampFTXg2TVNhb0pNRjRhYUxQMVVLQ2ZVQ3NVM20vV1U1Q21lT28xWHFKUHBMRTBJUDdIaXZkbThTWUlFT0IvUUtncXdycjUyWjZxbUVCanBRRUliTlpRb08vV2Yvb2IvNm5PaGhLVCtDY3BxbklDalk4RzNzRjZQL3Q5THp6RWJ1MXJNdm5xMzRzQWx2NVBSUnI1QkJ3VERYd0lGaUZqcjVWMGNmN3B5aTkyVmJrZ1hxcFVxQWswbmhyNGtjdnMyVCt4UmN0dktjemljd3FlUUdkUEF3dWJaMC9taWNTMEJnN1dhZndFZS9ZMHNMZHk5bVNlU0V4cm9FbWpKOWl6cDRFcGRUWjc5b1NmU0d4b1lGNTdhOWFvbUJUT25BWTZhMmRPNUluQXRBWm0xRGs3VFREQm5oa05WTHBuUnRTSm9IMDA4TkJ5SDRJeld2My9IQzZHbFBCOC8zUUFBQUFBU1VWT1JLNUNZSUk9Igp9Cg=="/>
    </extobj>
    <extobj name="334E55B0-647D-440b-865C-3EC943EB4CBC-5">
      <extobjdata type="334E55B0-647D-440b-865C-3EC943EB4CBC" data="ewoJIkltZ1NldHRpbmdKc29uIiA6ICJ7XCJkcGlcIjpcIjYwMFwiLFwiZm9ybWF0XCI6XCJQTkdcIixcInRyYW5zcGFyZW50XCI6dHJ1ZSxcImF1dG9cIjp0cnVlfSIsCgkiTGF0ZXgiIDogIklGeGJXaWg0TENCaEtTQmNiM1psY25ObGRIdEVmWHM5ZlNCU0tIZ3NJR0VwSUNzZ1hHZGhiVzFoSUZvb1dDY3NJRUVuS1Z4ZCIsCgkiTGF0ZXhJbWdCYXNlNjQiIDogImlWQk9SdzBLR2dvQUFBQU5TVWhFVWdBQUJGUUFBQUJzQkFNQUFBQzJ0ZnV3QUFBQU1GQk1WRVgvLy84QUFBQUFBQUFBQUFBQUFBQUFBQUFBQUFBQUFBQUFBQUFBQUFBQUFBQUFBQUFBQUFBQUFBQUFBQUFBQUFBdjNhQjdBQUFBRDNSU1RsTUFJdS9OcTkyN21VUXlkbFNKRUdZRi9zaEpBQUFBQ1hCSVdYTUFBQTdFQUFBT3hBR1ZLdzRiQUFBZHZVbEVRVlI0QWUwOVc0d2t5VkhWcy9PZTZlN3hJWVFzMityeHdsbEdZUGZhaHpFU2p4N0F3a2pJbnVYc3c4YVNxWkhGUXlDZ0Z5eHNrQ3g2TUkrenhFZVAvQUdTTFRRanNJVDRNTDBZbTA5NmhNUWh2bnA4K0l3eE92V0FMUkNQMHl5ek4rczczOTBtRVZtVm1SR1pXVmxaMWUzVENycTBtb3JNaklpTXlJek1pSXlxNmsyU0IrNzZ1RERYdzc5NDlNREp0eERvZ1JtQnNiRVVnQzVQSGhqQkZvSThjQ1B3K1U4SWNlK1Bub2JybFYvdGlzdnpCMDdBaFVBUHpBZzBoUGlmWEppdFZIenRnWkZySWNnRE53SmJRdXdxb2JhRk9GRHc0cjRZQVdzRTFvVFkwMVdqeGJhaXgySUIyQ093SXNTNXJsc1c0cll1TElERkNMQVJtQXF4b3l1YVF0elVoUVd3R0FFMkFtTnhTY29UY1orVUZ1QmlCTWdJRE1TenBIUXNya2hwQVM1R2dJeEF5dmFSTm5WSEJHc0JMa1lBb2hPVlZzSEJZRUh1WW5RV0kwQkdnS1pWb0hwVmlGdWtkUUV1UmtDUEFFdXJKQW1jbGc5MDJ3SllqQUFaQWN2andLNXlnN1F1d01VSTZCRmdhUlVacXl3U0szcHdGZ0FkQVo1V1NlQUV0TmhWNlBnc1lEMENQSzJTZEJheGloNmFCY0JIZ0tkVmt2SGlCTVRIWjFGU0kyQ2xWWklKZlhpb2tCYjN4UWdraVpWV1NmcUxiRzA5czJqV0k4dW9aaUtlcGVNcXRGWmFKUkhpYmhYeUJXNCtBczNldlozYWd6RVRjZTFlcXhKYWFaVjF3WjRJVmVYMi94Y2Y4bEgxa3d3ekViOXNZMjZsVldDVGVlbGw2L3YvVWtmSFFqeGZXNStaaUd2M1dwWFFUYXNjVkdXeHdJY1JnT1BBYzdVSFlpYmk1SE9IdFRzMmhJMDNHcmdBc3RJcUZ6Tkd0VnZ2TGVpblVuV0UzSlg0MVVHdXFFa3F4SjA2M1VnYVRmelFlWFVlYTVmMWd5VFNXM3BBQ2w2d3gyT1RXYi91R0x6VzIwdlZ5bks1cTNLc2pGOU5FL2hDUnB4VzdpTW5NTVFyOTZyejJLL3YrR2huVDkwOW8wVVh0dElxY0hSK2c0c1VYN01zanVLUkE1aWxjZ2RvNTlOVVVaTk5NSldTb1daeS9lRXBLUnJpWnZyOXBENEtYQldIVVhobFNJM3UrOE1vY09MWkpSaExNeWJnK3ZYOU5aRWlTVXJsWnRqZmlFSkZUYTRKOXRwcG1VUU5GdGdRNG9ldXFoZ2NkdE9iMTd2UXh5VmR3emRpZTBTdnlXeWZBVjBqbjRrUXJqWEFNcmxyc0t4RVVsV1RhYlVEMENweis0UjRROWhyK3lIWXI2eUxacjZXNi9zOWEwQzJTcDRUZzBHZkd4TFlZdzVNeVlhV3UxVGtoOS82SHpaQ3N2K2lVMVd6b2t6dW1td05XY2tNY0UyV3hlWEQ3M3Jra2NjZXZTNitYYkpRRmRmVlYxUGo0TWlaYm5Ob0xPaElVZUl4dFFQRTNxZURuc0VVWlZJanVuSEV5U29tOUhWOEY2Zk5UandQQlYvWEIxeCtQWHZJR1c2SERJMmpscFpLNUM2bEwwTUl6NENsQ2RFODg3Q200aVRyQ05nZGxuVkoycnZNWFZIaWJiYkxBMGxYanZuVmQ3Lzl3L0w2TlNnU0w3OCt4elRZaWpnaElqcmdrSDRFMU9nNjJ4OGxhUDNkai9SUTdtOERxZC8yc3lsQVY3ZHBlektzRk5reFVxZFFJcmVEWDdVaVBBT1dKcUI1aGkvZWsybmM2dU5BQ1BHdHY1bjNDMk5SUVFKdyszUXpZTVRwMXhtakRlem0zcC9wdWpFVXlhZy9TWjJDUnFvSE5NSkp4QWsxNzQ4ekJiejlEZUEzV002eWxrLzA0SG5SRHNGcWR1Y1ZZUUhURXJsSnQ3WEE4QXg0TkZtWHR2SnAzUmtNaExpbjU2emk4NUFPTXc1TzNPR0hTTEFxOFozNWlFUG5LRGUxcFI1MVJscTRtc0FvYU80MHJRSlNuWloxTWhMR3kyNzAyRjZZWEN1Smk4cDQ4L2F3M0J5M2VpazhBejVOeGpCSjVDdVl0aEJmTXpNSXowTjJLd2pSaHdWbjBEbnhKbitXQk0vbzZPK1lZSWgxeTVDMnFFaW11aWEwRkpwL21sWlpUOFYzbFBheFR5TjllTHVmYm9ZWDVOdm5Va2FsQ0VHNVM2bkxFTUl6NE5NRUtHZytka1ZjN1poT0lNbHdZa3BsRUd3alFoZ2tpN2hMSTk2a3c0S2dacGU3cmltMUc4T3hKdFFLZVNEeXRzcVhVN05mRkhjRm91NmExaDVkYUUxbS9nYXBKaFNVdXlaUFF4YWNBYThtbUNjakRyYkRKdW00VWdJT3JZNkVkUmJ4QmZOQUl6WjlTSG5EYUFISEk3T3prZXE2WUZyb3pwcXZIQW54NC9qYlhwLy81Qk9RUXlydkZsUFFlMFlRVU5Jd1g1NWpNSTVkRk10dEJLZ05CV2ZBcXdsc3dEUjA3VkczQUE4TFdiRkVMQmgxUWV6QklsNWh4dEJqSjZzK3lFQm1hYU5TdHlWU1FmT1lPZ21LanY2RFhEOUFaS0JvRkc0Qi9ybXBRQ00vVk1WanRzNVViZjE3b2R5YTViL3ZhTEFxRUp3QnZ5WURxdXd5VjdaWEpXWm9pZzlTVm9sRnZDVmVNTm8wV1JDTE0wWWZzcTNPZVhXdVVKZGhoSkRmbkVMWDJYWDUxbWRvVXhHTXNoNlpSaXdlcUdKL3Zwc2hmRDI5cTFqNzd4dW1iejlDY1cxNEJ2eWFkRURaUGNWeXdOSlZzT1BvRm9WUmZGOFdYd1JXNXdyQklVNUp5THZGZ3R3SjBKSGhUL3cyclJoWHYyOHl3NnhPVHlrZ0FpUHhXSUxuaUR0NSs3dzN3NlJVYmo2TVZNeFNtSk5hTTFDZ0NTUzI5U0xlNUZZS215MmR3Wkx1aC9maHpHTU9Hdzd4aUlUSTdLa2w3dWtrL1piQWk5QVZ1aTJSQ3B1YjlHQVdnUjlDNmZBQUhFTzlsM0w4VlJaL2haaEV0cFhLM1NyYmRvbzdDczVBZ1Nad0JOQ0Ivd1hOb09IK2JFSzI0azVWUzNvVGw5Z3RWWFNJcDBTdk51MW9ER1RuaWd6dVRSbzhrZnI2NEg1UnNGS2Q1UVZQQU9IcWVEN25NbVZiWlhYV0xrV1ozRE9ZU25BR2lqVHA2bXlJL1lTcVRjTUxWeEZlc3ltT2NIczRVTFVPOFRMaE5pUzdpSjErZzMzM1JjVmtUdmNoQzZsbllycHZUQVA1d092RE9wNGJtUzExcGk0TWNabmNNNWhLY0FhS05FRS9kVnVLTjdRMmtYR1ZaVEo5TnNIRXlnMmxxRU84VHZhb3dVMkZsaVJXK2cyL0x5YzVRWU0zQTlTZUg4ZlV4Q1lvRUlZdWQzTEowcmttNEpCcG1kd3ptRXB3Qm9vMG1hb0pkdDRVMkdkK0lSK1FvdHYrU3pJOXY2dmFYV0x5Q0xkN290QVNPLzJXUUZTcjdVMWp6UWFzem0yZnd0ekNBUkdtQStYYzdEZklVaUFZczRCbGNzOWdLcUVaS05RRXozdlMzVHJ2SDNYSm1hVk00dzBJV25FYzFSSkxYT0srM3FBM3lLblNUcjhseVVEamxYVWEyOTZhVy9TRGtkMEo2UlpDRnlYdDJ0enNVZk12azd1K3FRUm5vRkFUakJVdzA5Ym8wdHdHVkd4VTBmMGFQcE1EVHVvNDRDRytVT3N2YVpHb3RzL1RiNUxMSWZ5ZDV3VXAxcVA1OE1NdzlwQ3c2a0g1TEN1MytUR09JTlVHeStTdWJ5ckJHU2pXSk0zVWZjcCtSWDViejN1RXJoY1lxSFpOak9jaDd1aXp3c2JQYTQ2NHAzRVRoWWhIdDg0TFNObFdNQU5YM0FNSk9TNHpsWW9hbWgyVllNd0dsc2hkMzFTQ00xQ3NDVzZpNEQxUzZZV0lhaXZtNUV0cS9XQ3p1d2NOcVVtUWVJaFh4TmRkNGdsMHpsZjg5dng5UGp4VU9uQzdybE16cGM5ODVPL0c2UmY4SjNNUHNmQmR3YURjOVUyRjZPN09RTEVtR01YZmhIY3REZ2s5Z3RNS0VmMmEzSWI3NXRHamgzalo4OTZRazM1TFFCRDdyTng0SXYySmM1U284YmZpM2JjUkNGeWZmZlR1anpyTkYvTmE4V09UaE1KT09qQjB5dEI3S21qUnZiLzZaNjUrV1JaZW5WNzltSzR0QU9ySVhXb3FHeC9zUHZ6ckJSM20xWjRaY0RWUkxEQno5bHpTSjQ5b3NwYk5keXVNOHZ1eDNERDJUWDdLUXd4Q09ZeGc2TzFqbHBPUTJlaUxTOXozOEZ2SDZ4bmc4RkVWelQ4V2w2bjRwU1Q1VWg1QlpBM0gydmNweEpyM2dkazNrUU5aR3hDb1dWYjhCMEowNVVhNkxTNHpvTGpUZW5LWG1jcFdENFpYdkVsM3U3S3JRUTJNQWVOY2x5VGdhS0tiOGJuNnZXVWJYemRIQWIyYmlBWjdXZUJSTkRoMnRRSVZUeWY5QmcxRGUxb3ZydjRsK1VmY2tWWXZuMG5XKzRFZWtnVCtpNWFkNUhldnp0WjRqTm1tTDFxb3p1dmNVM0xHUytRVElHVWZFR0p4N1ZyaXAzYWFBL1FnL1RlZUpiOFg5dWIxNUM0eGxXWVBaaFl1SldJeTJuTjA5c3lBb3draGdyVWg5ajF4QkVFcEFWdVo5eHFaSU05SDRKaXZtMzREc29ubExOYWtFWS9neWVYK2pTUnA5YXdaWVIxOVVWemhmUFZ2WEhCbnQ2S0RUNFpldVlEcEFCQkNYYkEwWHE5ZzJKc1ZtTjBIOStHK0NSMHZZMmJ6Sy9ZQ1lNZzE1UzR4bFkraW5jQ2wvVVYzaC9XS0JTY0JLaGVBZzZZcWhzanZWSlhxM0ovTWpnRmpIdlRabkZMN1FiV2JmZ09Tdmo1VFovUVRlVUJhRWk5czQ1QVBRcExDbThKeUlsZnVwOXhVNEtzVlc1aGFaVXlybkdwS09MMlpsNkZXcmR6TmRuYWc3SXJiRTVBSkR0bDJCS2JaSkVsZHVjT21nc0ptMTFIVzE3WTZySm11ZlROZ2EyS3c1UysxaGh3SFJTMkFCMWtxL3BpOUp1WGc3cE1IaHJJUm4yckx1YVdvWFI3MXQ3SWhYeE5YeDlBSnFyOUhzUms4ekE5UHNJWEtJRUUzd2t4cGVCYUFwVlUydS9UYmppVnVuTWxGbGdJWWlKL0UwOEU0dU4vV2xUdHNLbklIZ0pIUStlUnBOa3QwQUh3ellHdEM4YTJYSm1sVEhOeVFRV2QySUFoUURDelhnbEVoZmZzdEl5VlBwN0dpODV5c0JobTd0N0xIYzZleXd2TUgvTzc3cytxVVI1L2dCM3ludVgvNldOSDFXeDd1V0lWcGxiTzg3UlA4ZjA5dDg5WFd5QStVSTNHSndSVm9XcnlyVkpVN0Z3QzhzYjMyZEFzQUdJVzg4elhKcTM1Vkgwc25CN1Jkd3I0WnNEUmhOT2lCZ3g5QU1HeFBRYVpxb2I0TmpEek5xbXBrUGJWejAyK0FDVUgyaVNMQWUrOVVsdkJNQjZzVEQvYUhzc0x6NTFpM2pWajBLVGNqbHdvMzM2THJ4TU1lcXFacW9GNzUxekFENWlzWWFPcndmZXhhYmhrWFdWWVN1c3BNM3NmM3VKcmNoa1hRVkZiRTVibEV2Y2dudCttT25IY0dMRTFNZHdnTllNUU9lVldsMGpnZmhqYndnZmtzdXNiV2NFMEEvY2hHQnVkeFR1cGFlWkFCK3dJK0RZQ0gvcTdEVmVpcGJqdTJIQnVzTU1vMEkwQTNWWFFkS0o3OFBpYjRsKzlVKzR2RUdmSkQxc1Z1UmprUzBwLzJRMzZ6b3R4R3BLQ3BETlNacTVsbVo2Qk5kenZ3em9DbGlla09JUnlCUFY1VnFkUTl5TkJ4Zno0c3Bqem1vK2xKL2dBdDFGSVdTM2lPZ0F1aUJMVEhScW9HUU5heVA0RHlocnhpU3FOUEpMUEtHZG9QZ2JqKzYrb3daMlRkQnJDclBJWVhrTjNqVm43QjEwSDNQQ01GaWtPQXZwbTdwNnd0LzF0WmJrMGRNcFYxTTlqL2tBV0VTeTlvd2h6d3o0Q2xDU09DTDNYTmN6N1dFbGZZVmxzSkJrbTNpMms2M0YrUEFmdmN3WVpESjUyRDhXNkdBZHZKSFlUVy95SXJlLzRPalQwQWVNZ3dabHNLbWxXcUhkdmpZQ3RudWg2QWlYaWVGTGZVaWF1ZnUrVGYzeUd0SEt3dmQ4aFV5STllTkxzeW5sVWJuZW5kUHdOY0U0T04wRk13Wjl6VDh2YXlVa2RGYk9qNlRvcXgyOXBCSUE2R1haNWtEcXd4T3FyOTA0eGYyM0lwV1MzNzJ6V1VFenRtS3FkbXJBb0tOSzN5QlpKVFFmUUJDOFJXMVpDRTB3ZXluL3B5aDB4bFNGS1ZGM0tjMHhQWm5mbFRNQU5jRTRNT1VETjlEbVpOTFFQV0ZGZm83K1o0TU0wazdlQVF0OW1EUUUveUJ5bkEzT2hxVlhiVENSb2hFdWJSRElMd1lZbjFRdDk4VElXbFZmYjVEcm92WHBKZFozL2ErYmtVUEo5bk9SREVtZVFPbVVyL3B1bGxCVWRqM1RseEZNd0ExOFJ3QVFnZUZBNWdqbSt6eWdxRkxVMEtzeFdLZVppcFFMQmxaU0t5TGkxVCtVZ3V5TmgyS1k2QWNEalN6dGc1bXVyY2drTldwUUtYd3FFaWdNQXN0d2Rad3dkNDdUUkRBK1BDRUN0MHpTQjN3RlNhMUxkdjRlcFRaekl0UzlFTWNFMDBPZ0x3b0xBRFkzREFLaXNVbHZTTFNyanFBbXphOUVqT2t6OUh1ajhJU2tBdjV4cllMc1hCdU5CeEJDd2dlNEs2b1F5RXc2cW9Bc04yM1FZeElkMjYrbXhYVVZoZ1hIY1VYSEN2S0RkTkJqMHVYazh5UXl3WnBFNk9XYWY0ZW1TSDducFlYVFFEZmsyUVlsbWNTQ3E2UkxBKytwcG9TcGdpS3l2UG1DeFJMOWVuNmJjTmN3SUdCUmhSWGtqWnZQZ3hkT1lYUW1Ocmd1WmpLbE5xSGVCYmxIZEVjWHAybDFKR01LNGJQbUZKWFdwUUl1U09UUWExbU44YkhFQXd0VWM2UmJCb0J2eWFJTVhneFN4ZlRzSWdySTYrR3VMeXVycGc5SGFMQ2FtcGdKOGhiNzh0Z3d6NTVUY1ZDQ2dOaWtKbGQ0elJUZ3dQYTRKUzcwUXlCaEdGSVpNQ09qdzFSUDRCbmpJY2cyMmdpbkxqYWl5NkRneFhDeHJ1d3R1c1I3eXljQWI4bWdEeHRreFVkS0Y3emltNkJCNkRYdFp5cG14Z2llbmlCR2lNN0cxejBQU2JTcm5QeHpocEoyZmZkaVpvUHJzS0NFMGlEeGl6UGExUHdhNHlKc0dOd2FWUVZibXJKNE9ndC9aTDdIMW0yWC9oREJTYXlraEdHaU1ZNkhPcVFUdzh2UGMyZlFFWDdZMWNEbVJYc1pJL0tuc0NOUDVZcGR6bmc0bnBROXpRbWFCdXlERzZraGJVOUFUWm5PakpHZkQ5SG41QVZvZWY2U3h5QjhKYTN0bTFGeEw0eDY3aUdmQnJncTduQm5LWXdpVGZaS3lpQyttQlFZV0ZadllIVTUxRFN5YXNoY21rcHRtL3BaR3RFMUJlWCs3elFRTWQ4RXljQ1pxUHFZRFFjclNrVU9nNVRBbGVnN1hEUnNRcUQ3Rm1rVHZhVk5aZVRJNTNwZFQ2VC9FTStEV0JkODZ5S0I0ZFYyQ1NkUWN1c0ttM2ZXanJrUU9yaTJwTXhVciswQWRaZmxPQkFUMTFHZElhVVAyK0t2ZWNHSmpOcWtLcmVzYzQ0VlFUNGJMYzB5Vy9xWlNIV1BEU1gzMjVvMDJsOVd3eU1KS2owSUVaS0RBVjlVVWhVdXBGYWZTUGdLWTAzT3dUdlYxYWsxZXhraitiMm5YSWh6MDdMdW5ZY1NrMnpvV3hkYzhFQlEveE5xdWlNaHhRVEZvRmM0WDBlWlEzeDFrZVlpV3p5QjF0S3V0M0U3cWlRY0hBREhnMVNaSmo5Y09hS1NoK1ZqUkdvZnI5WGRJNllFY0UwaURCdHNxNU5hRTNuWXlCcGlWeStvTDVPTFFKNFpoV0t0M0l4Qkd3K2tuMGljekFlUFpjcGhza0tjRkJscUxRaEJCV21MaGN2Zzl4cXR2Z0daRFZKelpCaU9WelM0WUszd2JXOFUrczNKbzgybFEycnVnM1lrQWZtZ0d2SnVTTFFqQnVmZGJVb2tRQTZ6cFZpOGlUNEh2WVU3Vng0WmdUTjUrTXlTakRRcnp0OXB1YU1NZHRsRFZnVElxbG01N3dQbG1PVFZIb0R0czByU0xUbHVlNkxSa0xLMjdFSmdpeGJob1VMMVJkYnNNbTNsVEVDcGN1TkFOZVRSTHpSU0drbDBNcEVTT2VCY25IQzdvT0RJN3VGcm8rQXpvcU45S242VGRvNjkweG1PQUt6MDBwaDJCWFVCdlBWNTNHckdMZnVBTVlCN1NhM3puVHFMQmV6M1ZCQVZCWmVCMG9KSG9mc2owVGRLWDduL1dHUlVZMzFVSzE5aWduQWxlWDJ4QkhtMHBEWUdhRlhQM0FESGcxSVY4VW9oOG1hNXR3RFlNakZneVAyYnF6S2RVN00ramxYMHNhVzlRN2dGV2NrcllNaEswbVh4Vk40Z0lZMnNEc2l0TnNnbnBIR2dIb0QzVkJBMVZURkJNMlJOQWg5ZjlUdFE0MGV3REdlb3Vja3RWQU1kQzFudVFWMDBpNU5YMjBxVFNGZWtLZjBRWm53S3NKK2FJUTA5U0JEVUZMWndGTkd0bEI2RU9TR3hZbUZNZTVNY0tRay9SYmtqekpYSTVlaUlTQjhmbWI5TGtMd1VEZmQ1Nlh4M0tDcUZGQm5tdUhJdGVEZXlhc0FBWXBhR0gyTFhoWlZPMTdoUGxBbzR4dWtHb0t6aUozdEtuQTkyeE0vK0FNZURXaFh4VDJRWFBHanVwVENDK3JzRGpENkFDVFFseUk0R1IremtyKzRKZTVsQ2JWTVFmV2Z1a1EveHFmdjhLZWJXQmJmbzNNeHBGTjBCYXhmREExaFRmREhaUWpFdzRseW5TRkhkQ2JINVA5bUJBclBTbm9lQmE1SzVnS2Uxa3lQQU5jazB6c1picWFoNkQ1YVlFNnhkVkRuY3VRT0cxZ2NsYUlQY2hpZmV6cG5DQ3Q4ZTJzVDJNbStJYnpDRkNQOVdGM3FONkpYUDhRL3pRWlVCQVRML2pvQXY0dUU2TUtmZG9pU1dMK1lHeHpxaEZ4Rzg3TytLMGRyRncxeVdJb1RlUi9td054VjI2djYzcEpQZjdUaDlCdXJsbmtybUFxWkREd0E4N1FESEJOcEtUTkhxV0hoVXZueU9paUlGdEhyRzkyYjZwbWVVZFRVUlBHR21RaCt4Z01VemcwRndPYkRiTzNFVDFmVHJLRlBOQmVxWGVTODRXVzB4eVVOK2o2ZGxhR0xRUlRSRXZrRWNPU3p6dFE2aGlZcDFYUWNMS2xlbkdLMU9EanpqUVhRRVZIQ1pMa1h1bWFHbXBvWWNyalZ3NjE1WTQybFNZZFU1bCtZMEx3R1dDYVpDbzlSYU5KVkpWUG1kWTdBeHdkc1pydFMxQkdlenZFQnUvVmxZR05sZnpCVkJiTFBkQlAwWEhwM2dGZVhSWDd0ZFJHaWpPVlI3cFpYOERtUElNdXNqZlBhTXcvNWJnWlh0Vy9lTUEwTkJBcDV5Nm5KNmNhVnNDUmJ1MWtxSENzekUzazRtYmVOb1FXaWE5d1o1RTcybFFhMUhQYTZUZDdCcGdtVXN4R1NuS2tNa3ZGdksxU1JkMGRIYkhoZ293ZGxuRTB6eEh3WFhDMmdVRnFwbnBYbGtqclVENmc2RzFpc2VoVVlaQTNMOVd1MG5rdVI4VVlua1c0b09DZWJNTTV4RzFxLzFRVzVaL2owRk5NZ3hhR3BxeEhmUTdZeU1lQWFnN1dpalk5NnVhN2l2cUFET015RnZESURQdWU3TGVHM05HbXNrRm5wWFFHcUNaU3RNK29oSmdzWlVvYzViRG41dWdJT0p0OHR1U0xzZHd0VUVZd21UdjJ1MWRKSzRXeE82ZG9xMFF1Mk1IRkNiekFkVC8vVFpwbWVwcWo0djdGdy9CZUZna2x3L3NEM0VPYXRQVWk3RnRwOThVd3pEODk1RUQvTWhCWnpUZU9QdG1rQjNJN2FZaXY1ckhLVTNxL1Q0R01lRWJvYlFhNW8wMWxuVGhIdVo1dkdEWGRHYUNhSU40M3NUVUNGWDFRNGdCYi9KZXJvMHkzYzJTY3dEMWVaVW90R2ZoQk4rYmowMWM5QVFUVXlRTTJSTEthQnJ3aVRrZC9yNU01cWFmMGN5cDRWMEU1cFJ5N2t6bVpsamlST2FSdGNnQ0N0YnluZWRZRjhCTVkzVDB3QVVYa3RqYmV6VGhPaURtTzVGQ3VQZ3RienhtME50TzlEQ2NiWlJXM1pIVXp5QjF0S3R0bVNLVUk0Um1nbW9Ed1g4R2h2cTBVZ1B0dll3VmROYVFOUVJnWjVYanpGdmo1R0lHL2VtT3VqUjdVOERWakdzRWx3a2pqUG5INWlMemU4aWpBZURGSGdpL0d3dWFUWFExeGRRSjcxUlhzWHpoTDYrcmJOUGxsbVhKS09lNVc5aC9GN2QrSHd3Z2dIMU01dW56anlpa3EzRDc1bjMrYW9xamY5K2YvZFpTVEhXY25vSVlheFNIUnZDUGVCMWo3TnlGazN3UGdvOFpzTDRBSkgrVVo1STQybFd2RXhzdG5nR3J5NVE5MlVXOXhxYytici82QXJCQjMzLzZSczN3b3JKdXQ0L29UcVNSNTYrMGNzZm5mSDhxNGZ0ZUgvOTZpellwTEdFSzBzMzdZWDc3SzJNOGZqZTdlVHJiUzkrUHA4eDNKUC9mMVBpNU50N3ZIK2htTDl5YU52N2s2eEhEb2NJdjhNQ3VHL0FWYU1RYkZCWXo1MWFWTUVBOUVZRFlmVnhOUGYyMXFVM3h2a253TzF1NDIvS3hHODYrSVU0YmQ4SkxNRzNaWlgrNW9VMm1USVM2ZkFhckp2bEpiblNlU1ZOVll1N29aUFZ0SDNlTnVqb05EbDE5bUVSbDZUSTY4aEpsWjl3SkxvQmYxRmx0ZDhiRDhFWk5XVnp3cTdoNGF2TTNlKzZZM1RCR2dSazljWmVKL0VYNVJpd3lPRzFNeHVvZ0MwYzI0bVFuOHIxUHdjMUszY25xNWFTcGVuOEhmR1hzSGxQNVZYSFhGOTZocXVQL0oxYWY1TGpxRDNOR21NbnpPU0ZBK0ExU1R5ZVhEanozeUZ2anZsZlY0OXNWMXFIcmtzZXRaeXNzd05wQ2w0elZ4SFhsa0IyREVnbERrK21QdmtteGg5L0JjSTNaaTh5RGtWVU16Ry9DVzNnOTMzd05yRjloLzRQTG5KR0FJMjl4VUV2aVJ2TmM5STVzZjc3MmI0dkwvS3R3d2lJZGU4WnFuSmZMVG4zK0ZKb0xmcUlQZnB0TzZycE1ZSzBrKysrYXIzNUNZLzlaOVhRWm91c1F5bGZweVI1dktRRzJGUm9nQXhEVUpJQWFhYkIwRHFKNm1mbVRBc0NUSUd2RHcwVlhUQXcyR2dXa1dGSWVScXJjMlB2WG81UzhZc200Z3BXU3dJRTcwYjdvVUpZZkw1STQybGZTT2gzdHhWYXdteFJ6aWRmVHhnTFRLbWEvZXFRUC83dFI1SzQ1dmVhdmR5cEgyRW03Yi9Hb21ZaStLMllhS2JrcXh5K1NPTlpWbTVINnVCSXJWUk9HNzkzZ2RYVnBNd2tRT0VkaVVqOTZ0RzUrNGRkNmFsQ1JTdlFoenFaem1pWjB5Wmx2YTdaZGhsc2tkYXlyc0xZK3lUcUU5VnBOaVZ2RTYrbmlzaU9kOTFaNjZzdjh4U1pFTURoVVV2amVzNDNnWXUzWXIvUStQUWt6V0l2MHIvQ3BNaWNkdmxiNWpsOGxSOVpkbVl6VXAxakphUnkrTFR2UXVHSXZaOWZialZsby9ZdXNpektlbWRHYnpicFppQTRkU3VkY2poM1RKWktxaVZJM1ZwSmhadEk1ZUZvUElxQS9UZEZIN3owYkptdE5TVEVOWmFJMDFPekNJODNQSE55SzdLcGY3emJlaldCM1RaRzBNUmFRbXhheWlkZlN4YUtwWE4zeU52QzRTZFUyZlV6bTVVNXJFVGFGRFY3V2lmR29seDhGNUpPTzV5WjE5UVJyWks2SkZhbExNTVZwSEg0dnR1SzFDa3NhTjBaT1JHM2t6OWtUbEU3dEtYWnlLelZpL09UKzVlOUdCZEs1dW5DYkZZeE90bzVmRk5QSW9pY1FyVWJpRFUyOUhUcVhudnlaeWNPWlRrY2FjOHVHajBMaHJmbkpYV0tXNWFGR2FGS3NScmFPWHhTUXlxNExFNnpGSnVJWitCOUhibjZuc2lITlQrSVpDdzVod3JQT0dTQm5tSnZkRzVDbWV5QldsQ2NHM3dHZ2RMVHBaYkpnTXVLL1pxaHRFeEdIWFlrT1ZYbXo0YXdsUnZiaEdIMGtVa2ZmT2kxcXMrcm5KYmYxUDYxWTMzbUtVSmw1S1dSbXRvNC9GdGNoelhVYnIrVC9LSEthREE2ZktXOUhTdjJicmJaNXJaVnFlWlZ5TFRldlBUMjc4WGE2cVY0UW14U3lqZGZTeXVJaDFGNUs2VWU1ZFc3RU1wekZld1N0ejljcE8rVm5ySXRiL3pFL3VxbWtWMUR0Q2srTGhpZGJSeDZJWkUzMFF3ckY1VDR2VVVuQVlsWHNCaW43VjhKLzJVaEhlVXY4ZlJDSGRlcmt4NWJUems3dXQzelVwRk10cEtOZkVJZEVWOFRwcUVnS3NWdHdETjB2OTFWL3VFUFlCY08xbGVWU29CQmlWeFVWYmIxS29KZmM1eW4xY1o3R1VhbElzZjdTT1hoYURjaWZPNlNZeDUwNU80aTlWVGovNTJVVFdia2NkODJPWXpWRnU5dTVvVE4rSU16OU5ZbnZNOEtySDROdml0Rm9YQmRoYmM1dTdnZzZzNmtsczFzU2lzNHZ6bEhzdEx2MXZpVEF2VFN5MlpjVng5VDFpRkhzV0R2ZDlYSFU3QzdNcmJkMmNVeExuNVpiYlZXeGVtcmljUXpVYk5lS0ZyZWo0TDlSenMyS01GT0lWMXphT0RiZUQ3RjUrdVYxeDVxT0p5emRZTTYwVFYzMUxaTndhN0xuNWc4SG1iMEJqNDFmbXdmVGxsOXVWZWo2YXVIeUROVi9Rcy82L1c0WG9RSjlQUVR3QUFBQUFTVVZPUks1Q1lJST0iCn0K"/>
    </extobj>
    <extobj name="334E55B0-647D-440b-865C-3EC943EB4CBC-6">
      <extobjdata type="334E55B0-647D-440b-865C-3EC943EB4CBC" data="ewoJIkltZ1NldHRpbmdKc29uIiA6ICJ7XCJkcGlcIjpcIjYwMFwiLFwiZm9ybWF0XCI6XCJQTkdcIixcInRyYW5zcGFyZW50XCI6dHJ1ZSxcImF1dG9cIjp0cnVlfSIsCgkiTGF0ZXgiIDogIlhGc2dWbDh4SUZ4ZCIsCgkiTGF0ZXhJbWdCYXNlNjQiIDogImlWQk9SdzBLR2dvQUFBQU5TVWhFVWdBQUFFZ0FBQUJHQkFNQUFBQ2R5YzhFQUFBQU1GQk1WRVgvLy84QUFBQUFBQUFBQUFBQUFBQUFBQUFBQUFBQUFBQUFBQUFBQUFBQUFBQUFBQUFBQUFBQUFBQUFBQUFBQUFBdjNhQjdBQUFBRDNSU1RsTUFFTjN2elhaRW1hdUp1eUptVkRMOFpwcFdBQUFBQ1hCSVdYTUFBQTdFQUFBT3hBR1ZLdzRiQUFBQ3FrbEVRVlJJRGQyV3YzSVRNUkRHZFltZC83WVRRaCtQUThtTXdYNkFTK0VxalRPOGdGM0JVSjBiS29wa0JpZ1owMUU2SloxZFVjWlFVWm8zaVBzVURnbmhmMWkrdlR2cHRPdnpDM0JGYnZYdGI2V1Q5RW1PdVVPTmU2MVdxN1lmMHBHeFQ0ZWF0VlpyUDd4SmhZamMwN09NcWFmYWoxUXB2bjJaS08rZWJUdm9TVHZXRHA4N3hleEN1ZXBtYlVSQkg5SkhYeW9DK3UwTGlDdmtmU0xuVmdCZEtxaEEzNlN5Q2VpTGxORFRaNlVBK3F1a2pwMjkwME9pVzllSWd5QThrSUl4bUxBcVhLV1JoakRmNzFLYnFTSmtCMFMvSkZTdnlqWmFFNnljRUlzMEZXMXVSSmllRU1kcWRFNk9BV1ViQjJINFVOVEVqUXFncVNlWDVsWVN5V1ZBL2dMdnFtbkU5UVZBUjE1UHgzcTdPYmNHcUpkQlpWRmg5WFZBcDdaaHpKSmNqelN4QmFpYVFSM2xraVFqRGJWSkoxbEJGa2xEYlZ5TE5YTVloc3NNZGY3SDZTSUlmVVBOV3lsaDIwUS9iVldPbFpKVW44aWVRek56dUMxTDN3T2lyMVpxVjIyazNoT2k2MVFxVWxjbGJUUEM5Tko0ejQxcmsvWTlCalJLR25sV1NqSVZRTjA0TE5HSFJFciszdlYyaUEyVkpKZmRCSmhhcVh1bmhnMzFKcTRkK0ZZcURmM3p5SVk2WWFpY3NnaUQ5NTlDY1dqWlVBY01GZXhLR0lNRnZ1cjdQYkdoSGpBMHlUNzBSZVBWZE9aRFpVQ1hZQUpsSlFFRmdQaUwxK1R4TXdJeWdIaWdTRmxKUW5VaXptc3JTV2dZRzJwZG5HTVVTZWc0TnRSWVcwbENuZGhRN1hnWjBJTjlKSFRPaHRvU0Z3S0RFcHBoZW1iK25wRFFIcUJSWDEvbXFxY0tvTWZ6OTRUc2FRblFvL2w3UWtJYmdMeERuRCs3VllaNk51ZmVzaWYrTmN1c3RBQXFBYnAxT1JmSW50aFFweTduQWdteG9VWXU1d0lKd1ZEZTRWa0UxZjFMY3hIVTExYUtRVFZjZE4rVmU0R0N2SXdYL3Q5UWxMc1AzdlE1N0dUWHU4cWt6V0RuN0NtMi9mWEZ6blkrd0dvRUlubnl0ajZ0aTZqWnFPRWZ3aWJkL0FPdXZiRXVXRzBiakFBQUFBQkpSVTVFcmtKZ2dnPT0iCn0K"/>
    </extobj>
    <extobj name="334E55B0-647D-440b-865C-3EC943EB4CBC-7">
      <extobjdata type="334E55B0-647D-440b-865C-3EC943EB4CBC" data="ewoJIkltZ1NldHRpbmdKc29uIiA6ICJ7XCJkcGlcIjpcIjYwMFwiLFwiZm9ybWF0XCI6XCJQTkdcIixcInRyYW5zcGFyZW50XCI6dHJ1ZSxcImF1dG9cIjpmYWxzZX0iLAoJIkxhdGV4IiA6ICJYRnNnVmw4eUlGeGQiLAoJIkxhdGV4SW1nQmFzZTY0IiA6ICJpVkJPUncwS0dnb0FBQUFOU1VoRVVnQUFBRW9BQUFCR0JBTUFBQUNaUEI4NUFBQUFNRkJNVkVYLy8vOEFBQUFBQUFBQUFBQUFBQUFBQUFBQUFBQUFBQUFBQUFBQUFBQUFBQUFBQUFBQUFBQUFBQUFBQUFBQUFBQXYzYUI3QUFBQUQzUlNUbE1BRU4zdnpYWkVtYXVKdXlKbVZETDhacHBXQUFBQUNYQklXWE1BQUE3RUFBQU94QUdWS3c0YkFBQURNa2xFUVZSSURYMVdQVmRUUVJEZFFDSWZDWVFqNTlpU0EzWjZUdnpvZlJScHRBbkh3dmFsMG1NVkNxMG9TR0VmclN5RG5SMnB0UWorZ3ZnUDRCOEVFejhReGZITzdwdlozY2VETGZKbTd0elozWm05dTJCdTBvUGJyVlpyY3l1aEhTTWpwWWVicmRaVzhrT0FMdW5ZRmN3ME0reE1rTXI3Tnc3NitIcE5NUE9pYmJFbmU0b1lzdzVvMmdrQVkwcDlRRjhpcUFMV253Z3hwazdCTm0zc0JsaW5PVmFaZnVhUUtsamZjbGlkdnVZUUE5YS9ISlpxRXpTUUVGMm9ZNDFTc2gwRDhGQjNMbldCaHBkWUtQdFhERTV5V1J3ZEVKM0hyR1lqOXRrYm80VVJXcUdUeUxkT0YwVkc2Q2kzQVJzY2dlVVBFZERoL1NqSk9YV3dUZ0o4NVhKTEVaMEhLMnoxZXE0V04wRVpySjFncnYzODJkdllJbGk3bnJVYXBTaStCTmFCZW1ZdWJvc0VhbUExeERFbXpZdkdoV0tCVmFubk13SXJGdGp5TE9xZDUyRkZMN0Rqdno0UVdVa29zQUpwT1hLYjZMZWtGVW5MeGZwRWVrRW55cGM4K1E2SXZvdmRib2lWLzQ2SlpobFdvVTQrS240WFJXYjJoaTR0UWYyT3dCbzZyMUJhTGxRSHEyUE5GVHB5RUg1dnZFcW1qenZxV29FZFdYZGVxekMxQkxrMGU2YzBGdGhiNncxVVd0WG05Tm5ubDAzeWs3UEFlc3hhemNnd0o5TVQvT0k5MG5KWVlOdkFURmthWXFySkJ3Yk1KTXVIeVFLN3g5aFlwVlhPTmdoVnllbXZnblVLVXNsTDYxamVxcjdld2hKWXZPMUZmeTBQZDNsdWpKRy9PV0R4V2wyWkhMUE9YTkVHOVRlWWpZR0NtZUNsaFQxa3p3NHFrOFVQcmNDVy9BM0hwclB0b3pMcDRiNXR5OGhMQzFjaHUrQXJiak84WW1wVDI3WWI3UE1lTHB5QnVlUk9ITFBBYXVGajhXbDY1RmpvdnF5SURwTXBma1NXczRZalp3T3NZVjlxY1pOa3YzWC9oc0NrNThXUFNLb0NOWE5nUFMxK1JCTC9mbU54WDBxMElFclV5aGVZSlNjWHNVWTBHd3JBZi94VVdnTGFiMXU3WlF3YUxGMk1PQWFMZEJSaGdSMm9GeGdwUGZJZUMweVg5ekNPWTdvV3VDcVVBSU01amxkb3F0UkNXczAvV0JidWUya0Z0SEd3ZFlhN2Q0T2dtRFc2SStZMTMvVGNicjIyZHcwSDk3cG53M09pcjBKeW1nbThmbG9ZZG1CRjNwSEo5alVzL1VNejZGM05xb2dXYmhXcjAyWGlQelVlQ2M2dWMrVmMvRmpKS0RwaGx6Z1FDcjVYVHNWU2tsRjhIemlWWlNuanpQd0hmTTdiK2hqVHh4Y0FBQUFBU1VWT1JLNUNZSUk9Igp9Cg=="/>
    </extobj>
    <extobj name="334E55B0-647D-440b-865C-3EC943EB4CBC-8">
      <extobjdata type="334E55B0-647D-440b-865C-3EC943EB4CBC" data="ewoJIkltZ1NldHRpbmdKc29uIiA6ICJ7XCJkcGlcIjpcIjYwMFwiLFwiZm9ybWF0XCI6XCJQTkdcIixcInRyYW5zcGFyZW50XCI6dHJ1ZSxcImF1dG9cIjpmYWxzZX0iLAoJIkxhdGV4IiA6ICJYRnNnVmw5cElGeGQiLAoJIkxhdGV4SW1nQmFzZTY0IiA6ICJpVkJPUncwS0dnb0FBQUFOU1VoRVVnQUFBRUVBQUFCSEJBTUFBQUNxZ0RkckFBQUFNRkJNVkVYLy8vOEFBQUFBQUFBQUFBQUFBQUFBQUFBQUFBQUFBQUFBQUFBQUFBQUFBQUFBQUFBQUFBQUFBQUFBQUFBQUFBQXYzYUI3QUFBQUQzUlNUbE1BRU4zdnpYWkVtYXVKdXlKbVZETDhacHBXQUFBQUNYQklXWE1BQUE3RUFBQU94QUdWS3c0YkFBQUM5VWxFUVZSSURYMlZQVk5UUVJTR041QkFDSkF3MHRra2dwM09YSlRPNWxMRXhpYU1meUNwZE1ZbU5GWVdvYkNQbldXWXNiRWpZKzhFZndHTWZ3QUxlMUR3QzhYamUzYnY3cDV6YitJV2Q4KysrK3ozdTN2TkRicC91OTF1YjJ5bXRHdDg2dEwyUnJ1OW1YNWpvVThoN1huQUpKbjJrNVhLNjVldStQYjVXaUNlZHF6MjZFV21yS1A0dFJlcU9TZ05JWDBJVWdYRTcxQnlRWVBFdE13Q2lQTWNVYWJ2UWxrRzhVV1VPV3pRaVZSQS9KVmx4RjI3MENDbVJOZWhZSU5TdXFNRXJFMDNNWXMwVmdTVzlrTUo1aXpYWWtSMHBZbWtwY3ZIMkI2bFZPaVRLdHV6VWNva042aVpZTG54VU1BZTNsTU5lSHRJZGJ1cXR3djBQQWk1aGV1NWVSdFRCckVyK2gza3o5RlVRZXhGb3E1d3F5K0JPSWpFbkY0NlY2eUFhRVdpS3cvZXlkb2d5N1FmNlN6U0JxbGRxTDF4REVhSkJqbjlVK2pDbUZRYUpHY05oOE1ndjN6RHZEV2NEb1BZeThPbHM4RDZOcHlQaUM1OXVkUHlrY3hoa0l1c1hLR2VyUEZ4SDR2SjRtWVl6bGZhZkFKaTdKU0NOWnpjQU5HejRTb2RPY2wrUDEvNXpXT0R1SnI1TUdNZzJPdDlTenFEdkxMeFNGcGpNUjQ1RzhUU2RYS2dhMW56UFJ2REJ0bGh0ZXdYYlpHRmVOSFlJRnNzSG10cnZCOWJFcDg2aUhQa3BUQXpYK1B6RWdpZVlsVmZHMS9OT1FqdXZ6L05HbzVMaUxoeXFqVWNjV2dOc3FSdW5xdngzNEUxeUdTcU5SelR0UWJwMkJYN1Zqby9aWU9zcU10cm5tMC9GTkFaRm1QMGhiNUpiYm9Ua1NhSThWQStxcVZrMzNURVFiTkJucWdMWGNPc0IyTFlPUkNQMVlVK2J1RXBFaWVOYzViWERzTW5PTFJVdkJud2lucEN6QXFlSVZqc0tFeVZmeURLR25QWDFqWGg5TTBxQ0dneE5iRjU4L0lkWm9NY3hIcGozdTN5TDFBMFlvUEVIak4wcVA1TGhiOERHMDQ1THBFUG1lc0Q1dTJKZ1lkRmE1VDE2dnAzQmU3Q0NmM0hMaFlaV1hNWEdnb2gxZXNYTlZtSVIvYkVtSStGUFloazFVNlVEM0JXYXZLbHJTdEg1TkJUZm9TcnM2OFl2NDlieHZBQnpreGQyb0hMam1iVzQrWEZZaXZDeWtXMGhsRUd0NHA2VkVySjVlSGxXaXhQaVNwdkhweEEvZ2NKYklqeUpTWjh1UUFBQUFCSlJVNUVya0pnZ2c9PSIKfQo="/>
    </extobj>
    <extobj name="334E55B0-647D-440b-865C-3EC943EB4CBC-9">
      <extobjdata type="334E55B0-647D-440b-865C-3EC943EB4CBC" data="ewoJIkltZ1NldHRpbmdKc29uIiA6ICJ7XCJkcGlcIjpcIjYwMFwiLFwiZm9ybWF0XCI6XCJQTkdcIixcInRyYW5zcGFyZW50XCI6dHJ1ZSxcImF1dG9cIjpmYWxzZX0iLAoJIkxhdGV4IiA6ICJYRnNnVmw5cUlGeGQiLAoJIkxhdGV4SW1nQmFzZTY0IiA6ICJpVkJPUncwS0dnb0FBQUFOU1VoRVVnQUFBRVlBQUFCU0JBTUFBQUFiUjc4NkFBQUFNRkJNVkVYLy8vOEFBQUFBQUFBQUFBQUFBQUFBQUFBQUFBQUFBQUFBQUFBQUFBQUFBQUFBQUFBQUFBQUFBQUFBQUFBQUFBQXYzYUI3QUFBQUQzUlNUbE1BRU4zdnpYWkVtYXVKdXlKbVZETDhacHBXQUFBQUNYQklXWE1BQUE3RUFBQU94QUdWS3c0YkFBQURMa2xFUVZSSURkVld2VzRUUVJEZXMrUEVjZXc0SWc5Z2sxQWlHUWo5cGJDRVJITVdvdmRWVURvTkZZVlQwRHNkQllXRFJJRkVZYitCNFFrY1dwcnpHeGd3djRFd3pPenU3TjlkUW8yTG01bHZ2dDI5bmZ0MjF1SWEzTG5SN1hiMzltUG9DZjcxNFdDdjI5MlB2eXBnQU9aM3hCVFIwZGdQaFZTZVAxUEE2eWM3aHZNNGtkajlwd2JaUmVCemFrSnlvaEZDN3h5b2dweGZUa3h1RTV6WHczZ2RPUjhEemhwODg1QXQ1SHp5RUpybnpFZVE4OGRIUkY5djI4QXh3SVVKcEJQRmh6NGdjS2ZCc0EyWUJoemM2SGNmV2daamhCZ0RuUHVjVHR1UGhaaGp3VHlzQWdzdnhtQ0FHL093V2JBMEptZklzUjhMZ2NsdGJ3Z0ZUZVFzSExRUkZoQnpaZVM0WmQwTmRrREQxNURUYytZWmhsOFljMVhrSEZuT3RqZEE0NXZJT2JXY2tsOElsYWdqcDIwNWZWOFdLdUVMYUF1T0xkOTR2b0JxSzY5V3pNSzFySUN5M3d4N05uWUZsSk9Pb2lZQVAzbFFYam9xTXdMUXgwMklwV0h6S0dYSEFGOFlTZHJzK1hZT3NOSklCVkkveDlFQU42YjlsbG1VazlyT2tETlZmb0YwVktLSm5GUzZEWGlySUg3VzkwK1VTd0pTdWJKNWQwM3E4NkVtQVNuNk9KUk9ETHJzSktCakdyaXRxWG9TTkthbGtJQU9DVi9qRWxBZ2YwTldNUW5vRmtIem5IVFczeXN1THFFNlVGUW9IVVdLa0VNdlcvV1BtWjVCRytUUUtvTmk2U2hTQitRV0w1R080a3lrZ0RhOTA2cVhNR1lvQlRTN1JEcUsxcGNDU3VUK3pjREF5VWhBZFM0WEo2T0hCL2QyT0JCTDNKakl0WUwrNmhWL0xXUzJrRE1kQlUyNnRrcXhEYVk4RVFub1VkZ0trcGZVdnN3N2xwRHpJR2dGVmVwQ0xWbC9PVlVOT2M1UmxkamdPcG9aUzB5SURlSWN5UlEvb25pQmJtYm5vZXNwa002bVBDQkRleU0xa0hQQk15aGJscXJ0S08wUlJBSTZWVGwrMXMvUVE5R2NNRUFDbW5MZ1dKdy9OV0h1NWxFWjNJdWg0RzNkdG9IMVNyWlhDREVxbGs3THZkZ0dOKzFneDh2Q3dqbzVka2UyUEF6bGJCeFdKTWNRMkpSN2VkUkg4UHd1ZkNRZllhL0lnd0ZTRHUvaUlFL2h6QzFQUVo2ZytmOVlua0RqQlZ0cmhuOW5DamlaUFZ3RjJVYm5HTkZKc1RnMVA2TitnWWNsMVhHUlNlZ2psSzUrSGRtS3gxY0xMRUZ0MWYveDBjZXJhVFMwUjdUb2RVUU56aWZ3cGpCbHdRK2R1eTg0K2d2azBxcWhJbGhFVFFBQUFBQkpSVTVFcmtKZ2dnPT0iCn0K"/>
    </extobj>
    <extobj name="334E55B0-647D-440b-865C-3EC943EB4CBC-10">
      <extobjdata type="334E55B0-647D-440b-865C-3EC943EB4CBC" data="ewoJIkltZ1NldHRpbmdKc29uIiA6ICJ7XCJkcGlcIjpcIjYwMFwiLFwiZm9ybWF0XCI6XCJQTkdcIixcInRyYW5zcGFyZW50XCI6dHJ1ZSxcImF1dG9cIjp0cnVlfSIsCgkiTGF0ZXgiIDogIlhGdGNaR1ZzZEdGZmUybDlJRDBnY2lBcklGeG5ZVzF0WVNCV1gzdHFmU2g0SnlrZ0xTQldYM3RwZlNoNEtWeGQiLAoJIkxhdGV4SW1nQmFzZTY0IiA6ICJpVkJPUncwS0dnb0FBQUFOU1VoRVVnQUFBMTBBQUFCY0JBTUFBQUJuNGNKVUFBQUFNRkJNVkVYLy8vOEFBQUFBQUFBQUFBQUFBQUFBQUFBQUFBQUFBQUFBQUFBQUFBQUFBQUFBQUFBQUFBQUFBQUFBQUFBQUFBQXYzYUI3QUFBQUQzUlNUbE1BRUhhcjNlKzdpVlF5WnMwaVJKbjhkWk05QUFBQUNYQklXWE1BQUE3RUFBQU94QUdWS3c0YkFBQVZpVWxFUVZSNEFlMDlXNGhqeVhYM1NtcTlXbW8xOWs0ZWhFVHRuL2hUSFlnaEpDWnF4M2JBenVPT1lXZVRlTmZjRG5qdEVJTFZIOEcvNnVDMUlSRFFmT1VuQk1rNENRRUgxSnZZU1dBY3BKQTEzcDlFL2VQRkJxL1Z4Z25HMkVHOW50WjRkbnZHbFhQcTNucmVxbnZyU3QyOVBaMHBkdnVlcWpybjFLazZWZWVjZW5TUDV6MU5mQVI4RGowRm5vQVI4Q2NQcGsrQW1FOUZqRWVnVE1qZTA4RjRja1pnU01pYlQ0NjBUeVh0RS9MNDZTaGNueEY0NlRoZGxvQ1FVNHJ4MVZFNjRpWFVWbjhuaFduam95bVZON1pxYXpsTjdWdURFSEpBTVVvUFVoRXZvM0x4UWhyWFlEK3Q5b2JXZFRPY1V3SDB0VTM3N2djdlgvRVlGTW5kdEJhZk9ZOEVrM0hlOGN2aDhwTi9McGZjTExoTWp0TTd0RW5JL1JqanEyZko4VWtuWHJPMmwrNDRHK0g3OUFZcU1Mc2dQZmk4WG5GVDhwTzNNbnJTRnVGaGpTVEdKNE40dmVwTk1rcG5NRXhNb01uWkowSlVXSWFSVDJkN1piVitzUHpBdlh2M3Z2U0JPK1JIdk5FQ1dUNzdXL2UrZElmczhDSUJGR1BmSkVwMGFFRElQaXNibkROb3RXOU8rYm8vem1pbVNvNVVqT0w1MUt0MVVXRWp0ZUo2NXBvb2FaUit3aVVzc2FKZFhpU0FmbVlNMFNYQ1lsYUlpWWZnbGdYbGs2OGlKb3FOY1orWjZoaGh1QWRBRXlKYUliT045RnFVdi91N0U2cWRCNy8rTGk1UDh3ZTA2UHhUVTE3RWdTWjVnOE1XZ0pBelVST0laU3NLYzBDNTVKdkhjVTRLLzVKbU5Mb2pSSzZIWkUxRGtOTGtCVmY1SVdoSDI3VzhFNG8rYkF3VmJtWGFEVmdTYndrUlora0JtMEMwUXU3eSthSFVzSVZmUXp0NkNlOVN4Si8rNEltRjRQb1ZkMEE1VTAwc0lya3pwV3FTT1ErM0NMa3RTQXBrVDJSV2c1emwyOVNkazZtOWpyVDRvZjRKTVlOeVQrYWdMem1QOE1UU2p6cDVwS1BxK1EyaW1Kd3dLd1RRNlJONVovbkdpV21YNE9WNUcwcTg1Q3M1QS9vMUxKcUJ2blRiUng2YUJXMlRFM09GS0IycTNNWnJHMFJYK1h3aVFpWWhqZzdWVllNbzJ3SWQ5WnJtVzZDdnlJcHpBUXZLRXVIRm50ZE5hRmFxak1DK09td2xGeU9WWUNJWHVNcFh6QTZGa0cyZ1dQUjE0eUZaMEp4dy9ZYzVDV0owTUdEa1VDVzlwZlJKMU5WVVhZZ0tDWnFvSnJOcVc2b1NTVHJvS3Q4d2UrMWpRd09sczcybGJsclNoYm5BMm1IbXpzamNHSndmNmN0cFlmRlM1ZXdwN0JOdHl4VXN6YzA2bDdySzE4dGUrOWhtU1RHQi9iZlBnUTNVeU1kNVBJcWdyeE1GdTZicmo5VTZUT0c2Ymx3N05tYU1hZGJYVVQ2WHRZOU5GWlRRZDZaYWd5eFpMckordk9KRXhoUFBmVVdRa2szelBkM1JLV1EwVTlaM25tMWxQaWNKTWtzYzVTdXJnWVNWclUva2NTckptM3NyemFWVXJLb3ZXQkhhSnFsanVUSHhIVHJYMHYxVlVTL0kyM2xIK2RwYUo2ek5kR1VIQnBQaHdJcDV1UldyNmd2UDZFNWwwUnFhZWVSMUJaSzltUnJvdzliVUZ4eG41d2c0eXRkeEhmaTVITEdDdTMzc0tNZEZvNjJxTDd3UFZnNEZ5N2FZcWVSZzdMdUpBNnZrNlVtK25qdktGN2pzbHJIbGx0S0xCYkgxTnArVStiRlgxWmNIK2xJTTRPQ2hwZkdoUERNdE9LSHNIU2hPejNYaVd6aTZ5VmR6WHNabHhVckFidnpJMXZEbGxxK3NyNUFvTHNZUDl5MkNMckpIdnFZTUJ1VXoxaTJraGJ1MTJFbStyV1RERm9aMXhRdEQ5UGtUQytJbEY2K3NyNGw2dXJ0bE5Td09sMFFWMWJSaWwyZnE2czAvQ2s3eXRaejlFTmpYdTBJSXRMYUhJbnVGME1yNjZxcFRiR2k3c2dMSG45bWRVakpXS1NrYm5rd09TUVFuK2VacXpKVGtJa29DWlVmWUkrUWpvdTRLb1pYMTFZZm5KcEtjd1o2VWtjR0tnNHRvSnhkblVlRXVNM1NFbmVUcnU3dWhyckxkSEJDSGJqbEtTdEUrZHllNjZHMytkL2hQaHltRW1mcXEvU0I4OW44TkRNYktqWERCY3BYaWVac0pGOUg0ZFBDYkkrVFkrRlB5L2tNRUN1L0huMHFDL1pPU3o1MXhrbStTOEsxZisvalpIOU8ydmhhYy9ZcmM2RmhhaXY0WENhUWR1WHBOZUl2Y29lUFVuSkF6Y2o2MWM4dlNWM1dDb24yRk15amRqc0U1RlBOU2I2YTljQkExaWExd3JVZVdVV2Y3SUtTdDF6WEZYd2gyenBDVGZBa3Y5SmVFaE5RU1Y4Z3lBbGlEUStGUS9RVjVBTDFYdGpNTWJjWHY0a05lSDUzQzR2elB2T1lreGRSbTZNdWZnR0NRRHBrY25kMFlta0hwTml2MWV0WW01cUtmRWZiNDdCKzhYMEJyVjE1KzNtdjJiSEhXdW0rUFhPUUQzeW9GRVNCZW5YeDRDdHJZOTd6ZVI3ZTkxMlMzMmhJUEZqcmtSOXRkOFY2U0Q4THFRQk8yY3h2UVFIRjU3SG4vd1Y5aUdoaG02T3ZycUN4SUR4bHBPSTJoRnBUeXpsWVQrMTJHRDlQbWxNTUliRkhVRHB6SGQ0OWdnQ2FDaVlMbUJkcUp2VnFiblhPUkQ4NlZWRVlMZk10UmdQRXFuZ1B3UlhtcWxmZ292a0x1YjBQOFNwSk9WMldXSTFlQzhTM0RFV1h2WlhoM0JjOGE3YVRwK3FxaXJtaUtWVlBoZGsrNVlOckE3cGxUVDl0STlWOUF2QTN5c0lJMEMrdEpYSGZORTE4WCtjcktwc3J6S3RIN3o1QWM5bUV1d1pzUzZTU3R5RWF4R2VLTWc4cUU3OE9PclpZR2U1VGp0L0hJL0JadzNyYXlTZGZYbk9vS2Z3QkRUTzFIMFJmakNFbGcyOVVYSUlkb1hVU3FSME95UmM2R3dBcm53NjZvbEtHRnRpN2xPaGZZUmI0TkxRZ2QwN2tFaytoRHVIWUdpc2tEQlVYTmp1bWVEWGRndDlQbCtOblhiZWxiT21GdngvTmdEeDZnVjRGbXRWVXZZNmZxQzV3KytkVi85MTc5SC83YXJML1BpUEdDaVExMUxXV3FFZGtKd0Q3NE1XVUF2OTRRbnFBTmtKVE9PRWZmRGdGOXJwRmM1R3VwcHhTTk9NanRrQ1Y2MVo2eXZrRGlLWW9EVTJ5RVg2aU51b0laVTZKUDZxQi9wclNqRWpSd1FlRUVPNGJ5dnJwUlVqRzlWSDJWeUhKRThjZXg0ZkJGMkk0WFRFY3hzMDNiMVJmRTdGb0VPRG1nTkhqZE1VV3phRDM5R0dRTVI5eTA5ZU1pMzB6ZGxHL0c1bTlNNkZ3SkZZMkFubkEwdlhuc3g0YnFlVUZTRHJ3aHNLVjlGYjJBTzFrWUN4cDd3ZnBLbWFtcCtscXd0ZUVIVVlSWUVJckJFYjhkTjl1eHp6U1FlaVFKVjQ5ZEtjeFdsQkhXRjNlSUVoYUNRd2lYMWtrdThzM1ZOc1p4ZnpxRTdFUFRzSUoyaFFSZ2EwYVFnL20zUnd0aGVPMU9tMks4eDZZdGNrWTFUNUhvajAzczZpemVJUlRKMlYxUnBVTnArbXFLN3Z4Y3RKWTJJSTZKRTA2ZjB3ajI1WDZ4K3ZnTHd5WUx0eEVyQWJ3QjZyZ1JzQm1oa2FINGtyTlAxR1lYdU1nWHVTTE9LeHhGNENLUytSWEZXb0tpRHFBYXJGWTBtaGh3Y01vMWdSWXVxQUZ6RGE5R0RaaDVwdWxMK2tVYlA2UnJsTTFBNElVT04xNjMxcXN2UUFPekpEYy91QjJKQVF2ckZLSG1YMFQ1NU0rV2RlVWxjVTBsTHZMMTVZRGRxN0l3R2hZVzVmaU5xY3c0V20wZEpoYUdTcno2cng1c2MzZ0ZZSTZqQXJQRWdUUk5YM05wTHp1bTU3bkJqbUFKOHNabWNCQXZHbDczTjcvSFFaaUdVNTRCRzNNUVpWckMrVW0xTXRqS01qY3lzZ20yeUZlYi9DSEhYckFaUjB2S2JFR2JMUjJWR0daQlBFbnhnbzBwQ1VwM09kTVZnRDZPU3FBRnEyWSthZnJxN1FtYUVocnJwandEUWg0MGhrY0NEeUZ3VHNlc0JNSzBiUWJEbHlsdnBvVWhFa29NcnEwdmkzd3p0a0NnbmE1eXBrU3RFcFRDNkpzdUc2aSt3QzdzeGdJQy8ya013cVRjajhHVlBxOU5QUS9lR0poYTFmbWw2TXNuSTRGZHBTRW5tNEZZUG1IaGJvWExIYU9ES3g3RklPNHFaSDE5THk0ZlNDcGxxT3EzcGUxbDFWcUhuRVUrT1B2anhLcSt0ZzZpQ3JCMHB2aUpCaG93eis3RzVNQ2Y5UXkwT09KTVZ3U2cxVGZOcFA1ZlMvdTR4VkxLdkQ2VktWZ3NGNVdGT3hBRHZDSFZkMWxzTjVTMWlBaGc3S1lNRWJyQ2VzV0s4THZJTk5ZYjdEeEJJdnRQV1ZZQmY5UFVBaXllZUNXcDh2VkVFQVVSb053aDFoQ3NsbE1HUzk4UXcrR3VtRVU5MFlXbUVwbElORGxBUzZ2QUFRODhMRWxaa1hVbHQ5aUhVZDZWQk9nek16K0JmaWhwU3h3M1lqeWwxTVdaSU5NN0dmUlZza2h0WEE2NDc0d0NibFcrdVJTUlRveUtnV2FPRERLanZtU2pKVSs1VjZjR2dueEZsbGFCeWR6VzdkU045Unkwd20wQmlqS096eVhyd2xreENiK3h6U0NMdnFEZitxTGtGREVBOHV0Rkxadmd5c1JpVkJiNUdsSkVhdFpYbXdYV2pGUDBEVUM1c0R0aDRRYVlDQlpQcW5ncjVpeXRBcmRpYU91My9odVRjdE90Tjd5NnNQeFFNd1F1aU5DMjdYZ3B0WGw5V1Z3RXBZaC9HTlpYSlRBTHZ2eUtUTWhnQi9uTStocVlmU3V1TC9ER2U0eC9WM0tFckd5TnI2VlZuV05LdktHaWJqNzA0RDhwdFdId3BwRHZtbndBeHpQN0w3dXg1b1Fid2xQd3NseUFnM3htLzdWSXJteHNPQVJWUVNSMXdvU1laSm9JaHVuMHRiU3EwenJyYSt2SDNsQnhWQzNRMXpIRytDT2RwNXpYNHNPNHltNnNPZTNhK25LUVQ0MFBXZE1XMzRyNm1oRnl5TkJDczl0azFYbS9sbFoxTnM3NnF0LzNGZ2N5Tll3NXFpcmw2Z3V4emZxQ3VhL3drdm5HOE5yN0x3ZjVqUHF5K1ZhTVF1WWk4Z1cwVk1OaTZGSmFrYTFWbmNaWlg4MXp2dG1OZUlDbHcwSHZXM1lOY1VOZythWjZtL1NzREpabWFtcXQ2eDRjNUZQUE4ySnhiTDRWOThSallTcmhmSEl2dFFOZVRldzROT2hiU1VKYnF6cW1zNzVxWjJxNFFXOVlkK0V3SUgyaHdQbWhRVE1MODY1TUZxNHRuVVBJNWM0d3pCUTRpMGlWcjI4eWFVQm5Xaml3QUhhOWpuQ3EwTEdkVkZuOEVBU3dwQ1NscGRWRUMrNzZJdmpJUUVwdzZnUVdZak1qcUlWNWN5Z1J4V0FnK3Ayc2pFcldQWi9IVTdFcytRYlNScEhMQVhaMGoyY0VBS2RVQjZBdkhpS0xRT3ExTy84bzBBU0VGd1MydEMvUVlnaGFQVW9VR2dxYzlkVWd1QU9URW1nQ0l0eXhxa1RQZThlWG4vK09oQlZmRzBrbEFNSmNaVWZKWDFCclJFNjdteElWcnBCSnZ1YUx6KzlJOU1ZN3RqYVBBZXU3RWk0TS93anNJZCs4Y1AvNlUrUWUrVzBKa1lQdTkxOUFBcTBlY01vVXdGbGZQbUZuNnpFM2ZDeHdtdmcxaHdKNWJpSkhqS0NhcEJ3d2xMR2EvY1NtbU1tNjd2MnlaNURQNzUxUHpxYXNCUndrdzY1OXdDMUMrMVNnNGp1QVk3aWo0dnBpYTlNUGRyMUpkSkFpWWVjRzUwYS9rV1RqckMrNFA1Z3E1S0FKOHFpb253NzJQZ1pYWG84bFJENWJwVEpockF2V25xNzdmZ01Yc1M3Zk0vZmh2T1ZJQ0tLOTM0Z3FoRy90U0tob1hxY1F6M045c1hkZmVBdXpNTmw4MFl3TDFNLzI2SlJORG4ySnR3Q1JBREFlaitmYVVkQW1YTncxbElPYVFCNGc3K2VQa1ZhNGlKSkdIM0hHbit1K2o0TFRzNFI4WUNIa3MwMlFRNTR1L3V1MGRlRmI1ZHMrREsvd2pRVWpnTmx3U05ISGUvaHk0SURDYS95WWNNN3BUSExvU3gvYUFHNXNBcEJXVHQxOTZwMm1vcXdIVG80bmVPVjhGekpEZmw4MC93aXYwd0EyZjdYaUhObUVmSFdZY2NydjNlRVRUWkg2NUE4Z0EyWTBqaW53MGExSTlLMGlWUm90MjJMakcweng2T05FSUs0R1pSK29SbnlkOWVVbm90d2VUR0RsQkJnT08vQXZjVUlrZFN5RTdzaDAvU2dLQXBOekVtRk1kZ1NtQ3EwL0JnbjVTbzl3aGJCSUI1b0RHeWRVQWdFNkxoNVFTWXl4cVV4UVNnaGR1eHVKMlNadlVnQTNPVkE2aWtwWC9nblJqT3hFN0h5YzlkVlE3Qm95aEZGblhXUDhiMkVud0ROUFdRR3VwYWhqV0FJZG96Y1lJU0U3RkFObnZEbHhlMk91ZGlsTnlEZmV4MmM4YndsYVdFdng4RVBaRElTRER4d1J4bnBDU3lkU20yQ0kxR1VUYlJHckNEYzVvT21wUUZ3SkFoYW1UVitTbDdPK2FvazUxSUVPM2xZNTluY2hMNHdHVmtxL0o0RFhFYmkzS1N6WitvcGZqeUtlbG1Bb3AxcFIzbXhDdnVBUVgyUENJdU5KWGhqajZCZWtPbUU4Q2RucjBSaDVTQWx2eGVSVkZuaTBZUVQwWjhLY3ZUc0ExeGhIVHRqTyttcEtwaVBpUElEUlAxUWJDYWVRVjcxNG1mVU1ha0NUdUxCbWIzWEpQbVE5UHpqQWp5blZGZGRpd3NnczArWHowVm1GVWNzeGNZKy94cURtQWhaV2czd2g5bC9QcUxIK21NNU45bmNtWm14NFg5bkJDMFZjZW11bGxtbmJZK0xvcksrSzdKb3BweUgzekp6eDN5T2s3bW9neE9EVjRDL1FsL2QyWjlIcWgvamFsb3FTbW0wNEdlVzZmSTNmd05zRVpZcjFKUVBSSWFqSzhuMHcydHZBR2ZkVmN1cEdxaDBUZkY1VkRXWEp1OVRJeThpNVlaRDEySW5JV1YrYnNvU1VkUnYyTjZZMjFKMHVqTkNVWVRYSTJRNGMyWitCbzBkdXpYQ2YxU1MrK050UWF5YVRmSEJkSUhPZFN6MllFZENuMTkyRFF5ZlUxTmY1eVZORUVFYitvQmt1MytVMStNTm5yQU5YcTZvMklzajFjeXhIUG1tVXp2cHFLZEVTc29RMXZHTmlyZTJjNUJuZE9ULzBxc0g3MEkzOGt2Y3pQZFhpS0x5R2p2NVhJVkl6SnZtMFUyVDVsejhMNUY4OTd5VUljQ3Z3KzEzKzU3UXRGZmpUYmNvZUlvTm5RL0luVWxQYUUyYXB4aDJjbTA1YVRPVE8rcG9uNGszYlg3MVNkOGdRVW9uWlZ3M0pzL2piYmw0OUpCOGs1OGNtaWFLeURuTVFkcFNzR3BOODJndHN4ZXArbGl3RG1FYWU5N2ZrTENUL3BySXYwR0FmeTZxL0ZqNy9mYmx5VTdMNGNua2V1SExud0EzZFdWL0pYL0VxU3BHNjFCaVloeDBwQzk3NHRzaENaMy8zTG1ickx5NC9SUUZScDBDOVJEaXFWTHRrVFBKTlpHSFFuUW5uNm5tZitmSlpwSWkvQzU5VE5BS3RsZTMyZWUyYkJKZk9NQnhuZlFXbmpJUjltMmNqQnNwZjJINHBpdGh3M0FuS1BOQW5iQ3NGSzJRTThrRXNjYUJ3Q2gzZFBBUlIxdjJSdWtWUTJGOTh4bFZmdnJOOTBsdzZ1b1A4WWhmaVRWQit5bFFLY0Q1VEJhRXZHV3VsUXM5MDJFWlpyOUMzQ01uNkN5MXgxVmZkdFdPSjNTTXNsZndTbDh5Mk5qOGpsU0t4czIyN2h1S0JhalFrdHRFVzRhV3BWSFNKNE5oNklxUTJXblQySjlvdkxlSVp6cUhLeXlISDk2TU91RGxRNk02Mkt0MHV1djVkekFZUE54S3RSYitJanNlK1Y1SG1lTWJwa0RZMFEySW5HZXRMWTVXeFg3ajZGYnNjcHBvdWhodDQ3TXRTaWg0WUN2MXUyWjF3RzAxM3pYSGFLMHhYeVd6K3ZodlZVQTZrVWtrU3UvMHRYWUdwNUxUU1ozY2EyYWg1TU1BMG44QUo5SjVFczdEYU9Ra0p6MnoybGJ5VUdXRDNpbXZ2N2lXT0Z3RjJ0TzIrbldlb2QyMkZ3YS9rVjdGZElGRVRoYTdka1NoSlU0U0VCZnQ3SmVaVnEyRE50dUgvYTVVbWllTU5pM2dRTXU5b1ZTbWQxVEJadHUwYzNUQUtweTg5eTZUSHZoemRiV2I0S1RFdTNkbjNScHpqOVFDY0p6eWN6dWhUc1pSNzlQdnI3NzVNdzBZUEtjcXE2UXBjZGh1R1A2akorUS9CbnRpZm9YQzBxd1Zxcm5FdlBzRFdSV3ZhbmJXT0d1VWI5c01FTTRGamFRM2RvdktLQmk5RGpyT3BaeW5SY1JsaW1BVWNpVjZyVk5DZGtsVzZ4QllITUJmT3dVckVWbm5FWkcxcGhZcmUwdHZTL3ZIUUxmV0V5c3gwa2hKRis4RjU3M3piVFBlMmxSWVRUc2ttU21MN0JZaUd2L2RxSTZmbFkrV2xTeXBxdnNwbnlEK1RseldTQU1MeGpGUlAvZU92aFJlZk84eGdjT1hWYTJ5L1FGYjkzeFBNRU4vUGF6OHorRW5WdjNqbmo2UWNCV2NKZjZ0alFCRHBZRE1UVkc5blFjdDVQMGkzcExxb0E4MEk2ZlZxdnV5OG1GVzYxWExWN0gvdXVlY2FISzhtd1NWUURaMGxaazlwRkNFS3pxZkZTTGJJdGxBSzl6VXpuUlRuUkZsdjJjOTYxMno2MHNpSGp4eFowMmZtU2R5K1M5UWNrN25ITnNsMlZpbkovT2VlM2M4S1ZtbitVbWkyRHJQWnZvUTYwZjlrWjB4VzBlNmQwcmdOY3VnMmpZOXpYVC9sWFFJd3FlYmVQanEzL0hZaXdzb2E0ZlBReExzQktsUkgzYVdtQ0ZxN2N1dFRTTmxkZ2FERHF6WFBLVU56b1ZYdzVIRUgvMnJWaVpGck5Uc0tpK25henE3UzJOQXFoUU00c2JVbS8wcWpINnNZRjE0Qno1R21jSmxzT3hmK3I2bGppKzkwUlhUazU0RFcrR0VLa3YvZWxNb251R29UMzUyUG5jOUJudUNlM2d6UksrUUYrSGNBMGwzM3planBEZWxGajN5Q1BKamVrTTc4UCtoRzllUExmN25aNnZvL1dzNDQ3ZkwzYkJZQUFBQUFTVVZPUks1Q1lJST0iCn0K"/>
    </extobj>
    <extobj name="334E55B0-647D-440b-865C-3EC943EB4CBC-11">
      <extobjdata type="334E55B0-647D-440b-865C-3EC943EB4CBC" data="ewoJIkltZ1NldHRpbmdKc29uIiA6ICJ7XCJkcGlcIjpcIjYwMFwiLFwiZm9ybWF0XCI6XCJQTkdcIixcInRyYW5zcGFyZW50XCI6dHJ1ZSxcImF1dG9cIjpmYWxzZX0iLAoJIkxhdGV4IiA6ICJYRnNnVmw5cElGeGQiLAoJIkxhdGV4SW1nQmFzZTY0IiA6ICJpVkJPUncwS0dnb0FBQUFOU1VoRVVnQUFBRUVBQUFCSEJBTUFBQUNxZ0RkckFBQUFNRkJNVkVYLy8vOEFBQUFBQUFBQUFBQUFBQUFBQUFBQUFBQUFBQUFBQUFBQUFBQUFBQUFBQUFBQUFBQUFBQUFBQUFBQUFBQXYzYUI3QUFBQUQzUlNUbE1BRU4zdnpYWkVtYXVKdXlKbVZETDhacHBXQUFBQUNYQklXWE1BQUE3RUFBQU94QUdWS3c0YkFBQUM5VWxFUVZSSURYMlZQVk5UUVJTR041QkFDSkF3MHRra2dwM09YSlRPNWxMRXhpYU1meUNwZE1ZbU5GWVdvYkNQbldXWXNiRWpZKzhFZndHTWZ3QUxlMUR3QzhYamUzYnY3cDV6YitJV2Q4KysrK3ozdTN2TkRicC91OTF1YjJ5bXRHdDg2dEwyUnJ1OW1YNWpvVThoN1huQUpKbjJrNVhLNjVldStQYjVXaUNlZHF6MjZFV21yS1A0dFJlcU9TZ05JWDBJVWdYRTcxQnlRWVBFdE13Q2lQTWNVYWJ2UWxrRzhVV1VPV3pRaVZSQS9KVmx4RjI3MENDbVJOZWhZSU5TdXFNRXJFMDNNWXMwVmdTVzlrTUo1aXpYWWtSMHBZbWtwY3ZIMkI2bFZPaVRLdHV6VWNva042aVpZTG54VU1BZTNsTU5lSHRJZGJ1cXR3djBQQWk1aGV1NWVSdFRCckVyK2gza3o5RlVRZXhGb3E1d3F5K0JPSWpFbkY0NlY2eUFhRVdpS3cvZXlkb2d5N1FmNlN6U0JxbGRxTDF4REVhSkJqbjlVK2pDbUZRYUpHY05oOE1ndjN6RHZEV2NEb1BZeThPbHM4RDZOcHlQaUM1OXVkUHlrY3hoa0l1c1hLR2VyUEZ4SDR2SjRtWVl6bGZhZkFKaTdKU0NOWnpjQU5HejRTb2RPY2wrUDEvNXpXT0R1SnI1TUdNZzJPdDlTenFEdkxMeFNGcGpNUjQ1RzhUU2RYS2dhMW56UFJ2REJ0bGh0ZXdYYlpHRmVOSFlJRnNzSG10cnZCOWJFcDg2aUhQa3BUQXpYK1B6RWdpZVlsVmZHMS9OT1FqdXZ6L05HbzVMaUxoeXFqVWNjV2dOc3FSdW5xdngzNEUxeUdTcU5SelR0UWJwMkJYN1Zqby9aWU9zcU10cm5tMC9GTkFaRm1QMGhiNUpiYm9Ua1NhSThWQStxcVZrMzNURVFiTkJucWdMWGNPc0IyTFlPUkNQMVlVK2J1RXBFaWVOYzViWERzTW5PTFJVdkJud2lucEN6QXFlSVZqc0tFeVZmeURLR25QWDFqWGg5TTBxQ0dneE5iRjU4L0lkWm9NY3hIcGozdTN5TDFBMFlvUEVIak4wcVA1TGhiOERHMDQ1THBFUG1lc0Q1dTJKZ1lkRmE1VDE2dnAzQmU3Q0NmM0hMaFlaV1hNWEdnb2gxZXNYTlZtSVIvYkVtSStGUFloazFVNlVEM0JXYXZLbHJTdEg1TkJUZm9TcnM2OFl2NDlieHZBQnpreGQyb0hMam1iVzQrWEZZaXZDeWtXMGhsRUd0NHA2VkVySjVlSGxXaXhQaVNwdkhweEEvZ2NKYklqeUpTWjh1UUFBQUFCSlJVNUVya0pnZ2c9PSIKfQo="/>
    </extobj>
    <extobj name="334E55B0-647D-440b-865C-3EC943EB4CBC-12">
      <extobjdata type="334E55B0-647D-440b-865C-3EC943EB4CBC" data="ewoJIkltZ1NldHRpbmdKc29uIiA6ICJ7XCJkcGlcIjpcIjYwMFwiLFwiZm9ybWF0XCI6XCJQTkdcIixcInRyYW5zcGFyZW50XCI6dHJ1ZSxcImF1dG9cIjp0cnVlfSIsCgkiTGF0ZXgiIDogIlhGdFdYMmtvZUNrZ1hHeGxablJoY25KdmR5QldYMmtvZUNrZ0t5QmNZV3h3YUdGZmFWNHJJRnhrWld4MFlWOXBJRnh4ZFdGa0lGeDBaWGgwZTJadmNpQjlJRnhrWld4MFlWOXBJRDRnTUZ4ZCIsCgkiTGF0ZXhJbWdCYXNlNjQiIDogImlWQk9SdzBLR2dvQUFBQU5TVWhFVWdBQUJMQUFBQUJmQkFNQUFBQUtVaU80QUFBQU1GQk1WRVgvLy84QUFBQUFBQUFBQUFBQUFBQUFBQUFBQUFBQUFBQUFBQUFBQUFBQUFBQUFBQUFBQUFBQUFBQUFBQUFBQUFBdjNhQjdBQUFBRDNSU1RsTUFFTjN2elhaRW1hdUp1eUptVkRMOFpwcFdBQUFBQ1hCSVdYTUFBQTdFQUFBT3hBR1ZLdzRiQUFBZ0FFbEVRVlI0QWUxZGZZeGtXVlYvMWQvZDFkM1ZtUkZZUGt3MU02Z0VrUnBtK0lnTCtKcmRVY2tLcVZuNUIvV1BxcmhtVGRaZ0RRbTZ3Q1pXWTBqNEE3V2FEMlBVU0xXc2lpaGFuUVd6a2tpcUVJd0UvNmpKZ2dsS1FsWEU2SVovYXVnYWNIYjI0L3E3OTkyUGMrKzc3Nk9xcTRiWnBDdVRmdWVlZTg2NTU1MTc3cm5ubnZlcUpnaE9Qek8zd01kN014ZDVLdkRVQWtFUTdwMWE0ZFFDYzdBQTI1MkQwRk9ScHhZNGRheFRINWlMQlU0ZGF5NW1QUlY2NmxpblBqQVhDNXc2MWx6TWVpcjAxTEZPZldBdUZqaDFyQ25NdXZYaktVekZONmQwM3BhdUorb3B3M3l1bDlJNXc2NVR4NXJDbU0wM3BURlZEdE42NTkrM09qNUtHV1RoVmtybkRMdE9IV3R5WTY2eFlSclRtUnM3YWQxejcyczlselpFb2ZMV3RPNlo5WjA2MXVTbTdQd2dsYWNZdmp5MWY4NmRHNnllT3NMbmptK0wzeWM3MWd0K054eC81dHVwT3Q2ZXpzSzd6ck83LzJ4NGV3YkxNY29TNjZWVGpXN1AxQ1VvVVgwbW9VT2l0OWx0OGZ0RXgxcG40blByUytscVp2Zit3NmZZSzN2WlpNa1U3VWlUejg1dm9aMWhGMTl4K2ZMbGMrZERka1hyVVdPWHpsMitmRDc4dnNaSW9QV1VpM0hhVzJ6UHdaeW9XYWlNb2NqbGU4NWRZa2FYWlRhR3p2ZGNJZ3BIZzZ5eGc0elJCamN5Q0diU25laFkxZU8vQ2ZtTXBtYUNPVlI0aUxHTDRkak1WdzRXbTJTSnZlcFI0VnFwR2JQTk0yR3JJZVNMUDFjMWEwVWliMnBNQkt5elF3Y1RhN1pkbmhqRkpJZ1ZvOTMvYWI0RmhkelhxQWhvWnlibjY4emxjVVRNcEpua1dHczNqb0x0RnRlK2Q2SnhWaG03UC9ndmxyWElVOFpvL1VJUVBNa1Z5UWp4S1NLeXVwYi82RU44QU1iKytyZDJOTzJ2VndYcXZrYzBKZ0lhek5BNFhhcTVFSXNqcW1lcTZ5KzlMMUxsMW9mdjEvd3I3eFhhM2ZqMGtVWUpZSVY5ejBaNFdoVVQrRHk5TTBJbE9kWm9Gd09zOEZWYlA4bEloUXAyOUFLa09QZWZYK2IyTWFmOVZZaElUNW56U3hTVUwvdEE1WFYvT1RSTVp6SEFjZDIwQVJXd3JvNWptVUFoekhid0ludk9rblRpUmlHRWVrN3g3QzZnWGgzejhiTTVBa0UzL1ZSN1ltMkZnQ1RIYXZWNDkyYklUcllobjJIam5XQVpKcmdpUnB2aXoxbzBqMTltTTAxY3ZndWZ3YitlVm9qcitMUnVSVURKcC9aU0hqMXFZalU0NGs3U3JFRTlkMjB5a25KcDJkVWM4N1djTk9sYXlneUFwREhDb1JEKzR2TlhUelJJazhjWmJJZVpHV1hpS0l2UjRpOTg3STJKSkpOMzNNVkRVZUViN01aUThmSkU1cnBxeU91U0wwajJZeFBzY1BIbTR2VDM2NUVHVkFQcXVUMVZ6MmF5R1ZzZExoZHZoeWZJVEh6eWZMZ2t4L0lvN1dQUHdHMHpudWx1d2lxOURNckU3dEpNZDhCb21LSTgvWDNkNUcxRjZPaG1KeVYyTGFaV2daa0VPdGFwRVp1ejNndTdVRzlIaTQ4QTlxeURRTFBNOGdTQy90ejJ3bmRDVC9jenBsWXN6R2JKYlRBeE54VTIvZFpRbnNQcStvNmNFK1ZnZklKZ2ppZzJtdG1xZVpMY3RaajdHWG9DVlhMc1NJUThFOFN1N0RyRHNpKzlhTVhjenlkNkljOTI3bVBNeEZWY3IrTHRROHJHTHREV3RIQTVDdUIzWGZ6Z3RCS0MwbmhxMWlSR3BNSlhvcjZSV2ZVaE0zRFVXUWozNGhKR3VVSkNNUEFFdTdpdy9KaEZ6QTlkK09BODYvSGQ3Vnp4Tk5oeWJ6V3V5S1o3R0k2VCtEQmZPYWMrN0ZoQnI2aFR5dGtjU1FjbnpQMmgwWXlQN3Z3ZWw3UldTTm1ISElOUE5aWUxyL3F5cVU2dWtBQ3RaN0l3STlYd2R3bU9KUmVEd2pYZHN3WTZOdkxGMDZDU3VWcEhtZVV3cFVmQ05Tbkg2dUEwZC9KUGpkMDhxWkFOOXRxVGluRDVheVlwRC9XbTBHTHVhaDk1ZHNLY0lRRUhZUSt6cThjRTdUVTQxbFdMZnR0MU5ONmJNNTRHTlIrekpYNHdmZklTeVVseXJQWk1rcXltTzFtVzhya2E2eWNwcnZwSENNMU4xL1NtMEdiTVdhU1YzVGo3Uml3Umk5TndUSUZseGdRL1l3S1dQMkE3dFBvV2ZEUGYwUUhZb28wMXlwa0J0WDlTL1kyTjdkRzd1YzZ0TmsrODFUbTVWK0M0ZGhRWGZCSU1Ka252S2wzdEFIMlV0U3lweTc1SktpZlp5MkpGbytXbVJDN0JaRzErc042MVdHclBXVTNSS0RpM0VLZVFtRFc5bnBKSTV1WllDM2wxVE5KTTREc3oyQkVxamtYOUE2Nzh2aC92d1NJUkhpbzBIcm5WSTdpQnFWTlljZTM2NmdxMXZJRzhvZmRZUytpMGpWaVpyZWpzakVMd2N0NTF2S0t6ekNTRjV1WllXTllIU1lQbXg4L0NzZHE1ckZWaXI4K3JGbHhJazZKMnV4ODF1bkNzSFkwSDBQSGxkcFc4NGJPVUVmRi9rdzZWRGNmS2JCdStISGdoWTFBelR1WTJNRGZId3ZPOUdWUW1aK0ZZWlIxVWpGM2lFTUxRVTVaZnhFa1Vwa1dXSzQ2RjF5TjhDWTQxVkNTNGJ2bjJzbTNDU21nOTRFYjZjbGd6dTdHSDJZT0NkdGJlTjNqV1F6VEtIU1k3V1dGamJvNFZOUGxUdnBOK1p1RllDQ3ErMk9Hb1Z1emdWSGZrSVAxTlJvNnFXL3FsQ2JkU2ROWko1WVdzMVhSM0llTnRwcWNTdnFJKzRZNkRvVjFtSzRTSGNSck0yWUVINjBQMXMvS0wrVGxXbCtWMmY1L21FVzRXam9WZHdGTUtqSTI1RGMrNk9ZeWg0d2o0a3NtZThNenBaa1RpVm9xYW5qSlJVTW9keHFGMW1qSTUzcjJ4TmEvYVpUWnZqUTFQRCtvMlYyS3JhOGUvT04zOEhBdVZFMlAvK01ENU1MTndMQnl3ZklscVRJRWk2RzROWStnWUF0bWplVXFFSFYrZXE1MUtrYmRNaEdmQmN1T01TWTBoS3FtYlhkTStnY2E0WXdqY0hKME9YNDB0UUlZZjQwdEFMR1NkcXVibldEeGR2SmFnVm03MFRCd0xzZE9YVU1TVUtEUVIyN0pWUm1naXhVdmM1WTZRNUZTS3ZHV2lvSjAvaXJlY3VwT3Rib1Y2aWQzbGI3WHRNcHV2eGhhczV3cnRRdjZhVzdSelI1MmZZd1dkWExtTnE1RGRub2xqNFVsMnZuU3Y4SEhyRlN0YkZkMHFXWDRLeDZxTExxZFNWUE1lWGFxeEpPWUxuenIrck9EL1F1WFlxbmowMDRMYlN0Wk9wTFZWUU44cXN5MTc5N3dsRW9vanZ1S2ZWRjdWNDJEeFkreVZkTTNoYmlPS3BMOTVIQXZmY2htL012WW1wSlNZbk1RTjh1VTJTWm9Kdk9OWWhhL2VNNzd2azVyanBlLytsL2Y5eFVVMC8vZjgzUi9WMkJpQXBDaHZvTUJiRzVtdjEzZXQ4MjZveWlwMnBhaW9xaEMyTnJFZ2poY0dReEVBMTlrNEFoVERLTTEzMXBMTnJ2aWRhd05HTUtpdVRBd05oa01sTjdJajd4eEgxZUEydTBUS3drR0EzSEpvTXp1dEhJNjFoZEJ6bnJHUE9KeXltWFNIaGEvZ1RsTFRCTDg4ZytVekpUL1BSZGpOS21NVnhuNDYybnQ0ZFJvZkpCc3Z3YVJZTCswWUlZQmVCaTY2ZVZtZGJ1T2Y0VmtwUHNySkc5YkJIZnJzQ3lGMnBjaGJKdUpKekZBUXF6K2I3TlZIMklFUFVmVjY4MDd3RU0wRlMrd1pSUlcvZGlkK1A2MExJeWk3SmRUWWNHZlMwR3JBL3ZHL0JTL2ltOTdHK0V2QlNvZHV2eXhEZzJ6SDJnclo2NCtDRnlRSlNuQXNXT3NXYnVWN1NzVXByakhId2h2MGI5OEpYdGpTWGlJZGF6dDh4MDdIdFlrZThFV01kU3lqNmg0djhBM1F2c2ZibzVCOTZ4MWtPTlpoMUFOR015OERyMWNnRDFOU29tdVRreTJ6bThFYVA3aCtoUWpBK3czZXFCTHh0U1orRWxlQ2VzT0ltZGZZZWdxazE3YXorNjRLc2hwV1Rtc1ByMXRXallBZ3FQaERzaGFYNlZpbzc3eUZVMzgrNFQ0VEhLdkd2ci9UMGtkeFBkd2tRUEhoaHg4TzJSaC9INDVtdXNWZXcvbnhIUVZ4RFlML2VGL0lJOWJaN3lQdFRNbzdVY0c4bngvWTl2TU8vUkNJRTZKekpLTG1PdFp1aEljdTVvd1E3a1ZJKysrR1U1eGFqNzRiRjdKcmJkQ2o0UGFVb1Y5VHgwMkQwdEEyR1VrajB3R3J6TGJvcjc5MG5NbHN2NG5MWEdUUHJuUDZwdHIweFVDdGpNZlFtWTdWWjdkRUJNWExiVmVGeEtWOWNWRi9IRjBrK2pGMmN5Zm9zc3pDdjVLU2RPMlF3OGVQS05kRzRsaVhEQ3NocHFwekRjdmJqUVdTb0ZoaEh3ejRMdlYwMGhBeC9KT2cvdnNZMWlDYWxqQkVyQXRSWDVYNGhiOU1oRG5DdGtJK2ZURnptTExYOENjOUEyc2h3czBJcFExTzhRWW56ckxtNE5EMFd5TlV3VGNhYlROeSsxVjJQQUk5ejFUM2pScE5KN3FabmdqS2NpeUVBaWx0SUZmSmFNK1M0WFVzekhmdmhOK0JpQVloamdVWDJaY2pEMHo2MFdiSG0xam1mRDBLLzVjVSt2S0FJRzJTT2RkZGljRGpFUFp6aWIwOHM0T2QxUWZ1ZEQyQ2dkZWIxNGlFSGtXSmE4bXFKY0hoNjZLenhzWThmZWxZV2lMVXd0bjhuNlplV2Y1K0Q1Wkc3VzNqWWhhbFUrL3JSZ2RiS0JKZTVlOEFFczhNZ2hvMWdpVWxhbVE1VmxNYkMwRkJURjM3d0JMamRheStLRER6UUhIQklwNjRRUnlMdkM0QmI2OUxVUU4yWE40TkFwak5XekdVd2EyTGxIeUNzVjhNeFg4cWtSN3o3M1dzTnRtT3E5REo4K25xOUZCMExrbjM2MGNTUSt1NGlRaFI5NGpncUMzYlB4T29iRFJzeHZZa2FzbHJLeDdZcjFDbWFqVFR2STV5RkszZHV1a2VaRHhEeUhBc1ROaWVGQWJIRmNOV2lIUjArWklKMktUSHVUQUYzbW9PNzh2M0lZN1ZJdE5aMFUvL0d1eTRkZzFsbG9TUlpHempxNjJlYjBSQjlRTE04YXVUNkdPT0pVOG9jQS9sdmY0eUVUOVFQa09sOWk5RXJWcDBBSURnZmRPTkEzM1B0Q3hvbWxkcXVIdkk0WUthZjFad1dxSWpic3E3d2NUekRSdzIxQUVaelpGOUs1Wit2SkhoV0cwVGp6RjNYTEZ0WlR3cDZ1TTlDWkJMUTZvd3NoOGpFSXE4b0hFc0dPWlFjL1YxcWo1aXgrYzUrdkczRFhXdkFXQ3FmZDdDSk5HVHZDRklnalpEeGw2LzQrL0YvSlBEYmxXM0doaEVjcFRwRkJBcFVTVFhpTEFYZ2MzSTdSK3pBaEhzZmFBcExRQjNjMlFoOGpUNEdmdDZSRmlnL2t0NFpYaFhtRVc1Q0pEc2NVZEVLbkpWZGVIYVpVK1JWaHhNZHl4b1k1WllLSktzZFZyTWlNdmpHSmhrVi9RZzgvRWZQMFJ2bmovR3NjcTB0bGpTalpHVmw3Z2l1MnFEREUza2RXbjg3YTBLQk85NCs2cmFsWGkzYVhVeGRYTEN2YTlpZ2JoTjZ3bkJsbHFqSGVtUjc1YnMwYkJXL0lwUTBkK0JKWVgycE1DWUZCWHkvVFcyZ0IrdGgwVEM0RUxVUUtpNnpxR1ZiNUZPcElzSmkwY1NwVHNXYkNXbGc3d2pGdFNpUDR6U01YRUFHWW8yZkYydFlkby9BV3djcTAxRllZZmVqYVNNYVBFb0pyaXFwcUNwbDJ1TUpnR3hBby94djBaalhJbXpvdlYwSktLRXU2MEwwQzRUL2ZldG5ZaUFuOWdsclVCc3FEWHZYMzlKYTRGa21FcHVuaXUwazFNM01NRUN3Yno2NTRvYjAzV2tZRnc3QjFFRDk3VkgwQklzWmNTTWRNZUMxWHBhWmx1a0VBM2phYnJIQVdyS21ma0pWZmNSKzJwY0pxQWRDMjhSa09DSGJWOGFaMFJkM3hVSHN2MElOeUNPUlV6cE10QjI0bXMwTUFweEQ3VGt4c2hQcGowaHdTb1RJVlRzSzdrdFJTc1FKU2tHRk9TcHRxTEZPeXg3R2laQXNhb2NoQ0J6Z0tHMm1aVVdkOVZraVJPUVhnSVFxTHlzNitUMDBWZ25jaXpzaENwYVExcE5PSFRuU3RaTndFN0s4REMxVXBYYU4wdUM2ZGVPaGYyZjdNSElNcVNid2JFT0Ria0R3U1JIRWFxa3A1OW5CK2xCWEFuaFA4SjBxNjVhNXRveDl3ZGtWVXMybGFLMnVuL09oRGh3eUsvOFl6dlc2a0dFeGZyemJRTTZLa2RVNmkvV3Q3d3BoY2wzaGFKUmhGeFhSaEY4ZUVLaStMRVBxTm5pcVBkTC9FQUZZa1VucmlXVlpWaFkwMGlOV0tnd2tLVWtCaWhhWXhzNUJNS2V2Qytib1o1Wnk3NkVPQVBVamdXaEpJQWpma2s5Um1sWmVVZTdFS0tKbm14aXl2VFJpMDM0NzdVWVRZZklvbzZGZVlsdTNDNFRRZk9la3RHeElwYkN3dld1SzVoY1E1S0dhSFNoRFVNOG1QcjVEVTFzQVMxMXFyTnJiQjFqVjJoS0hVdHh3d29LSk5kRkduTWlmT0YvaUY3Tk1XazhlRVE0QWZZdEV6WjR4cnhLNG9aTnJGdGRwblBBcWxHVjJsZVRaZ0xhc1VxV1kyR2JnQzc4TXlMVDVrcERrSHhPNGhCTjlFbU9tTkxsY05wOEZvL3JEcElYVWJTVDhtZG15aXQwcFdpSmhIbmt2Q1RVVmhXdEpSUHJkODlDUkEydlkwR2p6TTlyUGNMNHdVRkcrZW9GMnQ4d1p6MFlpZllvdUtKMkI0VVFWNDlqblUzV2pNUW56ZzJqN1FvcDRrK0R6MkdYMk5SMFdWRExCRW5NZ2VxaTlsVzQ3S3QyTEF6K0xDRVBaWERnamhWNUdPbFVvRW54ZVJIbXVrSVRVeXBVNHZXZDlyQ0NycFhnV0xwUzFMYzN0aThlYWZGK3h5cjdDd3NWbzdJV3dPc21tUisxbWpTWEFQb3lyOW1VSnd6WlcveVdKdk03Rm5hSGFBdlZkQUxBYXJBUjBVOGxKU2ludDF2Qmd4VlBTeW1Zd3l0QjY2b3J6bTFERWUyZlRUSTZzYS9Ma3R6V2pnV3owT21xcUVVT3BlcEo3R1dUZGRMZGhwZ3lpVlBqLzVIY2pFTGlwc2pVUVJQcHNuelNPWmhVSmtLWDM3RUcvbnZ3UnF6dllwQ016M2hmYVdwZFlTbmhDdVhFRE5QdldBa1pvQ2RpcllXSm10ay9Kb2hEbGQ3VW9DTTBPOWkyRWo5TGNkWEF3dFZSclJuZmlCVlp2cXQyckhiTXNYYUZoRFRINmxzWjNvVjhJMXBVVDhJQ3NkKzVxYm1PRldraWZ0Q1MzL21hTjFNUmN2MDVWcE1zUHpKOFNMY0xqWWRLTkhScmZDWlF4cjBjZ2FxbGN3S1h4WjlqMFRWSk9CYk52a1N3Qmt4TDNoSHRhTGJBSFV1WFhvd0VGeUliRUU1QmRneDBhVFBiMnJGZ2ZCSW1UR1lEcFlaSlVzaWVES1VPazhpUzhUdzh4Tjl6Z0w4U1ZTb3Fkb3BmeU9KUnRVRk9HWTVzKzFTb092MUpUT0IzTFB6UXIvMUVUMG5KdXBad00zV2U4dldTS0dHa25YaGZRZ1o0RXNjcVJ3K0oxRmhkT0ZaL1Y3VVNyemlBWFZXZFZlLzJySHB6WExWanRhelp6T2RZb1VtYkVlVVBjZ3huay93YXB1SVJHOFZiRFN0NGhpcmJFeWtwOXltclRHU3pleDBySVlsSnFtT2g3Sk45Z0xLSEZTMDRDUGNwcThabWsva2RxK3czM1VucVdDTTd3ZWd5OXFmSkNZM1dFV1RYVkNPMEVpT0ZuZUNxSGF0cHpTWldzenlMUThkaGdqeWtpSHJUZ0xmWEU4Z1MwVTh3eGo3cTZjV1FXcTRJVThwbE95TE5YVTlVeUsyOFM5a0pTUXdjNjlBek9tSk9hRmF1bDhDUHhFYkhGMWViUkZ1SEVKdmVrWU5DYytBM1hTbGpNMHJiQ2lHU0pzeGR4ajV4a3c3c3I2VTNqSHBZaTRrYk9oV1VER3ZIcWxtenljc051NElyeGJGUTN0WEpYdGtiNVpQSFJjK1hrUWpjNzZNb1daVVBhS0xXVVZOVWlycStNNVNVMDdZTUtwR1lUNStWWUx4OTMvQkI4TmhVK3dDR2djQmlTdVQyUHl2Q1hlMTQ5Q2d6eXhkaUZHbU9WZE1ISHNGV3hndGZ1MFJBUWkyOWIxSlJUQzFsSUx4NVFlMVlrRXJDQkhlc1F5RWp4YkZ3aXJpdXhtbGtwSnFLVGw4TEtEU01lN3BKQVd5cit0Z3JNbmExekdFdlBBK3d5MFNVa2E5K2VoT3lEM3ZVcmswbVdqRHZnUWNOVktFeWVmamxiOVl6dGhmWU5UWmJQa0xuTlJ2RFd4Vy82Ym9aM3AzbVdFMzdqc3ZRYkVnR3hoSTRKRTBGMW93aVdBSlhGSHE2cTNZc09CRFBYOVFIcWx3VmNJcGp3Wks3aXI1TmZFSGgwcTZGTmtxakhpdHpIdHlWQ1VxOHhxQUVEZmhoWjlPZW5JY3UvYXpxeHRYN0VsTlozVXV3dVU5b3NTcDdwRW5CTXlZVVUzUTZETGRCK3RDM1BIdmwwZGVSQ2NLOTlHSXlFRGhWU3ZkVjJ0bXc1b1AyUkhDYVk3VzVpNXNQREdBTUNqUTI3WjdwMVZETmJMN20vR3JiVjlObUF0cXhrQ1NSd1htRnJTNlkweDNyVUEyZ3ovbTJLVlczZXkwMkVYenFMbGEyTVVObUYwQkRQeHlITGl5d2Z3dmtKZXd5KzBranAweHZRcUVIT2xDVXJ5c2NycEJjSjAwS0ZzM2FwZWgwV0pUWjdOOENLWFJ1VkkrUE5CdDg2RUEzRkFBMXBDOFc5QXJpZlFQZnJxNlljRTF6ckpxOXk1ZElCT0FTRW1ycGZXTjJmWEp3N0V2R3p3QzFZeUU4M2pLMHVGdFpDRWx4TEd5Ris0cEZMUkhIbEtyYnVZckh6ME1IcVp1d3YvWWx2c0hvZmJFTXh6cXl5a1NGeW41QS82c0g1NTMzU0dSVEp6RzFQVDJJMkxyTW5CTThCL3NlRDNCSVlrMm96WjYyYTJ4bmJ1SkhiL2NNcFE2ZEJzV2Y4Y29NY05uY05mcHJHVkV6emJINjlrQndyS3RreENENG92ZkdCOGF4VkVyaDJ0ZVNrdHJRam9XTmdkVFVzQnZKb0pIaVdQQytmU2tjNERVQnVxYjBEcjdTZ1hqdnZVWGtWYUlLN1A2MEVnSURzUWV0elorWC9acGtiMXdnTG9sYzZVSEJhWktZeWhVbENsZElKaTBielBsajhUWVR0UHRCUTY4QzNvYzNybFpWUE9MdEN2V3k0SVYxampNWjRJTEYyelFKTENlTGZkSWNxMnQ3RXV4MkVPT1BJN3BxenZtcmdidWkzN1Z2bkNrSm94Mkx2NTZ5bzZtUVA4dnBIREVyNzlNVUFNamhRbitmenpVbHBWZndGb2J5ditJbktXcEVGZGg5VHpFQ1pyOW9mVStCbC8zb1Q1UnRFSmZrajRWL0JxellvbVFzWHJGK1lVTHJyTVNUYTc3LzNvSXdjTENDNEZyWkpjaE42R3I5dmx1SHZrK0I3L3dQUVF3REgwWThqZGRHMStpdm1sdUtvM0NhWXlHdk9TUzBwWHlPdGFoWEpZTHZOY0h2MnBjSXpRQ05ZelhvUWNDNFBPNTdtQ1FqMUhOZWx1c3laa29QNjJZRjZaenhZUTlGV2QwWCttQ1VuaUxobFNMMm5HcnhhK1VJOVZJUzU3RnhHc2tJdTN4elFXU1MyZkdTRlJJV0Zab0tWSERiVjNGU25RblhEbGR2U0RvWHNEaXRVV3BxMStORTdXakpOSFYwcVY0aHZOWnRVYnlDMHh3THQ3eXI2QkM0cTNvSWcvUkFKb1N2S2hkejdldmhTa0FaeDhLc1hkQkV1R2s1UVNQYlZwcUNBeVphTjZXTHhVeHAwWXZHY29pdlVjVFJGSU03M0ZmdGh0WWsraDRsOFNKOEtSMmhDSEd6cDRqdG45TG9NckhaWWZsS2g3SWZhNmpGb0prcFVMTEdvVDNKY0JQanFRT2VvT29mOHJjZXlXR2IvZzRKUHg5ZEIxbW9GalJmbE9hamc0WkIyVkNhWTBFMkZ5MC8zOEZJKzZxUmNnWFhNT291eStVYnMyOEt0OVBWVWI0WkZFSmpBZ3p4ckNTRVk5VWRIdDNzcXZBQkt3d0ZObVpLVGF1QUY4T1FpVi84a2tUVUx1YUhKS0pLRVVrRWtaOUFTOFNsSXlXYzErbDd1dEZIUlFPTldpaW5XMzE5VlJLTTFHNnZHUWl3U2xZWlFhZUNOVXpnQlVwUnVjYmprc3dwZUVmSm1Gajh4MWk3dUtleENpZGRXaXpuUzRUY0ZwVXE0VFRIUW5wZ2hDMnpQNDVpNCs5NXBGaW9sbHBOVFduRnVIMHQrclJHVlRzVzMrelZyU0RGT3BCY2lCajFKQUZyYW9HdUtvUEZUT215OHErcXZzTkZ4dHB0SlkvWFIzZDFONDRJMnVFRnNueUI3elV5Z3hLWURsbWJUUkdxaXV5cmt1TE1VMW9TQi9xMkYxaDlpSU5xWmRuNHROWUE2bDBqQkFXK0NFS2E3V3l3bTdvZllabWZRN3JQeUIrQUsxU1V5UVhKcHBVdGFpNERwRHJXV1dPVTdlb2JJaVB5OEpQK09Tc1h3WlpTTTI3ZmRBR2tOelQ2WTlwMlpVOWJTUll2dWZZSXZRVWl5QjBKeEVCT1o5eVVGajIrblFoci9wV0Q4elFYOUErNTRibHRYUlB3U3RHaGJnRjRERFBUc0Z5Z1RieWxKcWczYmlJQTdvQ1lINTNwcDBWOGtPSWp1Sm81RFRFZXJFeUxxZmhqdkdSRWZRMzV1dVpDT3NpcE8vdmRLUEhDZVpwKzFzd1VVTFNCVXgxTG45S0RZZ3R5Tzl4akZqT1hpdnB4K1M3Ymk4YUoyOWVNbnc3eGx6TGZvMGdlWUxLWWg5bFVxNGNuZm05UUJMR3IvTVp3VVlXOXVDbHRsaWN4M0IvWUtHK3JHS3BKYjZqOGlOTmg1ZW1ncXZsYU5KMkFtOEdFOHRObG1ObWd0WXVTMEQ2QUI2eFo1N0drQjJ6U3AyWmNJSW5FeFpmMVVkcjB3SlNtd2Qwc1dvbkFvUWlMWmJGMmpFb2RkNm1WOEpBUThrQk1jak9yUnpaU0hTdFE1ZFdWRHE5RGkwU3ZkUmh4cHRUUys0eC9WVzBycEQ1dTJ6Y1NrZkczOFBBSFFrd1Z1Ky9EZnlnbzhWVmNrZVhpRzMvU3VmODErayswNy83dys3VTlMSm1iN05ZT0VGOVhic0E3YlZOYTVBOWhzRWNzVEZKanhLSnRDekhxS3FIUmFiakJ3ZG4yVFF0WmpGbVh5M3pUZmVKNEIybll6WjNDZityRkVwRkROTmM5NlRNeUxwQkU0dUpMS2cwbkhXVTc4TkQ0VmNQM1NMWXFMK2RwMkFlREgrM1krelFTRTkrRGN5STUzYkh3aGdaV2NQRnJURHpmd0UrUDczeGUxbHJTYXVrcklWNExLRGFwelIzN0VnV1NRV3dSOGlOTHZwdEljNy85MG4rdllCNGlycFlpSVB1UkplOEIvajM1eDFXcUpib2NVeEp5L3BOckh5WHRGSEE3akc1dUlCMU1rbGIwWnExNUVYUHJ1c0hkbXF5MnI3TXgvNUVsL2lMRmNlait2czJ5Q3JPRW00Q0xxZkdNRUJxUS9LcUtSanJmK2FmYjcxYklMZ3BMdyt6bkl3ZlFiTHp3dmtkYUhqRGRzZmlaNXZnOFkyOGNDdFkrL29QdHR3b292WllPcm9zaCsxc3luR05mMHBNTUZ0bWxpNis0Zk0rNVM2RjZsckJjRVo2a3ErS3Q4Y1Z6bHkrZk94OWFrMGNsdHRuNFBMdDFSRkNPS1UwUFhyL3l2eVpqU0F4MEZ4di9TaEI4ZzQzckJzZS9OamlrVFE0dmtiUUZ6UldyK2MxN2ozOUhNSHd0dkRzQ1JFdjgyVWpmYTVZdjFRMXRQbWhOSFpJSmVaWGtmRUEzYUhQclErRlBERG50NXFQalR3dUFOK1NuaytYWUdZNFZyTHkzY3Z3MjJGQjhDcCs0OVBZSXlxaWxRNmZYV1paeTdDdmxUWHdwdnV2ZThhdCtleEsyYjk0Ny92a2haWEJNcWJ1d1JZNTd1cFVKWU50RWxIRitDTGNSTDFSMDdaaUd6S21lS1ZzUWxMUDJtbnhpQ05YS2NZKzBCSWhONFlEaUZra1pnT0pqTUhhZ25SalNRbVE1bGtWc0dyeVdSNTlWbUI0LzVOclhUM1Vic0s0cDlaQ2x4TmRrTklrRi9CUFd6bWZxRnNyWHNPcEVJR2hiS1plUFErSnFOSk5Jb1R0UmwxMWs0MFUzc2xPblNWNjIwZ3NmNVpTT05Xa3QzYld2VDVYYmduTk5xUWRkdTFYWDhBeUJrQjFhMHNyV0lkSHFzaHVWK0xacUU4eWlaUmZaeExrMm45Z0Z6N1pxYzA3bldCUFgwbDM3MmtyY3hwWnJ5amtQSGRXSm5qalN3MlQvRDVJUnFTNlJhTTU1QUtMSXRrVmVHTXY3MzIvcVVsS2lWbjNyQ1ZBaW1kTXhhUzA5Wmw5SDN1MXJ4a3c1MzZHam56N204VjErOGpyTWF0NXNSd21lNnRyaXlUcC9nS28rMlE0VFVUWXpVOFdHT25FcDBibXVaZWd6eWRxUDJUZlhLUE1naXBseUhvTVltV1dlaTJ6VHhkdk10OFdWblMzVWlKd2hoQlQ4S2w2TTJUVWlWek8zT0VGYkVGVjV3K2FCbHQ3aVFXYWlKcTJseCsyYk9jUjhDT0ttbk04NFN1cUFUOVRhTTZxSmEwNlBhZWZ6UHlKNENoQlBWb1lva3ZRTWF3NlA0Y1RyK2Z6UHlKMEVtcVNXSHJmdkpDUE5rRFp1eWhrSzk0Z1N6d1o1Zk5lZmZITlN5SHM4MDNLbkFjU3pRZkVBVlhQbmMraHkzck90bHBzZm1LaVdIcmR2L29GbVN1a3g1VXpsdThKRWdiclRvK2pLVGRwS2dOZG5Yc1h5RFNTcSt4czBudUpONUgwZnBZTnJaMVd4SFBwSm1oUFYwajMybldTczJkRjZURGs3NFI1Skk2Uks5cGNRVU4ydWV3Z2RWRGVyc08zUVQ5ZmM1cWxTYlk4eXIrUTVOQlRUbndwUWVaUERFOVhTUGZhZGZNUlpjSGhNT1F1eGlUSTJjT3hxNGtFdStlUjZSNDkrdFlmd3pocnNqSU5WUEFXbm4yYU8xeWFzci9aUTVsbkFFOVhTUGZhZGhRNVR5UENZY2dvcHVWa0tsUnVkRy9iTUJUbitjOVJOL1I4azVCNXBLc0l6N0Q3NThGZXpMK1NvK1BldGIzMW8xdGtBRTlYU2ZmYWRqUnFUU3ZHWWNsSVJFOUV2UDNyM05ZZWhtMzNnSytmWkxoMnhVelYvK2RMZk9YekY3QU5mSWM5MjZZak4zd3duS3JSNDdKdC9xSmxTeGswNVUvRTVoRzB4ZTIvMHNIVGsxeXM4WFhOSERaeTlNVDdnaHZYZHlYai9pVEIzVGkzOVJMZnhRMkd1WlJXbFYzTnNSM1BUZkRuclRhdWdhWDNYWjhhSzNEbTE5Qm5mMkcwUXQ1NTFwSy9oc1BiRCs3UXo2aUhMRSsxVms5N0hIVk5MbjFUeE80RysvVlNxRmx0WmpwZktmZUxPZGZzZHJaaThRWWJqeFJnbVF0d3h0ZlNKdEw1RGlKZlRxMVNqZVc0MU9VeFFzMHFtTHNQMmZQZnBPNmFXN3Q3Mzg2STl3QlBFeEU5aG5ybHg0cWlrWXl2MTJGcWU3OEhpanFtbEU0TThmOERpSXltNkZqNlMwbmxidWg0L1Nobm1yclRPRkw2Y1hYZE1MVDJudnBsbFhoWUFBQUFwU1VSQlZLZGt6eE1MM0RtMTlPZUp3VTdWekdlQk82ZVduay9mVTZybml3WHVuRnI2RDk5aS93K2hURlc3ZWZ2WWtRQUFBQUJKUlU1RXJrSmdnZz09Igp9Cg=="/>
    </extobj>
    <extobj name="334E55B0-647D-440b-865C-3EC943EB4CBC-13">
      <extobjdata type="334E55B0-647D-440b-865C-3EC943EB4CBC" data="ewoJIkltZ1NldHRpbmdKc29uIiA6ICJ7XCJkcGlcIjpcIjYwMFwiLFwiZm9ybWF0XCI6XCJQTkdcIixcInRyYW5zcGFyZW50XCI6dHJ1ZSxcImF1dG9cIjpmYWxzZX0iLAoJIkxhdGV4IiA6ICJYRnRXWDJrb2VDa2dYR3hsWm5SaGNuSnZkeUJXWDJrb2VDa2dLeUJjWVd4d2FHRmZhVjR0SUZ4a1pXeDBZVjlwSUZ4eGRXRmtJRngwWlhoMGUyWnZjaUI5SUZ4a1pXeDBZVjlwSUR3Z01GeGQiLAoJIkxhdGV4SW1nQmFzZTY0IiA6ICJpVkJPUncwS0dnb0FBQUFOU1VoRVVnQUFCTEVBQUFCV0JBTUFBQURDbnhsT0FBQUFNRkJNVkVYLy8vOEFBQUFBQUFBQUFBQUFBQUFBQUFBQUFBQUFBQUFBQUFBQUFBQUFBQUFBQUFBQUFBQUFBQUFBQUFBQUFBQXYzYUI3QUFBQUQzUlNUbE1BRU4zdnpYWkVtYXVKdXlKbVZETDhacHBXQUFBQUNYQklXWE1BQUE3RUFBQU94QUdWS3c0YkFBQWZua2xFUVZSNEFlMWRhNHhzV1ZVKzFlL3U2bGZ1RldFTXBKcDdRUW1pZFpsbUlQTHdOTXoxa2ZGUkYveWhZbUpWR0RJYWpQWlZNU01oV28xTVlpSkl0WVJJbEpocW1jUUJSYXN6Z3lJL1NEVU9pUVIvVkR2OElXS3NWb3d4ODZjdVhSZTRjMmVHN2JmMzJZKzE5OWxubjFQVlZYMW56SndmZmRaZWUrMjFYOTllZSsxMVRwMk9vaEd2dGU4UEZDaS9PWkI1TGxsUE5BTFZQSFlVeUh3aDZ3NlBRUE5Ob1FaVUQwSzUwODliSEI0R0twbTVIY2g4SWV2T2pzQVNPd2sxNE1MTnpWRDIxUE5hM3cxVlVhcStOWlQ5UXQ2ZEhJSE90NE8xbCtPWEIvT25uTG5DR3NFYUhqdTlzOENQU3I5d21iM3hMMDZDalR5ZnpCZjlRVHo4OUgrY1QxMUZhcGxqUjJHeHdSMmR1OW96NGRhdHN6c0svQ2hxTTNGOTVxd0FMNyt6ZXZyaGNGL0R1Y3RKUTI1L01TeDJsdHdMN081WFhMMTY5ZExsbUYzVGV1cHMrOUxWcTVmamIybU9KRnBQdVJ3bnZjWjJITTZaa3FYcUVBMjUrclpMMjh5MFpaNE4wZWEzYlpNR0o1VXNzZjJjMnZvM2N3U21tejNIWHYyd21OS2dzNXJmaG9VT0cxNW05K1FMWmtyVVR2ODY1aTBKK3FXWnBRdGw3SXFlaWovWGRZR3FaTjdTbklSWVpnY09KNVZzdTJWU0VxTXdGa3pydnFQTHpTam1ubVlsUkR2WFExOW1iaGxIeFhTVHJaK0tvdi9scmMreHJYbXRhTEp2YmE1WGM5ZFJ0cHFsbTRmUmVvdTM1Q2hiNkl3NTh4OS9pRmZBMktkK3g1am9YNmtKMW4zdmQ1VHZNaVBqWktua1RNcVNxSnl4N3IvNHUwbFRidi9oMjNYNWhmZUsxdDE4NUZDekJMSEF2bWt6UEttcU1YMmUzQ216MWs5NUJlOUM2OFBlYWw0ekxqRDRIQlhHbnM0VHpNd2ZiQ0ZyZ1J1UVJxYk02Qm1sZi83azhMNWZKdVV1b29KVHU0WVM4SHlhMm9OTGNmNWFLN1BnOFl4VVc1QXN4V2llRTBSN0NWaXZTWUg4WW9FRjJBMmZiUXUyYVV5eHBXVDRIbWRuY3hsS1ZmYmFLS296NGlDTTJxRFdFUyt4R3JOSmVnZnJIY1lBMXRlWXhzeGpubHo0YnpDUDdaa3JNaUoxc1RDTjlqTlRHRUxtV0tmSU82cTFBc00wejdiTzNLQ3hGY3dtaTY3MDBUZU1yWUlYWEJTV3BzbFludE9iWFV0OEl2THV1bnc5VzJiVUhGZ2pyUGFYMWRqUDZwTGNtYm1oVXdreDV6UFl2ZFFNTzZWNGN2WU0yNzlIWFJUdG9ubHVSczFqeFZkVHk4TXR4ZFB4K05QaFV6Y1NiK05zbTZDcWE4QzRQOWs3aTdmbUdUNmxmZXo3WTRrTlhZdk4xbEhHMUxrZXlnWTdUbFZSWXNhTFRtVnF4dXFrdDhNdW1yZXAxU2NFZTlaaElGbGhSUlpnYjNyYjRSTm9xSFA5b05YTXltUlEzUkc5eHpsbXk5SStRcUkwNmRXUHV0ZGpDUm1KTU5FY0RJZnJITlU5bnU1U0NuL2V6bFFMYkVyZWdobE1iTXd1R3VZOVczWFVTdUhQcDNDbXlJN3VLNWpQYXptd1F0SWV4WTFodnBKOGlWS3l3NVErK0NwM3ZlV1hWUkxzaXFJbWRyK29PcnZPakZXS21Xc0RTdkZPdXNwQklhTVE5WTNpdEk0eE9MT1lvV083M0VVUGVOY0xXZFJvemUycXJabW5WdDBqY1ZyRXkzbnlVdXI2Z0NVNG1YUHpHanY3NHBqQ0VibW1XMVUzZHFybUxpNDRpWWZXbUloRXA1QlJpR1ltdkNEbWdLeHJkbXVhN29FRDJTdkZMR3BVelRVY2c5eXdtTjJhd3FrVmZxWTc4NFVEMTk1WmxYU0dtMmRWNFpSSHF4cVNOV3RPbkREampnYzFzTTI0S0ZMUUtFVHp5aXc2ZFkrYlhBS3lybHVGMTEyazhkeUNGaFduZFFlbWxtcWU2RS82ZEt0cVdEN0RhVTdwRUVkRGV6aE1WbUdxUFhGSGE1YnBVUVBJam1WTDJreWNOa2k3cWxza0lja1ZZK1RTbVlSVFlybFdnVWpuay93UjE0RWxOcU03UWRnZDF4a2plWlNzNUpyVTNtVGJieXJIVWVuUXBNYWxWdGpaWWRFdGRJNGVwWVZ0WTAvUXpTdXlhQTloVVV2THZHK1dLa1hQSWkwTldVdnB1SWxWSUd2TEtseDN6eHZJTFRsZHNBclF4Rkt1b3pVMVpFVlZweU8wWFlWcElPdGFZZUVNd1ptaW8rVXR2LzYrTkRzbWRxZXFRMWE3bUR0THR1dHNqaUt6WG5TcDdHcGZ6bEk2YmlJVmJpczdtNk5RUEY5MHAxa3dYa0JHaTZhSHJIYlJSbWEwVExBbmdTenNBL3VoT29KNWVCNmVnalltNllZdTFHUzNKTjBGc2pZMUgwVEg1MmxXaTVyeWpSeFQreHUwcW53NkZXNWI4Ym1mTXptVm1ucHl0NlRwSWF0aTNGelRubEdwU1NBTGtZdXhvN1pyT1BBZHU0MkdNN3lqZVhWdHFEYUFyQlBOajNBeVQ1VkVKQ3gzclNzTksrR1Z1WlJHdkNycHY2TjExdmJYZjlZak55QTk4MlFUVmlkdnVVNFBXWGd1NDF1enBIRUZ5RWtnSzJveTMvSXNVSHUwV21Yc3pTbEJRR2hQTS90TWhlSGRpTkZGMzdGN01Zd1hyUmJ4b1BBbTdndnZrOUpwTXJiRGJhWDRJQzJEb2RyM2NIMnNYcDZ6TXoxa3dmeDZJbkcrUmdaNEUwRldsOXFZUUdXcHJIbk1SaHBZQ0dJU0YyV2dZZVpHakpxZWNGRzBVZGgrWXZ4T1VpMHlqQUt2NGhoaFR0WHNjSnMzMW9abjFBMjdWR2FxYTF2QXROejBrSVhuQkdRQzBqVVg0a3dFV2RpOWZMNTBiZ1B1WW96OWtFZXFUUjIzaWo0Y09oRWpiN2dJRDRadmVEUjZXZFhnZnRlMHo2RmVEUllUMDBGSHdSZHJpK0JCV21VQ2lSbHpQdlpMVFJGWlhkdjgrdXZQNFU0RVdkeDU5Ymc4T1ZWSG4wT3hIL2NKWWZWZjAvd04vUnphaVJoNXcwVlJ1N0FqZzVWNW9HdEpFMVVLazNSMm10TzJ3MjIrV0Z1MFhIeWJXWEtEZDI2TlUwUVdVREd1ZjZOYk9SRmtSWjF4WEw1L0JMRCtUamVFRWhaUWdTeDVQbkFpUm5YdnNhR1djbVErLzhuVHp3anRuNitlL2pHdHBoY3lid3Q1bXhIVkpPaWVGVzZiOTI1N2N5a3ZzUHpuMVZjZjhmTGxqN0pYMGVXSjNncTFtWCtLSUFzL3dobStLdlZxWktaS2xZRm5mc1VYcUNyazNGMWt2ZlNoNnVzK2ZhS0VTdi93N3ovL1IvZHU0Y1QxVzl1ZjNsVGM5TDAvaHN2M0pGci9vYlFxY0xnSmJPZ2MrTzN5clE0N1lsUW1YcjRXanVESTBPbEJCdXFKeGNheXpJWUpvYVFISWZBczVUblFTb3UrNzZMWk9oRjFWYXpFc0VCdE1PZkFpQmNjaDRtRmJyTnRhcXB4eUEyNmdYanpLVDhHdjRZbGZ6bHJtSzJHV1ltWDF0QVZ6NE16U3lpWTRHTWhyNU5FOEV0WWQ3Q0VmeUtMY2MrR1lZaExIWFQ3TFZtNlNpaGxEVXFXSU9XL0cwWGVUeG1HNWdnNjBVbTg0Q01uaVNQdW01cnZEUmR4UjhZVTViS3I3RFdIcFNiZjl6cHYzb3plUXozVERmWU1sL0JmWFhVaTlXZDd1RjAwejZ3K2I2d05YcUFWbUFBOFR2OGxlakhmOTFhR1g0d1dPblFIWmprdHlFZldXc3p1T1l4ZWxLZkk3Y3VMR1FNaVNWOWNnZngwQ2xudllqZS9HSlYrVmNORUllc2JOLzhWeHUzRXJ4SHpkdHVhYzcrWXplV3ZueW44MmprY0REUktDR1JoNE1VRnZwbVl2aGNXOE1Wc2RVMHVOZzl3THZHRDlKZUlBcnp0SUNGcmwwaFNyWHlMNEJUYlFQTk9GRy9ORDR1MnN3RXZDckU2ekc5ckJ4MnZHUVVSbnJIc0tXM2VleTZ5eXAzRUdudzIxTSswYWp5cGZUdWYrSER0NlhLVTg3a0hIL3h0eHQ3d0lDNngySmJZNlFuUGY0bThSMnNmL3lDcTJDckYxK0FaWisyOGRmejJwNlVOQzlXZlRUOE93M2d0S3h0ZEkzRjBJRXVkMG1KNlpJbDNmT1ZYdEhDU3U1ejhVaTFteDIzSUl3VDRsQ20xRkhnbXZlNXVXNlpZRmpXTFp1dWRlTllmRU9vNGUyejdUVnpiTEh0Mm1jczM2WmtZQjR3cldWVUpmaTZ5ZXV5Mm1OWlNMQzMxM0Y1UVlaSlpycklQQ0lmazZRTENBUkdZb2dPVlhhb3BuUGFVMHh4Rjl3TlpLOC95RmVRc04xWHFVWFpyTStwaVZBOFZKL2RlK2ptZzVTaFREUE5QbEFGWnluelVDREQ4NFNKTWtqSndpZnFlbURyTTJROXpsWDFyQWFDZXpEYU04VTduSEpxOXJ4UjZZMjE0dmQyTU5wZGNUWEMveUU0SG1FZnVOKzhwQlJ4bk4wekNRK1VoQytaYmF1dkxaVExZOGFoeFdmY0xINkZKaHRxVktKYW15QUpHWkNIMDhVaVNhTjlXRHdNV1V4K0g2RjZJdVNnSGd4NVZrdXNsUzIwNC9NZmVMTUhrcHZoUVovTUprd2xxR1FmRStHaFo3aUpUVndWcnJ5RXk2MnpJK1IxcnZHQWJUVFZFQnllYnNxREREaVhwRHJLZU1ScE9CTEtiSEcvUmtQZzZmeW5RR3NRNkE5b0NWeDZ5ekFOWExNNU5ycWk5SDFBbnMrQ0tORUIyelhyT0wrT1ZvTWdpTDArMHRkRUN5RjdPZHlQTTZwWlBRMkxldUhOOXhaZnQ0WldiQUZiRGs2RllmSVFQVlNJaXlHcVRJMmh0UzB0UW9tdWZhZVlrL25ySkQ4cGlIY0hnWmRDMUJpMUw2RFVib0NRbm0rVGh0aDJaUGFjMmNGc2N3M1NOY21ySlZFdkhrbStuRFpQZDEzTmdlSlRLUVJhQXZpUEZnVnhSYmJWQnkvdnBQbnVHWi9BNWFQZ2xDbklKc3RBVVBaOHpPbEtHdzlZcnNSbHlFUHRxVXRZTjFzQWJYa28zZy8rYSt2WkptbTg0YVdSdEpwbkFoOW9ZL2VFaS90c3NNVEJLV2U5S1F0V1RUUit0M0ZOWi9PRzF0c3lHbVZEanZHSEQ4U0dyaStyK3djQmdIcEdxVm1Wdk1QTjhEMGUvMWFiQmhRWjJWMGk1aE14QlZ0dE1Kd0RORzdhdUJpK2x5akRRd2oyZXd0alFZN1FSS0V3UlpNSGgwOFV3U2p0SkFsVmM0czBxdi9jak9wY1F1M0l3QnZhakRTTGhrQXVZM1Z1SER0Tk9jbVJ0YWhhM1dUSzFDMUx5SzNRT3RDei9lWnMxcC9GUmt0ZE0xc1dqbGluQ2dPK1Rvb1JFcDhOTkpMS2F4S1FvejZoRUFhd0Z4S20zUVpLemNoWEFsK0N0aHU5OG5lUjJtVFM0aEVmSk1MTFFHclBHWXNhTnc3TGxLRkJWaHU2cUUxQ3NFV0F5UjZJTXN2QXVESzllWGpyQndac3gvaERGNUd5SkVyRGsvdE9RMUtkdS9LMlo3MnlxbFA5T3NBUUJrdXFpTFhMRy9lRWl1QkxNeENXdzM2bFZDamlMdW41ZEZrOHF0aXdZYlV2ZjBrSnpBalRHUW5sRy9sZ2I1cGJSc0VMVXY1S293eVRjNE5UQzE2bjZEY3VDMFp5RURpTUxZeVcxUTdvalZ0U3N0ZWpTQ2ptbnBucmUxTXZFTDVqTE5jaENyMFgza2lJdGhWMk9ySk5NTlpqMkpKTzc4SmxTSm9PL05mTWpteWJ0cFFpV2tNOVRoNG5jQnNpR0lPMXcwWC9mMWlxYmFuS0YySXBhOVg3Y1p5MUxERVZTalZCUytBOWFKK2V1Yjh3Rk5wYmFYeW9WR0NYWkZjSHA3Q2NaNk5lT0VqSDNqWnkxR2taV2pXNjhiZUZGN0Y0eHlqTW83TXQ3U1ZhZndJSDBJS09jaDIyUVZiRzZWMWNOQTdMVXd2Y1VyNnQxQlgvTElJdk10RjFtUG1ZRlBxZEVzSVRpQkdmY3hUMFNHcTF3RVl6Rm51RGlUNHRFNlhGU2ZEcmhROEwzc01McXNkSUFRMXhUQ0RHOEloUTZKeEVWN3hENXJocWpLSUlycTljQUpCVE11bzVqbnhRK0U3S3dHWkpwcXd0RWQ2NlJWdmxKdE9SUTFXNUdrdlRBWDh6SE5janFXUzdiUUkwNmtHWGNMMWNEWmt6T0haN1g2VUdqTTIyVjRHL05rRStBV0hra2dUYXAvb0ZMa01YSmZTSFlWdFh5RkN6QmdlRGlqNDJzeFVTYW53SjlPNEhheWxWaGVjY0tsOFByWk9Ra1lTWVNHN2xNbWg5RlRUT0FEckxlSnhYMnZUWnlRMjBiR2RVR2JSWUNEV1F0aVFyS2VvSXlGSUxkMGFzQXExaVBNZWxCZGxFM3h5Q3JvK3lCRUttbzhCV1FsZTM0b2ZTZTFCZ2JOTkNacHZYeHQyWitoakl5NkV4a1lXS1MrdXh3RWVTUGxLcU9XV21LaFR0YWRJTWtGUmtUVjBUeG9sSWJwdWVCNFBWcld0Z2lXamliQ0lZZGErc29TeVpPZjV0V2tTVFJKUGJlWk05U3E1T3dTLzlEMnRVY2tzUUR6bHJvRVdDSXI1a2NSNHZaODZncWhVMVFiaXBXc1g1R1MzcWdKUFB2QmxtWXRTTWp2NkZjZUNDTE9nMUdnbE5kcG4yd21yRlpkS2FKUFArYTFGK1JkQ1pwSXd1clQrMnpPbUkwUnl3OUhGK0MvWm9YUXRDeDQ2bk9pNncyNnN1N1h1dFJ4azhQMGpPcVhhSDV1K2JFaCttaU9ZcXVlajBxRDdJdVpqZU1XQ2l1dG1yWjQxMCt0MTF0ZzFTOXFUdVc3cFprWWhMMFlpUTlTQlhKWkdoazhUUHpzUkdETVV6V0g1QkZqb3hHUUZEYXp4ZmhiWlZKWjFyeGNJOFo4d1l1aUVoQ2N0TmtsaUJCbG80WTlleTk3UXRHMm8rc2l0cEY3YnFxWnZCMEJ2cWJmNm1GclVzSm9pZDltMVhiL3k5L1hZdjVrWVZUK1ZOYXhCRG91RWtrRkJDU2Rka3VDNHdQUGRFUHVDUFh1dTZxUzZVcnh1R2pacDcwSUZVa2s2R1J4V2V0WWNUUXJTU0tnSkcycDlISTRHZVpaak52a25FZ00yMmtJWHhLb0dzeVVoUTZwVTFoRkJGazhWbS9BZkdzY0JHeS9NanFXMzNURlhwdDFwT29KT2NhN21rVmxNRDhDU3hVa2pWSnN5VHRSMWFHRitpeFdVdHhac3ZzenczaWpFZUdFRUZYdHI5T1ZxdW5hWUxWTTBzYWszQWxTNndRWHlPTDd6UU5Vd1R6bVR5Z0NDRUxhTlFXdHBuMkNvdzJRYUhaZ2NmUVJOZ2VGdDBTanFpa3dxVnNYOVR2WnpVSjdFbEZzYmI5aE1tLy9acHRwYW1nUzFmUXZFTXdXOXBCY1NVdzJwc3VMOU1MSko4Z1NKY0JKK1RCWTlDb3c4Q1JwU013WG1VSmsreEIyRGdPQXBMNVdScFp0cUV3bGdMSTh0dCs2Q2JiTWc1bHRqMU9WODNmY01oK2RZYkljL041b3RNWUpCMkRSUVkzb0x2Wm5wOTlObFJLL0k0TTl1Y3RKVUh2LzJYMkJNck9wVGZRdkFaMys0NnlSREZnSG1TaGh6dWVFbWRCVnNVKzBYZUJyTjZXcHc2SEZSdVBGZVoxMzhrZExhbVJoVTZUNlN5R0xEaGoxMVYxTmErdm9IS1QrK09BVnRicmZrU1N1M3dObmRZZUh6alY1RGdSNytoY2wvQWlLOE9SUWFURXI2aHVCdGpWSDBvRElSeFVWcXpObHZjanErS2Z4TFBFczJDa3FFdmZaZXdUWkVqdFJwa1V2RE50clRIc0RaTXpCcVdSeFcwV1VRWEZpVGtOMlN3MCtGalZHV2U3WTBva2l2aWJwTDlwa2hrVXFqUjY4VjZNd1d4SDBNdDBDVGc2bW1aL05qa1pqZ3lRZFdDRUNJVTNnL1NLSWV3OEVtUEoxM2s3MDhiejZNZGhXa3ZmR25tZHY1R3pDNFIyUTZpazNuR1hzWS9kMG9wQitHUFpXTkxhdTZsNHpTdlZrVU5yWkhIblJzT0V2K2RrL0t6TWtkbzFBd1d6a09sZGtDYThHN1g0ZjFaQmhIalU5VWluMFJLOWtKcml4TnIxbmFTa2ZOc2FVY25FaFBvYWh6YnY2V29zNGxFRFpvc2ZUdkRGdVlkSHFVQlh4dVYvYklSZWJYb0tWSmdGaHBSRUNGbDFFak5Bd1FwZUFOc2lDakppMlhCRGJpaXAzWnc0clpMTHZHdGtjZWZHUmxiaU40VnNWczg0eG9EN1ZtWWxKT05KVkpNYmU2aFJSd2Vqb2hkU1hmaGNkcmlJS0FmWk56QTBHZGltdGt4S1V4amZEQkNVcXRSKzZ3STVCRitjTzVFZGE3T0x3SGlTTVZaNVZmOGtkblBnSFVKVzArNHh4dEN5ODFnREI2cDJja2NIdGxTeWJXMm5panZDWFNPTGIwRkhwaUFzUlJLeURTR3Jib1lFcS9HYUtSMmcrSzhNOCtLbGJUcmxBN0tRK255UFhyVm41ejNiUDBhcTg3N1VWTkgrNE9vZWtjVnFPQ0pKU2w0d2FLYnNNQTNjNEtUZTB4YVdTeTg4L0RveUxoak1vNVFPbUU0VkhmOHl6ZHhsejlCa2lnNGhDeU80UXdwZ0FDdzdqMWsvSXRtS0JMSU9GSzBQMlhZUFZIYitYU01yaXVsMFJsMjFVWWVSbGRnMVZBTTltMGx0OWt5blcxRGdHVStmYmxOSTdDZ3RRQm1MN0ErRmZCKzd5c2hIcHl2MkVDWUZvVUthaXNvTnBRcDNJS0ZCa3BRc216VkQyV0dhTDg0YjlvZENTcDJidGRORFhRd2cydGNKUmFBWkVvd2xLelRhOTIzc3FoRHVJV1RWNlFnSzMyYUxsTFNlV2hBKzlxMDlsVlNqN3ZSQVplZmZEYkthQkxCOFY1R0JzaEN5ZXNZVDBBY1paNlk5TGJncnpuc3VYVkhkNHFYcnhCb2lneDFhNGFKU2RTK2kveFRDZVE4K3FiNnBZVi9mU1RqaUw1YW9tWFRDNTJUUEF3RkhKSlVFYnRqVGRxenR3aTA4VWQ4eGt0cDRHaFozNjZVWE9LL0RLenk3bm1NM1E4anEyUlZoQjdwT2Fvd2lieXliTDdVOUtRYnlXSkJ1RHl3MW9ZUkIxcTdDa2hCdnEwcEN5T29iWkNuL3hwMXBYOTN6Y2M2N05JaWxYTkVGQVFzOS94Z2g5b0MxN2ZMNFgxTlpKSlNaTWNFdnBFb1BDRFhHa2FsZTAzcEZoSktrYkxMZ1IrWHRRbWpkdDNmcGFUL0NHMWlMeWlKeDJTcUZXZlM5RGM0elh1Q01WYlpwM0drdWxycEN5T3JhVU1LNDdhZktweG5Fc2RlL3JuTjdrQzZWd1RISXduU1NBMVJOeldjSVdWMkRMUFZET25lbXZkWG12ZjhIWTJLYVFxT2NQR0wwRHV2SEN6eitSNzlodG1MRm50dnNSOUVBZEVIdTJndldkekQwNkhrYVdld2ZZVGdGcTRnaVZkRWdmYTJpcmRZSDREcGt5ZUFOMCtFSlJBZDZzOWg5clM0SlFnMHA1VkU2aEN3RWpRNkliRUZrd1NQYWthVXFjajJrZWtDMGhrbURMUGl6WnNrQXZkS3JEQ0hMZkZFYkc4R3hxTWlkYVgvdDRwMWxiWWxTTXREMnJHYlNkeTNRV3VlUlFCVmFZbUxxQWNwTlhSVEhDcjYvWUx1Um5aa3pQUVIvVnJGMUFVSzBqYVVrM0REWjRjMDdJVEl6T05WYXRkVEprb25hVEV4a1U5dVgyalZTMXVvVzVTczZoQ3gwZVV2SndYVFhkQldHNmFPTW1XeEtqS1Y2NEN2bTVSbGtZWTJZUjAyWUUyazFRc2hDKzZYU1JiVUp1VFB0clJSSEpreEM0SGNXVFdNTUFYaGp2MUNoUFVhck1FWllCVWU2R2pUM1JDZTZrRVlDQzFnaWl1UGVYR3BkR2c2aE5naGNDVHRJTmxHZk91WUp3ZDVCaExNUU9lTFJqNVNnM1dLL2k1VWp5ZTJEdWZSaU5TeWJDaUVMdW04WTZXK2dwajJUekthNjdMdEpKaW8vRVZTcUI5bUZuUndnYTBleThQTFBrY3J0S2h2RXR4SWF6VlVDNG83Mm55U01pbXhTYXFZdGVaSUkvellNMVN0WlBCQXhLeGtXaWNBZklqT3diVmdGaDBxYWY0dm1TQ2Q2U2JpM0hzdjVWcjlybFFLRGtJdThTUGN0clRGTTFORzhLMVNrZW95UVBLMWxnOENNUnhDMzhNMkpvVm9zWFd1Z01mQ2tXMVNycEVQSWdwa3d5dWJabnlXei9HR1BGb3UxcEJiR29tcG5xZ2VXZkNnQjcycEg1cU1yTU43SlpaNEN3bWFZTnFwc2RXK3BoZDJVODVtZWFTWHEzc3ROYkZVTmx5dlRBTXVSSkN2MC9JOFRDd09XekZYQlJOby91TytRMVlrcVlLeks3TXZTejdyd2xDa0pxbWZEd01wREthc2lPek1qMVVmemdDVjlsZmdtRUZPUFo4VVlZNzVKODBYVGZVWitJYTVVM2RjbFFhemFhNGhtSlhRUVdSZGxseUc2WG5zOVROQVdORXB2TTYxS2NVcXhSSE5mam1LNkIwbzA5NDZkQXBPVFhIMDlpWmpaUGNuRXlpTFdYRExWN2FMRTRwb2FzUFJNSzlIVXZkU0dSYUh6UUNYRXYvTVVqQllGTnNCUDV5bUtIc1hVN0ZvWWFKdis0TnpPcFZkdXdiWnVRaGsvdDlLcnBUdEp1WXF1NWM2RGt0VDNnVDRxSkt6eUsvbWJEeFJzY05xMU5Bd3dyNkt6MTAzMmU1enY2YldreHBReUtSMUVsbzRhUk9VVzlIYjRSTTNtcnhYNUM5NnljbTdTUGFBdENOTFlNUFRQLy9BZ1ZzWWNXMHl2N3UvQi90UElVcUUraDk5VmhpODkwMWxGTWRGNHErYjB5Si8vbUJwV1RBekFveTZzdmZRVzBhSXVCWENHTVpSWGwyRnFvOVlXSUxZSDRuNEhLN0UyakZMZXV0VU5CaXgrSUZFaFZsK0pZVGRYSk83b3pxRktJaHFMcmkyZGltOHdJU3MrVURuaVBodFkwVUlnaUt4SXhWa1hPbnhuRU01ZTYwQ1Vpd0t4N0ZWMmV4TkNYNlZyenU1Qm9pTHY3NHNmZkJoVHhXNSs2bjNKN0QwcXAvSGRhcDJ0UHZnUUZ4aCs2c0ZQK0hYMUdQOHQzVnBNbDVzOTAvNXlDZmVmb0RxcDJaV0NjZG9YdklIYStSTUo3WXViQWtEYm5rbmhVYnBabWZQOEJ4MVA0TjlrTDdOYm02Vi9jMkk2cUlPUFl0WTFNQmpJRW5INUc5WXlTSElyYW8wa1NUV3lQRlhIWjFQV3FpL25ydGdIb3BkMTlHSk9KQWZrNUpKd25MOWhaTUZNZkFTZXdGY1Nsd05mS04vOHJBeTVCR1BaOTdON052RUJXWG9PY1hyZ3RNS2Y3SExZaUdzbkVYaWNzZC83enkrOGc2R240Z0pjNVpYaGF5M0V3N2RIY0ptdUovTDhyelBUSnNORFpYK2Y3UnRKNTJEVUU0VEp3dVNqSmtvZHR1dUdvbkczTnBHdnNpSC9HbFFVUGM1T1kvZHJ1L1BLNUpQU2hKd05XalFpYUVqZnY0bHhQZ2RBZCtDMW1OME55TU1CaXZITlI5ZnByS3Q5d09pM3FUQ3krTUhtOURLK2puWWlTdlh3TGNlM0Npb25sdDFtdzh2czlpR3B5dWtCeWNrbXU4UHRTMWV2WHJxOHJUc0JVUEhyUTdMTUV0dSs5SXFyYjd1MFRaMGRTeC9hZjNmTS9vYnduSmttT1I0UzF0SC93bGFweFQrRWlMalg2NjFTTFhVWU5kdzU0cnFBdTJBbHYzYnY2ZThMMGEvRWIwd0lVM0Fsdk4zTWJ6ZU1iREZxU1IzYWlYaU4rSDFnNzlMazJrUHhENXh3MmRXSGg0OElnaWZrMWNsRGRnNnlvb1gzVms5LzhwZWt0dExIdG44NklmTmkyVis3ZC9nVEo3S1V1RGs5b0ZtajBILy9VSHozSTQwUlNtQjBYbWZObVRQVE9hcWV4SVpJRjRnVzV4RXZMTGw3TkVNUXUra2Z3cm92bThTV0NiT0xXNmxLM25aalNSZEpMS1RkUmh3ZTltblIyY3cxU3FWQXcvUnZPaXdubVljc1Ixd2xpOFd5bGJRSUYxbzlNRG5uVGJrem5WTS8zcXE1NWhVcGYvbmU0WDEvNnMyeW1GYThDRGx0eSsyeVJPMUVuZTdoZHRia1VyRHBoMVFiUEQ2YXpLYm5MVi9ISnpjbXNnckdzbldOYmc5MHhya1Q3a3puTmVDdWJXdm84OFJUK1RFN3NIZ1Y2NmhvWmRtSmFucG50UVVta2JLRGJjSVVGVk03NDlsWjdaTGpJYXR3TEZ0VjV2WkE4Yy8vN3M3MGxGdVF4SXVlTU9qTS81ZVRTWXQwekdhcURSVEJ0alVaek9FMUZmMS9uVHFRazltOG52VXdLRlBNeVNnZXk1WUZVejF3Rko1Yk1qWFRVNjQ1K1VBeU4vSHlLb3FZeGFJZWoxSTgxcjNGUFhiK1dGZGQrWWhKSkp1NTd1SXVmOW8rOGxWQmUwWXlRNmtlakZ6bGhBcWtabnBDZXJQVVZMZy9zazZYYjdQWUxsZHhkdEdzQ3M3RWh4OStIZS9KYkJrbGk3bTduSkF0aWZpOEtlYWg1dDdpWWVheVJvbGxjMlhwSHVSV01TV0I5RXhQcVNLcHRzOW5hb2srZ0NvSW1YWXhBSjZ0OVlqSG5XQUhQREphQ2tDR0N5OFhBNkRST3dwVlBKWXRYdWsrc1hzd1NrMlRsRTNQOUNTMXAzV0o1NFRjeE91cjJLU1VpaDdTdE41eENQR2NVRHpXMWFXTElicFM5SVNyOVJZblJvbGxBK0o0eW1YM29IaE5FNVZNei9SRTFhZVVpVkIxNTRqeXE3ZG9Lb05lbm5nMHkxZVJpUE92VUl1S2w1UDNmSklPcjUwWHpYTGtSMG1PRk12MjlHQ1V1aVlvNjVucENXcFBxeHJBWGJKL21ZQTRkeU10NTNLNmVTRnV0OEJZNlhYdUx0VjNhTm1GSWllSGN2ajVBTlUzT2oxU0xOdlRnOUZybkVnSnoweFBSRytXa2hVY3ZwcDRxa3V1UWkvdDBSLzhrTEtUSmp2RGFCR1B4T25WTFBBU2hmV0RIMXA0RXZSb3NXeFBEeWJSaU5GMWVHWjZkQ1VqbENoVmIzWnUybE1YRmZoM3Fxc1QrTy91UlZwNWdkMG5ud1JyNlprQ3NmK2U5Vk1RWFhReXhHaXhiRThQSnRPTVViWDRabnBVSFNQSnp6Lzh4bU9uUURmLzJGY3BzbU02YXNkS3ZuUDdiNTF5NWZ4alg2bklqdW1vTFo2TVI0dTNwSHRRdktxSlNucG1lcUw2Q3loYlkvYjI2Q25Tc1g3RjR4R1lJcXZ2YkkvcHFsWXlucVdtSmNmZ25IY3NlNHdtUG5lTDFQUEMwNHNGZHFTcGRXOWV2N1NVVlVXVHZubVhKVFF1Lzd4ajJlTzI4emxaYmpudlpGL0hrZTNPWGUyY3NNajhhTnZWaUIwNTcxajJpTTE3am91M25WZC9uZWF1NVNIUGtaOXdjdGwrWnl1bHZaK0R2RlNCa1Jqbkhjc2VxWEhQZWVINWNMUnFNTTNkcHNEZzFLM1lxVnRnZmJwYjlYbkhzdDN1UGMvVGZUeE56THhLMDNTUU0yc2xHV3ZCdzJ0bHVxZUw4NDVsazM3L2Z5REw3dy8wb3FUZTh3L0lURGZyYzRjQi9TOEpaUWJLRmN3NjcxaDJ3V2E5SVBhOEg0SHpqbVUvN3dmc2hRNFVISUZ6ajJVWGJOY0xZcy83RVhnT3hMS2ZPMlA0Zi9jM0d6V042MEp5QUFBQUFFbEZUa1N1UW1DQyIKfQo="/>
    </extobj>
    <extobj name="334E55B0-647D-440b-865C-3EC943EB4CBC-14">
      <extobjdata type="334E55B0-647D-440b-865C-3EC943EB4CBC" data="ewoJIkltZ1NldHRpbmdKc29uIiA6ICJ7XCJkcGlcIjpcIjYwMFwiLFwiZm9ybWF0XCI6XCJQTkdcIixcInRyYW5zcGFyZW50XCI6dHJ1ZSxcImF1dG9cIjp0cnVlfSIsCgkiTGF0ZXgiIDogIlhGdG9YMXh0ZFNoU0tTQTlJR2hmTUZ0R0tGSXBJQzBnUmloY2JYVXBYV2NvWEcxMUtWeGQiLAoJIkxhdGV4SW1nQmFzZTY0IiA6ICJpVkJPUncwS0dnb0FBQUFOU1VoRVVnQUFCRGtBQUFCWkJBTUFBQURHRytKdUFBQUFNRkJNVkVYLy8vOEFBQUFBQUFBQUFBQUFBQUFBQUFBQUFBQUFBQUFBQUFBQUFBQUFBQUFBQUFBQUFBQUFBQUFBQUFBQUFBQXYzYUI3QUFBQUQzUlNUbE1BRURKRVpuYUpxN3ZONzVraVZOMlRCb1ArQUFBQUNYQklXWE1BQUE3RUFBQU94QUdWS3c0YkFBQWEvRWxFUVZSNEFlMWRhNGhzMlZVKzFhL2JmZnRSSFRVTTVsVXRZWkJSUWpjK2ZnbFdJZVNuMWhWa0JJVjBvemlqRHFRNkVwalJ5TlNOb0diOGtXcC9hSndScHRyWFpISXh0eTRJSm1RaVZRWW1oREhRL1VOSWNDRFZnMHJpa055Nm10RzV0eWZUMjIrZnM5ZmFheitxNnB4emUyNDFrM3QrOU5uUHRkZGErOXRycmIzUE9kVko4cmE3S2orcHI1MjNuVndUQlpwUGhaN1k1RjVXcnY5N250RmVhdVJwZGI1dDVwUyt2bGVJNkVXVTVoc1RBYjcydDQ2QVI2blFBNmRzYktZUTViRlVKbFgwLzM1U0xkVnQzS2JVdmJ1WFFjY0ZsR2IxZERCUlo2T3Jzcm9JT29wUmxxUGtUVjlTVzNtYVZrWi9tcWZadWJZcGdZNkxLRTM3ZnlacjVYMTNOa1dESXVnb1Jsa01ranZaK1c2K3BpK2RTUm55OWJuTFZuUHF2NHRTdUlEU0xLdUpqaVZKMW5xdmVHSWVxWUZYRXMwV3Bmd0RQL1h3RTgrOEVTVTFwbkJGTmNiVWVNVnp5cGZCYTVBN1czbi9CeDk5cW5kamV2dmk2SmlCTkZQRjZMNDJyY20ydi9CeW9xTWc1VXRwUlBQNk5HNWtmZnYvWk81U0w2VmcvbHoveTU4VGxjTTdJbk0zeVhaS2ZuODZDUjhkajM0aWR1MEpRdmRjbXFVbllpejlrV0Rwa3BJTWlncWJYRmNITnFOVCtkQlJsUExsVk85VHNTcFlXVkpYUlM2cEdsenc3WFZyRlpkVWpnbVZ4TWFsTXdRMnhsWGJjZzhkODh5Vms3aGxPOXg3YWVvT0s1eXhMQ1d0SE9GOHkxdlErZEJSbFBMOHc0OUM5VVcyZ0hXMUtTUkpGaDU3b3F0Ri9QVEhYbmpoOFUrTWtEbzc1dnJSLzNMeXJoSS8vY2p2Z2ZCZ09nMFBIV3RQdmFwNVUrcjBabnFabkVESHZaZm1LODltV0ZmWE01NU16c28ybnlkMjJsQlhiQStrY3FHakRHV1lqME5ucEltWlNpODBOSDJvMzBEbXdhNVNkd1pFNFNqZjdvYWFUN3IzMU9ta2FsUG5vVU9YMWdFT0cwWi80QXZJSHByV1NUSWJhVktUdGtOTXpMME1nQWpoM3BVbnJsdFQ3clltRnpyS1VBWTY5b25UNmZjVjMrT2h5NjVTSEl2TWRjVmtMS3FUNlJUenRlZ3B6NVpHdTBYUXNRdzQzQkNOd2V3QloyY2tUVWNwdVJGWXhJcGlscEt1U050U1A3Vjc1cFRrUWtjWnlqV1ZCNnpFU3pOaTROdEtJRm5IdWNmVXVzZW9vWktTOTRwU29jMEthVVhRc1FGK2RrUkxISW5zYzNaRzBvekVDdEs4YkF2b0wrVHo4NWZkMERVUE9rcFJIcW9DOXIvaWdONW9HWmJ4MENSeDY0bzRwbG1BdEtVUVNhMUxBRWJxVFZFRUhUV2d3K213YTAzSmpLUUIxTlV0eWRPaTBHck5zaWViK09rRnNTQlJsd2NkcFNqM1BlMzVmRGo1UzVHUWFRM0MydVdJaFdEdDVJYXc0ZzZkb3BsVlQ1OWora2ZRTVZUSzNRTlViVUEzSTJrQWRYZmpseWdidnJmZHFIK01vRWt5Y2h4UUhuU1Vvanp5dERlV0gxMnhIVUgyQW9SdDJGN1NsSytyTjIzRjNhUkE5R3FPL2hGMDlKVlF2U2F4YkIzZmpLUUIxQzFDVTZrNnJLWTVZVVltQ2p5MFlxQmREblNVb2d3elo0RTdrUjlkMllrZ1cwY2FXN2Fuemw2bDdFZ0U0MVJXNWw3ejlSa25Fa0VIZkx3YjNpOVpabWNralY0L1c0NEFMV1p4T1dLY25hYVUyWkRlUEE4NlNsSE82ZEV6cHFMNHc2WkhldllsWk5tcjducUxoR1FyZWgvNitvd1RDTkVSK1Boa2tRRStLMmxxcnNJZ3lpNC9Ib3FaczZpc2k4Nml6bUU3U2xITzZkRXpEcGU5ZFppV0hybWVIZnN6aS8rYWcvQ29tTGtLK3c0QXgzWUowUkg2K0FXRzhxeWtHYm9LZ3pSTlhrNGR6NnFNRmJVaXowankySTVTbEhONjlJekxXdXdBbytuNkp1MVYyVkJlT3FmQUkyZHdGS0lqOVBFTDdPeG1KUTJnN2puejVxRkJRVVdkamNXRFY5R1dnY2QwMjFHT2NpMmZSODlZMjNWMzJWbGhXNkFCSmZyNGlZL201KzMreFJPdVVEWnZjQlNpSS9UeGl4enN6MHFhSUJSS2RnK01PaGJ0dWVJMEJkWGxmbkE2T3NwUkh1Yno2Qm12bzhoWldBSmgyVENpbVE1RGJGN0Zla3dUUEtqUEd4eUY2S2lCRzVmY0VoKzZ6a2lhTUJSS1d2dUd4dzI3c0Z5dXcxeFZOcDJPam5LVSs3NzJRajY0WkM1bUNiU3dWN21KM2x3cDRYODZNV3NqV3VkTDVnMk9RblRVeGVsTE50WXFuZC9PU2hyOW1JVnNoUkcvdjJjUzIzNk5LWS9jbHFXWm1ZNk9jcFJIc1JtUE1LT0xWaVZEMUViSGZWY29nenZDRUlHSXBrQ0thRlF3Q2YvZzZUTk9JRVJIU3p3RHl2cXMwcEg4cktUUm03bzlsLzkrdytUN2ZvM2JUdVlXWklneUhSMmxLR1BsMDFxU1E4ZlRWZkcwazF2b3VHK0hjK2xKT3U4WnRTWGhDRlcwS1pxc0JmcU1Vd2pSMGJXUE5Db1psOHYweEhaVzBxd0loZjFnSmtlSEZPaXFNaTZrS2NVUjlSWTNtSTZPVXBSaDVraGJQTlRZUkYwRUZOeEl4MzJjU1JMOTRpOTc5aVRaOE1OejBUUi9zcDVUdGdBZDBzY3ZaemhkcGJPRldVbFRFd3JyYktWSzZHOW11c0JzNUZmS1NKanNxZWdvUnhsbTdsWnVobG94K3c1aGVSY0FTdnFvOUs4c3hVdEZ6dWx0Tnk4Ri8rQ1Z4TE1CT3FTUHJ4SXNUTjlaU1ZNWENoTldWbk8xNUtneUxpT1h0a1c0TnhVZDVTakR6QjBreWZyblI5Yy95c09PVFhSalhuSG8raVlkbEc1WkNuZ0lZek9sVTkxVWF5OS84dlNiallrMEFuUklIejg4Y2Z2T1Nob1JDcTE3cHhzcm9adGZ1bmJGWlp0elRiR3VBM1NzL1ZidmVkbXhIT1dhOXVoZjdxbnJTdjBkanpzdUlkN2NzRTM2cm0vcXVHOWl3TkZzMmJZbFUybHd0UGJiNm5Ta1RxWElBYmtBSGRMSGQyNjQ3V2NsVGRjcWJQa05sNlZxZUhqWXQ0SGJXdmV6c3ZtMnJRbk9TdWM3NnJSM2Vwd2tQMkY2bEtOY2gwZGZVTTl0SmVzOStSaGVjc0ZwbU9rdHpuQmk1UGdtdlZqQmxMMmM1N2UydUZBS0EzODNhWjcrV3BMOG00eHBRaG9CT3FwZ3h6U3J1SHdsTTVNR0xOMHlQTlg0Mld4V1VCY1RucFZnWVhBYm5DU1pmdW10S2w2SThtekhXbGQ5SjZtMFhrdGVJdTlUam5KTHFVbzcvUzV6TzdScWtoZWtNZk5lQ2JJNjdqdXd4YUQzTnphSDFHZ3E2SnptMFl3T2poNDRiYUFPcG1ndjJpUXJETkJSdHo3ZVBuM0wyczVLR2hrSzJhZHZHVTh0eGcwSmlhZFdIQzROWGYxdmlKWGlvYU9aenVXY091NFIzTXBSaGtkZnViMnBlWUVSSGhCUDhmdXk4dHlrYnFhUE8vYTRQV0xTMTFOcVhOSStoK2R3T2pqcWZqd2wyVlhmWTlKaElrQUh3RW9iOWlPUCtWbEpvNjNyWHNiNm1uOFkxUEVMOUhPSkU1S3o3ZXIva25nTzU2SURuWFowcC9wbitTRkhLY3BZK1c5MDl0UGhFVC9lSUQ3aTk4dXgvWWR6M0xIWVUyZkhidWQrc0J6YytqeTVtbEtmTjd2azVzUzNZd0owZE5uSFYwYWVqNStWTkNJVWVwK3Y4UjQ1QXRhS2ZDZTg1OG9PelhNekZ4MGQ0NDMwSTY5YldadFNsR0htVG8zZWtUemgwYUtKcXN0ZDFrWWZkMnlhNWcvaXU0S0cxM1UzdHRncjcwOS9jeUwyWitEMTE5bTZVcjM5ckx6dXJoK3ZjWUFPVnMvYXJ2WGZXYWZ6azhaallrcTJDcDZ5Smk5NklWcVNoQXQwVzZtR0lZampMenJtVFV2Z2RBYW15bzFLQVlwR1dpR2NXQ25LMnN5ZFpFUEFwUnVjWmZudzcxSHNaS3VHNzV2U3BsLzZWM3dyY3Z2WTd6YU1uYmE5QzhPT3VieG4yeWs1K0FkeUM5Q1dQNExJKytqUTZubnVrVWNlK2R4VFBlRy9zdzduSjQxZ0lFZXlqZ1VKbGg1NzRoa3dSK3NxNjRmNXYrSlJhRm9Jd0xnN1hoVStmWWRhTzdhand6WitSRTZzSEdWdDVnYlpFTkFreHo4MHFIdXZ1OWpOS29lZ1FOZnBSMTFwZFl2dFdLYzY5UWp2dDkweDAxelg2Z1U5d3pHNGk0OE9EWDYrVHJoWm1qZy9hVnk2MDNJdFpzaGkzdlRCRkRTODdtMGJYQ0NtTzVTMVdNN2NXcUlETm9WUTFDY0FsYU5jdFMraUFKcFQwTkdNbVFFd2NKWis4d2VoYjI5SjdyUDBFWWVGb3M3OU5sdW9TNm5ZN3dxaEFhMHByS1VDNk5EZzUrdUdZQURKODVQR3BUc3QxMldHM0crZTBBOVRzT04xNzdFZDBLOUdYSlcxc0FkN2xKZm8yTGJhNnBPbExVZTV6bzVGNzFjUGFiRDR2VVhiSTFrOVlvZjBNNEJIT0hOVnNlK1MvUXFrQVh4eUxFbkxycVVJQmQ5MkFQeXBJNnA4NlVPQmo1K1ZOR0RwbG1iOVBRK08xSnV1REppQ0xiY0VDR0JYZTJSblBXc2tQaFNSNk1DTTBEUmtaOHhvWFk1eXk2SVZodXZBWmMzUDlkbGkyUnA1M1BHQWY5YWhtMVhWSGR1NlhBcWk4WlBDdGlUM1EwLzJ2dlVQa3FhUERvQ2ZQRldmVldZNnpFZ2FRSjFNd0twdnJMRUxHVWh4VW12Q3o3aWJQbmJFaEFsMHdMSHdVMURlejVlanpPRFNUMU9ublZ1MWZXa2dpWFBjMFE0VzZMbWdBLzZCY1R1eW9pZnZWcWVmNmpvUEFIeDBBUHgwM0ZGajgyUDBQeU5wQUhWeUNCWGFFQkFpc0VCcDFac2lsTnlpV21pWGt0bGRxRVdnQXc2STFoS1FhSkxsS0Z2dEpUWGZjTG1zSUJmVHAzUGNBWUJSUE1TZHE5WXJjRm5CUkpYMXFVOW0yZExPOSs0Y0o4azMxTGN0T1I4ZFhWWlBVdldPTzJZbGpRNkZkZ3pIL25GSE9JY3kxaEFoU05iZlJnVnlSN3RyaTRGRWc2MVNsQzI0MG5lNnRxeWVZNmxPeEhibzR3NXVpOWduY0NPWEp3WUszSFZTb203MWlSSFkwdGF6TmRnV3Z0cEhCNWlqcFZmMWZEdyszQXFEOEZMU3JNV09iVkQySTFHWkFIVldtUGZrUngrTWJycWRqdXlTbFNGSTFxaG5BMFZoTzNyMmFNTWEzVktVTGJpMFpXQ3VYUTQ1MTJWVmM1RzJPQllRRU1CM25JaTBUMjNyY3FtVzVReHJnS1o3elp6TlhWTDJCekk5ZEdnZmYyREdyUGxZT0RkcFJoZ2xldTNFeEsxYmhWVjhMR0EydlM1TkcydkloWkcxaXFKRHUzb2F1TXBHdHhSbEM2NGtDUXlYeDZoK0o1Qm14bFpCV1BMc0tBUm5lN1l1VFdFNWVpV0ZzeUk0RXBaMnhieGtWQkh3OU5BaGZIeFNQL0hHUFRkcElIVDh1dUtObUdZQmRWTFl2QjhLaFhQWXR0b1RDOFBRSGRuNXNMWUR6VmpoZFFaS0tjb1dYUHJwcDNOT0c1RXNwazhJU3pFUWV2VEN5UFljYklmVnAvN0F2MkU0TTQ0bHdTYVgxZ3FFY0N3RWRNSjF1emM4aWM1Tm1nOWpsTmoxbVlFM1lwcnRXb1V0K3FGUU9JZGl5WXFGWWVoR2JRZW1sTFpwMEF3QnBSVGx1dFVlMWxrUVVYclN4VHcxaExVR1JXNXZxZS9sdTQ1S1pYQUVlUWVHY3BkUzRsMThEeDNRRktrbjRSZDdpYkVaU1FPV1NHSDgvak94RkVRSE10WTRzaUdJYWQremV4NXJPekNsdk1xdDBTMUYyWUpMbjhTZEVKZGo3ckU5QzRROTRPYXdQeUtYRmQ4OU9tUndoR2ZBWmpSZ3hxVEV1K1VlT3FBcERvcGVaaTVOWWpiU3lGQm8zVGRuOEFxYkRwc3kxbWphaFdIYVJOR0JLZVc0M1JyZFVwUXR1TFROdnVKd0ZtWWkrdFRDN25GTENCT2NtZHo5YVJpc0lnRVE4S01ON1NwUC9JcDlkT3loQTVvaUg4ODhjbUkyMHNoUWlGbWhSRENIS0xoRmxlS0ppeW15ZWhFNzJyN3RJb3h1S2NwQ2U2QTZJRWJHM0NPbmkxcllIVzRPSHZ3dFBNNUsyUTF5dTJLSnFnVWdUbGZJL2RrM295NnhQZkhqam83MThlR1FzNUVHSmw0b3pPTXFPTkdVc1ViNHUzcDg2Q3AvM1FVeTAxckM1RkFZVm9heUFCY0NTamJDSHMrY2Jja0FOQ3ZWY1IvWHA1L1E3dGxzbXFxSncwMWJWZVQ5anJyVko3UkZvdHVuZTBKeXozYUFPVjU2ZG15VE9rZHBBdHJqQ3dCMW9UQ3ZIYWJUTGpWZGQyUU5Pa0lRamlleWJvank5b21BalR0R2RpMEpvMXVHTXZxUTlnQVVzdGswWW5BZitrK045RG01QkJXRTRTMEY5YmF6U0NXNEYzcS9vMlgxQ2FCY01XU0d6QzhlTEJ5YlFoY2RzVERJTW5GKzBsaWEwMVBianNLODlqaXJJRW15bXFhRkM3dzJtVTNUQzNqWkl3SVdIVDFMbzJvYmxLRXN3SVVGcUszUStrZk1lQitpZDRmZnUwVWN4RjdWd0hRSnp3NWhQUERyOTdvOHlHdHk2RGJ1Q3YyUUNJNzZXZGoydFUyOWp5VzZRQWRCeGtVSEtxeitXQXBLUkY0OHFaZVRoaWptdWU4NlEzZzlBT2VHVTlTMkN3TmUreEIxUHpyZ0JsalFEY280Nk5neXBSQm54eVRMVUJiZ01oNXV3K0J6bms0NDU0VTNxVWtrWk1PMkhNL2VWMkh3TWhRRURLdjRZSzZIbHZFcmZMOUQ2Tk5zLzBjRGZiUkw2TUNxMm1jbGtLUFZCUk45ZkhKKzBwakJjOTA2anNLOEx2QVZlMDdSeUlaVVpvTGF4OXdBOW9BbVgwU2xJenNGbUp4TjA3b001YnExUWtnMlFHbjdNQ1BIa2Q2RzNSREFqZmpITjBuWCtpWjBCR2ZNVDBaSC94Q3lBUndWRkwxamlieHAraUNwSVRHbnorYTdYQXAwSEpnR3J1Mm9naDFURWJuTlJocXdkQ3ZDakNueWduck1LWnZTbzh4QzltaStFL3dBbXQxSFdOdlJzVExMbjFjb1FibGxKN09kSmZzM01qNVpkVFZlb3ZvWmZ4QzRRbGlhR1hSRUxwaU8vaVJ0ak5lVHJVRndSQVlCMWxVblZ6Vkk3YXN6UU1lSmFlNmlZM3VTajUrTk5KTkRJUWdsdEptK0hzR3ZhalJUU3pGSHh6MWFEVUxaRmgyWVUxYUdzUFVsS0hldDRUSW83VzFscExkcFpRN0YwbDhtZDJPR1QvVDNaTUlXNm9kdzJTTzNoUUUzQ1QrazRLcDhDUVJISjZabE5kdkRYZGJIUFJZZHNMRFV3RVhIcnZCSmhvSzR6VVNheWFFUW5oc2ZDZzcxL0hOVTEwMW5mVWxZYi9sQmprVkhuZEVCeDJvZmNwU2diRjlzeE1ScTg4M1BoZGdmeUtVUDBheGRTNlhBdXJhK0w4VktodTNtSGd2WkMwNUF1Q3BmQXBBd0JrMXY4STdScVg2Q1B6MFdIZWc0UklHK1hIUjBwSHF5QnVMdlRLU1pIQW9sdTJ3bVUwYnhCSlBRQUNIMXdsc2hKNHYwWmE2VTV4MVExeUR0akJkbkJiWGlsRjJQZmtzUFRwRWVRMjJrcm1aajRTL000aFpuMG9SNzNBRUpqTy9wNmtsTUw3aE9UbE5ac1RzV0ExRXc2NkxiQUFVNzgyUFJBWGEwVUdPdW1VaUR1U1BESDJOTGZqaU4rcHFOTzQ2eTVKRVFxRWIySFMydDdjQ0N6ZFNsWitPRUJ5bE9XWGgwa05LVWhvZUdISDF5amNtOVlvcHdVNnBoTXpvRjlrVW9vajNMYlYwOFp6V0FPUmpvb3ZKWHkxcXNZZW9KMS9VaXlvRU83ZlpPSm93N0MybnE0Z1hxQ0d2eXcybFVEMjNyVVdaRytPZm5VTHN0bkw1RkIyWnNQNldNem14MDljRVVMWHlxcEFobUhHWGgwYUhKcStnMjJrbjdhaXZSU0ZOQXpWWldwUDkyZU90b3lwclc5T2tTOEpPaVk5a2VyQzBFc1lycG12c21ncU42U240ajlhWTlYam5qYkFkaVdKOWZaOUJaU05NV3J3UTd6R1NaWmZkZ3VROEpOdE9hUzNkMjB4Q2taeVpJRnpiWm9VcmJnZUkwaUY5UUdPczRJNHUveFNsWEJialM1Q3BGeU5nR0RGTENNaTdXSjFDSGFTbjlXZXU1d25hTUtXRVRwSDhLaUdoU3A2SjNBY0JzSjlYZjF5UWNkSndZb2pMdXFPeEN0K0tkVTlQRTNtWWd6VHZCMHRuQXN1Q25sdHkxTkVMenZiUk41NVgwZUdhQkZyd3ViQXZzVzlzQmplc1ZXbW0vMlNKbzZjYkZLVzhMY0xXMDdXaTlvZ25oNHMrN056SmprSlVtZFdITGtnOTg4RmMxOStyUGYrbm50MHc5Q0dxcnZ5WXdlOW0xYUtaaGdSdk1HRWRpUzVxYnBiTjBPZGs5QzZCOFlBZ3lPbDU4N1BHdVprNDkvL2dMdjVHMkQ0ZTh4OUtzUGZ5NTMwMVpPdjNqai8zakw0YnM2QktZOElHdGdaTXcwZFhQM3RsTW4wbS9aRGNoZW4wMHVLMUFSOUpYZjVETTljOEd3dWlXb2R3VTROSS9kdnBRcG5jTXlkK24xL2hwaG1ha2FpZEtuOFh3UmVkZENHUzBJL294Q3JUUlpWdkV6WnBFNFF0elQ4Y2RlaHM3bU90bUVKNThHdFpsM3BBNGpnOTZqNlhSRVR4ZkRIaVBOWWRadU16YlNuMHhxWHhkQnhBZDFaaVQvNU1YeThiQ1hxSUR2OU56WFowMTRPZkZQQ0FuMUpDSGNsMVkvVXBYamRSSGlGZitBdG45eVJqcEpqUVM2RHFrZmkxdHk5OHRnaUhzMFE2b3N0d2R5Mm1mZS82d09xUGZCK213VVFKK3FBWGJqcjY2ZHYzbTAwOC9lL01hM2hjYWNIOG5jWStsV1ZXbjEyNysxOU5QMzN6MTJuaVBKNzJGUHU2NDlaQlMxM3ZwNTZNUDRMZWU1SFF2eWcyQlJFZXkvcVQ2NXJHMlF4S0RoU2t2WHR1ejZsci9rOVBmNFZ5VDNpOXlmektHbjc3b2hsLzk1M2VrN2QveG5xOXl2N21PVXRkNDJuUXhFTSsxNVJLLzhwem85L1hlcDdleWJJdUhnUlhiTTAwWUhTWS84VFlUYVNaeXBCOVBIdG9XT082NG1yejRTZlVaL0NRV3JoL3ZQcjlqS3hGbmlsMklnNDZzRVphdk5icmxLWXNSS2RtbWc0S3V1L1I3NHV5TDJqcjN0VjkrOWZRUFJRbGM1NmJJbm1NeSsvRWpUUkJxT0RhRUM2RURqbHRxTzhMYnZaT0dCci9NWjN3b3FUbkhDZFNFN2pVNStSRjBpQjJwN2xLV01nMG43ajBDaFYyV2FXMkxiYmhvUENrcC94L2VwSGJGNjdiWnE4SUFEMHovWXVpNFFOS1EvRXZDMmV2amppMnFDTys3MG9GSDBGRVZPMUwwTGtzNUhKamZLNEh2Y3BaWGpXeEsyQ2Rlc2tFdUtsNTlGNlVjT01QRTZvMVNlaFZEeHdXU2hnU0FyYVZrZ3MySHlOaGlreHBKNkVUUVViY21WZmNvU3prWU4wR2NsNEVDUm5zem1mc090eWo4ejNpT3lBZ3hpZk5LOERzRzhubERNWFJjSUdsWUsyMzJrbnFIcGs4dXhseHJNaWdWSituY0hEdUVUYzRnVVpLeUpKR2xjY280U0ZNcit1aDZ5WWErTGt0aHg2Q2s3OXFlb0w1OEFUWmxwdlA0THhhbVVMOUEwakNuWWpsaHRkc3paMjVBaVZVWm9jVFE0Ungzb0ZkSnlqU2V2ZlBYalRYdDNEZEU2TnVYNXN4MkdKZXFURUwvdUU0NXkwY0V2TG82b1M3RmJBZE05eGIxekhOL0s2V2g4VmV0SzRaYjV5OVRxTnJlYTlqUDJDdjBMSWdPWEd5VnBHekhvQlNDNVN5WnZwNTNkRURsT295K2FqUFRVMHVUNUp2ZWZXS0xKa1Zsd21RV1JNY0Zrb1pFRlFpRVd6K2s0dkRlY3BCTjZKanYvS2RwaWxoZHJHb1VscVFjam94Z2VhQkxFWC9nNkhhM29kUFpWWEM2YTBYM09EUk9qdnVHa1g1TmV6OXpGVVRIQlpLR0pNQ3pyQzJUeHBaMG40djlSRVZ1YnV4VHVGM2VCQjk1MjAzOWxLd01aWC9nTkZodTZGS2dCSWZrSTlsZ1ZPaWhXc3NOakNTaHUwN1BHYSsxSXV4VFFYUWtGMGNhVnNjR1F3SmIwZ1lYKzRrbDF6SVkyNEhUZGRvRytHR0hmdkdUd0ZhRXNqK3dEcFpUVjc2Z0hvTG0xeEY2Mkt0TzN0NFdqVSt0eWVPODhjMUsxZ3d6YVlWandac0hyaldkUnZrQ1NVT3MybzhBNnJRM29DcDVQM0tSWTlDaEgzNWxjUUJTOVBTTHVwV2pUTDM1am1CWjNjWk90dnZ0ZVVTbDI0N0NWeWY1UXFaZ0Vpc0VaTC9pWFBMcnZiUGpKUGtGK2F2OVJkRnhnYVJobGZUcDlHYml6eXQyNzNBSG5URG8wQzhtWGtrcmhuUW9JWnFWb2l6NlowbHNGcitnN2p6UlE4dzdWSC9oR1l1UlkwcUN2azVCODNUVHlaOXpCcytsUHZVTVBaVkxhUmRGUjNLQnBDSGxiRkMwM1hWREM2cFA3d3Z5LzJlaHhLQURSeEZaRUlhSThhK2REanBUaW5KQVJiL3k4N1ZuVHY4TVUxdjU4T252dS9WSEhOdTQ1WkZjeGRtU1J4cmNiZEU3bit4ZGQzNWV1VEE2THBJMFJodHJGRWRsSCsvRWRWVHoxcXhCQjBEeGNkMmgwdEhHMzc5S1VmYUp4TDcwc0czV0ZiMGlaTXZHcEpibE82bGoycHh2Y1dGMFhFUnBobWZweE9LNHc0OGNyTEk2N2xrRzJZNmtlL3JyNlB4ZS9HZW5ZOXVZVTJVb2MyZEtwQytwVVNhNDc3b2VMNmkzQmYwQ1RzajJ1cHRVWVhRa0YxQ2F4U3hhUTF4NU9FNFhxK1I5cUlHeEhmcDV0YnFPVGNXZEdEand4dGFCN2xDSU1vM0E5K0ZFajdERUd5UHVFRThzRmpzNWl4TXBWbG9jSFJkUm1sWjZhb0RvNzhvNDZYZjlCekNFam1UOU41L3RuWDdybnpialBVdFFEZ2k1ci95RTFmeDlWbERsRkF3TEhZMDRYY3RtNXRScitLSFFuU0xkV3hkUG1pVzFweVhvLzhjNE9kYWRCVG9Qa1p2bXdkaTRIcWE4SU9Vb05lK1ZINy9Ob3J2Vjlxc3BQK2RiUDZwNEMrLzZOR2lTdTQ0TWZSR2wyUlZ2ZlVWWVRyWWRsMzJVQ2oySU5RektpbEVPdXV1QzRBeldheldjOEhESU5xMTVnWk90ZWV0U0pkQ1JYRUJwMWlmdkN5dXV5eW1Dam1LVVl4UGx2L0lUdEZuN1lsQVVLWGhnRUNsOGk0dktvT01pU3ZNdkUzVlhjUThaaXFBaktVUTVObHVJZTJQRjk4dnVhd0FhV0ZHNTk2ejM5ZlY5cDRHcTk5ckk5NTBDN2dzOFFRUFZnZzg2SjVDNlgvVzIwOERDemVPM25VejNCU3FxZ2Y4SFp2aFQxV2pYQ3E4QUFBQUFTVVZPUks1Q1lJST0iCn0K"/>
    </extobj>
    <extobj name="334E55B0-647D-440b-865C-3EC943EB4CBC-15">
      <extobjdata type="334E55B0-647D-440b-865C-3EC943EB4CBC" data="ewoJIkltZ1NldHRpbmdKc29uIiA6ICJ7XCJkcGlcIjpcIjYwMFwiLFwiZm9ybWF0XCI6XCJQTkdcIixcInRyYW5zcGFyZW50XCI6dHJ1ZSxcImF1dG9cIjp0cnVlfSIsCgkiTGF0ZXgiIDogIlhGdG9YMXh0ZFNoU0tTQTlJR2hmTUZ0R0tGSXBJQzBnUmloY2JYVXBYV2NvWEcxMUtWeGQiLAoJIkxhdGV4SW1nQmFzZTY0IiA6ICJpVkJPUncwS0dnb0FBQUFOU1VoRVVnQUFCRGtBQUFCWkJBTUFBQURHRytKdUFBQUFNRkJNVkVYLy8vOEFBQUFBQUFBQUFBQUFBQUFBQUFBQUFBQUFBQUFBQUFBQUFBQUFBQUFBQUFBQUFBQUFBQUFBQUFBQUFBQXYzYUI3QUFBQUQzUlNUbE1BRURKRVpuYUpxN3ZONzVraVZOMlRCb1ArQUFBQUNYQklXWE1BQUE3RUFBQU94QUdWS3c0YkFBQWEvRWxFUVZSNEFlMWRhNGhzMlZVKzFhL2JmZnRSSFRVTTVsVXRZWkJSUWpjK2ZnbFdJZVNuMWhWa0JJVjBvemlqRHFRNkVwalJ5TlNOb0diOGtXcC9hSndScHRyWFpISXh0eTRJSm1RaVZRWW1oREhRL1VOSWNDRFZnMHJpa055Nm10RzV0eWZUMjIrZnM5ZmFheitxNnB4emUyNDFrM3QrOU5uUHRkZGErOXRycmIzUE9kVko4cmE3S2orcHI1MjNuVndUQlpwUGhaN1k1RjVXcnY5N250RmVhdVJwZGI1dDVwUyt2bGVJNkVXVTVoc1RBYjcydDQ2QVI2blFBNmRzYktZUTViRlVKbFgwLzM1U0xkVnQzS2JVdmJ1WFFjY0ZsR2IxZERCUlo2T3Jzcm9JT29wUmxxUGtUVjlTVzNtYVZrWi9tcWZadWJZcGdZNkxLRTM3ZnlacjVYMTNOa1dESXVnb1Jsa01ranZaK1c2K3BpK2RTUm55OWJuTFZuUHF2NHRTdUlEU0xLdUpqaVZKMW5xdmVHSWVxWUZYRXMwV3Bmd0RQL1h3RTgrOEVTVTFwbkJGTmNiVWVNVnp5cGZCYTVBN1czbi9CeDk5cW5kamV2dmk2SmlCTkZQRjZMNDJyY20ydi9CeW9xTWc1VXRwUlBQNk5HNWtmZnYvWk81U0w2VmcvbHoveTU4VGxjTTdJbk0zeVhaS2ZuODZDUjhkajM0aWR1MEpRdmRjbXFVbllpejlrV0Rwa3BJTWlncWJYRmNITnFOVCtkQlJsUExsVk85VHNTcFlXVkpYUlM2cEdsenc3WFZyRlpkVWpnbVZ4TWFsTXdRMnhsWGJjZzhkODh5Vms3aGxPOXg3YWVvT0s1eXhMQ1d0SE9GOHkxdlErZEJSbFBMOHc0OUM5VVcyZ0hXMUtTUkpGaDU3b3F0Ri9QVEhYbmpoOFUrTWtEbzc1dnJSLzNMeXJoSS8vY2p2Z2ZCZ09nMFBIV3RQdmFwNVUrcjBabnFabkVESHZaZm1LODltV0ZmWE01NU16c28ybnlkMjJsQlhiQStrY3FHakRHV1lqME5ucEltWlNpODBOSDJvMzBEbXdhNVNkd1pFNFNqZjdvYWFUN3IzMU9ta2FsUG5vVU9YMWdFT0cwWi80QXZJSHByV1NUSWJhVktUdGtOTXpMME1nQWpoM3BVbnJsdFQ3clltRnpyS1VBWTY5b25UNmZjVjMrT2h5NjVTSEl2TWRjVmtMS3FUNlJUenRlZ3B6NVpHdTBYUXNRdzQzQkNOd2V3QloyY2tUVWNwdVJGWXhJcGlscEt1U050U1A3Vjc1cFRrUWtjWnlqV1ZCNnpFU3pOaTROdEtJRm5IdWNmVXVzZW9vWktTOTRwU29jMEthVVhRc1FGK2RrUkxISW5zYzNaRzBvekVDdEs4YkF2b0wrVHo4NWZkMERVUE9rcFJIcW9DOXIvaWdONW9HWmJ4MENSeDY0bzRwbG1BdEtVUVNhMUxBRWJxVFZFRUhUV2d3K213YTAzSmpLUUIxTlV0eWRPaTBHck5zaWViK09rRnNTQlJsd2NkcFNqM1BlMzVmRGo1UzVHUWFRM0MydVdJaFdEdDVJYXc0ZzZkb3BsVlQ1OWora2ZRTVZUSzNRTlViVUEzSTJrQWRYZmpseWdidnJmZHFIK01vRWt5Y2h4UUhuU1Vvanp5dERlV0gxMnhIVUgyQW9SdDJGN1NsSytyTjIzRjNhUkE5R3FPL2hGMDlKVlF2U2F4YkIzZmpLUUIxQzFDVTZrNnJLWTVZVVltQ2p5MFlxQmREblNVb2d3elo0RTdrUjlkMllrZ1cwY2FXN2Fuemw2bDdFZ0U0MVJXNWw3ejlSa25Fa0VIZkx3YjNpOVpabWNralY0L1c0NEFMV1p4T1dLY25hYVUyWkRlUEE4NlNsSE82ZEV6cHFMNHc2WkhldllsWk5tcjducUxoR1FyZWgvNitvd1RDTkVSK1Boa2tRRStLMmxxcnNJZ3lpNC9Ib3FaczZpc2k4Nml6bUU3U2xITzZkRXpEcGU5ZFppV0hybWVIZnN6aS8rYWcvQ29tTGtLK3c0QXgzWUowUkg2K0FXRzhxeWtHYm9LZ3pSTlhrNGR6NnFNRmJVaXowankySTVTbEhONjlJekxXdXdBbytuNkp1MVYyVkJlT3FmQUkyZHdGS0lqOVBFTDdPeG1KUTJnN2puejVxRkJRVVdkamNXRFY5R1dnY2QwMjFHT2NpMmZSODlZMjNWMzJWbGhXNkFCSmZyNGlZL201KzMreFJPdVVEWnZjQlNpSS9UeGl4enN6MHFhSUJSS2RnK01PaGJ0dWVJMEJkWGxmbkE2T3NwUkh1Yno2Qm12bzhoWldBSmgyVENpbVE1RGJGN0Zla3dUUEtqUEd4eUY2S2lCRzVmY0VoKzZ6a2lhTUJSS1d2dUd4dzI3c0Z5dXcxeFZOcDJPam5LVSs3NzJRajY0WkM1bUNiU3dWN21KM2x3cDRYODZNV3NqV3VkTDVnMk9RblRVeGVsTE50WXFuZC9PU2hyOW1JVnNoUkcvdjJjUzIzNk5LWS9jbHFXWm1ZNk9jcFJIc1JtUE1LT0xWaVZEMUViSGZWY29nenZDRUlHSXBrQ0thRlF3Q2YvZzZUTk9JRVJIU3p3RHl2cXMwcEg4cktUUm03bzlsLzkrdytUN2ZvM2JUdVlXWklneUhSMmxLR1BsMDFxU1E4ZlRWZkcwazF2b3VHK0hjK2xKT3U4WnRTWGhDRlcwS1pxc0JmcU1Vd2pSMGJXUE5Db1psOHYweEhaVzBxd0loZjFnSmtlSEZPaXFNaTZrS2NVUjlSWTNtSTZPVXBSaDVraGJQTlRZUkYwRUZOeEl4MzJjU1JMOTRpOTc5aVRaOE1OejBUUi9zcDVUdGdBZDBzY3ZaemhkcGJPRldVbFRFd3JyYktWSzZHOW11c0JzNUZmS1NKanNxZWdvUnhsbTdsWnVobG94K3c1aGVSY0FTdnFvOUs4c3hVdEZ6dWx0Tnk4Ri8rQ1Z4TE1CT3FTUHJ4SXNUTjlaU1ZNWENoTldWbk8xNUtneUxpT1h0a1c0TnhVZDVTakR6QjBreWZyblI5Yy95c09PVFhSalhuSG8raVlkbEc1WkNuZ0lZek9sVTkxVWF5OS84dlNiallrMEFuUklIejg4Y2Z2T1Nob1JDcTE3cHhzcm9adGZ1bmJGWlp0elRiR3VBM1NzL1ZidmVkbXhIT1dhOXVoZjdxbnJTdjBkanpzdUlkN2NzRTM2cm0vcXVHOWl3TkZzMmJZbFUybHd0UGJiNm5Ta1RxWElBYmtBSGRMSGQyNjQ3V2NsVGRjcWJQa05sNlZxZUhqWXQ0SGJXdmV6c3ZtMnJRbk9TdWM3NnJSM2Vwd2tQMkY2bEtOY2gwZGZVTTl0SmVzOStSaGVjc0ZwbU9rdHpuQmk1UGdtdlZqQmxMMmM1N2UydUZBS0EzODNhWjcrV3BMOG00eHBRaG9CT3FwZ3h6U3J1SHdsTTVNR0xOMHlQTlg0Mld4V1VCY1RucFZnWVhBYm5DU1pmdW10S2w2SThtekhXbGQ5SjZtMFhrdGVJdTlUam5KTHFVbzcvUzV6TzdScWtoZWtNZk5lQ2JJNjdqdXd4YUQzTnphSDFHZ3E2SnptMFl3T2poNDRiYUFPcG1ndjJpUXJETkJSdHo3ZVBuM0wyczVLR2hrSzJhZHZHVTh0eGcwSmlhZFdIQzROWGYxdmlKWGlvYU9aenVXY091NFIzTXBSaGtkZnViMnBlWUVSSGhCUDhmdXk4dHlrYnFhUE8vYTRQV0xTMTFOcVhOSStoK2R3T2pqcWZqd2wyVlhmWTlKaElrQUh3RW9iOWlPUCtWbEpvNjNyWHNiNm1uOFkxUEVMOUhPSkU1S3o3ZXIva25nTzU2SURuWFowcC9wbitTRkhLY3BZK1c5MDl0UGhFVC9lSUQ3aTk4dXgvWWR6M0xIWVUyZkhidWQrc0J6YytqeTVtbEtmTjd2azVzUzNZd0owZE5uSFYwYWVqNStWTkNJVWVwK3Y4UjQ1QXRhS2ZDZTg1OG9PelhNekZ4MGQ0NDMwSTY5YldadFNsR0htVG8zZWtUemgwYUtKcXN0ZDFrWWZkMnlhNWcvaXU0S0cxM1UzdHRncjcwOS9jeUwyWitEMTE5bTZVcjM5ckx6dXJoK3ZjWUFPVnMvYXJ2WGZXYWZ6azhaallrcTJDcDZ5Smk5NklWcVNoQXQwVzZtR0lZampMenJtVFV2Z2RBYW15bzFLQVlwR1dpR2NXQ25LMnN5ZFpFUEFwUnVjWmZudzcxSHNaS3VHNzV2U3BsLzZWM3dyY3Z2WTd6YU1uYmE5QzhPT3VieG4yeWs1K0FkeUM5Q1dQNExJKytqUTZubnVrVWNlK2R4VFBlRy9zdzduSjQxZ0lFZXlqZ1VKbGg1NzRoa3dSK3NxNjRmNXYrSlJhRm9Jd0xnN1hoVStmWWRhTzdhand6WitSRTZzSEdWdDVnYlpFTkFreHo4MHFIdXZ1OWpOS29lZ1FOZnBSMTFwZFl2dFdLYzY5UWp2dDkweDAxelg2Z1U5d3pHNGk0OE9EWDYrVHJoWm1qZy9hVnk2MDNJdFpzaGkzdlRCRkRTODdtMGJYQ0NtTzVTMVdNN2NXcUlETm9WUTFDY0FsYU5jdFMraUFKcFQwTkdNbVFFd2NKWis4d2VoYjI5SjdyUDBFWWVGb3M3OU5sdW9TNm5ZN3dxaEFhMHByS1VDNk5EZzUrdUdZQURKODVQR3BUc3QxMldHM0crZTBBOVRzT04xNzdFZDBLOUdYSlcxc0FkN2xKZm8yTGJhNnBPbExVZTV6bzVGNzFjUGFiRDR2VVhiSTFrOVlvZjBNNEJIT0hOVnNlK1MvUXFrQVh4eUxFbkxycVVJQmQ5MkFQeXBJNnA4NlVPQmo1K1ZOR0RwbG1iOVBRK08xSnV1REppQ0xiY0VDR0JYZTJSblBXc2tQaFNSNk1DTTBEUmtaOHhvWFk1eXk2SVZodXZBWmMzUDlkbGkyUnA1M1BHQWY5YWhtMVhWSGR1NlhBcWk4WlBDdGlUM1EwLzJ2dlVQa3FhUERvQ2ZQRldmVldZNnpFZ2FRSjFNd0twdnJMRUxHVWh4VW12Q3o3aWJQbmJFaEFsMHdMSHdVMURlejVlanpPRFNUMU9ublZ1MWZXa2dpWFBjMFE0VzZMbWdBLzZCY1R1eW9pZnZWcWVmNmpvUEFIeDBBUHgwM0ZGajgyUDBQeU5wQUhWeUNCWGFFQkFpc0VCcDFac2lsTnlpV21pWGt0bGRxRVdnQXc2STFoS1FhSkxsS0Z2dEpUWGZjTG1zSUJmVHAzUGNBWUJSUE1TZHE5WXJjRm5CUkpYMXFVOW0yZExPOSs0Y0o4azMxTGN0T1I4ZFhWWlBVdldPTzJZbGpRNkZkZ3pIL25GSE9JY3kxaEFoU05iZlJnVnlSN3RyaTRGRWc2MVNsQzI0MG5lNnRxeWVZNmxPeEhibzR3NXVpOWduY0NPWEp3WUszSFZTb203MWlSSFkwdGF6TmRnV3Z0cEhCNWlqcFZmMWZEdyszQXFEOEZMU3JNV09iVkQySTFHWkFIVldtUGZrUngrTWJycWRqdXlTbFNGSTFxaG5BMFZoTzNyMmFNTWEzVktVTGJpMFpXQ3VYUTQ1MTJWVmM1RzJPQllRRU1CM25JaTBUMjNyY3FtVzVReHJnS1o3elp6TlhWTDJCekk5ZEdnZmYyREdyUGxZT0RkcFJoZ2xldTNFeEsxYmhWVjhMR0EydlM1TkcydkloWkcxaXFKRHUzb2F1TXBHdHhSbEM2NGtDUXlYeDZoK0o1Qm14bFpCV1BMc0tBUm5lN1l1VFdFNWVpV0ZzeUk0RXBaMnhieGtWQkh3OU5BaGZIeFNQL0hHUFRkcElIVDh1dUtObUdZQmRWTFl2QjhLaFhQWXR0b1RDOFBRSGRuNXNMWUR6VmpoZFFaS0tjb1dYUHJwcDNOT0c1RXNwazhJU3pFUWV2VEN5UFljYklmVnAvN0F2MkU0TTQ0bHdTYVgxZ3FFY0N3RWRNSjF1emM4aWM1Tm1nOWpsTmoxbVlFM1lwcnRXb1V0K3FGUU9JZGl5WXFGWWVoR2JRZW1sTFpwMEF3QnBSVGx1dFVlMWxrUVVYclN4VHcxaExVR1JXNXZxZS9sdTQ1S1pYQUVlUWVHY3BkUzRsMThEeDNRRktrbjRSZDdpYkVaU1FPV1NHSDgvak94RkVRSE10WTRzaUdJYWQremV4NXJPekNsdk1xdDBTMUYyWUpMbjhTZEVKZGo3ckU5QzRROTRPYXdQeUtYRmQ4OU9tUndoR2ZBWmpSZ3hxVEV1K1VlT3FBcERvcGVaaTVOWWpiU3lGQm8zVGRuOEFxYkRwc3kxbWphaFdIYVJOR0JLZVc0M1JyZFVwUXR1TFROdnVKd0ZtWWkrdFRDN25GTENCT2NtZHo5YVJpc0lnRVE4S01ON1NwUC9JcDlkT3loQTVvaUg4ODhjbUkyMHNoUWlGbWhSRENIS0xoRmxlS0ppeW15ZWhFNzJyN3RJb3h1S2NwQ2U2QTZJRWJHM0NPbmkxcllIVzRPSHZ3dFBNNUsyUTF5dTJLSnFnVWdUbGZJL2RrM295NnhQZkhqam83MThlR1FzNUVHSmw0b3pPTXFPTkdVc1ViNHUzcDg2Q3AvM1FVeTAxckM1RkFZVm9heUFCY0NTamJDSHMrY2Jja0FOQ3ZWY1IvWHA1L1E3dGxzbXFxSncwMWJWZVQ5anJyVko3UkZvdHVuZTBKeXozYUFPVjU2ZG15VE9rZHBBdHJqQ3dCMW9UQ3ZIYWJUTGpWZGQyUU5Pa0lRamlleWJvank5b21BalR0R2RpMEpvMXVHTXZxUTlnQVVzdGswWW5BZitrK045RG01QkJXRTRTMEY5YmF6U0NXNEYzcS9vMlgxQ2FCY01XU0d6QzhlTEJ5YlFoY2RzVERJTW5GKzBsaWEwMVBianNLODlqaXJJRW15bXFhRkM3dzJtVTNUQzNqWkl3SVdIVDFMbzJvYmxLRXN3SVVGcUszUStrZk1lQitpZDRmZnUwVWN4RjdWd0hRSnp3NWhQUERyOTdvOHlHdHk2RGJ1Q3YyUUNJNzZXZGoydFUyOWp5VzZRQWRCeGtVSEtxeitXQXBLUkY0OHFaZVRoaWptdWU4NlEzZzlBT2VHVTlTMkN3TmUreEIxUHpyZ0JsalFEY280Nk5neXBSQm54eVRMVUJiZ01oNXV3K0J6bms0NDU0VTNxVWtrWk1PMkhNL2VWMkh3TWhRRURLdjRZSzZIbHZFcmZMOUQ2Tk5zLzBjRGZiUkw2TUNxMm1jbGtLUFZCUk45ZkhKKzBwakJjOTA2anNLOEx2QVZlMDdSeUlaVVpvTGF4OXdBOW9BbVgwU2xJenNGbUp4TjA3b001YnExUWtnMlFHbjdNQ1BIa2Q2RzNSREFqZmpITjBuWCtpWjBCR2ZNVDBaSC94Q3lBUndWRkwxamlieHAraUNwSVRHbnorYTdYQXAwSEpnR3J1Mm9naDFURWJuTlJocXdkQ3ZDakNueWduck1LWnZTbzh4QzltaStFL3dBbXQxSFdOdlJzVExMbjFjb1FibGxKN09kSmZzM01qNVpkVFZlb3ZvWmZ4QzRRbGlhR1hSRUxwaU8vaVJ0ak5lVHJVRndSQVlCMWxVblZ6Vkk3YXN6UU1lSmFlNmlZM3VTajUrTk5KTkRJUWdsdEptK0hzR3ZhalJUU3pGSHh6MWFEVUxaRmgyWVUxYUdzUFVsS0hldDRUSW83VzFscExkcFpRN0YwbDhtZDJPR1QvVDNaTUlXNm9kdzJTTzNoUUUzQ1QrazRLcDhDUVJISjZabE5kdkRYZGJIUFJZZHNMRFV3RVhIcnZCSmhvSzR6VVNheWFFUW5oc2ZDZzcxL0hOVTEwMW5mVWxZYi9sQmprVkhuZEVCeDJvZmNwU2diRjlzeE1ScTg4M1BoZGdmeUtVUDBheGRTNlhBdXJhK0w4VktodTNtSGd2WkMwNUF1Q3BmQXBBd0JrMXY4STdScVg2Q1B6MFdIZWc0UklHK1hIUjBwSHF5QnVMdlRLU1pIQW9sdTJ3bVUwYnhCSlBRQUNIMXdsc2hKNHYwWmE2VTV4MVExeUR0akJkbkJiWGlsRjJQZmtzUFRwRWVRMjJrcm1aajRTL000aFpuMG9SNzNBRUpqTy9wNmtsTUw3aE9UbE5ac1RzV0ExRXc2NkxiQUFVNzgyUFJBWGEwVUdPdW1VaUR1U1BESDJOTGZqaU4rcHFOTzQ2eTVKRVFxRWIySFMydDdjQ0N6ZFNsWitPRUJ5bE9XWGgwa05LVWhvZUdISDF5amNtOVlvcHdVNnBoTXpvRjlrVW9vajNMYlYwOFp6V0FPUmpvb3ZKWHkxcXNZZW9KMS9VaXlvRU83ZlpPSm93N0MybnE0Z1hxQ0d2eXcybFVEMjNyVVdaRytPZm5VTHN0bkw1RkIyWnNQNldNem14MDljRVVMWHlxcEFobUhHWGgwYUhKcStnMjJrbjdhaXZSU0ZOQXpWWldwUDkyZU90b3lwclc5T2tTOEpPaVk5a2VyQzBFc1lycG12c21ncU42U240ajlhWTlYam5qYkFkaVdKOWZaOUJaU05NV3J3UTd6R1NaWmZkZ3VROEpOdE9hUzNkMjB4Q2taeVpJRnpiWm9VcmJnZUkwaUY5UUdPczRJNHUveFNsWEJialM1Q3BGeU5nR0RGTENNaTdXSjFDSGFTbjlXZXU1d25hTUtXRVRwSDhLaUdoU3A2SjNBY0JzSjlYZjF5UWNkSndZb2pMdXFPeEN0K0tkVTlQRTNtWWd6VHZCMHRuQXN1Q25sdHkxTkVMenZiUk41NVgwZUdhQkZyd3ViQXZzVzlzQmplc1ZXbW0vMlNKbzZjYkZLVzhMY0xXMDdXaTlvZ25oNHMrN056SmprSlVtZFdITGtnOTg4RmMxOStyUGYrbm50MHc5Q0dxcnZ5WXdlOW0xYUtaaGdSdk1HRWRpUzVxYnBiTjBPZGs5QzZCOFlBZ3lPbDU4N1BHdVprNDkvL2dMdjVHMkQ0ZTh4OUtzUGZ5NTMwMVpPdjNqai8zakw0YnM2QktZOElHdGdaTXcwZFhQM3RsTW4wbS9aRGNoZW4wMHVLMUFSOUpYZjVETTljOEd3dWlXb2R3VTROSS9kdnBRcG5jTXlkK24xL2hwaG1ha2FpZEtuOFh3UmVkZENHUzBJL294Q3JUUlpWdkV6WnBFNFF0elQ4Y2RlaHM3bU90bUVKNThHdFpsM3BBNGpnOTZqNlhSRVR4ZkRIaVBOWWRadU16YlNuMHhxWHhkQnhBZDFaaVQvNU1YeThiQ1hxSUR2OU56WFowMTRPZkZQQ0FuMUpDSGNsMVkvVXBYamRSSGlGZitBdG45eVJqcEpqUVM2RHFrZmkxdHk5OHRnaUhzMFE2b3N0d2R5Mm1mZS82d09xUGZCK213VVFKK3FBWGJqcjY2ZHYzbTAwOC9lL01hM2hjYWNIOG5jWStsV1ZXbjEyNysxOU5QMzN6MTJuaVBKNzJGUHU2NDlaQlMxM3ZwNTZNUDRMZWU1SFF2eWcyQlJFZXkvcVQ2NXJHMlF4S0RoU2t2WHR1ejZsci9rOVBmNFZ5VDNpOXlmektHbjc3b2hsLzk1M2VrN2QveG5xOXl2N21PVXRkNDJuUXhFTSsxNVJLLzhwem85L1hlcDdleWJJdUhnUlhiTTAwWUhTWS84VFlUYVNaeXBCOVBIdG9XT082NG1yejRTZlVaL0NRV3JoL3ZQcjlqS3hGbmlsMklnNDZzRVphdk5icmxLWXNSS2RtbWc0S3V1L1I3NHV5TDJqcjN0VjkrOWZRUFJRbGM1NmJJbm1NeSsvRWpUUkJxT0RhRUM2RURqbHRxTzhMYnZaT0dCci9NWjN3b3FUbkhDZFNFN2pVNStSRjBpQjJwN2xLV01nMG43ajBDaFYyV2FXMkxiYmhvUENrcC94L2VwSGJGNjdiWnE4SUFEMHovWXVpNFFOS1EvRXZDMmV2amppMnFDTys3MG9GSDBGRVZPMUwwTGtzNUhKamZLNEh2Y3BaWGpXeEsyQ2Rlc2tFdUtsNTlGNlVjT01QRTZvMVNlaFZEeHdXU2hnU0FyYVZrZ3MySHlOaGlreHBKNkVUUVViY21WZmNvU3prWU4wR2NsNEVDUm5zem1mc090eWo4ejNpT3lBZ3hpZk5LOERzRzhubERNWFJjSUdsWUsyMzJrbnFIcGs4dXhseHJNaWdWSituY0hEdUVUYzRnVVpLeUpKR2xjY280U0ZNcit1aDZ5WWErTGt0aHg2Q2s3OXFlb0w1OEFUWmxwdlA0THhhbVVMOUEwakNuWWpsaHRkc3paMjVBaVZVWm9jVFE0Ungzb0ZkSnlqU2V2ZlBYalRYdDNEZEU2TnVYNXN4MkdKZXFURUwvdUU0NXkwY0V2TG82b1M3RmJBZE05eGIxekhOL0s2V2g4VmV0SzRaYjV5OVRxTnJlYTlqUDJDdjBMSWdPWEd5VnBHekhvQlNDNVN5WnZwNTNkRURsT295K2FqUFRVMHVUNUp2ZWZXS0xKa1Zsd21RV1JNY0Zrb1pFRlFpRVd6K2s0dkRlY3BCTjZKanYvS2RwaWxoZHJHb1VscVFjam94Z2VhQkxFWC9nNkhhM29kUFpWWEM2YTBYM09EUk9qdnVHa1g1TmV6OXpGVVRIQlpLR0pNQ3pyQzJUeHBaMG40djlSRVZ1YnV4VHVGM2VCQjk1MjAzOWxLd01aWC9nTkZodTZGS2dCSWZrSTlsZ1ZPaWhXc3NOakNTaHUwN1BHYSsxSXV4VFFYUWtGMGNhVnNjR1F3SmIwZ1lYKzRrbDF6SVkyNEhUZGRvRytHR0hmdkdUd0ZhRXNqK3dEcFpUVjc2Z0hvTG0xeEY2Mkt0TzN0NFdqVSt0eWVPODhjMUsxZ3d6YVlWandac0hyaldkUnZrQ1NVT3MybzhBNnJRM29DcDVQM0tSWTlDaEgzNWxjUUJTOVBTTHVwV2pUTDM1am1CWjNjWk90dnZ0ZVVTbDI0N0NWeWY1UXFaZ0Vpc0VaTC9pWFBMcnZiUGpKUGtGK2F2OVJkRnhnYVJobGZUcDlHYml6eXQyNzNBSG5URG8wQzhtWGtrcmhuUW9JWnFWb2l6NlowbHNGcitnN2p6UlE4dzdWSC9oR1l1UlkwcUN2azVCODNUVHlaOXpCcytsUHZVTVBaVkxhUmRGUjNLQnBDSGxiRkMwM1hWREM2cFA3d3Z5LzJlaHhLQURSeEZaRUlhSThhK2REanBUaW5KQVJiL3k4N1ZuVHY4TVUxdjU4T252dS9WSEhOdTQ1WkZjeGRtU1J4cmNiZEU3bit4ZGQzNWV1VEE2THBJMFJodHJGRWRsSCsvRWRWVHoxcXhCQjBEeGNkMmgwdEhHMzc5S1VmYUp4TDcwc0czV0ZiMGlaTXZHcEpibE82bGoycHh2Y1dGMFhFUnBobWZweE9LNHc0OGNyTEk2N2xrRzJZNmtlL3JyNlB4ZS9HZW5ZOXVZVTJVb2MyZEtwQytwVVNhNDc3b2VMNmkzQmYwQ1RzajJ1cHRVWVhRa0YxQ2F4U3hhUTF4NU9FNFhxK1I5cUlHeEhmcDV0YnFPVGNXZEdEand4dGFCN2xDSU1vM0E5K0ZFajdERUd5UHVFRThzRmpzNWl4TXBWbG9jSFJkUm1sWjZhb0RvNzhvNDZYZjlCekNFam1UOU41L3RuWDdybnpialBVdFFEZ2k1ci95RTFmeDlWbERsRkF3TEhZMDRYY3RtNXRScitLSFFuU0xkV3hkUG1pVzFweVhvLzhjNE9kYWRCVG9Qa1p2bXdkaTRIcWE4SU9Vb05lK1ZINy9Ob3J2Vjlxc3BQK2RiUDZwNEMrLzZOR2lTdTQ0TWZSR2wyUlZ2ZlVWWVRyWWRsMzJVQ2oySU5RektpbEVPdXV1QzRBeldheldjOEhESU5xMTVnWk90ZWV0U0pkQ1JYRUJwMWlmdkN5dXV5eW1Dam1LVVl4UGx2L0lUdEZuN1lsQVVLWGhnRUNsOGk0dktvT01pU3ZNdkUzVlhjUThaaXFBaktVUTVObHVJZTJQRjk4dnVhd0FhV0ZHNTk2ejM5ZlY5cDRHcTk5ckk5NTBDN2dzOFFRUFZnZzg2SjVDNlgvVzIwOERDemVPM25VejNCU3FxZ2Y4SFp2aFQxV2pYQ3E4QUFBQUFTVVZPUks1Q1lJST0iCn0K"/>
    </extobj>
    <extobj name="334E55B0-647D-440b-865C-3EC943EB4CBC-16">
      <extobjdata type="334E55B0-647D-440b-865C-3EC943EB4CBC" data="ewoJIkltZ1NldHRpbmdKc29uIiA6ICJ7XCJkcGlcIjpcIjYwMFwiLFwiZm9ybWF0XCI6XCJQTkdcIixcInRyYW5zcGFyZW50XCI6dHJ1ZSxcImF1dG9cIjpmYWxzZX0iLAoJIkxhdGV4IiA6ICJYRnNnYUY4d0lGeGQiLAoJIkxhdGV4SW1nQmFzZTY0IiA6ICJpVkJPUncwS0dnb0FBQUFOU1VoRVVnQUFBRW9BQUFCSUJBTUFBQUNqTm41SkFBQUFNRkJNVkVYLy8vOEFBQUFBQUFBQUFBQUFBQUFBQUFBQUFBQUFBQUFBQUFBQUFBQUFBQUFBQUFBQUFBQUFBQUFBQUFBQUFBQXYzYUI3QUFBQUQzUlNUbE1BRURKRVpuYUpxN3ZONzVraVZOMlRCb1ArQUFBQUNYQklXWE1BQUE3RUFBQU94QUdWS3c0YkFBQURDVWxFUVZSSURhMVdPM1BUUUJBK3hTYkdCQmtQZjhCdXFleUNpc2Ftb25TcVVOb2RaUUpEQVpWZFF4SFh6REJ5QWN4QUVibWtVeXJhcEtheHFaakpES1B3anBYZzVkdDc2SUV0WFFxdXNFNjczKzNqMjcyVmhjQzZlWHZueVl0ejNoV3NDdkg2WFlCZzFUV0orbUZCbFhZZStFUVhGcFF5TjdrVWFzK09haEIxN2FnWlVkT09Db2pzSUJIU21SM2xFUDIwbzF5aWIzYlVGdEdwSFZVakd0bFJvR3ZianZxL2RDM3NEa0hYTHp1cVJQVGRqdHE4RkYxVm9yRVE3dnZ3NEhHQlNkQTFFQjk4T2lCNm5RL3JFTFhMOUtZcFhKL3lXM2FYeUJtK1lpdXRnbVE5V2xUUDZveENoSWY4WExOQTEvbSs4bFFtbXE1QnNBaDBSZnBtWXp2UFFZRXVvOXZJWnc3Qm1HaGc2MnVPclJ0SjF5T3VQQlRvTXNIQStTVEhGdWhxYXhXRzFEaEdPZmRPbHMrTlJvQXVvOEVGMkRON0o2QzNUeW5hMXUrcDdtcWtMc0FkZW9rV0NKZUhFb2E4NHU3cUpmT2lwSXBWMFRjMTNWM0RaRjRjNlNvTUkybE1kWmZ5N2lmendvdnFVdFpRK1lDdWdjSUlVRy9HcTNZb3hLYUtCM1NaZE9IY2pOZXEyVzBvQmtDWE5zWFRlcTczblhoeUtDTXB1bG9KRVVGTXJ5ZlRTTkVWeEdYSDNEUDBEdGwrbWk0L3JzTDFKS1dBSTB6UmhRTm1KR0x1bWRMMDZZOXM5YkdPR01PTys4WjlLTTkydGJUUFIxTjBJY1VSVkRWNFFITVlWSTgvWktEcldKL0NsbFd0aWZSZ3BEME9GblRWTldxb3RzRVU5cEt6UFZvSzRmR1BXcVNxNkRjenFCa0RjQmsxQ05rakcxSGlVd2l4cmNVemlwZ3VWdkhDOWhTUEtoY2NPYVZSb012Y0duQTBCMkEyV1VXaHUxakZDN1pHZUlSc0JCNlA4ZURGSG1GNnF0NDRSR3kzNURESW9KYVlSZkVoa0RJQ001LzRVSWFKaGVnbGRFRjFJVzR0NjR4Q0lNWWpzOXBKL1pGd1BBb0pSY1M2bXEzUWxYY0RLWlkvN3JQb2tYcEQ2bDB0NytmUFI0eVZnVWJ0eG9ScVFmTEFiVEtweXk1TU5KbWRMN2xqMFg3dUdCSkNkcnM4NThkV00yYmt5K3lmbTdhS1lFbk5qSmhTMGxtcnlMSnBxRXAraWpnVjZoWStpcnRoMVJSL2JFWlM3RkZ6blZyTFhGVzZZb2RDZktRdlFwVERxRjFnU2dobmlPbnI2K3JuSTUzN0o5SG51NnovQzlTdjM3WkQ4MFh0QUFBQUFFbEZUa1N1UW1DQyIKfQo="/>
    </extobj>
    <extobj name="334E55B0-647D-440b-865C-3EC943EB4CBC-17">
      <extobjdata type="334E55B0-647D-440b-865C-3EC943EB4CBC" data="ewoJIkltZ1NldHRpbmdKc29uIiA6ICJ7XCJkcGlcIjpcIjYwMFwiLFwiZm9ybWF0XCI6XCJQTkdcIixcInRyYW5zcGFyZW50XCI6dHJ1ZSxcImF1dG9cIjp0cnVlfSIsCgkiTGF0ZXgiIDogIlhGc2dSam9nVWlCY2NtbG5hSFJoY25KdmR5QmJNQ3dnTVYwZ1hGMD0iLAoJIkxhdGV4SW1nQmFzZTY0IiA6ICJpVkJPUncwS0dnb0FBQUFOU1VoRVVnQUFBZUVBQUFCVUJBTUFBQUJIRkpKUEFBQUFNRkJNVkVYLy8vOEFBQUFBQUFBQUFBQUFBQUFBQUFBQUFBQUFBQUFBQUFBQUFBQUFBQUFBQUFBQUFBQUFBQUFBQUFBQUFBQXYzYUI3QUFBQUQzUlNUbE1BaWF1N1JDTE4zZTh5VkpsMkVHWU5aTFJNQUFBQUNYQklXWE1BQUE3RUFBQU94QUdWS3c0YkFBQUt3MGxFUVZSNEFlMWJUV3drUnhWdXgvWW1ZMi92N0hKTnhGakw3d1hOUXNRaUNHaEdnaHNIK3hJRVVwVHhKY3NoaDdHRWlGRXVzeUVpV1JEUUs0RlFTQTdlVXdTS2hLMk5FSkZXWW53aGNBQ05DUmN1WWN3QkpJU0NUWUQxRUxJcFhuVjMxWHV2dXVwMTk5aU90S08wVnU1NnI5NTc5YjVYUDYrcWVqYUs3b29uL29KK3VzZnlkU0cxY1N3VDc2SnlRK25uUDhkcXNaZmFXRHVXalhkUCtUM0UwOFQ2YnV2ak85T0FMT2owMU4wenFrOGM4ZnNlOUQzbkMwRVNHQjlOVjRiOHorU0pYMTRYWk90V05kUkpJMTZnM21MNXNJNW5xSmFYUGxoSFc1WTllY1NMbDcrUnVUblpUSitjcW9YNHp6Y3ZheHVUaTdkdTNmekFwM1R4U1JsR2pWb0g4WjllSGp6ejJVcGo2TGx2c1ZiNFBGNEZILzl0NjU5L0JjaXJscXhXV0FhZDcyV2lqVmVoL0ZnMXRYSXBqdmdIU2gzQnYvMXl2UVgxRmhQaWlPZkJ4UjFTUDFKcW5aQlZpbWZCeEhraitDTWd1b1k0NXBzaGZrMGR2UkhGTDZyYnBiMGNEMFhFOXpvZVF0WmZxZW5vUFdBQzNXZ3JwNzJhMW9nNFJieVlxRjFkOVJQMURwSHdGZVBmdUI3d1BoNkR1MHh2eExxY1ZRV0krMkFhWTlVWk1MaUc1SEZLRlBGemVSd044cURkUnp2Z2dEU3F0NVg2RjlOdVpyRmtQSm5vS2ZVbVN1aXQ0VHFTeHlrUnhISGV4VkcwNWNCaERiejA4Z0NhbHhFUGxYcWJLYzJyRzR3dUp3NFVHMmtEdWhTV2F3c1NCUEVaZFRzWGhGVURwNUNyREdqVVUxK1NFWU4vLzJWNmM0SkJKbWdKbUxuVUJKQjgxRmpCdWdXQ2VJUUpKUkdHMEN1YmovOHRnbmtsak9vWWduTElQRG1yOWhoZFRpVGNSQXRNbGl0VmtTQ0lFN1ZoTkVZT0hzTzNieG54RXJoM3ljcnF3cm02N2k0NkprWkExdzBhODhBU2lIaE80ZXJTbyt1a2xTVUZHYkhlUGV3U2FVQk0xbDFXRVNMT09TYUdRRjhQQ2RmaUkySklCOVlrNU5PdWFFWkdyTk94dFpYYU9XdVdDTkVxcWVUcE9JbzZZSEtOMUU5ZlJNU3JaS0pBSjYySU5tWEVZM0NQcTgrUlRNTnJBcFFPR3EyQ2FjMW9XbGNzLzdqSXNoeEUzTFpMZFJUQlluMW9SWHdGR1RFRXorblQ1WC82ckFnOENCcGRtL1cwUGhMRWVkVXk3azk1aGFZUU1jMzRzUFRJMnk0WmNVc3BCK0d5Yks3bzF6YlA2SHBhT3lhTE9wWXpoMnV3NWRtQ1JRd2cvMGU0ZE1OajJWaVFFZmR4dXhCM1U2VjVQRW1oRWFrMFJCTmFETnFyY1pCZmtLNHFMV0pZcWpHSWtGRGx4VlZFVE5QeGZMYU5XSzU3N3pEZzgyb0xFSzlJRWVKMXpvNlBWVnJFZ0lGc0RLR0JQU2JuRUNKaWZRdXluaXMwNjBMTjlIVFFqQW5OYVVNWGlBNWxhdVp2MzFsR0RGKy9MZUltMjBWQmcxMHE1cFpGeERCYzdOS3h2ZUdxVnFMMUh1WThTdXFGS3hzc3lKTktCMEovV2NROU5uRVMxbURSdUlnWUttMjhPanRGNVp6ejE5dTd3VHE5aCtsaXJiNWgyRWV5dE5TazRYS2tMZUpWRnNWQnliUVJFY053TWJrekRwK1pZSTlCOHcvM3kwbkhMVFlBdWFpUHVrZFk1aXppQS9ZdEJoQmY4cGt5UEJFeEJNL01JK0VFc1ExeDJUZjIzUGNZVFVBVlRKTkoxeFdSNkVXeUNydHlGdkhJUmJ6aGlsSmFSQXc5WXBiOVhuamIwQUhFd2FoQ09Jd0phTGF0MU1kbzYrWGxZWGdpVzhSREYvRlZ5YTZJdUcrWGhIaUFPZDQxTndERXdhaUNONWpCNFlycFNWZTdoQjZIZzJrUlF4ekpGMFp3K2xBeUtpSUdLSm55b25UcWhBYkRiZzF3dzlFQXdOK1hmUEhWemRGVXl3VXM0czZKSWRicCtLa0xGeTdjdkp5ZzM3eFZUYTJDV0xmSVRqazZIYWY5di9qODM4SElad0ppQXJ2dkhONVFOSXo0RGdvVlMxSWY2M1JzbitDNDFhY1ZNbFY1RXpvZDIrZWJiL0RLU3RRZkZmK0NnRW9VTWNIWWwzb0h0Q1hFVUlmUERqYmxsbDU0cU91eURLM1RjZm9KWndDRlR4dHVuZmVDbXF6NTVTMWlqcEZUUlZVSmNSTzgxQnJ4VjM2dHd1bTRhSk53TUIwdkRKWDZIS21wWEJ5cGIvdGx3NGpKT2xaVWxSQ3Y0dFpDU0JKRm00UXp4blFjdDJ2bTR0d01USnA5WWhHTEZESEJlSncrYnVFRUhZZlRNYnJnS1cyamlRajJabTk1UkVwWkkvWG1uay9JSXU2NGF6V1oxVVZGcVk4aFdpYVhOc1BwdUdpVGNHQW9HeE5STkpqdWhpdDBxM0VLaUpWSngxSFVuS3AzVXBDSE5nQUgvT0JvK2ZFUDAxOVZCZiswbFBxdXA1Y0RpQ0d1MktSdEF3dENIOVBUOFZnY0tHak9LZkhUY1krTlBoUUZmdW5qeVg4V2NadlpIVXlQbUo2T1Z6ZlF3Um9sSGJUelZyNUpKclZsUWdINnZ2d3BkckpGUEhSUGk5UDJNWFMvNnVhZWpYYW9pNVhMT21qR1JCVEJSYnIzN3ZjUFNUbmdEeFhidEloSEx1S05vakJ5aEZFTlhXSk94MUVIL1ViZDhwSU9Ha3FOTVZVaHMwSUp4c0RQUFdJV01kU1RlNVZCWUxVd0ZnVEVxOFRCbDR4OHZUY0V6Unl3UVhHTFVaVXR3Yjd0a3o1aGl4Z2N4WVFRSmRQZmdiUUMwODdYZW9BSHZwQWw1eUF3cWdQS2h0MVIzekZGOXJhSUlaSWtsU2k2ZERDRmpCRDZ1TU5DNTlFdFowSFFTUFRiOUNhOVhEbVhtRmRIeFZWTDExbkVUZllaQWhEZnlGVzlMd0V4cUlxTG50Y2VaL2FaaVlUMU9KY01VKzNRNGRzaUJneDRYNjBUNGxyWW1uUjJPb2xmYkVEcjY3WjFmWE5iOXh1Ty9uTG1YZC9CcWtVTUdRSG5qbmJiTnVrcmhQc1lkdkFrbC9wMFMzazhIZXRQVG1TTWwycG5BbHVoTGtiRXNBM0ZxQUJCRmt0UEkySEUrbXE1NjlHb3dlTHBXSitWeVJtbm1wMDRDWjVoYkIvRFFFYVEwRkU0eEgxdGhCSERlaUFQRDU4NXpnUGp4SVErSzkvaEF1WFVNazIxWE53aWp2cms0eHJFVlE1ckdQRVdqUnh2cXlvRlFjUGdSenFFdFpmQ250b050WWFJUitUakdzUjFQYVNSOHNPSXdReXVCNktORng2NjdxOWZaU1o2Z1BocUt2Z1h2N2lQMndrT2FwekgwWmdrSklqcmZtN29pNS9vZWt5R0VYZXFyalBobTcwV013SDRzM3ZOY3hVakNlNDI2TjdDY1IvN0dFYnlpcW1FVnZheU1sdkNUYldVbmNDL2FtTlFJK21pUlZMcU14UGJJTGV1YTgrUUhSS1I5aFhuaFNHS2lDSHZXVmZiZHVIU2Z0MG9Hb1UrNWpteWwrZHZuVmsyaXZJZVRoc2tMM240RVQ4ZFJ6MGp0MlhkODJreDN0Z09VY1pPQ1VRY3RTd0lhTk40cmYxYUw2ckJSSCtiY1ExaS9hdWtGVllUSWdZZ2FWcGhNam9CN3lDbkNlUWxUWFoya1ZsU0drM0NBZ1R4dldxeWx3bUMyOTFjUmZ2bFdiYkJEWDZGbFNPT1J5RC85WEJ6cEtZRGtpa1N3a3VMWDRhS0ZXVHFCTDhPNUpLQUFxV3prdkM1aTZ4Y0VmekllQ1ZUV01VTzFIN3gzdFFpRGMxbW53bzA0a2Z1djlnSHZsSlBYN3oxUUI2OHpLRHY3d0VJN3JzVmpaLzk5aGZhd3UwSC92SFR2RTd2LzY1Q3VWZDlHc2ZTSm8zME1SeEVzOVVRMnRneHJtaS9lRy8rL3Y2YkR5YmFLL1cxaTdmZWIrUTA0Z3h1V3VXZC9FWTJlM3UvbUk5eWJmMWF5K1ZiNmNtOWtWaWZ1QjBQdFlRclVyR1dJbTRrR2RKdGtsRmhURTF3OTZuMXg5b2I4OWl2L0JyeFVGMTdkdlBLbGE5dVhrdlVrZkczMktUaCtINFYwVEtHeVkrTklGMGNyY1ZESG5kanhQdGU5aytYVEpZaWpsNVRrMTlGMFl0cTBrVkRyeDc5am15QWdEK2VQUHZFbGV6WnZNWVFvOUxVcGNXSFg5L1R5dkhyRDJQSTRQK3JUSkxpREFnM2N0WXVReDRaaGpqNlBJUXpVWk5kTHNnUjh6cEQ2VDQrdGVlUmp5UlA3NTZVZFk0NGV2VER5VE1mNzNManNlMUl6bWZVcVNKbUxSMlhjQkQ3ekRXcXpLQ1pRcnhVekU3RndNd1U0dVVxTnhBemhmaSt3MktYRmpnemhYaHJ2WUN2eUpncHhNUDlJc0FDWjVZUXgwa0Jub2N4UzRpci9SZUhXVUxjeS8vZnM2ZGpDV3VXRVBmM0NiQmdjWVlRTDFmWlk4THA5VFQzMWNFNFQxTlJ1c3M4cURTb1p3anhRdkFYblR5K3M5UEhTNDl4WkNGcWRoQ0hFTHI4dXdueE8vQVRzSzRMb0JhOUFCWU83cUtWUzk4c2VlNW5hMkR1cFpkVHAzZ0hVc09YY2xGOU4vb2U0dkk0Y1lsZUdyVzEvd085NnREVWlNeGgyUUFBQUFCSlJVNUVya0pnZ2c9PSIKfQo="/>
    </extobj>
    <extobj name="334E55B0-647D-440b-865C-3EC943EB4CBC-18">
      <extobjdata type="334E55B0-647D-440b-865C-3EC943EB4CBC" data="ewoJIkltZ1NldHRpbmdKc29uIiA6ICJ7XCJkcGlcIjpcIjYwMFwiLFwiZm9ybWF0XCI6XCJQTkdcIixcInRyYW5zcGFyZW50XCI6dHJ1ZSxcImF1dG9cIjpmYWxzZX0iLAoJIkxhdGV4IiA6ICJYRnNnWnlCY1hRPT0iLAoJIkxhdGV4SW1nQmFzZTY0IiA6ICJpVkJPUncwS0dnb0FBQUFOU1VoRVVnQUFBQ2NBQUFBMkJBTUFBQUMyQjUwNEFBQUFNRkJNVkVYLy8vOEFBQUFBQUFBQUFBQUFBQUFBQUFBQUFBQUFBQUFBQUFBQUFBQUFBQUFBQUFBQUFBQUFBQUFBQUFBQUFBQXYzYUI3QUFBQUQzUlNUbE1BSW9uTjc3dDJSRlF5M1JCbW1hc2NaYVB6QUFBQUNYQklXWE1BQUE3RUFBQU94QUdWS3c0YkFBQUJ4MGxFUVZRNEVWV1V2VTRDVVJDRkIvL3dqMEQwQWZRTm9MQ3dJekVXeGdZU0V4dGoxamZBaHNvQ1FyUXlFVjdBcUltVk1jR1kyQ3B2Z0crZ3BSMm9pK0txSE9mdW5UdDMzWUtjL2ViTzNUTm43MEtrMThKS3VLMDNJcXJBT2phSTBpMWZXVVJVcDF0MFVxV0J3bmxnbVcvT2hoT0FMZzN3YVJha3c2YUhrMERkUUFvQXhDTFdQMWJXZ0hlQnZMQnM1U3p3SnJBQzVLek13RzVPTkFOOFNKbGhYM3UrQlk0REJTdTUrMWxnMXZybHV4S3dMNUNmYnVVVUVBbWp2TFBKay8wNldIUTJtMnFEU0czMjFBYWx0YzdqbHFWOXpOVzVpbzVBdGNsVmpURHJiUEprbWxiTjJlU0lYRnJHNWsyOFV5SXRVcHZzZlNqUDhUWVpmZ24wTnJuOVZTQWJrUXo1UVgyQlhDOVlxVlB3YTNjMnpieHVaZUJzbW1Sa1R6NG1ZcFBZc1ZqaUREWHRCNHppM2FkNW9hYk5YZkZzM1ZGaURPckZlZDZqb1RhNU00TkJpMDV4d1dtZVc1dm05eEJoRzlmRWFUNTZTQ2Z0NklXbzVnNWtvdUxUVE1LaXQrbHh3cVpDRGtIVFZ1alRWRVQwMzZZVWxvQTlrZFhJcVNjTmpnK25uUGVVbmpqekJ1UW9KTGFzS0dTVmt5MEQxODRSeDUrbjRUMFhWeGRoU3haU0Y0TTQ5anRneHpGMnZIWkFOSGNFODYrZ1Z4NElyd0NzS2pHaXNYV0p6ZDNqQlBzRFBLWW5uMXlVTmNBQUFBQUFTVVZPUks1Q1lJST0iCn0K"/>
    </extobj>
    <extobj name="334E55B0-647D-440b-865C-3EC943EB4CBC-19">
      <extobjdata type="334E55B0-647D-440b-865C-3EC943EB4CBC" data="ewoJIkltZ1NldHRpbmdKc29uIiA6ICJ7XCJkcGlcIjpcIjYwMFwiLFwiZm9ybWF0XCI6XCJQTkdcIixcInRyYW5zcGFyZW50XCI6dHJ1ZSxcImF1dG9cIjpmYWxzZX0iLAoJIkxhdGV4IiA6ICJYRnNnVWlCY1hRPT0iLAoJIkxhdGV4SW1nQmFzZTY0IiA6ICJpVkJPUncwS0dnb0FBQUFOU1VoRVVnQUFBRHdBQUFBN0JBTUFBQURWMS9UNUFBQUFNRkJNVkVYLy8vOEFBQUFBQUFBQUFBQUFBQUFBQUFBQUFBQUFBQUFBQUFBQUFBQUFBQUFBQUFBQUFBQUFBQUFBQUFBQUFBQXYzYUI3QUFBQUQzUlNUbE1BcSsvZHpabG1Na1NKdTFRUWRpTEl3SllKQUFBQUNYQklXWE1BQUE3RUFBQU94QUdWS3c0YkFBQUNiRWxFUVZRNEVXVlZQVzhUUVJBZElPUUNNWGFBQmlFa2g0WUNJUmtKdWhTK1gwQ0lVR2hOQXhJU3doUlVVTmovSVBrRDZDS0JSQUZTdWxEYVB5QVNFYUpGT2RFVEJ5ZDhmd3h2ZHU5dVpvNHRmUHZtemU3TzI1bFpFOFZ4aHMyWVhyLzlxTEFYSDBQRzZUbkgzMTk1SWVicDZkWFZsZlBQWmJya2VLTGpzRjJKdHVROTVqYzhmd3FtOWRMMEdHQllndkE5QW90RzFHYis1ZWlqT0ZvTk0zRE9GUkpObUQ4clRrQ25Db242ekY4TjdqSi9ONUJ3MmplREFYOGFTQjNtZllNelpqYXdDYmhoOEM3d1dQRXM0STVDNmdHclR2S3lpVFpCNStwK0RGQVJTU2dXdi9XUlNpZ0h4bjNFL01kQUNlV0h3VDEvRFhLcHZ3M2Q5YklIb0JlVWJnQ21DdVVPcDJQRjg2RFhGVXBrOW9xbFZvWktud1M4bzVCcXNyTmFOVUQyb1hxZndNbERoVVFqSjdQTmZNR3lrZ0hOL3J2LzZyaXJ0NUNBdmVUV2tzaStLcWJtMDd0SXhpdlBrc2l1eHNVSE5UYTB5RFVaWFRpOXJMTkc5bHlQK1hXZE43SWI3WnBtK0k2TWJKU1Y3eC95c25GKzdyZUhaYit5OUgxdUtjaE9LM3JDL0xjQ01wbGptKzJXQ1NTNElVTW0yMmhsMDZ0d2tNSUxmdUhIcUl4R2JHZXlQWEFJSG12dXRINTk4OHhtVzZyMGl4NkYyYktWTGUxbEc0UUlrYVdWdnhTeGZVWnFzcVc5dExDd3lzdVdrbmUzNW1WTHlkdnVvNVlUQ21UeWc4M1hYS2dUMElzaDBJZmhseklYQzV4ajFjNFc4cGJkYmlQUXFheWJpVVZUNjIzWmZFUG9RYXdRRVhwVGNCeXRrdDdjQ1lhUHdBc2xTU1M5blFMTzQvMU90ajdjQXVURFovZmVGQjd5Vmk5aVBzSFJ1OElWSXkvNExEd2NTUWNIWWxxTzZyOEFkM3lRTjNxUzFPYmU5bGdXTmJiM2N2bUc4UVNQUThlOUxTVVR2NS9PZGk1TDJQOEE3djNXUHFqUEhIY0FBQUFBU1VWT1JLNUNZSUk9Igp9Cg=="/>
    </extobj>
    <extobj name="334E55B0-647D-440b-865C-3EC943EB4CBC-20">
      <extobjdata type="334E55B0-647D-440b-865C-3EC943EB4CBC" data="ewoJIkltZ1NldHRpbmdKc29uIiA6ICJ7XCJkcGlcIjpcIjYwMFwiLFwiZm9ybWF0XCI6XCJQTkdcIixcInRyYW5zcGFyZW50XCI6dHJ1ZSxcImF1dG9cIjpmYWxzZX0iLAoJIkxhdGV4IiA6ICJYRnNnY0NoU0tTQmNYUT09IiwKCSJMYXRleEltZ0Jhc2U2NCIgOiAiaVZCT1J3MEtHZ29BQUFBTlNVaEVVZ0FBQUtVQUFBQlRCQU1BQUFBTXp0cnRBQUFBTUZCTVZFWC8vLzhBQUFBQUFBQUFBQUFBQUFBQUFBQUFBQUFBQUFBQUFBQUFBQUFBQUFBQUFBQUFBQUFBQUFBQUFBQUFBQUF2M2FCN0FBQUFEM1JTVGxNQU1ydnYzYXRtellraUVIWkVWSmtWcEtPUEFBQUFDWEJJV1hNQUFBN0VBQUFPeEFHVkt3NGJBQUFIUEVsRVFWUllDWlZZdlc5Y1JSRGZzNTJMNy93cEdpcDBSa0ZDUXFDTFFrQUNpcGNpVWlRazlNSlhBUUtkS3dRVW5LbUF5dTRSdWhOVUVSSitVbElseFZtaW9LQzQrdzlzUGtSckY0UXlGemdIT3dTeS9QWmpabWZmN1oyZExkN08xODYrbWYzTnZMMVQ2dVR4NitCa0cxVjc4UlJHYkxJODZqSTloY2pYcGlqTHF0YWZaVW1TdjNGVUpPVXA0WXdlcE1SanNscjI2cGhza21EejcwbWFrcnh4V0pRa2s5Z3pla3VxM3RSaWpLNzhzUnFVUzNvak1GT3B6bCtSV25oMDVIdEIzYmtYNkduVW92NG5Vbjk0KzJuamEvVDJuVHUzMzNqS2tLK3hmazd2TUQyTnVLN1h5K3BsT0hyWkNTcy9nUDZDREdyNmRBalpQS0lWUEMvQXp4WnhqNE1aRU5NL0pHcmFYTlgzeDlSbjRDWWNUVXZyLzhoa051eEZvc1RjMHdkajBsbWtNd2pQWW9ldVo2dW5DcjZsaTdEY1U5dGFpd091d0NkaktCL1AxTmp5aW40NEpsTnRyV1VaNUZyL1MwYjdlby9JaWZOTUNVbldFQm1VNXd1V0lUeW56MC8wUllwR0lwMHEwL291R1dEdUlIaGlGL1FESWlmT1RYSEFaRlNEanpWaU1QZkJGNTZ2eTlNVE5vS3M2d1RncXZDeEk0eUc0RmVKYjUyWTBBVjlUTVpoanVHcFZCTSt1NlRlRFJnZ1VXbWVTeUJlemNHSHRNc2t2NUphSWExVkk3VnJUNXd6ckUxNlE0Wm1VcEZGUG9lcFd0dlgwZUdhOUlZTVZZWC95QlV6b2oyd1RPRk1HT09RbXRvTTdSQnZ6ZWNWbGdocU1VNmMxK1F4UEJ2d2VUVXN5aU5NQkRsUjh6cFJ2blg0MkNBTHpDMTBsQ0x3TGNadTVkemg2MVplUFRmNm5JRnhWaVNLVnkzQjV4Wno5b2hrcGJhNXhqcWpURDhEdzF2WktOZjNDcjlrSlhURzRNUjArVUZnWjhDdUJ4WlE4VHNzakFaTCtyQlFsZXk0cTM0aHFkcGxTaXdxd2JNaldyS3hXcUdlMVVBemJ5TFQvWWVGQmR5cTg5SGhPQnh2bjRDbnlQSThzamtRV2xTRTc2M05IZE5lN3MrN1l1M1FGNnlwTDBselIrOUxPSm9UZWpleU9lTzdTTTNVV2xzZmQxd3FlclJWeG1jb2xrWHcvRjUraXEwUjB1MW0wOHo3U0xhTEdXbnZXcmxPZFUvQWt5QmVnY3Z5RFJFZlZidDR4Yndma3UzTEExc2RHSitvQ2VTa05BdzhMeGxaN1lsUE1xMmZLNmtWb0RZd3N0M3plTFFZZHRqS0NCVEthTjNNMFREdzVQSEN4NUhPTVBqa3JadDVlSUJIeGkwYVhjRisxREVQb0lpSGdlZGxNNUFEL1dTc014eUMyekp6dnFjVVlucGdhQXo0c3JjQTRHVFZTY1F6d0hNUnAyWHFwRFJjOWRmTjV3UXgyWmVEQlh4WjkzaWxibW1CVXIwQXozcXJoRTFyN0xyQmt2bVV3b0ZOSWtoOEhHeER4RnhZTS9uWUYvQ0VBVjlyMk1iNXJEd0xBV0s2NnVYQWtnR1g4VjE0VVpnUXNJY0haSGtpRWc4THN3SXhyWnNaQSs3dGU4SjNZUVh5QVRkM21XL0hiYy9LTTQ1WElTWktIdHpidXdzNk9LOG1JdTZlMitFUXlBRDRvUnppaThCM3RWMGZYc29uTU91d1luMnNpT1NTMHp6RWdiWkowbzYvRDZWOEFoTUN0TGcxOGlwYUhkNFRNZkZkcmVsVGxzb245aEVKNlFWZ2tVdkVmc25UZ0tmdnowcGgyWm9ScDg0ZDBZcnUyWWc0NXlyNEZQQTBsOVQxU1Q1M293eTJFN0VIS0FBL2EyNGZVMFlPQXFrNjZraDRxcFpIc2w5cHArQ29GL29hM0x1N0Nwd1BwTFdoTnlVOGtUdUhaR0dGZzZIYTJRLzlBdTVkeFNISGU4TGFranFFWm50UU9GbHZTWDBKN0RBY1o1K3FpMXFoOEJ2REV3MU1GS296RTAwM0QzZnluS29VWVd3SmY0YU00WW1FY3pNalF3UTNjRFNXVS9mRTI5SFZ6MzlEeUJ4ekRFOWtucjlOWkVUZkk5czlDWjdZbk1nOHVoaVpWU3NSSU1HRlF2Uk9zZHhUZ1BkZFQyNkhpSnVoSFhqbGJuVFFNUFVXSDNtOVVqTWNKUXFYdXZ4bUtKVCtXR1NkNkZDd2d5dkVxdTJOMXUrczY3MmdzYU12ZCtUNEpkcVU3MU1rS01Gekh6NDNqTzVzYVBjOUQwUnpDYUczdTY3RFB6OThueUtmT0VxWllyeUpxNzRHSlU2cEJnZmNnclpyVnRaelBpR1RtMUluTTRBOG9BM3NpVG1mNXI3bFI1dlBJTk5ISFJ2RkRUMWFKVFhReUgzYXliNkJ6NnVzeHA3dXRaZUVXWXNNVUZESGN3OWh2SmpMVHpacW9zc2VLci85K0R0ODZLTXZQL2pKQzAwSE93OTZPNlFUTFdEZGFSSFR2N1hzVTFWcDBWRTV1U3o0dm5Ib0IrMEVHQURMbGV6QW1lT0piUXJIV0hoK3JRKzFmc1ZMbkp3REFZdjFORGhVbE9waHR6NDBFZnF4UUdldEFNOE5wWDdPTHI1UE9qZnZjc0xSaEs3ZExJeTBmdk1hdmFaU2orR2F6TkVhN1F3SHVoMjZwMUh3bUIxck82enl4TGR2WlJkMmhMREhaUUo0cmdvRmsvTmxNTEZtRXRGbnJMVzQ4R05iWUR3V25NamwvSEpaNko3eHFwTi80c2YyTlQ0aXdKTzZaMnlDUG9DemU0U3h6QWRnNEpsZXVDd3FOVzBSUzN1dVZpRVUzVE0yd2UyWi8rWXBhZEpzaDlQcDRKbTBDa1pKZFVsWUR6Z0JQTGRLV21MbnFDV1FZT284eitnMDNYTnZndTNpcEV3bjdiZXBnU2h6UlNtU05oQU91YmduV1FqNUp0L1B6RVdnRUpxSW5PUENpTVJKcGtvL2ZtL2Qzb1RQQzNlK1NwcmhOeFI5bWRONktlM1JkV0VJajNaSXJhRDNEd3ZCVFNXYlZEbnQwY1VybjExK1BxQ2d0R3poMUtXMGZQbzBuZlpmZDlVL2ZYM01Ud1J2SE5IU28wQzV6NzhlWWljbHJpRStJU1hWT0x2RVJUeXVDNUo2NGcrRW9CMmp2dXVPaWNZRjlYZFk5ajh2MGtsSWNiTDBCQUFBQUFCSlJVNUVya0pnZ2c9PSIKfQo="/>
    </extobj>
    <extobj name="334E55B0-647D-440b-865C-3EC943EB4CBC-26">
      <extobjdata type="334E55B0-647D-440b-865C-3EC943EB4CBC" data="ewoJIkltZ1NldHRpbmdKc29uIiA6ICJ7XCJkcGlcIjpcIjYwMFwiLFwiZm9ybWF0XCI6XCJQTkdcIixcInRyYW5zcGFyZW50XCI6dHJ1ZSxcImF1dG9cIjpmYWxzZX0iLAoJIkxhdGV4IiA6ICJYRnNnWmloU0tTQTlJSEFvVWlrZ1hGMD0iLAoJIkxhdGV4SW1nQmFzZTY0IiA6ICJpVkJPUncwS0dnb0FBQUFOU1VoRVVnQUFBYjRBQUFCVEJBTUFBQUFTRG44eUFBQUFNRkJNVkVYLy8vOEFBQUFBQUFBQUFBQUFBQUFBQUFBQUFBQUFBQUFBQUFBQUFBQUFBQUFBQUFBQUFBQUFBQUFBQUFBQUFBQXYzYUI3QUFBQUQzUlNUbE1BRUdhNzNYYnZpYXN5Vk0xRW1TSTd3cXhRQUFBQUNYQklXWE1BQUE3RUFBQU94QUdWS3c0YkFBQU9RVWxFUVZSNEFiVmNUV3drUnhYdVdkdHJqOWZyOFVaSkZBNWhEQWdoa0dBV2tVVGlUN05JVVE0RW1CVVNDSVRRR0xLc2NrRDBYcmdnUldNSWlnSUNqU1VVRHVGZ0s2QklpTU9ZVTRRUWpNOG80QlZDYUM5bUJpRWlPTEEyeE13dTJaL2llOVZkcjE3OTlMaDc3ZTJEKzFYVmU2KytxbnAvMVd0dmtoejlMSDdxYUo0a2VXTzFETmV4ZVg2MlUwSkZOU3lqYjVSUW1jeStXWWJydUR4bkorTVNLaXBoV1ZBYkpWUW10YzR2eTdBZGs2Zi92eklLS21GcDN5NmpFZ1o2dUZLTzhSaGNNMnFubEhRaGxnY2VPM3pjaFhsR3JaWlNtZFRWSjhveEhvTnIrSjl5d2tWWTVwUjZTdDF3ZFBTZDVrS3F4SFBwTis4VnZJTmJvbkZmeUFWMVJlcDlRVUJSazZmL0tQeW9BRXNiaC9WQXVpNlV6S3Z6b3BVMHBFcWliKzd3OEx4YVovcitFRDAzaHZsWTFBOTQyamlXR1FYMy9ZV1NEcmVySEhNOTlkenpRMUw3N0EvMzlsNzhVQWZVNFJZcjdmeVh5ZnRDTEtsL08zcmZjKzJqaEdYeTR0N2V0ZWNmSS9LVFBCN0ZNc0lKek9OTW1DdXBwYUhGajZBeVgvUkxRNlZ1alEzN2ZybElhOWdydng4T1E4RlpMT29ybWFMNmwwRC8xaWlOWWFrcnRaWHNLaVdzNEl6YU5oTDg3aXJyb25Vc2tJOTdUbDFncHZ0QkRFTUhSOEN3UHZrVE5IYnlpV05ZemlnWVkxdWdUNUtXR2dkSSs0ck1PSDhXb0hQTE5GSW5GcG5lazNxZlVuY0RWVFQ5QnZjQzJWdW1FY0d5cVE2VEJEN0ZCNUxVMUIzRGI5K3BVbXUyTlZSMjJwYVl5M0tjRk5WVVZ3TlZwK0VydGhNSHhPY1J3ZEtuMVdBUDFsbGl3Zk5vR2xpR0VzdVJiTUlERGY5c3hKck4yUEhmZlRmVWFZWDdUclNBZ3pHQ0NCWjl1Zy9LSTl1TWJOa3BLRm0xYUdmUjNNbWJpOVk4TE1OSlVYVUp6Q2h0S1NVRFlNY2FYNGhsS2JPMDMrV3hrVlMwSTF2bW1ueEN6Zk5tdW80d0Z0TjNVdStaaUMyUnRkbFlvSTJQZzJPQUJabmh3QVVUM1RLWXZCSnNrTEppWFhWUkRKMHNHYk9sSkJXVFk3cWV3QlpnZ1hmeVFXVFFkTDczVWU0N0NTU2hDTTFwdHlramp5OTR6SFk3RXJ3b0Zrak1YYlJYOG5rQ0xBMlJTaktlWml5aHRaU1NkUXBsV0RhUmhmdm5nRFVLN3Y1RHNVQmF6QWp0alp3cHdJS0QyWElWZEczdXRBTjlzUjcwemtBbDU2VWxHMHV0d01sUWM3YW9zQXE5V0VESm14TkVnQVVITTdhaVJIWDhqcXpUK2h2YTVJNEgxSytmUUlVWk9QWjcxdTZpMVVYQjI3WVNja2ZiOXJHTXhKZ1dxc2RPb3dZVjU0Vk9uTHF3NG5ic3hBWDN2Wk9ibk5tRWpxWWJDOGdkclJYN1dJYitjczdHVEdJUk9xVEo0OVRGbWxwaXJRTEhDWkFqTVF1ckc3aXhnTnpSbG9nK0Z1VW4wSWFvMUZnbHhaTWRiaVhKRU8wVmJ1L2JXTU45SjBPNHMrWTZSemFmVXcvVlp4ekxFdzhMaWh0WkNvQjlWemhXcmpCSlBKT25rdWdtRDJKVXhsYmJmMndLeFVkRVIwZjZma0sxb2lnZFBTdzRYSTd6bWFwZWdjbHp2UWsyaW1ENUJZeUVGdVRsS3ROeU1qL25mZWNodFJRTHRvWCt2cjJab3RmREFzTTdFTHdnaHdVbWIwMDhnUkhZakFNUmJKS3JvM3FyL3NUaDk3VFVxU2NtcjQyTi9CbmhXS1l2b1Zod2hWdTY4aGRISkxETXArRE1IbkU0UVQ0a1ZTUFg1TnV1VmNOY04reUU5MFQxSnFuNklDUWZTaWNkZFhNbDE5R0lWUTVlTEtCVXZHcm5GRmpJcWN6RERERDVDRmJYNUtuNjNHSUpFTTRNY3FBc1BUZlpXVlQ0bEZwUGI0eVRWOWxsZHBrU2lyeFkwQlBYVytLeVdKYWUyOXVEOFg1OGIyL3ZpeXdQN0V3ejRaazhWSDZkeDRqb0NBZDNCc28yTmxFTXRhR2tld2RIaDRTV2IzSFBkeDdTMXhSM3o0UytIRTEyNURRdWxsM1dsZlBNaUZ6SllxN0pJN3F3QldVcy9lTlcyTzJMZEEyNE81K1pSYzhFcjNZc3NRNWt1cU83MHJjWkp4RXVscTUvWEtkanNkQXgrYmxVSFc0NUt1R2VCMjVIeGRZeTJVeEwzZWhsZ2FKcGtrL3FGRTI1MHBHTUJaK1hud2MxZzR1bDd4OVh3OC8zSkVRbXY1S3JmeWxWazlXY05xK3U0bUxiZENYSjIxNHZldjVnbVRMcTdCMjhzZFc1WFNKa2pQV0FpbnhKb0c5RkpwM1hzYnl2WmlyNHA0c0Z3WXBITkxFZnk5Vk5VK0g5ODVVL28vamJja1dTWkJDcGVXb3A4Qlk4c0VibmFkQzU5ZmhjWUM1WGFSeU82SE5tNmUrQ0huMzUvWmppSTBUS3g4R0N3T0dWSHJ0K1BVT3lBNEZ6OGgxemtsYnJaa1FJZ2Jqd09XOUZOYlc3aGxlZjB4cHV6OVNSUU1VcXZaMkhZZ0Uvejc3REdhT0dnd1VhYnJzY0xiK0Roa2M0dnlmcGdlSTNOMXdCYXUzSDh2QUxqTUluRG5jOEZhT3I2SURkNTkzSTBkcmU4Zlk1azRSaWdjYlNBZkZoVHhHYURoYnNsTEhsbkxNWFN6bFFkWkNOL3g0TFhBbVVObndyRHppbWQzUzJ0TjBaVThLNjNpSUJ4UDV3TXlrV1pOcVdSa3JYQkZuTC9IU3dJTlN2bVlIc1BZcUVDcG4rSHZGekg0azFZbldpcTNkYXEwYkJDM1puZ2hUV3BaZUtveG9IY2syYi9tcDlML2NSczRNRm0zSGUxZEQzRHhURFR2cURtMnk1SXA1T2YvRG85aUo5M3NOaTFuSlc3THF1ZHZFT2JXVWcwaDhZOUVITEtaejFOZGluRFV0c2ZaamFPZ0syeE95emtjR2UyUXMwZDVZbjZoOERML1N1NXlMSUQ1UXc2Sm9Tcmc5R2FVTUdIR2VjQzVtWGcyVXpPSXgyNVB5c3lVTUpuRU5VNDVuVzB4d2F6Q3pWMzdDNzFWd0s4K256d3pyRDlXRkpCNnk5NVY2VnFOL0JndkV4TTJ0aUtLVE5DS2EyUzZMUEhaNk1xOU5JVlh3UHJGck1weS9kdUprSFNtUXMwQmMxMzVpYzlZMENEYkgxN1FxVHB3SmRYcjgwQUd4NEFLUnF4OGphQU9iVEpoaGJINlhWSzZ5NzRTQUxzUXpGd1dSQ3NmWDFwTW5UNTdoMW5pQWpuRDN6eHNvMlJTV0YrYWlnb1M4cmdUUmlxNDBGOUozeXBzZmlZQW0rTHVHVzRpVkVpQStseWJzR2tpay9mYno0UWtxZ2xqOEV0ZlA1WXY1SFg1T3lTZWxuVTNwTzFpMnh3SmRZYVM0VWk1OVF1WjBQSi9pTkY5a0tkVEpqTlFJNVNKOFpTV0dHOC9TT3hVOVlwSTBGS01aa2kyUndwRGFXUzZWNmtLckE0UHhjazBmOERPelR5VG01b29vdmtmNW9CMWRKUExZKytLYjRFdFFLN1ZOaWdUSGJXSnNCaXRRdnJzbGowdURXMG9oZEdqTjlaWDhpUk9rekF6L05OeWE1V1AzU2MySkJQM1F3aVFVR2ZvRVVpYWNuc21mZTdabzhYRm9Fc0l5Rkw2UkNVVkl2dXY2OUh0ei9JTmEwZHlFc05UTXhMSFJIYWlSNjZCeEo2cHltNXBWWWdIVmRkOW9mZzFqRkk0MThIK3RidGZ5YWNtcjJmS3pLL1E4aUExdExZNmxaMVFYMzJjcTE4UXV6MjFoQXVkZ1BJQklMTkYxa3lZellEQVRvbDJOY2t3OTJOWFpwSks4dGVvd2xpcmxITml4MmpWWEJFVmNGQzVGaExMREZXc1lxc1FENVR0YkxQNXR5TFZsdnp6RjVBQW5xRitmT2JGUzlBTWI0YzdoamVPeTdZMTI0WTVhRm5ISEZjbWpLalFWVUdQdjFpOFRTRFF1OHlQZVhvV1B5bUQyb0NydkJMQjZzSTV0WWlybjk0ZFJNaEE4am1Sc0w0S2xCdUpkWWNIL3laNTZWdnBZTlFvazFlVXBPSXNGbUhLTWdEUHRxajJxTFRJVkRNWm13SXlmV0tocE93a01ybUZsaUVVWmhBTXdFUzNaTm5sdzYyNVJUWXlPRG91Y0MwL2RHSU9zYzVKTDcxaXJiYXMxVHQrdkVBckRtSEI5Z1BvbkZZYzQ0OE1WaWhYazE0Wm84clRZem41YjFqVFRJaUs2S28xdUk1TWFSaHRhQ3VvSDE5WnhZZ05WbU8zdktCa0NCQlpidVJ4OHF2elpjT0s3Snc1RHkrWWRiaGcvT3c3VHBxL2pHU2VTQkhoUHdyKzV2c3FVYWRVTjd6dWdhQU13MkRaM0pFZ29vaVFXbFZsQ01pWCtmSUVFOFRiTWczU0w3MUw4dFZMZGVpRDBaNjhGNy85SGlTUjVXRTFiV01JczJpb0ZldWlSMkphdDZOZzhNaDhRQ1Q3NWcrdm5kOWxNK3ByN0RvN3I0MWV1Yk1mR09ydlJCbUJJQ3BjZytrSTZKczlZUlp6YWpicnJTVlB4ZXRWME5zejc2OTR2c2tWZ1FYdGROUDc5N25rOHZwMjROMjg1M2VyREdJZ3MrREI0cFRhVHFWazliMm9OcXNzRlM4LzdHdllFRnJmT3cvalVja2xxMCt5dXhZUG1ybGptbmR0blIwZkh5dTcvY2dVcjEybWZmWjJiZHpPTG5zbkM1MDc0WkJVcVA2b0RWMzVnbEsxbnF5RSthQ0daakZxMi84cmsvRVpaYjMzem56L05PR0tNK2pYMTJQMXlQYk1FR3FBWTFhOEczTU11TVlNcVBDVzhVVGlIMVkyR3pteEUzdGdyTFVMQzcyOHZwcjVKNlg4Q0RvQXhjWFlaaVY5M1R1YktlWHVWSkpKWldtS25wMG1WdG50Wmlualdqb3FmVVo1SkhwUnQwcGM4YnRrcHZuZjcrcGc2Vit0cUtGT3dMYThTODVtRnpCTUREY1cwazlscGlHWW1sc05ZbGFmUFgvM3BPRDV4NyszVm1xTGVWdXV4c2N6dGk1c3hlaWtENjIwNlNuNmFYdnUreTc0cGdzSHo5bkY1NzdkejFNWFA5Q042U3l1a2xscUdEMHNpa1FjMXRSdkwzOGhlZW1qd3UraEMwblUwWFEyWEovZkFpbzBWUGh3bmFVL24zNzZiUFhMUjlEcFpZK3FOL2gxdTMvR1dvT1NkL2xKRUllT0FwRzBFbk91WmpGaFpqTkgwU0M0TFd0dWtYN3laWGdxSnpHamtyTXRZMHZpbGovVmdrQUQrT1k0cFVaRWhpUVNVa1RwYVpnMThSNVpFQ1lqKzZUUVhNOGU3VTN2NWNocjVJUSs1SXZDV3hvSHhaaVhBdHExdVIzaWxkbzZNY2RvcHNOZ1JMc3RXUXd5M3hPZ01GalJ6TFB5NWZwWCt4c1psQXNvL2l2aUJaSkYwcjJudkpOSjJtOUJmbk9Gdk45bk1zcUF1UU12WUxsRGI1UzExOFRxOTN2aG9FVDFvM3hlM1BHNjY0ZVRrV3BCdWtTUDlYUVkzcWlvQ2JWZU90bWNlK3MvUm4yNExxVlRLbUhNdEFyNjlkNUx1ZHVOMktXU1haaTNxeDVEaVNSdnE3VXNBMFcybjNjaXc5ZlNVb2pDTzdWUUxHY3JSSUtFQmIwSTMwdDFVd3RGVGdSRkYyZ3dYcnU0dS8wVENmY1h6ZXM2SXE4c2VDZHV5UEJRT21JenFRL21LUlhFdU51Tmc4UWdtR0RaWVdxbExjSkZhTEpEcWlZQzNpTWYwdDgyZWRwcVA2bTc3cEZLNXZWbGJ5UitnMldKcUhHL2lsbldJdmkvMmRaNEhxV2hYN2llcDQ2Tm9RNjN0bTcxdlJVZnlTVnBHWkJmeU1aUkcvK1BQb2xDeXdXUDZ2Mm1laU5WQXc5WlNPRVZhbm53S2VRZW4vUXNCaWVSVlhMZnRKTFZUY0xWM0N5THRYcUtkTVQydHk2ZWxmUDNtNW9OaElFQ2UyeTZnQmo4RHlyczZueDFPazRuOUpIaEdZbTJJRkVmWjc2dW9WTzVLanJ3cVczclRURlZvSEplY1dJcFhKK2NMazZLcXFnbVd1T0xoS3BmVUt3VTNLVmFPNzlwUFJGTUZxV0FhbG9sYXpvT3lmQXVNZWhoWkwxV2pWc0N6L3BReVFSOFpsdUk3Tjg2OHkwMWdzL3dkTjcweU5UK2l6eXdBQUFBQkpSVTVFcmtKZ2dnPT0iCn0K"/>
    </extobj>
    <extobj name="334E55B0-647D-440b-865C-3EC943EB4CBC-27">
      <extobjdata type="334E55B0-647D-440b-865C-3EC943EB4CBC" data="ewoJIkltZ1NldHRpbmdKc29uIiA6ICJ7XCJkcGlcIjpcIjYwMFwiLFwiZm9ybWF0XCI6XCJQTkdcIixcInRyYW5zcGFyZW50XCI6dHJ1ZSxcImF1dG9cIjp0cnVlfSIsCgkiTGF0ZXgiIDogIlhGdGtLRklwSUZ4d2NtOXdkRzhnWEdaeVlXTjdjQ2hTS1gxN1d6RWdMU0JRS0ZJcFhWNTdNUzFjWVd4d2FHRjlmU0JjWFE9PSIsCgkiTGF0ZXhJbWdCYXNlNjQiIDogImlWQk9SdzBLR2dvQUFBQU5TVWhFVWdBQUF5UUFBQURFQkFNQUFBQ2NpUGdvQUFBQU1GQk1WRVgvLy84QUFBQUFBQUFBQUFBQUFBQUFBQUFBQUFBQUFBQUFBQUFBQUFBQUFBQUFBQUFBQUFBQUFBQUFBQUFBQUFBdjNhQjdBQUFBRDNSU1RsTUFFREpFVkhhSnE3dk43NWxtSXQzdDlvcFBBQUFBQ1hCSVdYTUFBQTdFQUFBT3hBR1ZLdzRiQUFBY05VbEVRVlI0QWUxZGZZd2t4MVh2MmR1dnU5M1pYUnVabUNUT1RFUXNHZjVnVnhEQkh6R1pKVUlpQ2xGbVFTS0lBSnI5QTRORWhPYVNJR3hqWU1aSlVJS1JQQXQvR09Jb21RVUVzVTdoNWlRUVZyaUUyUkRpZ1BpWUlRZ1JqS3k1S0FoakN6d0h3ZmJkK0x6TjczVjNWYjNxcnA3cDZaN2VuV1NycGQxKzllclZSNy9YVmUranFtc2N4MTRlQjk2MWs0QVJ4VThuSUxJa3MrSEEycWlmcEtKaE13bVZwWmtGQnhyL202aVdOOXpjU2tSbmlUSnpZTlZOTW04NVRySHoxY3h0MlFvU2NhQjlLeEdaNDJ3ZjIyR1NrRlhaeUZiY2ZWN0JMN3ZzR2ozMzJiTEtYSFFQVk1KQytYR2dma09ybXduRUJ6K2dzdXN2SzloQ3VYSGduUHMvV3QxUFBma2JKSXJSL1ZldlB2bkFvd1QrdTh6ZmNQY2tiSUhjT1BCYTl5aGM5eHJrOEhzK2N1RW5BSDlDRUJUZFpMYVpvTGYzVkJ4bzM0d1VXNElZOWdYMk81Q1FGbG50V0tEdFBUY09yTHV2UnVwZWdSVEtFdHR3M2Y4VGlRdEtWQUpsNzdQbVFNbTlFcW55QWxTSlFwNkhnUHBCY3QzT1hJb3hlVUVOZHl0UzljQjFtV20xQUpFY0NKcGhkSm9UV2ZZK0d3NHN1SzlFSytxNUx2Y2VoNjc3ZFVGVWRYY0ZhTy81Y0dBMVpBSjdyVUI3Y01zS1NlbTZiTGlIK1hURTFpbzRzRzFRSlU3SGRhOExBdHpybUxsRWNzbDlVWUQybmc4SFdzeTBFaTBVSVlLbVNPQmVRMW9vbkFKWC9JekdnclBpUU1FMU9CcnJFTUVlYTZHTGRGbWtHMWFaQ0Zia2MxOXlYNHBXckxzbGp0T0NTUHFDcktLc0w0R3k5MWx5WU1QZ0tEb2JFQUZ2QktwRnBUZE5KVGkxaGJOeFlOdjB6cGVZaFlYcVNiV282VzNWTks2eWRjS1c1aHpvbWdJa1ZWY3pxMGkxcU9sdG5ZbUgxMlRoR1hHQVJSUlZqVjNtR2dKTEFSVVZ2OGVZS1N0U0M4MmFBK2VZa2xCMUQzVzNaQnNpdWNoenVUV204QmFhQ1FlV1hVUElxZ0FSSExEcUd3aENicWwwUS9OWkZONUNVM0pnNFpIajkzdEYxaDhaUGRZWGhjOHpKU0Z3emlKRXNpOVRubmJuNFpXZTV0a3JPZ3ROeVlINnFPTStqREozZEVaRDkyWHgwbStxbFJCVkg2MHA3cWprS3BKSEt1bHNhL0V2bG1IQnFUaXdOTnBaZExIbFo2SHpVdDk1aDJScVJVS3N0cEJiVW1jcldFUzFxVVdKV1RrTFRzV0JiU3dkdHFDa2E2OWdnQ2lqcVc2YWhFb3UxekRMMENSc3pEaHdKTmxheWxTZHNNU2NBNjA5Q3VpK3V1d0hxT3BpczBQTHZjYXBmQmh1aVhKRG5JYnJ2aytqV2JHQlI0MGZLUk5GQ29qMDNKZnF2cDR1aVJlOVk3S2V1dHd0ZVEvZk0rUzFEbFdUc2hlMkdPUEFHaTBkMWx6aDVVRmo5NzFjMTdSYUFyZEVlSVlMa0VqNEV3WnNYL0VMcy9vdE9EVUhObWwwUUU4SDY3VjQwYTlRSFZBcW1OQkNGN2tsMXdoWGZOUGZkbHozdzZGc3NwRjN3amlibnBvRGxVTVVhVWgzQXk4NklSdzQ3MGQwMXk1eVMrVDFxYzlyZVpUQTdvaWpDTklpcHVWQWx3WkZSK3BsQkJKaGdUa083dEVYbnR5U0YrakNCT1orTU5vU2h0WitGR3N4VTNKZ3VPczRtSkRFc2psRTRXMldnNEZianRTazNKSnpYZGR6TDBNa1dzUXJsR2VUQ1RsUW9LVnpURWplMEVBWmlNS1REZ1pFUDFKRlNia2xoVWJJSi9HSTlRaFlwTHhGSk9IQUl1MzVBZjhQQTJLczVIcWVCKzZRVmVpcU1yY0VCSEx2cVNTeklwR3NTQThzZkFobE1TRmRES3FBRVV4V3NXTVVDV1lydVpIT2dUNkpqS1BBSUF2cXNyZjBITUNFZEJTVWhuUzhVUUxSUkVjSnBIQmR0dEl6REltT0hHMlN6QUtwT0lBSlNiendrSTYzd1JUcmhaR3E5TldTZ1ZKQWt0S0tSTElpSTlDVk5yQlRDZVltazBqZ3F6QWpkNU1wRnRIK2tJMGlnYlAzTkJ6QU1va29WZy8yL0pwRUFtdU1PU3Y0ckVHV0VxWHRLQkdjeUhqSGhPUk5WbFJOSzFBWEpsMUNteDlVVXlWbEVVdGt4eFErbHJrV1NNd0J1Q1Z5dVJaY2IxSkJrOFdGcWVxbXFuUmJTL2w0S3hMRm4wd1FjMHZvRzU0anFzd2trb3FtUFhxR2ljdGdoR1hxMlprdERNTzNHVHc4cVF2UCtESjU3M1h1bGxDbzB2TmdPTnRVUlJ4cjRhazVVRktCZUVqSDMxQUsyZXlFSzJwenQ0UytOR0VyakI0dGxOTEZjQ0diVHNPQnFnb3hRanArbUFUNlpUZGNsOHZuSlVSOWxWRVFVTnBJY0pobGFkTmRaVWpWUkVqRXNQU2h1eVcwSFZoRlYveW1qWXNzYVh0MXBzc04xZmVHUXhGYXdSeTBIMktLN3BaQTJjandzU0RFMElyTWRpTFAzcWZnQUxndlZrc3dOc1MzQ2RHMWQ5MHRnZGFSNi9DaU1idjJMamlSOGM3Y0VyejZ3a01aYXB0L3FZbE56UkZCS2hJOVFmR01mYkhGUFE3QUJia2VzR0tncHF0V0pLaGIwVXdza0FZVWZ5LzV1Q3JIbUVSWklBMEhFS3dTYTRwdDVaN1hJdE5TWGRQbkVKQWZQVmxYcHZDRnFLZVNwa08yRE43M0lNU0ZLZXlQQlQraVc2N2JhalNCcUFxUkhCRHhlYlc0V0RJc05JcjZUdUMrK0xVa2pUeDlsSVRxZEdsNlVrZTgxaDMxUlY4aVc2NWhCWEQxQWtINlB2KzJtUFZ3d0tNY2JxS1dFNzEzNWZzMHJ0a05XdHFlODZzQjVucVNLQXlsY25lYzFYRG9uUnlSSytwUlNMMDNLVWw3aW9PckY5RS9JdWNrN2l1R1BUV0dkZ3ZEM3pKZzV3dlZjVy9XRDZoTGIzQkhaZG0xWmJXczVlT2VoZ3d1eW15SXpCODBpeU9GYTNBQ2hUNGhxQlgyWEdQYWZmcDRLeVpuWHRDSWdyeTBRUUhFYzBPK05RdWVlRjkyY2VHZFAvWVhFSUY3ODc2L2UxdUFwSmp4SWVDQlVpVUlleDBGdVNkd3UvM043MzdnY2VwM2NKMVAydmlDTys5bkdtTkMrbnF4ODl2T1FrTm9lZjhaZVpDclJ2SUlMaUVvR0dEd1lSWTZWd1JQYVAvcHliMS9GRDNRbGdjYXl2SkRqMVk2UVhlOTIrV1AvNlhzSlN3VHR1ckQwUE1EZW03SlY5eGoxLzFEamFGOEZnTDd4U1huS2NSWGp2dUZMbnRQbDVRSm5mL2p3WFRISlZkRHNTZXd5UnNsVmFkZEwrL0k3T1ZUblY5bE4rSUJQTnVCNDd5OWMva1hkWm9LMDlYRloyN3p4Rlc0N1ptK3BMb0hIMkZwVTlVcTQ1Q2t5Z3M0OSs2ZncwQVFEcFhqVlBRUnV2N2VCOW9ra2s4OWRQWHEvUjhkQWpyZWxWMFppZ0NTeE13WE1GQ3JKVnJITGtRQ3ZWbzJFdi84YTUwbjloaXlGUEV1V1dZT0lGNm1RMUZ0b2FNR2pNQjE4YzU0YjVMajNOMkdJcFJ2MHlDWmJTYnFPZkY3VDYyV2FHMHZoNjFnTGRlVXFIRWoyVVF3WXh4RWNsRlVlWjc3VEFHeXhpSkFDNUNKdE1pVzVuelhSaU1tVmdqWFVEeHZ3dnZ3aEYrK2tsaEpRUDk2ekQ0VTNjV1RpU0NxdDVsQUxjcDFORk5BME0vTnZhTldTL1ErTmRRajZCa3hxZUpKYW5mcVExWFo2UVdYbVJtaWY5QTFod0oySEF3VHFYbDZKL3p5cUY0a2dlQ1d4Q2k3Z1dFdUdGZmptcG9aeHBITkxvOXQwbHd4cURGYWlwWVRHMFY3MUN1ek1lV2p6YTdQU1dvaXQ4Uk10OGFHdlpsQ3g1WjBNMVRQekNQRk5tbWFqZ2FsQ05DUmFwZlczSGFDNU9McHhrZFZwNHdRV3kwSjVSZmlaclFRblVqV1QzZzJnTEtUVmxaTE40RzlMdUhKZUk4bzJSUjlIVXIzU21EbTZPNjdKY1lPVGNmand0UVdtckhSNUVnc0pRamxZRHhsR2svR0RSUzR0bktwenFrWnZsZE8zbkxPbEFQWDNZOXBZb05QeFRFMENyMXNtTTVWYmc0UVFpcUhRYldycGprV1Q4Ymo4TmdZb0hwWWtrVno2RmpXS3VHVzdNYlVjUzVPeXhqcEIzemlObExNR0FubElMUjN5ZVJvNE1tNDRVSkJNV2tUcjh5ek1tbU1pUlYycDVseDJ5Y2R6Q3NwN1YwempYUThtUlFCM2daYVRSQVRIVDdyUCtuZUpuOGZhYi9jVmh6NXhoVHUrTG80RHlldXNwbmpxOG90R1JvY1JmcVk4anBybEZTTFNxdXlqR1Fld0R1ZWJLT2pUMXo5R1hObnB2a3hwWkswTU0xMXpSNnIzSklGMHp0UEM5Tk4xdW9BNldzeTNUS05LNWw3aWtBWDNmU3VtRDVVa3kvQXRmaThIVlBkYk5IS0xWbUxiQmhIU3pESU5MTUtxb1dKb2NmRU05dHVaYXl0TjdyODNNZGV1QlJydmk0bDluTFhwcGpqTW5ZNktJNVJJTjZDVFpNZFF1cDhoelhWUmxwTjBRTk56ekN5dVFjVC8xcGlqZHViSi9KWWJKTm1oU2tKMlRaNTZ6TGhIYm5EMzd3TktVOUc4dzBCTHJPeFBxN0RpOUllSFVjMTB6eU1BcUd0NjZiQlhHSXhMVFJNem52dzY0UFVqUlhOWjVscHgvS3VySFlyVVF2YmhrQnNvb0pwaUg3bytac2Y4STYwYUFhbDI2WVhCd1laRDhFUElKS3lhZzBCTUpVSVFjVTNmMzhJNDl6K2cyOE1vMDR0dmNpZkk3WVhCVTJSeHBMTkpLUHdIaGVINXo3c1lCVHNCUlVhdmQydUhrOXRzWWdZaW1IclJqbW1PLzhBNGQzWTVabm5HdnFJNDNtbkFQOWJQMEdqaFY5TlFEUWprcHI3U3Q5NTYvRVdSa0hacnhLK1ZRRHhKb1pxWWdPYUlseTdQRnY1bVJ3THVBZEtyQkQvaUVJdmRZQTRWbWtMNlJ5NDB6MHVBOU02Nk1xcEIreldhU2hGYnNtQlF0ZGQ5dzlVQ3RBd1J2dmRpWEowalhZRU9mYTMzZmhDLzNhUnRQY1FCODUxZkVadjNGTGZqaG0vb1NDM1pGOFdobktYNTRUN3lFWk00SEhvZnZpTmQ3MGRoYVVpcW9kMlU4bEtMZUJ4b0JJNDZoUUlFbTdKQlpQMXBMa2xtSHFPZDNVT2RxVzlwdUZYL1IrQ2ZnMnFEN1lPd3piYjBraHNRdU1BdEhLd2V4U3FRZ1FWTjAwTDcrU1dDRmJlamJNcmo3UjY2QnhlR1lQa09kM0FkS3hnNnVwN0dlMlRqbkR6N253RHdOdlNJNjhwN1QyUTQ0VTlRVWxvNUMrLzg4L0RGaFNSVlUwZVB3eXhLMzRkUmFoMDc5dUlWU01kYStpc2d5cXVCZUUwQTI1VTNGdFJ2bFF4U3NRMStoVXhYaFRkdHFtUWMxNEdJZkNoZ0JmZzY1cXNPVlhObVllZ0lJUUhYbEp1U2MvMEluZkJVdThBWGNqbFJqbkt1WUhTM3l5ekltY3oraktnU2NGTDltVUFJN1Jnd0lHS0s2MG9nT1VBVzVkYWhURnFLQ2UydDBBbTBWR3l5U05lc2x4alg0SVlaaGg4QSttUHlnd0xjQTUwMU1wVFhUa2pYWU9tNW00SnpDZmRKNkVxTndQVGpWY1BaMGJKanRicSswNUx6bVFhb1UwRUhBQ1hKSWZhQ215b2JRNlNWWnBiMGdoNTdrUmxGTWs2UDRldkRWL3puS0ZxMllZRkhBZHJ0WEptVjI2Sll4S0o1cGJBSUpZNlF2QngweFFpV2VPN0RBZG9Zc05hd0lKaDVudFA2Z2Y2bVFMaGx1RHdRL0VMSHFxWXRscUNzRzlrOThNRjE3RFhZNE5YUkxzbHUrTkNXNXNnT05zWHhhVmsyQXB4cmV0Q0FHMEZDaFRGaVpVVWFIZHdYMmI1Z0ZFa205YzRWUnZGNUtqa0dRRnNSVUlCZFduLzRJeWRwdUNTU1NRVkZxUnlIQlRjRjlUQkhjTW9oRUZ5Y0pIakJpaDJqU05Dc0JXSjQ5dEFQbC9Bam4zQklaTkk2dHBxU1VmdHdoT0ZqS05rKzRySXBqdTF0OHNSSWRpS2hINFJXTTcvRlJsWm9ZTjB1UXJ3K2RabUUxczRVTzlSWERDcDk4cSt4blZVMHRRUU5oSGlRSWw5VkkxUklITk5GcGVyMUk2L0ZlSkFrdnVBVVNUVlBZMXFlN3d1MFdqUFpxTEMxbXJiVEhzYlJFS3grMzNKSmJLZE5DMkJIS05mRWhvbHNDRkdXN0lXQzBRNTBGT0dMNXh6dWNUa0dMeDNXdGZka1RWZ0FVdEVlQ1Z1VTdtYUV1Zm91b1IrMXlVaVNrVnNJZStuQnE4SGZNQW9VRjVkbmNGQnZuN29JVzBIM2c5eHNHU0tjZWtXRjFuUzBhcEQ5Wnp0WkZmcEIrNldZT2tqNGozQUdGSnVDV0tIYnNRTE4wYUNkYjhFdzQ4WkZHZWI5ekZQMzFEVEQwYkJBYWkrejV2cERVc2ZGVDZ4ZVp0TzFEVG0xMjVjWkRtdm1XN1lwZDVSVGNaMDZteWo4ZEx1QlJ3bytUTlJ1MHpwRXRNclFYNWRtM0ZRTU9LOUcxY1ZsN1hodHVwZXFXajFCSlhibStRQStId1VKS3FlOWk3NGhyQmg3YjNOM1JJS3hMQ291MStGY2UzOUhJOEVPOVhSRmhTOHRibWtBS0pBVFZsUlhjOHQ4WDd1anJhaU1yM2hGNE1NYUdJTExxU1VGeFBndW9iQUdIN3pVeFRCM1R1V0JkSnNNcHdGZFE1c3E0VkVuTFNIdkJWLzI5Q3FjdXFEQXJwYlFsRkgzKzFmNzhzYVc4YndWVjNNaktBN1Q4SkFtNi9JTWhZSWMyQlRocHd3bnhDakx2aXJJSWhGYmVtMHVsdENBdktEN0wxOVNkZUplQ3FVTlRpVUJFNkRwaXlxaVlsSjVWcUlPQUNQNzhqblJNOWZ3S29jZWtsRWlNcytYdnpYM1JKYVlmU250dmF1b0lDdktXR0J3MzFOT2FEQjRSZ05HMVJoL0FtRFlQMUZEMGM4dmdXb3NlK1RTRkg1U2JMQkFobDRDSnE0dkFYaUJhVlJVRmRmVUxON1FmbjhEUitrRDRISERaTnYrUjY2V0JWekRucmQzZUdkTExTMUpNK2FESXNvZk9WV2w3ekRndUJxS3h6MndDamlHa0NJWkZWc1dhVmY2cFpCWmEzZDZ1OEh5WDhWL21janNwMVlLd0JsZzhza1hvMHNqMFNhbzZycDlRd3RlNzkxN0NzM29lTURuMDNyN3A3bkhTNkx2UkYxOTFBclNWc1Z1VG5iQ2daTlZaR3RhQVNxOUhJd24wRmt3YnREcXliNnFaZUtHdEFwaWlUTlVkVlJrV0JMK3A3MlJGTWxGbjBub1hITFAxaDYyOWZ1ZEs2amdGRGRtNzc0azBONkV4NzdxYjhxQjdXRGJUUW1pa3g5WFBCbXZpQ2YzN292bDVHOG8rUCt0OEIrRnlxN2NkOFhSVEowUHoyUnBEcXFPaVNTdSs3Rjd0d3NJa0UwNjJ0TzhlZVBkNXpDME4xWjdBanBib3BKQnV5aWwxcGNRbEJrTnBVZDV6dlpaTFp0V1BieW1MM3VIdi9TVXcreS9TK09GK29LVExhUVBKRGNEbHQ3VVpLY01LbVBxaTdLTnhnR2svdHNOcEVVMjNSNExrbmlUcHkrS2pVRG40V0kvZUk2Rk15b3UzanBYOGZOM2hwM0pRV1pkLzhYci9RZmJTbGtFY1huVHlUcGo2cG1Jcm4wN0kvQzBCR3Z0bnJrS2FDRnozU2UrTHhILzViMnMyVlI4QnpYMWMvODQyMGUvcmE3bmhINXprTExkUzlwVTFWTDJOT1NSZ0ozUERyNnp6K1JLUS80NGNkSHorb1ltY3BwbER3aVhpdi9mdm5qUHlCYkRJQ0dzdGVCV2Vud0F1T1BxbFlpb2FxeWlpVG9UdmpXVWJack9NdFBGMy84K2RHdnN5eTRKV3dZc0l5cHdYeEVndjZGci8vU3U1YmhxT29URVVrOWJBWHIzWSttbGpRak9acWZIQk1SeWNLbGZ2TFNzWlJQUGZsUjc3My96YXQwUFVqd3B6WGlpdjVPVFhOVTlZbUlwR1NNSVdxUG9DYzIxRjVKUFdQcVZFUWtGV2JYVFYwYkwwREx6T0xUamVMZklQRXd5ODF5VlBXSmlHVHFFODhHc2RxZFBYWWlNQ3lTMTVrak5ZbnEwb25JZGxTSzl4MndNTmhjbStXbzZoTVJ5ZFJIRkhjbktSK2RPMk5TSVpIQW9ablZLQ0VMVmMyQjVQNStWZlVqeTFIVkp5SVN1QTVsMWQzSjBMU0h1NDZwVVJOSjhhL0J4bG1KQkpzNGVOQ255b05FbVk2cVBobVJsTnptR0xaRnNwWm5wa3FZcTdoNDlWRVN5TXhFTXRDalFoVGRMb3NueVhSVWRXcVJGTDcwK09neDJRZlJsNWo3bER3dVRXdWh4VFFMdEJvbHBJNUh2OUNlbVVoNmJDY2hHaUxWY2xIMEk5TlIxV2xGQXUvdWlRZmRtMlhSaVFuM0lROHpUcUIxbkxwdVFVNmtIMFBBUkhMNXVjK1duZG1KcEtGSGJHbEY0cnJvU012d0FLUjd5b0xBVzExU1U0ZDJWSFZLa1JRYjd2c2Q1eXZCRiszTTFGQnRhbEJsR24xZDFCeDVyWjZwRTBva2Z0SFppUVQ2L0pCMUIxNjIzT2VYN2FqcWxDS2hBQ091aG1jR3Jyekt1bVlHMTdUdW0ya2sxbVJCeXN3cGdkeEVRakhiSnVzTUxWZlR1aDFkMlk2cVRpZVNwY0FJOTM5cWFGTU9XTDlIcHY5REZ1WTE1WE5jYjRZYmdYSVRDZTB0MzJPOXBvbExCRnBMcHIwYzBEMGluNHFSYXBQZkRtcU9XenFSMUFNYjNQOTF4K29CNjFvTU9PRHphQXhOZ0M3SUNXQThYYUxjM0VRU1VnMmVlaGNzcjBXMk9LT3ZEU1lDSkdtRldzNHUybEhWcVVTQ042VHZNUVRodHlNMGhyOUoxeUozcE1ZVHIycHYzM2phaWJtNWlZVDJsdlBXU1VSaU0yYTJvNnBUaVdSYlJnWGJGUGt3bUJlOHN6NWM4emVoUkRNaW1PNFVjMXlrY0JpUm0wZ0c3Q04vYXBSRUZMejFHWStxVGlXU29Weno2d0phU21UZ0p2NjF4Q1ZOYTRaWlBHMDZONUdFVklNREVRa05rdkdvNmpRaWdWY2tGQnNkV1hOQmFxbXgvS3ByYXpyeHBOVkVFbzR2citma0pwS0dyaHE4N2Y4QlZ6Wk55cERVK1E3cld4dnBMWmtlS0ZXUFBRaFN4eUJmVzhKNkZ3cUZMbjhQQXNhb3FJeStPZWcxWmMzamdLWDRoVUplVEI2NXhaSHA0ZHhFTW1TZUlYV3ZEVllGM2F3b24xRjFmRVBsRTVMY0dQYnU4YU9xeDRpa2dWS2h5emNwcW1wajNEWU11MDVmTlR3T3FpWWFUU1ZodG95cktubGVYaUtoZGNVbTZ3YTVLV0lheUhoVTlSaVIzT09kbDZYOWU1L1hpWll5c0FmdWk4dE0yS3lQVWJENHVTZ3VpbmxOUWdGSFN4b3hlWW1FM0pBOTFpTE5TOWVDZE50a0ExZVZ5SWhzQVBweVFJOGJiRmlaR0NNU1NSTUdwR25oZmM0anQydUZ5ZVlpblpkSXdxcWhCQmFMbDhrWTJleXFlQXN4cHFWOGZVcGlIaXZUbmE0VUlzRVl2ZTRYcG0raFh4N3lsMFhnNSthZWwwaENxc0VCeDBVNEJhR1ZjdlQ1ZGQxRGU2ZDJPWkhuNFBtSUZDSkJrd2VpdGsxdHc3WEF6dEU5TDVHVTlBZW5lZXdvZUd5d084b0EwajJTYXhUckRoMEx4NDZxVGlFU3pIdFhSSnN3dnNTV0FJR2FyM3RlSXFucXFxR2lYSGVFU282alBDQ1o3VXMwWFAzNG82cFRpQVMxeThvaGtySnNhQjZCdkVUUzFWUURCc1pvUnp4KzFxT3FVNGdFcXVoSU5HLzREbEZremNjOUw1Rm9xZ0hIM3F1SkEvclZFQkVpM2JNVnNPVHU4VWRWcHhBSmpzL2FGL3crcjIwSkVOZzV1dWNrRWswMXZCNFM4WmFQL09lR1l4QmxRRWxzVzU1OFZIVWFrYkJQZUhvbVZSYnQwT2xoY2hJSnFZYlBQVVBYbCsvOURPQVBzU2VraUVia3FvSklYQk9PcXRaRkFtTnFMMUpiQkxFdG5TS0tTRWV5NXdxUmswaklMVkhYc2VZRVU5d3ZjblV4U2hJZVZhMkxCQUhGaTVIYUlvZ1Y4Um9zZGo1SUR0TGFRWVJrYmhBNWlZUlVRM0NOZnZkUGhaTHduenJyVWRWTUpMZmQ5ZTExR0dkdkM3NDJHTVBWb2I4U3V6NThFUzdTa1ZNNUhFTjd5bGs1aWFRRWVjUTlXVmVMNVBwVVhQZE1PcXBhaVFTVGxyZ21UVjdmNW1tejcrMjh0SVZZVGJQWU9ZcnIzZW5qY3hJSlZNT051SWN6SEFubmFHNUpJK1M1VTBYc1NEZ3VrdEdsRjU3NzVBdVhPcFAxU2QxOTRvRzIreDhZc0F1ZEd5Zi93Nlp4ekREZ2N4SkpWOS9ib0RWc0Vva1dFc09zeDFkRXZNTHNxR29sRXEzYUNZbkNsNTQvL3AyZjlvaStkYWcrdDVwUTZqU3lFNHZrbjd3dnppUC92bHZYRStJUmhxRUZMSUdudStsNFVTMGtodkRIVFY2QVlIYmlhenFSaEN1YzMzUlNrVEI5TGFadi8yNndudndmVjdzZTk5QnRGWldWSkNVdUJWcGI2Y3NzSDdBaUNUR0U1dktZeStEMitiLzUzSXpVRVNCTUlxbG9JVEUwdFI4cWpWZENZT3dvOFRteGpLbklkSTArSVRqRjc2UWE5amlDd3lhUjFMV1FXQ2ZxYTloUndsbVlBcVpwcmh4WHpxUkwybXlOYWRKUjFYYVV4SEYySEw0RWtjVG1teXd1MEIvSUFvamJzcFNQWmtkVlc1RklUazBCVk1lNEpZNUJKT1R6N2N2NllYRkZnaVJHdjBTVytLWUNrbHBjMHoxMGQ0eGJnb0JHeE91Z2RkMGQyUVJGQnEvSWxBK3dvNnJ0S0FueEpsRVN0a0Q4RHFoNk5PeW9ud2xIZTFYM1ErMlUxSzR1SzVJUWI1SWtLV0oxUFpZdzYxSFZWaVN4ckkzUG9JaFZNelk3NjFIVlZpU3hySTNQR091V09DVzU3VkhXb0xzbFhVaTBML044b0twbU95dVNFRytTSk1lNkpRZ0VSTmJlMjlwRUIwMGsxK0ZGY3pWbEUxaVJDS1pNY1MrQnAvSGtoaTBpb0Q5UUJaQ0tGTzhxNVdSRm9saVZHQnJybG1BZkZ6ODFnaXJWM1JLS092b1U1cU9xclVnU0MwSVJRalVZbzVFK0JWYkx0eFF0UWJwYlFnTHlOOStaajZvK2d5STUwdm1WSWdWbEVPK1dhRnV1L2NwMXQ0VHNOWCs5cEwwckdvZFpMZUd6SmhKd2MwL3dJZTE5dkZ0Q1B4TjVwRmRkRWpMdzBEUnhlYXZFTVVkVm56V1JnQjFYZEg1Tm42TGpVcTZOS2NiMnVmbFVQWDRLa2ZmTG5wNUlZbzZxUG1NaXVRZmN2QldhNmNjdzE1eFZSU1hqTnFkblBLcjY3SWlrOExOWEgzZ0V6SVJ1L2NoRGYzWms1dlpFN092ZmUzL0xxK1FqRDkwWEo5cUs4akhTSEZWOWhrVGljVkw4YTA1a3ZwbWdLeXJBL2NoTUFsOVJuRW1RNnFqcXN5U1NTeTk4ekw4KytYeW5HY1BPU2VpYWUra3lxcUc5VmNkeG95VGpVZFZuUnlTVG1EMjcvSXhIVlZ1UnpFNFVzcVpzUjFWYmtVaEd6ZzdJZGxTMUZjbnNKQ0ZyS3FrWW9zU05CYlNqcXExSXh2SXFYYVoyNGxtU0tnWThVR3hGa29SbFU5SmtPNnJhaW1SS2RpY2k3OFp2dkRPVjE0K3F0aUl4OFNncnJqUm1hZDVRdDM2TXNoV0pnVVdaVVRxUEoxWlgwbmJhV1pGTVpGZ2FnaXhIVlZ1UnBPSDR4REpaanFxMklwbkkzalFFV1k2cXRpSkp3L0hKWlRJY1ZXMUZNcG05YVNnR3ljM2c4RkhWVmlScEdENjVUSWFqcXExSUpyTTNGVVV0OHRGdVhEWGQwT1pJSzVJNFRtWEVweitxK3B0ZkpGL0F0K3daMlp1cWVMcWpxdEhaZS9uU2ZhcW01N3ZRdHJkVzNqK0ZUcVk2cXByMmVCbk9qamlGN3VmWDVPbUp4RWx6VkxVVlNYNnZBbXBPYzFUMWJFWHkvN3l3QWNCMDVnUTBBQUFBQUVsRlRrU3VRbUNDIgp9Cg=="/>
    </extobj>
    <extobj name="334E55B0-647D-440b-865C-3EC943EB4CBC-28">
      <extobjdata type="334E55B0-647D-440b-865C-3EC943EB4CBC" data="ewoJIkltZ1NldHRpbmdKc29uIiA6ICJ7XCJkcGlcIjpcIjYwMFwiLFwiZm9ybWF0XCI6XCJQTkdcIixcInRyYW5zcGFyZW50XCI6dHJ1ZSxcImF1dG9cIjpmYWxzZX0iLAoJIkxhdGV4IiA6ICJYRnRuS0ZJcElGeHdjbTl3ZEc4Z1hHWnlZV043TVgxN1d6RWdMU0JRS0ZJcFhWNTdYR0ZzY0doaGZYMGdYRjA9IiwKCSJMYXRleEltZ0Jhc2U2NCIgOiAiaVZCT1J3MEtHZ29BQUFBTlNVaEVVZ0FBQXRFQUFBQzlCQU1BQUFDSFRqdzhBQUFBTUZCTVZFWC8vLzhBQUFBQUFBQUFBQUFBQUFBQUFBQUFBQUFBQUFBQUFBQUFBQUFBQUFBQUFBQUFBQUFBQUFBQUFBQUFBQUF2M2FCN0FBQUFEM1JTVGxNQUlvbk43N3QyUkZReTNSQm1tYXNjWmFQekFBQUFDWEJJV1hNQUFBN0VBQUFPeEFHVkt3NGJBQUFXVjBsRVFWUjRBZTFkYVl3a3lWWE82dW03K2hwN3dWaUFxczBQLzhGTHRROGtaR1Jxc0dZQmpaR3I1UU44c0s1R0xQekIwQTJTaFRpN1pSbWhCVU8zeEdMdEgxUmp2QlpvYkxtYU5ZZkUyRnVORVpjTXJqRTJFa0xNVmlPejR0eXQ4VTZ0V2ZmdVR2QmVacjRqTXFPcXNvYXVuT3JxU0drbVg3eDRjWDM1OHNXTEYxSFpRWENlcjBlKzl6eVBQc2V4ejVubmMyenRIRGRWYkh1a2Mzbjh4WWVNUnpvUHBMK2xaanpTb3dmNk4vK3hBVGg3cEVlUGRCdFFmdlBMUGRLalIvckwxOTcwdDhFRmovVG9rUTViOEVqbkJMVFg2YnlBOWtoN3BITkRJSytHdkozMlNPZUZRRjd0ZUozMlNPZUZRRjd0ZUozMlNPZUZRRjd0ZUozMlNPZUZRRjd0ZUozMlNPZUZRRjd0ZUozMlNPZUZRRjd0ZUozMlNPZUZRRjd0ZUozMlNPZUZRRjd0ZUozMlNPZUZRRjd0ZUozMlNPZUZRRjd0ZUozMlNPZUZRRjd0ZUozMlNPZUZRRjd0ZUozMlNPZUZRRjd0ZUozMlNPZUZRRjd0ZUozMlNPZUZRRjd0ZUozMlNPZUZRRjd0ZUozMlNPZUZRRjd0ZUozMlNPZUZRRjd0Z0U2L21GZGJXZHFaLy8wc1V2Y2RaWkVhTDVsRlk3NDJUajFxWi9xdXkrSno0OVRuYkgxWk5lYWxiSks1U0syWWd5enRGQnZmblVWc25HUVdhdkF6L2MrUFQ0OXEvNXV0TC9lZEhHWVRIQXVweCs5LzhwMVZBTnFZano5ejh6VmowYVVMNWloYlB4Yk1KN0lKam9WVU0wUTUvbTg4REYvbldZM01TcVFIY1ErdndKY2I1TnEvTGZUWVU4M3VsWSs5UHJxdVhSNExwS2ZNcGtZTjVoRDd1clBEMlZQbW1HbFBESTNBcnJHczc5TDlUMVVRNnJjK2ZmUG1NKzlzQUhXeXgzVTJ4c3BsNG02ZERhSllUYnYyYldPNk1md2ZxUmh6ZTQyR1Vzcm1wWkM0djJzRUxwZ05uUXpwYldQWWRpOEExT3liekpxcktXSFB5SWhBeTdER2NvbU9NVi9ueEFvWWtEMUtWZmtKRU1mZk15SlFkSzJocXNaY2t2S2cxRitsVk11YkQ0SmkyUHVLZVNGVnBBQmFmQ3pjT2xocVNpMDZiQTNsK1h0ZkJPcm1SaXAvQ1pBK0VpNUVhY3hPbkp6M0g2OFVZSWFqYXJhUEZ4Wkd5M3dnMVdCeWs1S05MbEgrUGhRQ0N5NHpQUTNRcWxxbUlIbUwwdHRtaTBoL0h3YUJHZVZrY0xtU01YcjFPZ3RJc3pGdjZybVNTM2hpSUFKTmw0UGNzc1BueTRBME8zMHIzbEFQQk5VcHNHM1cwM3pMblE2Q0dVQ2EzYnc1OFVQU0JUMm5Od0lOeDdvbGFDaTdERVhSYkxPZERveXJSTzhHZkU2RXdJSkxRNHVBTFBzYUlGZUM5RlZHck9aNkN6alhFejBRV0piNGhrak1BN0pia2d6QWJDdDBXd3AxSmVUSi9naXNTdkJJQkhFRzNKRmtVSUgwSWFkTE1qc3l6eE1ERWRoVkJwaUZjVTNJaVNCWWdPUWRTUytPMTdhK2RHeThxYklyak5GVWNRN29QaTRSM3lMRFdMRjhiZUY3eWtMZ1pXL28vcEJtVkpRQlp2NitpazREc3dSSUgzQm1BRUVSU1NTb1YvemFXb0pUZlBSaE1UeUp2RWxPZnNDWXkrWUhnbUNPa0ZPUlp4bDNXNFgrZ1Z1ekQxeUJNYUhTVWlTa2xzQTdOTyt5bUw4Q25BMkxjejRTTHpjbmU4SGo1cWhRalJmYmMwN1ViSGNhb3g1N0doOHJ6cWN5TUFJSTEvY3BIWWEvVzZNZFJDVTgyU1JBc1E0anJEOFBTNUZJTFFIRjlKRFJuVlo2V0RibSt5MmhobzVkUzA2eGhyRENKZEsvWU15UC9Fd3hha29FendGVmkxeTZ1UzRZNG1qNE0rWWtQVzUwcDllWkRmUGhuVU5PSWRGeHg1Z1d6WE1QWC8rbW1pbzhaYm8vYVpVOEx3a0lYK3lGWTBVMG9rRlB1L3dJeTUyZXJhTEZzYTYyeXpNRWN4N3VvQmM3NExqRVQ2WmozbXNWUERlSkdwMGszbVV2YnRVVm5VWjNtclQ0STFYVFBVb2d0QzNoSnBXekhPL2RnT2szMGNuVkM5U2Vram9YSktqMFpqUlFnRExlNFM2NVZpRk5PRXNUQ3I3eXcxK0dRUFZlRXAxOTE3b3lxTlBoMmZ2Z3JNZ2FscWxaQzgxa0xST2MzdVlnSEppSCtBREhya3Z0d0lyejFmMGYwbTVCcHU0cUZGVGl4eGdVcWlZOEtMbDhYbGZ0NEFiVFNTOUErbFlFWElzZ0Z4eURvQTA2ZlEwdndQdTVBNTBUMFNWNkkzVFduTVJTNjlHT3piN3RHMnJoeWFiQlpMd1FqeEIrKzdFUmtXV1gzalg0UWZ3eVlIYVlnbVhWM0VueGdoVTVjWU8reTFGUTRBZWJGcDVzRGhpUDQzaUVxK3pGdFIyVG0zYW5uOURlTWVHejZvcHBOK2t4Z2hRMDlWWFlxTm1rQXVmc1hwVkk2QzZUSGRaelFjTnlwenZrR1VwKzRFUzZkU3dTOE03Y0RoSW5XQ1YzMGluWTMrWkZTcG5jYVZpRUtGV01JYkRjYWJBNXZJTklFSzFLVGNRQzQ3NGpOQjZCMm1xa1Q3Q0t4Q1JUc0FBbk53d2krM1Q0cStaQUdzQ1ZKVG9zNEVtVzBaazJqc00xRFczUFc5QlkzNTJaVldoakFxOWJpTkUrZTNZQjdMblM5RlVoSjRSaERJS21CaGZWYzAxbEl1bEVtbDhZbEFEejRiQTZtQk5mazR4MGh4MktBRlp4ZEI3YWhmU3VQQWpBQlNCYkozemlPeWg5Z2hNRUJjc2R3ZWRqUVorVW4yU2tZZXliOFhnaGdCZXFPU1JkU0pmbFFZQkVWVndXZ3N1bDB3dHNta0twN1FGL1BYYUNrY1pveEZFTWxialRzR0JPejRnVmVSQkJvRjArUVRxdHIzTmtqeUloYUVJZk42T1M1K0dPNGZ5RGVLQ2dVT3N4NmZJOVFIS0RJY0hkV2tsRjdHbUhaWmluOVdja2dzWDJ1Skp6UmFEclJnUGVaWGZhNWVXaDlxK1RLRzRhOG9LSG1DNS9PcUhUUWRuYTVLV1M1K0VPZ1R6MjFnQ0Z3M2pNampVaWF2OE9RNEw3NGpjNEZSR3JEc3VRc05NWU83SG15RVFWRTV3RWY0RXRxYmpUb0hya2hmRFkwVVBqUkhna2IxMlNJZFYwZ0dqN0hxRjVWODhyVWNGRUoySGg4andOVUlHK0wxektCU3ZPMmgrZFFEaWlyUGhla29jbU9mWWtpY2JLdlFjbUpTYVVBcVRwQkxSeXB3TkhxSGxYUFlnZ1BKSW50aVFDeHhuVXJwQkJDbVZLNWhHMUpwMVFUTjNEVXZFTE1NVHMyalhUNmdsV1hGbVVOdWptV3FKSzU1NUxlVTlMMVY3Q2lUWDVpTFRFeE5Jd0k5NktCd2VnYjlBNEhmdUlGWkVFcVFZQWRralM4ZDI1ajdoN3JLVG00WFJaKzV4NkgycGRXRmRlM0tLMnlSRlVBQzAvaUhBeHJ1YkhTS0xORDAyQk8wMFBFbmwvQktza2VLRG5jdkVDTHpOQlVWT3Y5VXdxTEdlNzB4akFpQUozUzJzTWE4MWNaWnFKS2IxMHFRREd1SGk1d2RubmlPQTRNNjVGRG1uZ0VMVm1PdUxaN2pUaUhua1ZyWFVxQTZFUUI0SUZGVWxkQ1krbWdzSFg2SFB4U1NmSzVNL3RFM1k0WWxDOEEzdmt0anVOK3krUnoxZlpJemtJaFRCTlBMaTMxem5SRGl2RlJjOGU4ODRQUWNzTnhFN0YzU1R1RkVQUkpHakRORnFQME5vdWlMV0dwN1Btd0szSkhzdEs3THpVQmlqMW4vNGNYbzZxeHBNMWw3RzdZRFJDTzlHNm85WXdlUHJsMkI1WHkzb1FHSjRPa1o0UlE3Q1VzdTFoRGZQZCtPMG9WR0pWUnFYK2I3dDJLMVdIZlBkVHM4UkdrZmoxblF5MUZuN1FFaXBsN1c0bmpFOC9ZVDZvM09rQWx1T1hyT3J3V0l3T1dOUmlGZDhYc1JWTFFFcVg0MFZvaXcrYmJzTjAydWNJWkQxcjE2V05VNktXbzBOV2cycHJiR3FKVXRidUx1TXBtZDgxSHdWRGZGVXEyTlVic28vKzFVODFzTHJYdmY5dll2MkVSV1Nvd1FWbGNhZWRSNWlDWU5uOEo5UmJmTWljck1YMUwyQnRiM3YvbGpSblVWQTNYQ1JzWlkwNDBhSDFjdjkyL295T2NvWmlwY3pkL1pEcE5zd240UXlCZGgxV2FhS0V5c0FSNFlzMnhORVZBZFFmVWFhOUxrdE11Nk10ODZuWGZFY0Z0c1daSFlZLzlJUGxIQ1RxU2IvSHloMWhZaWJqNnJWUS9VU2lGNlZzaXZGYmpaUC9DT0FjaHRKUCtMV1EyQXBFbGE1TDFFVFptSThHbjlVUFoxdXZiRWdNNzRVT2x1NSt1K0s5RERsWEZVT1Q5d3pwU3RZREV2V1RROTFoRExnTjhRb0NkS3I0bko3ZUxuN3o5YkRpNjM5NGtSdFlxT0ZQWTNUWGFyeE54a0l4VWZ6eHhwVUhkeXp1L0plcVY0NHRqaVJHaFBRNzhPbktkZVZOdnlGTmh0U0tXZGVjZnhOWjBKT1AvY3VCWk00bmxXb29wQ3Z4VWlTdXJ6cm9UU3I4OUdQV3o3M0FuVlpQU25vMVBEVWFwSEhuTTNGOTB1NWIyWTRTSklTTitYY1JMOHNiSHpLSFF0cjI0c0Q1T0phS3MxQ3oyaDNQVXFDblRBcnBoY3RyUFlXelozd3UvbTdzZ3pmeCtrb1ZrTFRjdGJuRVBQTzVKOStPWUhlZnVYbnp5YWZlZytRZmNHT0xhdEpCNWpCSXcvbzY5c2FpNnBvY0QrSHEreE9MSE9qdUx6YzRONFgwcnA1QkJwZnZMWUV6OFZ2aTdNSmZRT0s5U2hiRFg0bEx5Uy84R0lpL2x2SUxpY0VPZ3pSTWV5OVFQWGdmK3NNb3BhVHQwclVOUlNlUi9xdzFWdzlWVlVJWXZhZ3Q1bjBJNGcvSzRGWFVsbElzZy9MckpQL2JrTmloeEhZVTlhSGtNRWhmU1BnQ2hYVGNsS3AxMzl2U0RiZEFabTRDNlQrQjkzd3ZjK0crZ3JnNkZVTkVQMUtJaWl6cEZVUmNDOG9mY0kzZ1F2RnJQeTFQQVBPSFFicWtuellXanNKQlNHVzZpcWNYZGJhUUx2d2xqUGEwa0lhOVBCVmF4RE9Kc2g1b2FvODFIckl0RDhySXoybkpOaCtEa2Y3QXlWWmNhZHNrWEljbW55TExoUFNVM1hTbU1qMkVCT241bStGTWRHcElsK3lRQWtMSEt0dEpqQjg3Wjh0alpIMkQrdHl3YkkyTmRQRUxiK2kramlzT1M0QWRpaU5FRUp6ajB3aFJaVU5DMXh6V1Y2RXVwKytDTk01STNWZFZUZzNwbHJGV0FHaUdqK1AyblYrdFM4ZzMxRmFxL1dzZEMybFlhanp3RlhQYmdyck9vZENrbVliMkd3bWZNUTJKNXBRZEtxSHpoNkFWMGxkd3dYQjZTSGQ0M3lQc0RrYUtiOFVkbXpHV1F4QnhRVjVIUWlESkx2ZWlGWUxUU01PU0dBSTkzeERyOEdGVTB6WWpEZFJhM0NiZGRvZVo0Z3FXc2xBVmQzY1hwS1B5cDRkMDFUNXNndWFBb3VkMWg1bkdBN1gwSkxBclpaQ25JYzJTTlFnWkd1bDlFLzRSbkU3bzVhekVnYUlhV1E5NHV0UWtWUVV4dUV0TUR5UmNINnNlV0tpSHdNaVF4djJMVGRVb3JDRllRV3Bpc1ZraUtRL3F5Rzl1MFpwYkZkS3pKbklkcDBORVYrTW4xU0hYcm1Vb1hzL05nUG1RaVZseDNXU0xQclh1emg2S096S2tjYXQwUzNVRnJVYzhUeFh0V0VRa2xKUnZnL3dCbGU5b2gwZ2hYWTcvRGdoOGhnQkU5emNpK1ZiOHM4SS90bGRMY1dVbHFaYXE3M1V2cGwrSlhxS0QrU05EMm5hUG8zQndqUFJzMGlIQWJpYmxhNEQwR3ZWL1Yvd1E3VS9EMDRsRUlNNXlCTitIZ0g5NFhUQnYva1VJMHYrcXdlL1ZwSzc1N0grbFpjYlNsVlJOd3pGR2hqUzR4Mnhuc1V1SVpMd1dXWFNzVy9Cb2lpVVBabHZTcTdxRTZIU2RYZlFLUGdxMk5tRGp1OWVnL0hjNXNkaTJmRWFuU014c0QyRm8rdFVUNW8wTTZaTHlIYkFsUkQ2ZXNlcGFRNm1IVFZzZXpiWXN3bWYwV3lCSU45aUhhUU0xSy83YkI5LyttTG55WURKU0d6ZVYrYSswekZvVERYWDBidThqUTdyRlpqbnFHaUJQMnhGdGUzVWQ1ZS9iOG1pMlpkR3hwRkNYMVRpNDZGdnh1UEczOTlQYVNZejV6bHRaS25ibUUzTmZIaDJ4L2gvM2tTSGRzZDNqOE1Ec1Z0UlJGVHlTbnJkdGp3eVhsT0owZzRZZnNDanJOTHdtaHpFWGo5NjJObG1rUHpHTFJuM3d0ZUR5UlFjWDZ5VXhNcVFidG51TVM2TFk3b0svNStoTlFyNE80c2NpMW1EdFZUUGl2Z1RtNnVEWFZOZEV2aisxbjBuN20zTG9vMzkxMlhKSGhUVHV1bWdkUTdzYnY3UlRBcEQwRWVVM0pBay8vdUUvRzRUYzZQaEdsTTg2WFNPM0VkSC8ybFQyZDczd1JkVlNUL0tKekUrdVp4VTZZMVJJby91OHBSckNxTXJWS0gyQklGZlpBY3F2Q3dNZmpGYThsbG8vTXRJOHhlSnZrcCt0eC9PdFZESmUxS2lRUm1SMzFGQ2JrSTUxUkIrNllJbUVQQncxdDR4cFhlRk9TTVBUdUVYbDRYTW5qUzFLak9kOVZFZ24zZU8yck1WM0ZXb01Ta0srek01M0pMRUtNeDVkaERUWSt3M2lyWEpRaVRoamR4OFYwcUREZW9HQXh1RW9IbnhaVkZIZ3NPVmgrNityM3doWTE0Z1ZKcVRCRWJ4QkZZQWJRbnVXeEJxMys2aVEzdWNKTUJ6eHJ0TFJHaGxzallVdDMwa2UyMXhSTVNaQ0dwN2VPbFVCU0I4UVBhYjNVU0hkdHR4alMwZXJsbE1TNDJMSlA2UVBJWVFDWU1ZWlFFSWE0ckJIeEhUOGdvV3l4dVUrS3FRYmFyb0s1aURGTHpvY1VoYWFZUUFKV3Fnc0FORFc0UkFRZ3VYZ0dza1MwbERST3ZFdUtKMG4zcGpkUjRTMDVSNS9CbUFNQS9iaDJNRmwyRXFCZ1BKWGtWdDQ5TytyeWE4NkF4c3N4UTVtNDhWSTEyUnQwMUk2SDBtTjNmOGpRaHBud0M5ZXhPdVZ2L1Fsb0g5WUJnNHV3NUdrWWdybCtYcnI1MVA1MmxJdzBuVTIrQmdvVEpVWk04YUlrRWIzV0s0VHZTWURsNEhWazhGQStmQkRqS0QrNXQzTVpnSmVoSFZLTU5JcjVQck5WOTl0d0xvc2I1RElPTjVIaERTNngvSFYvYzUvT3RRamg5bnhRS2REV3R6cHViWnpwMFJGUVJqcG9CRnRQaTNCbjFCdXc0dXlleWxWN3hneFJvUjBFMkR1TVVwUTM3VlVGc2lUK3cyZmRMWjk2VkJZclZJRTZVK0g1djlucTg4ZWd2SGVMRlNQVXZXT0VXTkVTTy9iY1gwOVlMQ3BsbzZIZVNEUFFXTVFpRGRuVkRFbjByQ0Ivc0JURmZON1VOOUM5Ym5hNmNiZVZPT25RbzRJYVRBQnZjYnRSQnJrNWJ3QTJPcVUxbk44U3ZrZXNGZjRoY2RPdnVkSFF5QWViM3pxNEZRUUdWVWxtWkYrUmZoTHdOUi9QNS9XVCt3cWdQWDFIbDJHNEZHNkRNamZZdm1XVW1CaVZ1V1lobGdQeWp3VDk2eElxeWtPVExDNlJCWFZlTkU5RnVSVUJwQ3dtMkl6SUdXNTMyQnphY2RSQk04UDBxc0tYSXQwR2dsMGp6Y0ZKb3R5SVEwK3RuaHgrTXMyTnRwVXRDRlBic0oxZWdyZWI5ZlZmUzFob2Uvb0htOXBocUpkU0lQbnA1eHNDQmZkVVFWQzh2em9kSExrL2ROb2F3NTZpTGpzTktDdlRFcFRYRDZ1bzhyclFUQXVhOHcrUTBSV096M2NrQUFyaFp4ZDF1VjdnTDBnZHhxRTYxWXFLdTJSdGxHazFINXZkeG9QTXgyU0hOMTNMY3ZjY2xnUDVZNTRuU2JZNE43dTdVN0RzZHIwMjEvVzdqVHVpNmVPYWFrWjFpT3RrRzcwZHFjRG1QMTJsR2hJVml5bnNHcHBlQ2dBYnVBeEZmSklFeEtSZTN4TGtqWUZIdUNlelFtLzZiWEJQSWpiVVpCTzg5WXA0WkVtSk1LNGZVOTNHaitHZENTaUlXVzcwM2drTDdrZUFna3U1SkVXK1BxNTA3Z2VYQmZSa0xMZGFTeWRQQ1VETHdLYkhJKzB3TmZQblVaVGNVTkVROHAycDdFMDdTbVNvSE1ma1RMUHhuMGsvblFUc09vOS9JWWNpSW1GVmkwSEdsS3k5STRsUU0rNVFxL1REQVgrbnBaLzRTWmNvbW9TbG90WnU1YXpVUUtrTDRVNWYwNUY0STh0blREdGtXWW84QmR1enNCVEpMR2RzZzBncjZaQXdEMWFlaTlKbkdsYWVkaVRnL1NSUUhhWFZLT1BPNDJMN1dUb3VtS1pDM2dqSXZ0eVFiWmVtbW9iWmtLUUJwQzI3aEpmTHRZdk9nMUMralJqV01hT1RrTUVLVjRRMXNVbnJ5dHZaRUtRaGxFbVBRTkdNQ3NCam9KRTN0S0ZacEl4VVhTZ1ZhT3JoSFJ0aXd1M2xHMmZES1IvQjBiNTRpRVA4TzRJZlAzN25QeU1mcWFwcW9ZL0JTdHI3UUJtdjhoNnpLdVBWblNVd0psSHV2aHRONStLUGdsMjhyNm4vK0ZJSVRFTStabjduNmtCVXNhODcrbFg5M2hpc041YjR5b1hQdndULzR6aXQxLzlkdy9IVFB5RitTV2dTMkttNFVmbFIzR3V0V1BMdkROQWlEK04xbEt1emJ2c2UxdXFVT0RZbGVuQXg3YVNKL3pMNFlTNlVMM0J4UUQ4UTA2Y2ZaMDJsNis5UHJyZStGajFicEhlTnBldlFEVnZ2SGE1ZWlMZ01Fb2hvVTBCb0VvWEd3dFluSitzRmRzdlNhbFp2VkZ3NXBHV2NZMmEybFhUVytIaTlmQ0JGSzlmWE9OMlliYm9hbnNCcHZ0RnpnVGZSQ1NGTy9hVVdJLzh1aHA5STZKZmU5LzRYOVVIdHBSQVV5OTJQTklLbWY3a1ZOTE42eThPdWR2YUMvUklEOFNMQkdEdUpUTGp2YUYzMmozU0dWRURNZXZES0JtSzJkOFQ5RWhuZ0N3V0thWGlwdjNMTHVzQWxKOFIrNE5sNVM2bllreFdkaXJSdFBiS3ZFNm5BT3JKR1BZYmxtVnRwcjFPOThUVmtXRkQ1eEN3V0VYYlYvRTZiYUhUUDdHb0FrYjlKVEYzU252VEV4RDNHRHppMDVPWXM2YTRRZldXN0FpSzErbEJnT244TmdjNU5MY0hYVkduSTBIRUk5MERKeWQ3VVMvNm5CTENYRW9FdXozU2dzMWdLdmxGK240bG1uS29KaFR6U1BkREs1VzMzek9tbWhKTi92ck5JNTJDcUI5ak52TXljVGxwYUR6Uy9ZQk41eVgvU2t0YUl1WnNKdy9wbkZtay94cCtZOWh6bUtQTG1FcWRnM1MzTlcrNTN2ajNFVnRuZFNjQU41ZnV4U2JHdHRwR2NZTWNjdXRxa3dzOXZIdlYzVDVkekpaVnYyZGRuN2VDR2IxNlc3UVArcFR1V1hkN2RUQXovOTRoSFh4cmxqZXArSy9XVUxJZy9YOFF0QXIzclR0emtRQUFBQUJKUlU1RXJrSmdnZz09Igp9Cg=="/>
    </extobj>
    <extobj name="334E55B0-647D-440b-865C-3EC943EB4CBC-29">
      <extobjdata type="334E55B0-647D-440b-865C-3EC943EB4CBC" data="ewoJIkltZ1NldHRpbmdKc29uIiA6ICJ7XCJkcGlcIjpcIjYwMFwiLFwiZm9ybWF0XCI6XCJQTkdcIixcInRyYW5zcGFyZW50XCI6dHJ1ZSxcImF1dG9cIjpmYWxzZX0iLAoJIkxhdGV4IiA6ICJYRnNnWmloU0tTQTlJSEFvVWlrZ1hGMD0iLAoJIkxhdGV4SW1nQmFzZTY0IiA6ICJpVkJPUncwS0dnb0FBQUFOU1VoRVVnQUFBYjRBQUFCVEJBTUFBQUFTRG44eUFBQUFNRkJNVkVYLy8vOEFBQUFBQUFBQUFBQUFBQUFBQUFBQUFBQUFBQUFBQUFBQUFBQUFBQUFBQUFBQUFBQUFBQUFBQUFBQUFBQXYzYUI3QUFBQUQzUlNUbE1BRUdhNzNYYnZpYXN5Vk0xRW1TSTd3cXhRQUFBQUNYQklXWE1BQUE3RUFBQU94QUdWS3c0YkFBQU9RVWxFUVZSNEFiVmNUV3drUnhYdVdkdHJqOWZyOFVaSkZBNWhEQWdoa0dBV2tVVGlUN05JVVE0RW1CVVNDSVRRR0xLc2NrRDBYcmdnUldNSWlnSUNqU1VVRHVGZ0s2QklpTU9ZVTRRUWpNOG80QlZDYUM5bUJpRWlPTEEyeE13dTJaL2llOVZkcjE3OTlMaDc3ZTJEKzFYVmU2KytxbnAvMVd0dmtoejlMSDdxYUo0a2VXTzFETmV4ZVg2MlUwSkZOU3lqYjVSUW1jeStXWWJydUR4bkorTVNLaXBoV1ZBYkpWUW10YzR2eTdBZGs2Zi92eklLS21GcDN5NmpFZ1o2dUZLTzhSaGNNMnFubEhRaGxnY2VPM3pjaFhsR3JaWlNtZFRWSjhveEhvTnIrSjl5d2tWWTVwUjZTdDF3ZFBTZDVrS3F4SFBwTis4VnZJTmJvbkZmeUFWMVJlcDlRVUJSazZmL0tQeW9BRXNiaC9WQXVpNlV6S3Z6b3BVMHBFcWliKzd3OEx4YVovcitFRDAzaHZsWTFBOTQyamlXR1FYMy9ZV1NEcmVySEhNOTlkenpRMUw3N0EvMzlsNzhVQWZVNFJZcjdmeVh5ZnRDTEtsL08zcmZjKzJqaEdYeTR0N2V0ZWNmSS9LVFBCN0ZNc0lKek9OTW1DdXBwYUhGajZBeVgvUkxRNlZ1alEzN2ZybElhOWdydng4T1E4RlpMT29ybWFMNmwwRC8xaWlOWWFrcnRaWHNLaVdzNEl6YU5oTDg3aXJyb25Vc2tJOTdUbDFncHZ0QkRFTUhSOEN3UHZrVE5IYnlpV05ZemlnWVkxdWdUNUtXR2dkSSs0ck1PSDhXb0hQTE5GSW5GcG5lazNxZlVuY0RWVFQ5QnZjQzJWdW1FY0d5cVE2VEJEN0ZCNUxVMUIzRGI5K3BVbXUyTlZSMjJwYVl5M0tjRk5WVVZ3TlZwK0VydGhNSHhPY1J3ZEtuMVdBUDFsbGl3Zk5vR2xpR0VzdVJiTUlERGY5c3hKck4yUEhmZlRmVWFZWDdUclNBZ3pHQ0NCWjl1Zy9LSTl1TWJOa3BLRm0xYUdmUjNNbWJpOVk4TE1OSlVYVUp6Q2h0S1NVRFlNY2FYNGhsS2JPMDMrV3hrVlMwSTF2bW1ueEN6Zk5tdW80d0Z0TjNVdStaaUMyUnRkbFlvSTJQZzJPQUJabmh3QVVUM1RLWXZCSnNrTEppWFhWUkRKMHNHYk9sSkJXVFk3cWV3QlpnZ1hmeVFXVFFkTDczVWU0N0NTU2hDTTFwdHlramp5OTR6SFk3RXJ3b0Zrak1YYlJYOG5rQ0xBMlJTaktlWml5aHRaU1NkUXBsV0RhUmhmdm5nRFVLN3Y1RHNVQmF6QWp0alp3cHdJS0QyWElWZEczdXRBTjlzUjcwemtBbDU2VWxHMHV0d01sUWM3YW9zQXE5V0VESm14TkVnQVVITTdhaVJIWDhqcXpUK2h2YTVJNEgxSytmUUlVWk9QWjcxdTZpMVVYQjI3WVNja2ZiOXJHTXhKZ1dxc2RPb3dZVjU0Vk9uTHF3NG5ic3hBWDN2Wk9ibk5tRWpxWWJDOGdkclJYN1dJYitjczdHVEdJUk9xVEo0OVRGbWxwaXJRTEhDWkFqTVF1ckc3aXhnTnpSbG9nK0Z1VW4wSWFvMUZnbHhaTWRiaVhKRU8wVmJ1L2JXTU45SjBPNHMrWTZSemFmVXcvVlp4ekxFdzhMaWh0WkNvQjlWemhXcmpCSlBKT25rdWdtRDJKVXhsYmJmMndLeFVkRVIwZjZma0sxb2lnZFBTdzRYSTd6bWFwZWdjbHp2UWsyaW1ENUJZeUVGdVRsS3ROeU1qL25mZWNodFJRTHRvWCt2cjJab3RmREFzTTdFTHdnaHdVbWIwMDhnUkhZakFNUmJKS3JvM3FyL3NUaDk3VFVxU2NtcjQyTi9CbmhXS1l2b1Zod2hWdTY4aGRISkxETXArRE1IbkU0UVQ0a1ZTUFg1TnV1VmNOY04reUU5MFQxSnFuNklDUWZTaWNkZFhNbDE5R0lWUTVlTEtCVXZHcm5GRmpJcWN6RERERDVDRmJYNUtuNjNHSUpFTTRNY3FBc1BUZlpXVlQ0bEZwUGI0eVRWOWxsZHBrU2lyeFkwQlBYVytLeVdKYWUyOXVEOFg1OGIyL3ZpeXdQN0V3ejRaazhWSDZkeDRqb0NBZDNCc28yTmxFTXRhR2tld2RIaDRTV2IzSFBkeDdTMXhSM3o0UytIRTEyNURRdWxsM1dsZlBNaUZ6SllxN0pJN3F3QldVcy9lTlcyTzJMZEEyNE81K1pSYzhFcjNZc3NRNWt1cU83MHJjWkp4RXVscTUvWEtkanNkQXgrYmxVSFc0NUt1R2VCMjVIeGRZeTJVeEwzZWhsZ2FKcGtrL3FGRTI1MHBHTUJaK1hud2MxZzR1bDd4OVh3OC8zSkVRbXY1S3JmeWxWazlXY05xK3U0bUxiZENYSjIxNHZldjVnbVRMcTdCMjhzZFc1WFNKa2pQV0FpbnhKb0c5RkpwM1hzYnl2WmlyNHA0c0Z3WXBITkxFZnk5Vk5VK0g5ODVVL28vamJja1dTWkJDcGVXb3A4Qlk4c0VibmFkQzU5ZmhjWUM1WGFSeU82SE5tNmUrQ0huMzUvWmppSTBUS3g4R0N3T0dWSHJ0K1BVT3lBNEZ6OGgxemtsYnJaa1FJZ2Jqd09XOUZOYlc3aGxlZjB4cHV6OVNSUU1VcXZaMkhZZ0Uvejc3REdhT0dnd1VhYnJzY0xiK0Roa2M0dnlmcGdlSTNOMXdCYXUzSDh2QUxqTUluRG5jOEZhT3I2SURkNTkzSTBkcmU4Zlk1azRSaWdjYlNBZkZoVHhHYURoYnNsTEhsbkxNWFN6bFFkWkNOL3g0TFhBbVVObndyRHppbWQzUzJ0TjBaVThLNjNpSUJ4UDV3TXlrV1pOcVdSa3JYQkZuTC9IU3dJTlN2bVlIc1BZcUVDcG4rSHZGekg0azFZbldpcTNkYXEwYkJDM1puZ2hUV3BaZUtveG9IY2syYi9tcDlML2NSczRNRm0zSGUxZEQzRHhURFR2cURtMnk1SXA1T2YvRG85aUo5M3NOaTFuSlc3THF1ZHZFT2JXVWcwaDhZOUVITEtaejFOZGluRFV0c2ZaamFPZ0syeE95emtjR2UyUXMwZDVZbjZoOERML1N1NXlMSUQ1UXc2Sm9Tcmc5R2FVTUdIR2VjQzVtWGcyVXpPSXgyNVB5c3lVTUpuRU5VNDVuVzB4d2F6Q3pWMzdDNzFWd0s4K256d3pyRDlXRkpCNnk5NVY2VnFOL0JndkV4TTJ0aUtLVE5DS2EyUzZMUEhaNk1xOU5JVlh3UHJGck1weS9kdUprSFNtUXMwQmMxMzVpYzlZMENEYkgxN1FxVHB3SmRYcjgwQUd4NEFLUnF4OGphQU9iVEpoaGJINlhWSzZ5NzRTQUxzUXpGd1dSQ3NmWDFwTW5UNTdoMW5pQWpuRDN6eHNvMlJTV0YrYWlnb1M4cmdUUmlxNDBGOUozeXBzZmlZQW0rTHVHVzRpVkVpQStseWJzR2tpay9mYno0UWtxZ2xqOEV0ZlA1WXY1SFg1T3lTZWxuVTNwTzFpMnh3SmRZYVM0VWk1OVF1WjBQSi9pTkY5a0tkVEpqTlFJNVNKOFpTV0dHOC9TT3hVOVlwSTBGS01aa2kyUndwRGFXUzZWNmtLckE0UHhjazBmOERPelR5VG01b29vdmtmNW9CMWRKUExZKytLYjRFdFFLN1ZOaWdUSGJXSnNCaXRRdnJzbGowdURXMG9oZEdqTjlaWDhpUk9rekF6L05OeWE1V1AzU2MySkJQM1F3aVFVR2ZvRVVpYWNuc21mZTdabzhYRm9Fc0l5Rkw2UkNVVkl2dXY2OUh0ei9JTmEwZHlFc05UTXhMSFJIYWlSNjZCeEo2cHltNXBWWWdIVmRkOW9mZzFqRkk0MThIK3RidGZ5YWNtcjJmS3pLL1E4aUExdExZNmxaMVFYMzJjcTE4UXV6MjFoQXVkZ1BJQklMTkYxa3lZellEQVRvbDJOY2t3OTJOWFpwSks4dGVvd2xpcmxITml4MmpWWEJFVmNGQzVGaExMREZXc1lxc1FENVR0YkxQNXR5TFZsdnp6RjVBQW5xRitmT2JGUzlBTWI0YzdoamVPeTdZMTI0WTVhRm5ISEZjbWpLalFWVUdQdjFpOFRTRFF1OHlQZVhvV1B5bUQyb0NydkJMQjZzSTV0WWlybjk0ZFJNaEE4am1Sc0w0S2xCdUpkWWNIL3laNTZWdnBZTlFvazFlVXBPSXNGbUhLTWdEUHRxajJxTFRJVkRNWm13SXlmV0tocE93a01ybUZsaUVVWmhBTXdFUzNaTm5sdzYyNVJUWXlPRG91Y0MwL2RHSU9zYzVKTDcxaXJiYXMxVHQrdkVBckRtSEI5Z1BvbkZZYzQ0OE1WaWhYazE0Wm84clRZem41YjFqVFRJaUs2S28xdUk1TWFSaHRhQ3VvSDE5WnhZZ05WbU8zdktCa0NCQlpidVJ4OHF2elpjT0s3Snc1RHkrWWRiaGcvT3c3VHBxL2pHU2VTQkhoUHdyKzV2c3FVYWRVTjd6dWdhQU13MkRaM0pFZ29vaVFXbFZsQ01pWCtmSUVFOFRiTWczU0w3MUw4dFZMZGVpRDBaNjhGNy85SGlTUjVXRTFiV01JczJpb0ZldWlSMkphdDZOZzhNaDhRQ1Q3NWcrdm5kOWxNK3ByN0RvN3I0MWV1Yk1mR09ydlJCbUJJQ3BjZytrSTZKczlZUlp6YWpicnJTVlB4ZXRWME5zejc2OTR2c2tWZ1FYdGROUDc5N25rOHZwMjROMjg1M2VyREdJZ3MrREI0cFRhVHFWazliMm9OcXNzRlM4LzdHdllFRnJmT3cvalVja2xxMCt5dXhZUG1ybGptbmR0blIwZkh5dTcvY2dVcjEybWZmWjJiZHpPTG5zbkM1MDc0WkJVcVA2b0RWMzVnbEsxbnF5RSthQ0daakZxMi84cmsvRVpaYjMzem56L05PR0tNK2pYMTJQMXlQYk1FR3FBWTFhOEczTU11TVlNcVBDVzhVVGlIMVkyR3pteEUzdGdyTFVMQzcyOHZwcjVKNlg4Q0RvQXhjWFlaaVY5M1R1YktlWHVWSkpKWldtS25wMG1WdG50Wmlualdqb3FmVVo1SkhwUnQwcGM4YnRrcHZuZjcrcGc2Vit0cUtGT3dMYThTODVtRnpCTUREY1cwazlscGlHWW1sc05ZbGFmUFgvM3BPRDV4NyszVm1xTGVWdXV4c2N6dGk1c3hlaWtENjIwNlNuNmFYdnUreTc0cGdzSHo5bkY1NzdkejFNWFA5Q042U3l1a2xscUdEMHNpa1FjMXRSdkwzOGhlZW1qd3UraEMwblUwWFEyWEovZkFpbzBWUGh3bmFVL24zNzZiUFhMUjlEcFpZK3FOL2gxdTMvR1dvT1NkL2xKRUllT0FwRzBFbk91WmpGaFpqTkgwU0M0TFd0dWtYN3laWGdxSnpHamtyTXRZMHZpbGovVmdrQUQrT1k0cFVaRWhpUVNVa1RwYVpnMThSNVpFQ1lqKzZUUVhNOGU3VTN2NWNocjVJUSs1SXZDV3hvSHhaaVhBdHExdVIzaWxkbzZNY2RvcHNOZ1JMc3RXUXd5M3hPZ01GalJ6TFB5NWZwWCt4c1psQXNvL2l2aUJaSkYwcjJudkpOSjJtOUJmbk9Gdk45bk1zcUF1UU12WUxsRGI1UzExOFRxOTN2aG9FVDFvM3hlM1BHNjY0ZVRrV3BCdWtTUDlYUVkzcWlvQ2JWZU90bWNlK3MvUm4yNExxVlRLbUhNdEFyNjlkNUx1ZHVOMktXU1haaTNxeDVEaVNSdnE3VXNBMFcybjNjaXc5ZlNVb2pDTzdWUUxHY3JSSUtFQmIwSTMwdDFVd3RGVGdSRkYyZ3dYcnU0dS8wVENmY1h6ZXM2SXE4c2VDZHV5UEJRT21JenFRL21LUlhFdU51Tmc4UWdtR0RaWVdxbExjSkZhTEpEcWlZQzNpTWYwdDgyZWRwcVA2bTc3cEZLNXZWbGJ5UitnMldKcUhHL2lsbldJdmkvMmRaNEhxV2hYN2llcDQ2Tm9RNjN0bTcxdlJVZnlTVnBHWkJmeU1aUkcvK1BQb2xDeXdXUDZ2Mm1laU5WQXc5WlNPRVZhbm53S2VRZW4vUXNCaWVSVlhMZnRKTFZUY0xWM0N5THRYcUtkTVQydHk2ZWxmUDNtNW9OaElFQ2UyeTZnQmo4RHlyczZueDFPazRuOUpIaEdZbTJJRkVmWjc2dW9WTzVLanJ3cVczclRURlZvSEplY1dJcFhKK2NMazZLcXFnbVd1T0xoS3BmVUt3VTNLVmFPNzlwUFJGTUZxV0FhbG9sYXpvT3lmQXVNZWhoWkwxV2pWc0N6L3BReVFSOFpsdUk3Tjg2OHkwMWdzL3dkTjcweU5UK2l6eXdBQUFBQkpSVTVFcmtKZ2dnPT0iCn0K"/>
    </extobj>
    <extobj name="334E55B0-647D-440b-865C-3EC943EB4CBC-30">
      <extobjdata type="334E55B0-647D-440b-865C-3EC943EB4CBC" data="ewoJIkltZ1NldHRpbmdKc29uIiA6ICJ7XCJkcGlcIjpcIjYwMFwiLFwiZm9ybWF0XCI6XCJQTkdcIixcInRyYW5zcGFyZW50XCI6dHJ1ZSxcImF1dG9cIjp0cnVlfSIsCgkiTGF0ZXgiIDogIlhGdGtLRklwSUZ4d2NtOXdkRzhnWEdaeVlXTjdjQ2hTS1gxN1d6RWdMU0JRS0ZJcFhWNTdNUzFjWVd4d2FHRjlmU0JjWFE9PSIsCgkiTGF0ZXhJbWdCYXNlNjQiIDogImlWQk9SdzBLR2dvQUFBQU5TVWhFVWdBQUF5UUFBQURFQkFNQUFBQ2NpUGdvQUFBQU1GQk1WRVgvLy84QUFBQUFBQUFBQUFBQUFBQUFBQUFBQUFBQUFBQUFBQUFBQUFBQUFBQUFBQUFBQUFBQUFBQUFBQUFBQUFBdjNhQjdBQUFBRDNSU1RsTUFFREpFVkhhSnE3dk43NWxtSXQzdDlvcFBBQUFBQ1hCSVdYTUFBQTdFQUFBT3hBR1ZLdzRiQUFBY05VbEVRVlI0QWUxZGZZd2t4MVh2MmR1dnU5M1pYUnVabUNUT1RFUXNHZjVnVnhEQkh6R1pKVUlpQ2xGbVFTS0lBSnI5QTRORWhPYVNJR3hqWU1aSlVJS1JQQXQvR09Jb21RVUVzVTdoNWlRUVZyaUUyUkRpZ1BpWUlRZ1JqS3k1S0FoakN6d0h3ZmJkK0x6TjczVjNWYjNxcnA3cDZaN2VuV1NycGQxKzllclZSNy9YVmUranFtc2N4MTRlQjk2MWs0QVJ4VThuSUxJa3MrSEEycWlmcEtKaE13bVZwWmtGQnhyL202aVdOOXpjU2tSbmlUSnpZTlZOTW04NVRySHoxY3h0MlFvU2NhQjlLeEdaNDJ3ZjIyR1NrRlhaeUZiY2ZWN0JMN3ZzR2ozMzJiTEtYSFFQVk1KQytYR2dma09ybXduRUJ6K2dzdXN2SzloQ3VYSGduUHMvV3QxUFBma2JKSXJSL1ZldlB2bkFvd1QrdTh6ZmNQY2tiSUhjT1BCYTl5aGM5eHJrOEhzK2N1RW5BSDlDRUJUZFpMYVpvTGYzVkJ4bzM0d1VXNElZOWdYMk81Q1FGbG50V0tEdFBUY09yTHV2UnVwZWdSVEtFdHR3M2Y4VGlRdEtWQUpsNzdQbVFNbTlFcW55QWxTSlFwNkhnUHBCY3QzT1hJb3hlVUVOZHl0UzljQjFtV20xQUpFY0NKcGhkSm9UV2ZZK0d3NHN1SzlFSytxNUx2Y2VoNjc3ZFVGVWRYY0ZhTy81Y0dBMVpBSjdyVUI3Y01zS1NlbTZiTGlIK1hURTFpbzRzRzFRSlU3SGRhOExBdHpybUxsRWNzbDlVWUQybmc4SFdzeTBFaTBVSVlLbVNPQmVRMW9vbkFKWC9JekdnclBpUU1FMU9CcnJFTUVlYTZHTGRGbWtHMWFaQ0Zia2MxOXlYNHBXckxzbGp0T0NTUHFDcktLc0w0R3k5MWx5WU1QZ0tEb2JFQUZ2QktwRnBUZE5KVGkxaGJOeFlOdjB6cGVZaFlYcVNiV282VzNWTks2eWRjS1c1aHpvbWdJa1ZWY3pxMGkxcU9sdG5ZbUgxMlRoR1hHQVJSUlZqVjNtR2dKTEFSVVZ2OGVZS1N0U0M4MmFBK2VZa2xCMUQzVzNaQnNpdWNoenVUV204QmFhQ1FlV1hVUElxZ0FSSExEcUd3aENicWwwUS9OWkZONUNVM0pnNFpIajkzdEYxaDhaUGRZWGhjOHpKU0Z3emlKRXNpOVRubmJuNFpXZTV0a3JPZ3ROeVlINnFPTStqREozZEVaRDkyWHgwbStxbFJCVkg2MHA3cWprS3BKSEt1bHNhL0V2bG1IQnFUaXdOTnBaZExIbFo2SHpVdDk1aDJScVJVS3N0cEJiVW1jcldFUzFxVVdKV1RrTFRzV0JiU3dkdHFDa2E2OWdnQ2lqcVc2YWhFb3UxekRMMENSc3pEaHdKTmxheWxTZHNNU2NBNjA5Q3VpK3V1d0hxT3BpczBQTHZjYXBmQmh1aVhKRG5JYnJ2aytqV2JHQlI0MGZLUk5GQ29qMDNKZnF2cDR1aVJlOVk3S2V1dHd0ZVEvZk0rUzFEbFdUc2hlMkdPUEFHaTBkMWx6aDVVRmo5NzFjMTdSYUFyZEVlSVlMa0VqNEV3WnNYL0VMcy9vdE9EVUhObWwwUUU4SDY3VjQwYTlRSFZBcW1OQkNGN2tsMXdoWGZOUGZkbHozdzZGc3NwRjN3amlibnBvRGxVTVVhVWgzQXk4NklSdzQ3MGQwMXk1eVMrVDFxYzlyZVpUQTdvaWpDTklpcHVWQWx3WkZSK3BsQkJKaGdUa083dEVYbnR5U0YrakNCT1orTU5vU2h0WitGR3N4VTNKZ3VPczRtSkRFc2psRTRXMldnNEZianRTazNKSnpYZGR6TDBNa1dzUXJsR2VUQ1RsUW9LVnpURWplMEVBWmlNS1REZ1pFUDFKRlNia2xoVWJJSi9HSTlRaFlwTHhGSk9IQUl1MzVBZjhQQTJLczVIcWVCKzZRVmVpcU1yY0VCSEx2cVNTeklwR3NTQThzZkFobE1TRmRES3FBRVV4V3NXTVVDV1lydVpIT2dUNkpqS1BBSUF2cXNyZjBITUNFZEJTVWhuUzhVUUxSUkVjSnBIQmR0dEl6REltT0hHMlN6QUtwT0lBSlNiendrSTYzd1JUcmhaR3E5TldTZ1ZKQWt0S0tSTElpSTlDVk5yQlRDZVltazBqZ3F6QWpkNU1wRnRIK2tJMGlnYlAzTkJ6QU1va29WZy8yL0pwRUFtdU1PU3Y0ckVHV0VxWHRLQkdjeUhqSGhPUk5WbFJOSzFBWEpsMUNteDlVVXlWbEVVdGt4eFErbHJrV1NNd0J1Q1Z5dVJaY2IxSkJrOFdGcWVxbXFuUmJTL2w0S3hMRm4wd1FjMHZvRzU0anFzd2trb3FtUFhxR2ljdGdoR1hxMlprdERNTzNHVHc4cVF2UCtESjU3M1h1bGxDbzB2TmdPTnRVUlJ4cjRhazVVRktCZUVqSDMxQUsyZXlFSzJwenQ0UytOR0VyakI0dGxOTEZjQ0diVHNPQnFnb3hRanArbUFUNlpUZGNsOHZuSlVSOWxWRVFVTnBJY0pobGFkTmRaVWpWUkVqRXNQU2h1eVcwSFZoRlYveW1qWXNzYVh0MXBzc04xZmVHUXhGYXdSeTBIMktLN3BaQTJjandzU0RFMElyTWRpTFAzcWZnQUxndlZrc3dOc1MzQ2RHMWQ5MHRnZGFSNi9DaU1idjJMamlSOGM3Y0VyejZ3a01aYXB0L3FZbE56UkZCS2hJOVFmR01mYkhGUFE3QUJia2VzR0tncHF0V0pLaGIwVXdza0FZVWZ5LzV1Q3JIbUVSWklBMEhFS3dTYTRwdDVaN1hJdE5TWGRQbkVKQWZQVmxYcHZDRnFLZVNwa08yRE43M0lNU0ZLZXlQQlQraVc2N2JhalNCcUFxUkhCRHhlYlc0V0RJc05JcjZUdUMrK0xVa2pUeDlsSVRxZEdsNlVrZTgxaDMxUlY4aVc2NWhCWEQxQWtINlB2KzJtUFZ3d0tNY2JxS1dFNzEzNWZzMHJ0a05XdHFlODZzQjVucVNLQXlsY25lYzFYRG9uUnlSSytwUlNMMDNLVWw3aW9PckY5RS9JdWNrN2l1R1BUV0dkZ3ZEM3pKZzV3dlZjVy9XRDZoTGIzQkhaZG0xWmJXczVlT2VoZ3d1eW15SXpCODBpeU9GYTNBQ2hUNGhxQlgyWEdQYWZmcDRLeVpuWHRDSWdyeTBRUUhFYzBPK05RdWVlRjkyY2VHZFAvWVhFSUY3ODc2L2UxdUFwSmp4SWVDQlVpVUlleDBGdVNkd3UvM043MzdnY2VwM2NKMVAydmlDTys5bkdtTkMrbnF4ODl2T1FrTm9lZjhaZVpDclJ2SUlMaUVvR0dEd1lSWTZWd1JQYVAvcHliMS9GRDNRbGdjYXl2SkRqMVk2UVhlOTIrV1AvNlhzSlN3VHR1ckQwUE1EZW03SlY5eGoxLzFEamFGOEZnTDd4U1huS2NSWGp2dUZMbnRQbDVRSm5mL2p3WFRISlZkRHNTZXd5UnNsVmFkZEwrL0k3T1ZUblY5bE4rSUJQTnVCNDd5OWMva1hkWm9LMDlYRloyN3p4Rlc0N1ptK3BMb0hIMkZwVTlVcTQ1Q2t5Z3M0OSs2ZncwQVFEcFhqVlBRUnV2N2VCOW9ra2s4OWRQWHEvUjhkQWpyZWxWMFppZ0NTeE13WE1GQ3JKVnJITGtRQ3ZWbzJFdi84YTUwbjloaXlGUEV1V1dZT0lGNm1RMUZ0b2FNR2pNQjE4YzU0YjVMajNOMkdJcFJ2MHlDWmJTYnFPZkY3VDYyV2FHMHZoNjFnTGRlVXFIRWoyVVF3WXh4RWNsRlVlWjc3VEFHeXhpSkFDNUNKdE1pVzVuelhSaU1tVmdqWFVEeHZ3dnZ3aEYrK2tsaEpRUDk2ekQ0VTNjV1RpU0NxdDVsQUxjcDFORk5BME0vTnZhTldTL1ErTmRRajZCa3hxZUpKYW5mcVExWFo2UVdYbVJtaWY5QTFod0oySEF3VHFYbDZKL3p5cUY0a2dlQ1d4Q2k3Z1dFdUdGZmptcG9aeHBITkxvOXQwbHd4cURGYWlwWVRHMFY3MUN1ek1lV2p6YTdQU1dvaXQ4Uk10OGFHdlpsQ3g1WjBNMVRQekNQRk5tbWFqZ2FsQ05DUmFwZlczSGFDNU9McHhrZFZwNHdRV3kwSjVSZmlaclFRblVqV1QzZzJnTEtUVmxaTE40RzlMdUhKZUk4bzJSUjlIVXIzU21EbTZPNjdKY1lPVGNmand0UVdtckhSNUVnc0pRamxZRHhsR2svR0RSUzR0bktwenFrWnZsZE8zbkxPbEFQWDNZOXBZb05QeFRFMENyMXNtTTVWYmc0UVFpcUhRYldycGprV1Q4Ymo4TmdZb0hwWWtrVno2RmpXS3VHVzdNYlVjUzVPeXhqcEIzemlObExNR0FubElMUjN5ZVJvNE1tNDRVSkJNV2tUcjh5ek1tbU1pUlYycDVseDJ5Y2R6Q3NwN1YwempYUThtUlFCM2daYVRSQVRIVDdyUCtuZUpuOGZhYi9jVmh6NXhoVHUrTG80RHlldXNwbmpxOG90R1JvY1JmcVk4anBybEZTTFNxdXlqR1Fld0R1ZWJLT2pUMXo5R1hObnB2a3hwWkswTU0xMXpSNnIzSklGMHp0UEM5Tk4xdW9BNldzeTNUS05LNWw3aWtBWDNmU3VtRDVVa3kvQXRmaThIVlBkYk5IS0xWbUxiQmhIU3pESU5MTUtxb1dKb2NmRU05dHVaYXl0TjdyODNNZGV1QlJydmk0bDluTFhwcGpqTW5ZNktJNVJJTjZDVFpNZFF1cDhoelhWUmxwTjBRTk56ekN5dVFjVC8xcGlqZHViSi9KWWJKTm1oU2tKMlRaNTZ6TGhIYm5EMzd3TktVOUc4dzBCTHJPeFBxN0RpOUllSFVjMTB6eU1BcUd0NjZiQlhHSXhMVFJNem52dzY0UFVqUlhOWjVscHgvS3VySFlyVVF2YmhrQnNvb0pwaUg3bytac2Y4STYwYUFhbDI2WVhCd1laRDhFUElKS3lhZzBCTUpVSVFjVTNmMzhJNDl6K2cyOE1vMDR0dmNpZkk3WVhCVTJSeHBMTkpLUHdIaGVINXo3c1lCVHNCUlVhdmQydUhrOXRzWWdZaW1IclJqbW1PLzhBNGQzWTVabm5HdnFJNDNtbkFQOWJQMEdqaFY5TlFEUWprcHI3U3Q5NTYvRVdSa0hacnhLK1ZRRHhKb1pxWWdPYUlseTdQRnY1bVJ3THVBZEtyQkQvaUVJdmRZQTRWbWtMNlJ5NDB6MHVBOU02Nk1xcEIreldhU2hGYnNtQlF0ZGQ5dzlVQ3RBd1J2dmRpWEowalhZRU9mYTMzZmhDLzNhUnRQY1FCODUxZkVadjNGTGZqaG0vb1NDM1pGOFdobktYNTRUN3lFWk00SEhvZnZpTmQ3MGRoYVVpcW9kMlU4bEtMZUJ4b0JJNDZoUUlFbTdKQlpQMXBMa2xtSHFPZDNVT2RxVzlwdUZYL1IrQ2ZnMnFEN1lPd3piYjBraHNRdU1BdEhLd2V4U3FRZ1FWTjAwTDcrU1dDRmJlamJNcmo3UjY2QnhlR1lQa09kM0FkS3hnNnVwN0dlMlRqbkR6N253RHdOdlNJNjhwN1QyUTQ0VTlRVWxvNUMrLzg4L0RGaFNSVlUwZVB3eXhLMzRkUmFoMDc5dUlWU01kYStpc2d5cXVCZUUwQTI1VTNGdFJ2bFF4U3NRMStoVXhYaFRkdHFtUWMxNEdJZkNoZ0JmZzY1cXNPVlhObVllZ0lJUUhYbEp1U2MvMEluZkJVdThBWGNqbFJqbkt1WUhTM3l5ekltY3oraktnU2NGTDltVUFJN1Jnd0lHS0s2MG9nT1VBVzVkYWhURnFLQ2UydDBBbTBWR3l5U05lc2x4alg0SVlaaGg4QSttUHlnd0xjQTUwMU1wVFhUa2pYWU9tNW00SnpDZmRKNkVxTndQVGpWY1BaMGJKanRicSswNUx6bVFhb1UwRUhBQ1hKSWZhQ215b2JRNlNWWnBiMGdoNTdrUmxGTWs2UDRldkRWL3puS0ZxMllZRkhBZHJ0WEptVjI2Sll4S0o1cGJBSUpZNlF2QngweFFpV2VPN0RBZG9Zc05hd0lKaDVudFA2Z2Y2bVFMaGx1RHdRL0VMSHFxWXRscUNzRzlrOThNRjE3RFhZNE5YUkxzbHUrTkNXNXNnT05zWHhhVmsyQXB4cmV0Q0FHMEZDaFRGaVpVVWFIZHdYMmI1Z0ZFa205YzRWUnZGNUtqa0dRRnNSVUlCZFduLzRJeWRwdUNTU1NRVkZxUnlIQlRjRjlUQkhjTW9oRUZ5Y0pIakJpaDJqU05Dc0JXSjQ5dEFQbC9Bam4zQklaTkk2dHBxU1VmdHdoT0ZqS05rKzRySXBqdTF0OHNSSWRpS2hINFJXTTcvRlJsWm9ZTjB1UXJ3K2RabUUxczRVTzlSWERDcDk4cSt4blZVMHRRUU5oSGlRSWw5VkkxUklITk5GcGVyMUk2L0ZlSkFrdnVBVVNUVlBZMXFlN3d1MFdqUFpxTEMxbXJiVEhzYlJFS3grMzNKSmJLZE5DMkJIS05mRWhvbHNDRkdXN0lXQzBRNTBGT0dMNXh6dWNUa0dMeDNXdGZka1RWZ0FVdEVlQ1Z1VTdtYUV1Zm91b1IrMXlVaVNrVnNJZStuQnE4SGZNQW9VRjVkbmNGQnZuN29JVzBIM2c5eHNHU0tjZWtXRjFuUzBhcEQ5Wnp0WkZmcEIrNldZT2tqNGozQUdGSnVDV0tIYnNRTE4wYUNkYjhFdzQ4WkZHZWI5ekZQMzFEVEQwYkJBYWkrejV2cERVc2ZGVDZ4ZVp0TzFEVG0xMjVjWkRtdm1XN1lwZDVSVGNaMDZteWo4ZEx1QlJ3bytUTlJ1MHpwRXRNclFYNWRtM0ZRTU9LOUcxY1ZsN1hodHVwZXFXajFCSlhibStRQStId1VKS3FlOWk3NGhyQmg3YjNOM1JJS3hMQ291MStGY2UzOUhJOEVPOVhSRmhTOHRibWtBS0pBVFZsUlhjOHQ4WDd1anJhaU1yM2hGNE1NYUdJTExxU1VGeFBndW9iQUdIN3pVeFRCM1R1V0JkSnNNcHdGZFE1c3E0VkVuTFNIdkJWLzI5Q3FjdXFEQXJwYlFsRkgzKzFmNzhzYVc4YndWVjNNaktBN1Q4SkFtNi9JTWhZSWMyQlRocHd3bnhDakx2aXJJSWhGYmVtMHVsdENBdktEN0wxOVNkZUplQ3FVTlRpVUJFNkRwaXlxaVlsSjVWcUlPQUNQNzhqblJNOWZ3S29jZWtsRWlNcytYdnpYM1JKYVlmU250dmF1b0lDdktXR0J3MzFOT2FEQjRSZ05HMVJoL0FtRFlQMUZEMGM4dmdXb3NlK1RTRkg1U2JMQkFobDRDSnE0dkFYaUJhVlJVRmRmVUxON1FmbjhEUitrRDRISERaTnYrUjY2V0JWekRucmQzZUdkTExTMUpNK2FESXNvZk9WV2w3ekRndUJxS3h6MndDamlHa0NJWkZWc1dhVmY2cFpCWmEzZDZ1OEh5WDhWL21janNwMVlLd0JsZzhza1hvMHNqMFNhbzZycDlRd3RlNzkxN0NzM29lTURuMDNyN3A3bkhTNkx2UkYxOTFBclNWc1Z1VG5iQ2daTlZaR3RhQVNxOUhJd24wRmt3YnREcXliNnFaZUtHdEFwaWlUTlVkVlJrV0JMK3A3MlJGTWxGbjBub1hITFAxaDYyOWZ1ZEs2amdGRGRtNzc0azBONkV4NzdxYjhxQjdXRGJUUW1pa3g5WFBCbXZpQ2YzN292bDVHOG8rUCt0OEIrRnlxN2NkOFhSVEowUHoyUnBEcXFPaVNTdSs3Rjd0d3NJa0UwNjJ0TzhlZVBkNXpDME4xWjdBanBib3BKQnV5aWwxcGNRbEJrTnBVZDV6dlpaTFp0V1BieW1MM3VIdi9TVXcreS9TK09GK29LVExhUVBKRGNEbHQ3VVpLY01LbVBxaTdLTnhnR2svdHNOcEVVMjNSNExrbmlUcHkrS2pVRG40V0kvZUk2Rk15b3UzanBYOGZOM2hwM0pRV1pkLzhYci9RZmJTbGtFY1huVHlUcGo2cG1Jcm4wN0kvQzBCR3Z0bnJrS2FDRnozU2UrTHhILzViMnMyVlI4QnpYMWMvODQyMGUvcmE3bmhINXprTExkUzlwVTFWTDJOT1NSZ0ozUERyNnp6K1JLUS80NGNkSHorb1ltY3BwbER3aVhpdi9mdm5qUHlCYkRJQ0dzdGVCV2Vud0F1T1BxbFlpb2FxeWlpVG9UdmpXVWJack9NdFBGMy84K2RHdnN5eTRKV3dZc0l5cHdYeEVndjZGci8vU3U1YmhxT29URVVrOWJBWHIzWSttbGpRak9acWZIQk1SeWNLbGZ2TFNzWlJQUGZsUjc3My96YXQwUFVqd3B6WGlpdjVPVFhOVTlZbUlwR1NNSVdxUG9DYzIxRjVKUFdQcVZFUWtGV2JYVFYwYkwwREx6T0xUamVMZklQRXd5ODF5VlBXSmlHVHFFODhHc2RxZFBYWWlNQ3lTMTVrak5ZbnEwb25JZGxTSzl4MndNTmhjbStXbzZoTVJ5ZFJIRkhjbktSK2RPMk5TSVpIQW9ablZLQ0VMVmMyQjVQNStWZlVqeTFIVkp5SVN1QTVsMWQzSjBMU0h1NDZwVVJOSjhhL0J4bG1KQkpzNGVOQ255b05FbVk2cVBobVJsTnptR0xaRnNwWm5wa3FZcTdoNDlWRVN5TXhFTXRDalFoVGRMb3NueVhSVWRXcVJGTDcwK09neDJRZlJsNWo3bER3dVRXdWh4VFFMdEJvbHBJNUh2OUNlbVVoNmJDY2hHaUxWY2xIMEk5TlIxV2xGQXUvdWlRZmRtMlhSaVFuM0lROHpUcUIxbkxwdVFVNmtIMFBBUkhMNXVjK1duZG1KcEtGSGJHbEY0cnJvU012d0FLUjd5b0xBVzExU1U0ZDJWSFZLa1JRYjd2c2Q1eXZCRiszTTFGQnRhbEJsR24xZDFCeDVyWjZwRTBva2Z0SFppUVQ2L0pCMUIxNjIzT2VYN2FqcWxDS2hBQ091aG1jR3Jyekt1bVlHMTdUdW0ya2sxbVJCeXN3cGdkeEVRakhiSnVzTUxWZlR1aDFkMlk2cVRpZVNwY0FJOTM5cWFGTU9XTDlIcHY5REZ1WTE1WE5jYjRZYmdYSVRDZTB0MzJPOXBvbExCRnBMcHIwYzBEMGluNHFSYXBQZkRtcU9XenFSMUFNYjNQOTF4K29CNjFvTU9PRHphQXhOZ0M3SUNXQThYYUxjM0VRU1VnMmVlaGNzcjBXMk9LT3ZEU1lDSkdtRldzNHUybEhWcVVTQ042VHZNUVRodHlNMGhyOUoxeUozcE1ZVHIycHYzM2phaWJtNWlZVDJsdlBXU1VSaU0yYTJvNnBUaVdSYlJnWGJGUGt3bUJlOHN6NWM4emVoUkRNaW1PNFVjMXlrY0JpUm0wZ0c3Q04vYXBSRUZMejFHWStxVGlXU29Weno2d0phU21UZ0p2NjF4Q1ZOYTRaWlBHMDZONUdFVklNREVRa05rdkdvNmpRaWdWY2tGQnNkV1hOQmFxbXgvS3ByYXpyeHBOVkVFbzR2citma0pwS0dyaHE4N2Y4QlZ6Wk55cERVK1E3cld4dnBMWmtlS0ZXUFBRaFN4eUJmVzhKNkZ3cUZMbjhQQXNhb3FJeStPZWcxWmMzamdLWDRoVUplVEI2NXhaSHA0ZHhFTW1TZUlYV3ZEVllGM2F3b24xRjFmRVBsRTVMY0dQYnU4YU9xeDRpa2dWS2h5emNwcW1wajNEWU11MDVmTlR3T3FpWWFUU1ZodG95cktubGVYaUtoZGNVbTZ3YTVLV0lheUhoVTlSaVIzT09kbDZYOWU1L1hpWll5c0FmdWk4dE0yS3lQVWJENHVTZ3VpbmxOUWdGSFN4b3hlWW1FM0pBOTFpTE5TOWVDZE50a0ExZVZ5SWhzQVBweVFJOGJiRmlaR0NNU1NSTUdwR25oZmM0anQydUZ5ZVlpblpkSXdxcWhCQmFMbDhrWTJleXFlQXN4cHFWOGZVcGlIaXZUbmE0VUlzRVl2ZTRYcG0raFh4N3lsMFhnNSthZWwwaENxc0VCeDBVNEJhR1ZjdlQ1ZGQxRGU2ZDJPWkhuNFBtSUZDSkJrd2VpdGsxdHc3WEF6dEU5TDVHVTlBZW5lZXdvZUd5d084b0EwajJTYXhUckRoMEx4NDZxVGlFU3pIdFhSSnN3dnNTV0FJR2FyM3RlSXFucXFxR2lYSGVFU282alBDQ1o3VXMwWFAzNG82cFRpQVMxeThvaGtySnNhQjZCdkVUUzFWUURCc1pvUnp4KzFxT3FVNGdFcXVoSU5HLzREbEZremNjOUw1Rm9xZ0hIM3F1SkEvclZFQkVpM2JNVnNPVHU4VWRWcHhBSmpzL2FGL3crcjIwSkVOZzV1dWNrRWswMXZCNFM4WmFQL09lR1l4QmxRRWxzVzU1OFZIVWFrYkJQZUhvbVZSYnQwT2xoY2hJSnFZYlBQVVBYbCsvOURPQVBzU2VraUVia3FvSklYQk9PcXRaRkFtTnFMMUpiQkxFdG5TS0tTRWV5NXdxUmswaklMVkhYc2VZRVU5d3ZjblV4U2hJZVZhMkxCQUhGaTVIYUlvZ1Y4Um9zZGo1SUR0TGFRWVJrYmhBNWlZUlVRM0NOZnZkUGhaTHduenJyVWRWTUpMZmQ5ZTExR0dkdkM3NDJHTVBWb2I4U3V6NThFUzdTa1ZNNUhFTjd5bGs1aWFRRWVjUTlXVmVMNVBwVVhQZE1PcXBhaVFTVGxyZ21UVjdmNW1tejcrMjh0SVZZVGJQWU9ZcnIzZW5qY3hJSlZNT051SWN6SEFubmFHNUpJK1M1VTBYc1NEZ3VrdEdsRjU3NzVBdVhPcFAxU2QxOTRvRzIreDhZc0F1ZEd5Zi93Nlp4ekREZ2N4SkpWOS9ib0RWc0Vva1dFc09zeDFkRXZNTHNxR29sRXEzYUNZbkNsNTQvL3AyZjlvaStkYWcrdDVwUTZqU3lFNHZrbjd3dnppUC92bHZYRStJUmhxRUZMSUdudStsNFVTMGtodkRIVFY2QVlIYmlhenFSaEN1YzMzUlNrVEI5TGFadi8yNndudndmVjdzZTk5QnRGWldWSkNVdUJWcGI2Y3NzSDdBaUNUR0U1dktZeStEMitiLzUzSXpVRVNCTUlxbG9JVEUwdFI4cWpWZENZT3dvOFRteGpLbklkSTArSVRqRjc2UWE5amlDd3lhUjFMV1FXQ2ZxYTloUndsbVlBcVpwcmh4WHpxUkwybXlOYWRKUjFYYVV4SEYySEw0RWtjVG1teXd1MEIvSUFvamJzcFNQWmtkVlc1RklUazBCVk1lNEpZNUJKT1R6N2N2NllYRkZnaVJHdjBTVytLWUNrbHBjMHoxMGQ0eGJnb0JHeE91Z2RkMGQyUVJGQnEvSWxBK3dvNnJ0S0FueEpsRVN0a0Q4RHFoNk5PeW9ud2xIZTFYM1ErMlUxSzR1SzVJUWI1SWtLV0oxUFpZdzYxSFZWaVN4ckkzUG9JaFZNelk3NjFIVlZpU3hySTNQR091V09DVzU3VkhXb0xzbFhVaTBML044b0twbU95dVNFRytTSk1lNkpRZ0VSTmJlMjlwRUIwMGsxK0ZGY3pWbEUxaVJDS1pNY1MrQnAvSGtoaTBpb0Q5UUJaQ0tGTzhxNVdSRm9saVZHQnJybG1BZkZ6ODFnaXJWM1JLS092b1U1cU9xclVnU0MwSVJRalVZbzVFK0JWYkx0eFF0UWJwYlFnTHlOOStaajZvK2d5STUwdm1WSWdWbEVPK1dhRnV1L2NwMXQ0VHNOWCs5cEwwckdvZFpMZUd6SmhKd2MwL3dJZTE5dkZ0Q1B4TjVwRmRkRWpMdzBEUnhlYXZFTVVkVm56V1JnQjFYZEg1Tm42TGpVcTZOS2NiMnVmbFVQWDRLa2ZmTG5wNUlZbzZxUG1NaXVRZmN2QldhNmNjdzE1eFZSU1hqTnFkblBLcjY3SWlrOExOWEgzZ0V6SVJ1L2NoRGYzWms1dlpFN092ZmUzL0xxK1FqRDkwWEo5cUs4akhTSEZWOWhrVGljVkw4YTA1a3ZwbWdLeXJBL2NoTUFsOVJuRW1RNnFqcXN5U1NTeTk4ekw4KytYeW5HY1BPU2VpYWUra3lxcUc5VmNkeG95VGpVZFZuUnlTVG1EMjcvSXhIVlZ1UnpFNFVzcVpzUjFWYmtVaEd6ZzdJZGxTMUZjbnNKQ0ZyS3FrWW9zU05CYlNqcXExSXh2SXFYYVoyNGxtU0tnWThVR3hGa29SbFU5SmtPNnJhaW1SS2RpY2k3OFp2dkRPVjE0K3F0aUl4OFNncnJqUm1hZDVRdDM2TXNoV0pnVVdaVVRxUEoxWlgwbmJhV1pGTVpGZ2FnaXhIVlZ1UnBPSDR4REpaanFxMklwbkkzalFFV1k2cXRpSkp3L0hKWlRJY1ZXMUZNcG05YVNnR3ljM2c4RkhWVmlScEdENjVUSWFqcXExSUpyTTNGVVV0OHRGdVhEWGQwT1pJSzVJNFRtWEVweitxK3B0ZkpGL0F0K3daMlp1cWVMcWpxdEhaZS9uU2ZhcW01N3ZRdHJkVzNqK0ZUcVk2cXByMmVCbk9qamlGN3VmWDVPbUp4RWx6VkxVVlNYNnZBbXBPYzFUMWJFWHkvN3l3QWNCMDVnUTBBQUFBQUVsRlRrU3VRbUNDIgp9Cg=="/>
    </extobj>
    <extobj name="334E55B0-647D-440b-865C-3EC943EB4CBC-31">
      <extobjdata type="334E55B0-647D-440b-865C-3EC943EB4CBC" data="ewoJIkltZ1NldHRpbmdKc29uIiA6ICJ7XCJkcGlcIjpcIjYwMFwiLFwiZm9ybWF0XCI6XCJQTkdcIixcInRyYW5zcGFyZW50XCI6dHJ1ZSxcImF1dG9cIjpmYWxzZX0iLAoJIkxhdGV4IiA6ICJYRnRuS0ZJcElGeHdjbTl3ZEc4Z1hHWnlZV043TVgxN1d6RWdMU0JRS0ZJcFhWNTdYR0ZzY0doaGZYMGdYRjA9IiwKCSJMYXRleEltZ0Jhc2U2NCIgOiAiaVZCT1J3MEtHZ29BQUFBTlNVaEVVZ0FBQXRFQUFBQzlCQU1BQUFDSFRqdzhBQUFBTUZCTVZFWC8vLzhBQUFBQUFBQUFBQUFBQUFBQUFBQUFBQUFBQUFBQUFBQUFBQUFBQUFBQUFBQUFBQUFBQUFBQUFBQUFBQUF2M2FCN0FBQUFEM1JTVGxNQUlvbk43N3QyUkZReTNSQm1tYXNjWmFQekFBQUFDWEJJV1hNQUFBN0VBQUFPeEFHVkt3NGJBQUFXVjBsRVFWUjRBZTFkYVl3a3lWWE82dW03K2hwN3dWaUFxczBQLzhGTHRROGtaR1Jxc0dZQmpaR3I1UU44c0s1R0xQekIwQTJTaFRpN1pSbWhCVU8zeEdMdEgxUmp2QlpvYkxtYU5ZZkUyRnVORVpjTXJqRTJFa0xNVmlPejR0eXQ4VTZ0V2ZmdVR2QmVacjRqTXFPcXNvYXVuT3JxU0drbVg3eDRjWDM1OHNXTEYxSFpRWENlcjBlKzl6eVBQc2V4ejVubmMyenRIRGRWYkh1a2Mzbjh4WWVNUnpvUHBMK2xaanpTb3dmNk4vK3hBVGg3cEVlUGRCdFFmdlBMUGRLalIvckwxOTcwdDhFRmovVG9rUTViOEVqbkJMVFg2YnlBOWtoN3BITkRJSytHdkozMlNPZUZRRjd0ZUozMlNPZUZRRjd0ZUozMlNPZUZRRjd0ZUozMlNPZUZRRjd0ZUozMlNPZUZRRjd0ZUozMlNPZUZRRjd0ZUozMlNPZUZRRjd0ZUozMlNPZUZRRjd0ZUozMlNPZUZRRjd0ZUozMlNPZUZRRjd0ZUozMlNPZUZRRjd0ZUozMlNPZUZRRjd0ZUozMlNPZUZRRjd0ZUozMlNPZUZRRjd0ZUozMlNPZUZRRjd0ZUozMlNPZUZRRjd0ZUozMlNPZUZRRjd0ZUozMlNPZUZRRjd0Z0U2L21GZGJXZHFaLy8wc1V2Y2RaWkVhTDVsRlk3NDJUajFxWi9xdXkrSno0OVRuYkgxWk5lYWxiSks1U0syWWd5enRGQnZmblVWc25HUVdhdkF6L2MrUFQ0OXEvNXV0TC9lZEhHWVRIQXVweCs5LzhwMVZBTnFZano5ejh6VmowYVVMNWloYlB4Yk1KN0lKam9WVU0wUTUvbTg4REYvbldZM01TcVFIY1ErdndKY2I1TnEvTGZUWVU4M3VsWSs5UHJxdVhSNExwS2ZNcGtZTjVoRDd1clBEMlZQbW1HbFBESTNBcnJHczc5TDlUMVVRNnJjK2ZmUG1NKzlzQUhXeXgzVTJ4c3BsNG02ZERhSllUYnYyYldPNk1md2ZxUmh6ZTQyR1Vzcm1wWkM0djJzRUxwZ05uUXpwYldQWWRpOEExT3liekpxcktXSFB5SWhBeTdER2NvbU9NVi9ueEFvWWtEMUtWZmtKRU1mZk15SlFkSzJocXNaY2t2S2cxRitsVk11YkQ0SmkyUHVLZVNGVnBBQmFmQ3pjT2xocVNpMDZiQTNsK1h0ZkJPcm1SaXAvQ1pBK0VpNUVhY3hPbkp6M0g2OFVZSWFqYXJhUEZ4Wkd5M3dnMVdCeWs1S05MbEgrUGhRQ0N5NHpQUTNRcWxxbUlIbUwwdHRtaTBoL0h3YUJHZVZrY0xtU01YcjFPZ3RJc3pGdjZybVNTM2hpSUFKTmw0UGNzc1BueTRBME8zMHIzbEFQQk5VcHNHM1cwM3pMblE2Q0dVQ2EzYnc1OFVQU0JUMm5Od0lOeDdvbGFDaTdERVhSYkxPZERveXJSTzhHZkU2RXdJSkxRNHVBTFBzYUlGZUM5RlZHck9aNkN6alhFejBRV0piNGhrak1BN0pia2d6QWJDdDBXd3AxSmVUSi9naXNTdkJJQkhFRzNKRmtVSUgwSWFkTE1qc3l6eE1ERWRoVkJwaUZjVTNJaVNCWWdPUWRTUytPMTdhK2RHeThxYklyak5GVWNRN29QaTRSM3lMRFdMRjhiZUY3eWtMZ1pXL28vcEJtVkpRQlp2NitpazREc3dSSUgzQm1BRUVSU1NTb1YvemFXb0pUZlBSaE1UeUp2RWxPZnNDWXkrWUhnbUNPa0ZPUlp4bDNXNFgrZ1Z1ekQxeUJNYUhTVWlTa2xzQTdOTyt5bUw4Q25BMkxjejRTTHpjbmU4SGo1cWhRalJmYmMwN1ViSGNhb3g1N0doOHJ6cWN5TUFJSTEvY3BIWWEvVzZNZFJDVTgyU1JBc1E0anJEOFBTNUZJTFFIRjlKRFJuVlo2V0RibSt5MmhobzVkUzA2eGhyRENKZEsvWU15UC9Fd3hha29FendGVmkxeTZ1UzRZNG1qNE0rWWtQVzUwcDllWkRmUGhuVU5PSWRGeHg1Z1d6WE1QWC8rbW1pbzhaYm8vYVpVOEx3a0lYK3lGWTBVMG9rRlB1L3dJeTUyZXJhTEZzYTYyeXpNRWN4N3VvQmM3NExqRVQ2WmozbXNWUERlSkdwMGszbVV2YnRVVm5VWjNtclQ0STFYVFBVb2d0QzNoSnBXekhPL2RnT2szMGNuVkM5U2Vram9YSktqMFpqUlFnRExlNFM2NVZpRk5PRXNUQ3I3eXcxK0dRUFZlRXAxOTE3b3lxTlBoMmZ2Z3JNZ2FscWxaQzgxa0xST2MzdVlnSEppSCtBREhya3Z0d0lyejFmMGYwbTVCcHU0cUZGVGl4eGdVcWlZOEtMbDhYbGZ0NEFiVFNTOUErbFlFWElzZ0Z4eURvQTA2ZlEwdndQdTVBNTBUMFNWNkkzVFduTVJTNjlHT3piN3RHMnJoeWFiQlpMd1FqeEIrKzdFUmtXV1gzalg0UWZ3eVlIYVlnbVhWM0VueGdoVTVjWU8reTFGUTRBZWJGcDVzRGhpUDQzaUVxK3pGdFIyVG0zYW5uOURlTWVHejZvcHBOK2t4Z2hRMDlWWFlxTm1rQXVmc1hwVkk2QzZUSGRaelFjTnlwenZrR1VwKzRFUzZkU3dTOE03Y0RoSW5XQ1YzMGluWTMrWkZTcG5jYVZpRUtGV01JYkRjYWJBNXZJTklFSzFLVGNRQzQ3NGpOQjZCMm1xa1Q3Q0t4Q1JUc0FBbk53d2krM1Q0cStaQUdzQ1ZKVG9zNEVtVzBaazJqc00xRFczUFc5QlkzNTJaVldoakFxOWJpTkUrZTNZQjdMblM5RlVoSjRSaERJS21CaGZWYzAxbEl1bEVtbDhZbEFEejRiQTZtQk5mazR4MGh4MktBRlp4ZEI3YWhmU3VQQWpBQlNCYkozemlPeWg5Z2hNRUJjc2R3ZWRqUVorVW4yU2tZZXliOFhnaGdCZXFPU1JkU0pmbFFZQkVWVndXZ3N1bDB3dHNta0twN1FGL1BYYUNrY1pveEZFTWxialRzR0JPejRnVmVSQkJvRjArUVRxdHIzTmtqeUloYUVJZk42T1M1K0dPNGZ5RGVLQ2dVT3N4NmZJOVFIS0RJY0hkV2tsRjdHbUhaWmluOVdja2dzWDJ1Skp6UmFEclJnUGVaWGZhNWVXaDlxK1RLRzRhOG9LSG1DNS9PcUhUUWRuYTVLV1M1K0VPZ1R6MjFnQ0Z3M2pNampVaWF2OE9RNEw3NGpjNEZSR3JEc3VRc05NWU83SG15RVFWRTV3RWY0RXRxYmpUb0hya2hmRFkwVVBqUkhna2IxMlNJZFYwZ0dqN0hxRjVWODhyVWNGRUoySGg4andOVUlHK0wxektCU3ZPMmgrZFFEaWlyUGhla29jbU9mWWtpY2JLdlFjbUpTYVVBcVRwQkxSeXB3TkhxSGxYUFlnZ1BKSW50aVFDeHhuVXJwQkJDbVZLNWhHMUpwMVFUTjNEVXZFTE1NVHMyalhUNmdsV1hGbVVOdWptV3FKSzU1NUxlVTlMMVY3Q2lUWDVpTFRFeE5Jd0k5NktCd2VnYjlBNEhmdUlGWkVFcVFZQWRralM4ZDI1ajdoN3JLVG00WFJaKzV4NkgycGRXRmRlM0tLMnlSRlVBQzAvaUhBeHJ1YkhTS0xORDAyQk8wMFBFbmwvQktza2VLRG5jdkVDTHpOQlVWT3Y5VXdxTEdlNzB4akFpQUozUzJzTWE4MWNaWnFKS2IxMHFRREd1SGk1d2RubmlPQTRNNjVGRG1uZ0VMVm1PdUxaN2pUaUhua1ZyWFVxQTZFUUI0SUZGVWxkQ1krbWdzSFg2SFB4U1NmSzVNL3RFM1k0WWxDOEEzdmt0anVOK3krUnoxZlpJemtJaFRCTlBMaTMxem5SRGl2RlJjOGU4ODRQUWNzTnhFN0YzU1R1RkVQUkpHakRORnFQME5vdWlMV0dwN1Btd0szSkhzdEs3THpVQmlqMW4vNGNYbzZxeHBNMWw3RzdZRFJDTzlHNm85WXdlUHJsMkI1WHkzb1FHSjRPa1o0UlE3Q1VzdTFoRGZQZCtPMG9WR0pWUnFYK2I3dDJLMVdIZlBkVHM4UkdrZmoxblF5MUZuN1FFaXBsN1c0bmpFOC9ZVDZvM09rQWx1T1hyT3J3V0l3T1dOUmlGZDhYc1JWTFFFcVg0MFZvaXcrYmJzTjAydWNJWkQxcjE2V05VNktXbzBOV2cycHJiR3FKVXRidUx1TXBtZDgxSHdWRGZGVXEyTlVic28vKzFVODFzTHJYdmY5dll2MkVSV1Nvd1FWbGNhZWRSNWlDWU5uOEo5UmJmTWljck1YMUwyQnRiM3YvbGpSblVWQTNYQ1JzWlkwNDBhSDFjdjkyL295T2NvWmlwY3pkL1pEcE5zd240UXlCZGgxV2FhS0V5c0FSNFlzMnhORVZBZFFmVWFhOUxrdE11Nk10ODZuWGZFY0Z0c1daSFlZLzlJUGxIQ1RxU2IvSHloMWhZaWJqNnJWUS9VU2lGNlZzaXZGYmpaUC9DT0FjaHRKUCtMV1EyQXBFbGE1TDFFVFptSThHbjlVUFoxdXZiRWdNNzRVT2x1NSt1K0s5RERsWEZVT1Q5d3pwU3RZREV2V1RROTFoRExnTjhRb0NkS3I0bko3ZUxuN3o5YkRpNjM5NGtSdFlxT0ZQWTNUWGFyeE54a0l4VWZ6eHhwVUhkeXp1L0plcVY0NHRqaVJHaFBRNzhPbktkZVZOdnlGTmh0U0tXZGVjZnhOWjBKT1AvY3VCWk00bmxXb29wQ3Z4VWlTdXJ6cm9UU3I4OUdQV3o3M0FuVlpQU25vMVBEVWFwSEhuTTNGOTB1NWIyWTRTSklTTitYY1JMOHNiSHpLSFF0cjI0c0Q1T0phS3MxQ3oyaDNQVXFDblRBcnBoY3RyUFlXelozd3UvbTdzZ3pmeCtrb1ZrTFRjdGJuRVBQTzVKOStPWUhlZnVYbnp5YWZlZytRZmNHT0xhdEpCNWpCSXcvbzY5c2FpNnBvY0QrSHEreE9MSE9qdUx6YzRONFgwcnA1QkJwZnZMWUV6OFZ2aTdNSmZRT0s5U2hiRFg0bEx5Uy84R0lpL2x2SUxpY0VPZ3pSTWV5OVFQWGdmK3NNb3BhVHQwclVOUlNlUi9xdzFWdzlWVlVJWXZhZ3Q1bjBJNGcvSzRGWFVsbElzZy9MckpQL2JrTmloeEhZVTlhSGtNRWhmU1BnQ2hYVGNsS3AxMzl2U0RiZEFabTRDNlQrQjkzd3ZjK0crZ3JnNkZVTkVQMUtJaWl6cEZVUmNDOG9mY0kzZ1F2RnJQeTFQQVBPSFFicWtuellXanNKQlNHVzZpcWNYZGJhUUx2d2xqUGEwa0lhOVBCVmF4RE9Kc2g1b2FvODFIckl0RDhySXoybkpOaCtEa2Y3QXlWWmNhZHNrWEljbW55TExoUFNVM1hTbU1qMkVCT241bStGTWRHcElsK3lRQWtMSEt0dEpqQjg3Wjh0alpIMkQrdHl3YkkyTmRQRUxiK2kramlzT1M0QWRpaU5FRUp6ajB3aFJaVU5DMXh6V1Y2RXVwKytDTk01STNWZFZUZzNwbHJGV0FHaUdqK1AyblYrdFM4ZzMxRmFxL1dzZEMybFlhanp3RlhQYmdyck9vZENrbVliMkd3bWZNUTJKNXBRZEtxSHpoNkFWMGxkd3dYQjZTSGQ0M3lQc0RrYUtiOFVkbXpHV1F4QnhRVjVIUWlESkx2ZWlGWUxUU01PU0dBSTkzeERyOEdGVTB6WWpEZFJhM0NiZGRvZVo0Z3FXc2xBVmQzY1hwS1B5cDRkMDFUNXNndWFBb3VkMWg1bkdBN1gwSkxBclpaQ25JYzJTTlFnWkd1bDlFLzRSbkU3bzVhekVnYUlhV1E5NHV0UWtWUVV4dUV0TUR5UmNINnNlV0tpSHdNaVF4djJMVGRVb3JDRllRV3Bpc1ZraUtRL3F5Rzl1MFpwYkZkS3pKbklkcDBORVYrTW4xU0hYcm1Vb1hzL05nUG1RaVZseDNXU0xQclh1emg2S096S2tjYXQwUzNVRnJVYzhUeFh0V0VRa2xKUnZnL3dCbGU5b2gwZ2hYWTcvRGdoOGhnQkU5emNpK1ZiOHM4SS90bGRMY1dVbHFaYXE3M1V2cGwrSlhxS0QrU05EMm5hUG8zQndqUFJzMGlIQWJpYmxhNEQwR3ZWL1Yvd1E3VS9EMDRsRUlNNXlCTitIZ0g5NFhUQnYva1VJMHYrcXdlL1ZwSzc1N0grbFpjYlNsVlJOd3pGR2hqUzR4Mnhuc1V1SVpMd1dXWFNzVy9Cb2lpVVBabHZTcTdxRTZIU2RYZlFLUGdxMk5tRGp1OWVnL0hjNXNkaTJmRWFuU014c0QyRm8rdFVUNW8wTTZaTHlIYkFsUkQ2ZXNlcGFRNm1IVFZzZXpiWXN3bWYwV3lCSU45aUhhUU0xSy83YkI5LyttTG55WURKU0d6ZVYrYSswekZvVERYWDBidThqUTdyRlpqbnFHaUJQMnhGdGUzVWQ1ZS9iOG1pMlpkR3hwRkNYMVRpNDZGdnh1UEczOTlQYVNZejV6bHRaS25ibUUzTmZIaDJ4L2gvM2tTSGRzZDNqOE1Ec1Z0UlJGVHlTbnJkdGp3eVhsT0owZzRZZnNDanJOTHdtaHpFWGo5NjJObG1rUHpHTFJuM3d0ZUR5UlFjWDZ5VXhNcVFidG51TVM2TFk3b0svNStoTlFyNE80c2NpMW1EdFZUUGl2Z1RtNnVEWFZOZEV2aisxbjBuN20zTG9vMzkxMlhKSGhUVHV1bWdkUTdzYnY3UlRBcEQwRWVVM0pBay8vdUUvRzRUYzZQaEdsTTg2WFNPM0VkSC8ybFQyZDczd1JkVlNUL0tKekUrdVp4VTZZMVJJby91OHBSckNxTXJWS0gyQklGZlpBY3F2Q3dNZmpGYThsbG8vTXRJOHhlSnZrcCt0eC9PdFZESmUxS2lRUm1SMzFGQ2JrSTUxUkIrNllJbUVQQncxdDR4cFhlRk9TTVBUdUVYbDRYTW5qUzFLak9kOVZFZ24zZU8yck1WM0ZXb01Ta0srek01M0pMRUtNeDVkaERUWSt3M2lyWEpRaVRoamR4OFYwcUREZW9HQXh1RW9IbnhaVkZIZ3NPVmgrNityM3doWTE0Z1ZKcVRCRWJ4QkZZQWJRbnVXeEJxMys2aVEzdWNKTUJ6eHJ0TFJHaGxzallVdDMwa2UyMXhSTVNaQ0dwN2VPbFVCU0I4UVBhYjNVU0hkdHR4alMwZXJsbE1TNDJMSlA2UVBJWVFDWU1ZWlFFSWE0ckJIeEhUOGdvV3l4dVUrS3FRYmFyb0s1aURGTHpvY1VoYWFZUUFKV3Fnc0FORFc0UkFRZ3VYZ0dza1MwbERST3ZFdUtKMG4zcGpkUjRTMDVSNS9CbUFNQS9iaDJNRmwyRXFCZ1BKWGtWdDQ5TytyeWE4NkF4c3N4UTVtNDhWSTEyUnQwMUk2SDBtTjNmOGpRaHBud0M5ZXhPdVZ2L1Fsb0g5WUJnNHV3NUdrWWdybCtYcnI1MVA1MmxJdzBuVTIrQmdvVEpVWk04YUlrRWIzV0s0VHZTWURsNEhWazhGQStmQkRqS0QrNXQzTVpnSmVoSFZLTU5JcjVQck5WOTl0d0xvc2I1RElPTjVIaERTNngvSFYvYzUvT3RRamg5bnhRS2REV3R6cHViWnpwMFJGUVJqcG9CRnRQaTNCbjFCdXc0dXlleWxWN3hneFJvUjBFMkR1TVVwUTM3VlVGc2lUK3cyZmRMWjk2VkJZclZJRTZVK0g1djlucTg4ZWd2SGVMRlNQVXZXT0VXTkVTTy9iY1gwOVlMQ3BsbzZIZVNEUFFXTVFpRGRuVkRFbjByQ0Ivc0JURmZON1VOOUM5Ym5hNmNiZVZPT25RbzRJYVRBQnZjYnRSQnJrNWJ3QTJPcVUxbk44U3ZrZXNGZjRoY2RPdnVkSFF5QWViM3pxNEZRUUdWVWxtWkYrUmZoTHdOUi9QNS9XVCt3cWdQWDFIbDJHNEZHNkRNamZZdm1XVW1CaVZ1V1lobGdQeWp3VDk2eElxeWtPVExDNlJCWFZlTkU5RnVSVUJwQ3dtMkl6SUdXNTMyQnphY2RSQk04UDBxc0tYSXQwR2dsMGp6Y0ZKb3R5SVEwK3RuaHgrTXMyTnRwVXRDRlBic0oxZWdyZWI5ZlZmUzFob2Uvb0htOXBocUpkU0lQbnA1eHNDQmZkVVFWQzh2em9kSExrL2ROb2F3NTZpTGpzTktDdlRFcFRYRDZ1bzhyclFUQXVhOHcrUTBSV096M2NrQUFyaFp4ZDF1VjdnTDBnZHhxRTYxWXFLdTJSdGxHazFINXZkeG9QTXgyU0hOMTNMY3ZjY2xnUDVZNTRuU2JZNE43dTdVN0RzZHIwMjEvVzdqVHVpNmVPYWFrWjFpT3RrRzcwZHFjRG1QMTJsR2hJVml5bnNHcHBlQ2dBYnVBeEZmSklFeEtSZTN4TGtqWUZIdUNlelFtLzZiWEJQSWpiVVpCTzg5WXA0WkVtSk1LNGZVOTNHaitHZENTaUlXVzcwM2drTDdrZUFna3U1SkVXK1BxNTA3Z2VYQmZSa0xMZGFTeWRQQ1VETHdLYkhJKzB3TmZQblVaVGNVTkVROHAycDdFMDdTbVNvSE1ma1RMUHhuMGsvblFUc09vOS9JWWNpSW1GVmkwSEdsS3k5STRsUU0rNVFxL1REQVgrbnBaLzRTWmNvbW9TbG90WnU1YXpVUUtrTDRVNWYwNUY0STh0blREdGtXWW84QmR1enNCVEpMR2RzZzBncjZaQXdEMWFlaTlKbkdsYWVkaVRnL1NSUUhhWFZLT1BPNDJMN1dUb3VtS1pDM2dqSXZ0eVFiWmVtbW9iWmtLUUJwQzI3aEpmTHRZdk9nMUMralJqV01hT1RrTUVLVjRRMXNVbnJ5dHZaRUtRaGxFbVBRTkdNQ3NCam9KRTN0S0ZacEl4VVhTZ1ZhT3JoSFJ0aXd1M2xHMmZES1IvQjBiNTRpRVA4TzRJZlAzN25QeU1mcWFwcW9ZL0JTdHI3UUJtdjhoNnpLdVBWblNVd0psSHV2aHRONStLUGdsMjhyNm4vK0ZJSVRFTStabjduNmtCVXNhODcrbFg5M2hpc041YjR5b1hQdndULzR6aXQxLzlkdy9IVFB5RitTV2dTMkttNFVmbFIzR3V0V1BMdkROQWlEK04xbEt1emJ2c2UxdXFVT0RZbGVuQXg3YVNKL3pMNFlTNlVMM0J4UUQ4UTA2Y2ZaMDJsNis5UHJyZStGajFicEhlTnBldlFEVnZ2SGE1ZWlMZ01Fb2hvVTBCb0VvWEd3dFluSitzRmRzdlNhbFp2VkZ3NXBHV2NZMmEybFhUVytIaTlmQ0JGSzlmWE9OMlliYm9hbnNCcHZ0RnpnVGZSQ1NGTy9hVVdJLzh1aHA5STZKZmU5LzRYOVVIdHBSQVV5OTJQTklLbWY3a1ZOTE42eThPdWR2YUMvUklEOFNMQkdEdUpUTGp2YUYzMmozU0dWRURNZXZES0JtSzJkOFQ5RWhuZ0N3V0thWGlwdjNMTHVzQWxKOFIrNE5sNVM2bllreFdkaXJSdFBiS3ZFNm5BT3JKR1BZYmxtVnRwcjFPOThUVmtXRkQ1eEN3V0VYYlYvRTZiYUhUUDdHb0FrYjlKVEYzU252VEV4RDNHRHppMDVPWXM2YTRRZldXN0FpSzErbEJnT244TmdjNU5MY0hYVkduSTBIRUk5MERKeWQ3VVMvNm5CTENYRW9FdXozU2dzMWdLdmxGK240bG1uS29KaFR6U1BkREs1VzMzek9tbWhKTi92ck5JNTJDcUI5ak52TXljVGxwYUR6Uy9ZQk41eVgvU2t0YUl1WnNKdy9wbkZtay94cCtZOWh6bUtQTG1FcWRnM1MzTlcrNTN2ajNFVnRuZFNjQU41ZnV4U2JHdHRwR2NZTWNjdXRxa3dzOXZIdlYzVDVkekpaVnYyZGRuN2VDR2IxNlc3UVArcFR1V1hkN2RUQXovOTRoSFh4cmxqZXArSy9XVUxJZy9YOFF0QXIzclR0emtRQUFBQUJKUlU1RXJrSmdnZz09Igp9Cg=="/>
    </extobj>
    <extobj name="334E55B0-647D-440b-865C-3EC943EB4CBC-32">
      <extobjdata type="334E55B0-647D-440b-865C-3EC943EB4CBC" data="ewoJIkltZ1NldHRpbmdKc29uIiA6ICJ7XCJkcGlcIjpcIjYwMFwiLFwiZm9ybWF0XCI6XCJQTkdcIixcInRyYW5zcGFyZW50XCI6dHJ1ZSxcImF1dG9cIjpmYWxzZX0iLAoJIkxhdGV4IiA6ICJYRnNnWEdGc2NHaGhJRnhkIiwKCSJMYXRleEltZ0Jhc2U2NCIgOiAiaVZCT1J3MEtHZ29BQUFBTlNVaEVVZ0FBQUM4QUFBQW1CQU1BQUFDbUJ0OVhBQUFBTUZCTVZFWC8vLzhBQUFBQUFBQUFBQUFBQUFBQUFBQUFBQUFBQUFBQUFBQUFBQUFBQUFBQUFBQUFBQUFBQUFBQUFBQUFBQUF2M2FCN0FBQUFEM1JTVGxNQUVIYXIzZTltVkxzaXpabUpNa1JscVhZUkFBQUFDWEJJV1hNQUFBN0VBQUFPeEFHVkt3NGJBQUFCeUVsRVFWUW9GV1ZUdTA0YlFSU2RKUmpIZ0kyRmxCb2tLaXFvSWxFZ1c0cW9qU0pGRkVnc2RPazJmMkQrWUtscFRJUkVhMm9hdGdWRk1nMDEvZ05RWXZOS2xNTTVkOWI3RUxlWSt6aDN6cHc3cyt0Y2FzSEsxdmpMd1NUTGZUVUd0b0NOdk9LamFvaXZSMjRSMkM4anRSZzdxaHpqVHhtSThOeFVKUWh4YnNqc3VybDV3QWV1aXllcjNKMll1OHdZcGdIYk9rZ0VmQUJPNUdsVHdMSjhaNmgxQUJ6SjAyckFObDE5cktRQlBNcWJoWGJJL0Y4bFBkL2xnUmlxVmY0cjZ4ZkhHa0FzOStJamt6R3F4N2sxT3k5ZVpraUZ2MVh5MWdXR2xDRE5FZkF5S1pNRStPSG03T3dPMEM0Qis2Nm5UaXBIa2dOM21yQjF6Z0pueFUwSlNPbzJMODh1aUhMY2tYejhwOFlsNERuZm9HbVRxSzBDV3dwcUJWeFJNSzBMMlB5S2FRU3UvU3R5MUFkZnMzVUpDTnNXWFpiRzBKR3B5RUgrU21va1lKcnMxdFp0cTE4V01vSUk2WWVSQVJxYjFuc0hKRlozRmVEUVI3YVNLdkhwWEVhcVBPaG5CTHpkd2h5M1ZEdlJFaGNtbjhJdnIvNHpkMy9LTDdIZTN3dU1lVWIzV3RWam10VmF2S1VZZkw2S2ZjSGRsS3NSdnc0bG4xOWY2MUNkalJDYmZPTHZVTjNOWU5ROEhqY0ZPUDRGSS81bXV6ZVdSUmpocDBYY2M5RVpuYTZtU1hEOTdZemhHMXZ6K2dFak9UUHlBQUFBQUVsRlRrU3VRbUNDIgp9Cg=="/>
    </extobj>
    <extobj name="334E55B0-647D-440b-865C-3EC943EB4CBC-33">
      <extobjdata type="334E55B0-647D-440b-865C-3EC943EB4CBC" data="ewoJIkltZ1NldHRpbmdKc29uIiA6ICJ7XCJkcGlcIjpcIjYwMFwiLFwiZm9ybWF0XCI6XCJQTkdcIixcInRyYW5zcGFyZW50XCI6dHJ1ZSxcImF1dG9cIjpmYWxzZX0iLAoJIkxhdGV4IiA6ICJYRnNnWEdGc2NHaGhJRnhwYmlCYk1Dd2dNVjBnWEYwPSIsCgkiTGF0ZXhJbWdCYXNlNjQiIDogImlWQk9SdzBLR2dvQUFBQU5TVWhFVWdBQUFUVUFBQUJVQkFNQUFBQVI3cjE4QUFBQU1GQk1WRVgvLy84QUFBQUFBQUFBQUFBQUFBQUFBQUFBQUFBQUFBQUFBQUFBQUFBQUFBQUFBQUFBQUFBQUFBQUFBQUFBQUFBdjNhQjdBQUFBRDNSU1RsTUFFSGFyM2U5bVZMc2l6Wm1KTWtSbHFYWVJBQUFBQ1hCSVdYTUFBQTdFQUFBT3hBR1ZLdzRiQUFBSGxrbEVRVlJvQmUyWlRXaGNWUlNBNzdSTjAwa3lrOUJTUVJBU0VSZTZTVUVRRkdRR2JFSGRqRldMV01VM1hka3VaQUlpUWwyazZrSVh3bVRWUlRjVEVRUjFrWUFJUllYSnlwOHFwSnVDcmpvYlVaQ2FxRE8xdHRYanVlKzllKzY1NzU3MzVuVW15U0QyRVhMUFBmZWNjNzkzLzk4ZHBiYjRLZnlxbjg1UVVjdGhqS0ZDaU00bDBNOWZZbGxlWlN1TXNaVFhQTGZkYmJiY1RlVVlsdUEzSno5b3BnWGIwYWUzMlFicGovOVFuOTV4dm5iOHpZdDVYdkxTYzQ3VjlvKzM3d0c2K0ZkM3FoVXpaZmpUMFc4NzJ3SG9ubENGMDNDOWI4c1YyanZNVmd4Z1RqZkdxM0RWYVJNL1U3Z1hkcGp0VWx5ZllmU1pZczNaSnU1U085cW5oYmpabExxY3FOaUJmUDE4TGR3L2Q1UnRBcTdIRUxzQTBrZGNHOGxlT0xmRDdUWVAvNWdHQ21EWmlGNzY2ZUdQWDFZVE84d1dRTldBekdkMXFqYmFZYllwaUdhcHJyb0ZQWjJrUDF2RFZ2NzZTRGgwQVhxSGhMcnNualhHQnRrZWdJNWdiRlZid1ZZNEdZUHBoSWFUclVOWnRnMEEwazhDU0M5QzVWdlJwOFVLUTRPak5qWkpscTFDMDFRcG5LaWJaQ0lKdzdjYjdpd0FUMy94MG12aGMyVkdxTVd5QWZ4QjVlUFFaMnNZbnEwQmNPMFVWU2dLeElZNE44Z0N2eUlzS0dtWk1EUWJqcG9iU3l5Z0pCSWJUdE9iWkZEQW1VTVpTUmlXcmJBQ042UnVkT29pTnF6dGQxdUNZeUhUZFZpMmc5RHIyTnBTSkdLYmRsWjZaTXYweldRcjNIT2s5K2lKbEFvamRRM2V5Q3dQQzRtdDVhd3hBY0JhbG5NVzIzZ1RBTmZVaHpMODkvVVp6cEVyc1cwQS9HMmoxZm9zY0JsczR3RTh0YVQyQTlSdHVLVFVoak5KbFpBbnRvWno4NEJzbWQ3cGJNVW1QS3ZyT1pmUk5DVzJsQXBNUmtWczgwbTJxakdSMG5TMkJsd0xaeEdlQmxkRHo0bERYb0NKZkJjd3hOWk9zajNwaFdTS1ZEWmNpbUtXeGZnc2MzbVorVVhpWWxaL1cydGlxemhzSzMwMnJWUzJOblVsbmhkbWREM3JhN2EyV0FyTUlkWXJjUlRFMXR3U3R0MUFwMUxjaytkMFZiV08vcytmY2ZIVXdTMGlPWjB0ODU0a3JkM1dnZTVzaWdCNldKVDhEV1ozV09DekpEV2NqZEZnbjdKYzBpbjEzRnZtWjRRZ0hIQlRkcGMyWWFidElkYW94SlRZWEJvMzUzdW10QnN1NEhZS05jUER3NWgvYWx6TTNnK3B0blMyekh2V0ZEWjhwVHFGWGcvUEN4c1cxcFMwdTBiS1Rqa2JveG1zM2JCTDJlaWFEOGRlYzg0RFdNaytmNUU5c1RXVDgzU0E4WWJMQmp2TExPcnpRbEhvUDI1RUlJS3dwV3dONS8wMkFCYlVwRDhWRk53TUwvMzV2eXNDbXYyV2NkdXROdERhaTE1Vld3bXkxVldMRFpTNENBK3UvblBVK3BGRTdWWngzbmtnTmx6UllJMGk0NjBLcmhXVlZhdUlKWkhObjgyNE5KcDFySjA4STIxNlFabENuS2U0RS9CN0ZHUmJLOUZTYkowbHR1eHY1L2trVzlWRzh5V1JEYWNDbTZhNjNkYjIzZlI5VmI4TERlTkM3ZFpJc2kwYkV5a1YyV2J4czQ0WnQ1Q3RVV1VLSXdZU3NDbGtLYkhoeUdWOUh0QlJoOWt5VVdURGhtSkxDRjZxd0RmaVYwZVR2d0VMbWhTSkRRT3oyejV3Um5YU0tXVS9YWFJlVDdOZEVGZlpkZDd6Zm16U0VOczAzNllWc2kyUWpTQ0k3WVpEbGsrZ1dZQ2dLdmdpOUVWSjdlbUlEV3V6SGFLbjBwSm55eFFpVzl0WjNoU3l5UkI3ek5HWUJaUkVZbk8rNi9Vdmw1STE2VVMyZFh1dzFJYklKZy82S2JOdVVUaFpJRGE4RDdHREF6UFp4MmFSRGZ2MEVLc0ZSMG1WWmExWVlqMWt0YjVFYk5pTkZnZFhVZHZCdmxQS1hHaEEvR2tWZVNEYnF1U3JWQ1Y3d0JnbllsTXJiT0hFV3g1L0h6UXVPaFhicmVYQ0lOc2E5N0Z5Sy92ajF4aGF0bmwyUFlNci9MS3hFRk9SRFc5bHp6RHJkTGFwUHJkN2NSRExoa04zd1VUR3NQVlkvdVd0anRHeVZHVEQxcTVhRzd6R1N1dFRGWWhyc3ZXTkpNdkc3M2czcUEyZDZXdWRSVFk4aDJ4YWswczQxL25Vc0NYNmh4KzJCL0VDUjdac1BIS0ZwZ0pTMnVhMG5zam0vaDdYMHNPN3lhcmNCZDlGQStOQjYwVVNIdDQ3bEVrVkxKdGFwK3B3emxaamp3cXlMZnZlN3VrYnkwTzJnM2F2TDYyOEdFWFpLMjZlalpTbHo2bUpzZTJCM2t4VXR0dStWZzNaaENrN3pXK0h0VlBJaHN2aVFoU2hXTUhGc3FrOXg5Z3VIWlhwLzdoSVBXNXpLUkpqS3dabWZHeFFsMko4YWFrcmFiVnpNeG15cWNXNFU4dk42eDNOaS8xZU9TUFcvQ1BBSTJJQlV6STJIS0hSSG9NNzFxb3hhU0NFK3pseTE3ZWZ2Qk9nRnVDeEJ6Ny8wdGhGYk9WQTExZzhDUnBON1lYdXpEblRGOFl3VHZVc2ZqdnVwa1FSWlRsYktZaVlGdGxnMklkbldidVhhYmZaa0N2K1I0TXBZbE00cmJ0NG4vcjh4YkNDQnY3Ni94NVY1UXE3QXR5SXZ2b2hDNCt6cVFQUXUwK3AwOURyMkRqM2QrKzJlNWxXei9hZWVlS2o2RGw4TE1tbXlwL1Z1dTlqa1BBcFhEajJRU3o2aVlhakovdDdJWFQrR1Y4N2dONmNHOGxsYzh0TUxtNDNrODJUN3NkdXBVZGE3NXgyVStyc3c4SHhkenR1NUFJMWpxdDNjZ093cWNJck5XTEwvRDUxYW5JeUpYY3VPR1dVR1lRTm5lLzhLZGR2YlZSTlVoalBQaTVGNWdPeUpldHk4b2srZGNyaXpLUTBGcEtHSTJJYjIweUNDUGtSc1YxZUZsaVNxaEd4dGV0SkVDRS9HclpDSUtCNHF0R3dUY29mY2dtNjBiQzFwR1V4UVJhZmtUenRjSXIrYThoS1BVOE5JMm0zeVR3NzFvamFyWkdyUzZOemI1NEd2Z1diZm4xYWxxOWJ2QnBHMGFmakgzb1lvbUlVYkNLSW9Od2V0cXY0RzBSSHFDMi9xb3dSR3ZtdVgvSUhSVXQ5MHlaKzVkMUNsRllZWStrV1BQS1ovay9ZL2dVZHU4clJVcG1IRUFBQUFBQkpSVTVFcmtKZ2dnPT0iCn0K"/>
    </extobj>
    <extobj name="334E55B0-647D-440b-865C-3EC943EB4CBC-34">
      <extobjdata type="334E55B0-647D-440b-865C-3EC943EB4CBC" data="ewoJIkltZ1NldHRpbmdKc29uIiA6ICJ7XCJkcGlcIjpcIjYwMFwiLFwiZm9ybWF0XCI6XCJQTkdcIixcInRyYW5zcGFyZW50XCI6dHJ1ZSxcImF1dG9cIjp0cnVlfSIsCgkiTGF0ZXgiIDogIlhGdG9YMXh0ZFNoU0tTQTlJR2hmTUZ0R0tGSXBJQzBnUmloY2JYVXBYV2NvWEcxMUtWeGQiLAoJIkxhdGV4SW1nQmFzZTY0IiA6ICJpVkJPUncwS0dnb0FBQUFOU1VoRVVnQUFCRGtBQUFCWkJBTUFBQURHRytKdUFBQUFNRkJNVkVYLy8vOEFBQUFBQUFBQUFBQUFBQUFBQUFBQUFBQUFBQUFBQUFBQUFBQUFBQUFBQUFBQUFBQUFBQUFBQUFBQUFBQXYzYUI3QUFBQUQzUlNUbE1BRURKRVpuYUpxN3ZONzVraVZOMlRCb1ArQUFBQUNYQklXWE1BQUE3RUFBQU94QUdWS3c0YkFBQWEvRWxFUVZSNEFlMWRhNGhzMlZVKzFhL2JmZnRSSFRVTTVsVXRZWkJSUWpjK2ZnbFdJZVNuMWhWa0JJVjBvemlqRHFRNkVwalJ5TlNOb0diOGtXcC9hSndScHRyWFpISXh0eTRJSm1RaVZRWW1oREhRL1VOSWNDRFZnMHJpa055Nm10RzV0eWZUMjIrZnM5ZmFheitxNnB4emUyNDFrM3QrOU5uUHRkZGErOXRycmIzUE9kVko4cmE3S2orcHI1MjNuVndUQlpwUGhaN1k1RjVXcnY5N250RmVhdVJwZGI1dDVwUyt2bGVJNkVXVTVoc1RBYjcydDQ2QVI2blFBNmRzYktZUTViRlVKbFgwLzM1U0xkVnQzS2JVdmJ1WFFjY0ZsR2IxZERCUlo2T3Jzcm9JT29wUmxxUGtUVjlTVzNtYVZrWi9tcWZadWJZcGdZNkxLRTM3ZnlacjVYMTNOa1dESXVnb1Jsa01ranZaK1c2K3BpK2RTUm55OWJuTFZuUHF2NHRTdUlEU0xLdUpqaVZKMW5xdmVHSWVxWUZYRXMwV3Bmd0RQL1h3RTgrOEVTVTFwbkJGTmNiVWVNVnp5cGZCYTVBN1czbi9CeDk5cW5kamV2dmk2SmlCTkZQRjZMNDJyY20ydi9CeW9xTWc1VXRwUlBQNk5HNWtmZnYvWk81U0w2VmcvbHoveTU4VGxjTTdJbk0zeVhaS2ZuODZDUjhkajM0aWR1MEpRdmRjbXFVbllpejlrV0Rwa3BJTWlncWJYRmNITnFOVCtkQlJsUExsVk85VHNTcFlXVkpYUlM2cEdsenc3WFZyRlpkVWpnbVZ4TWFsTXdRMnhsWGJjZzhkODh5Vms3aGxPOXg3YWVvT0s1eXhMQ1d0SE9GOHkxdlErZEJSbFBMOHc0OUM5VVcyZ0hXMUtTUkpGaDU3b3F0Ri9QVEhYbmpoOFUrTWtEbzc1dnJSLzNMeXJoSS8vY2p2Z2ZCZ09nMFBIV3RQdmFwNVUrcjBabnFabkVESHZaZm1LODltV0ZmWE01NU16c28ybnlkMjJsQlhiQStrY3FHakRHV1lqME5ucEltWlNpODBOSDJvMzBEbXdhNVNkd1pFNFNqZjdvYWFUN3IzMU9ta2FsUG5vVU9YMWdFT0cwWi80QXZJSHByV1NUSWJhVktUdGtOTXpMME1nQWpoM3BVbnJsdFQ3clltRnpyS1VBWTY5b25UNmZjVjMrT2h5NjVTSEl2TWRjVmtMS3FUNlJUenRlZ3B6NVpHdTBYUXNRdzQzQkNOd2V3QloyY2tUVWNwdVJGWXhJcGlscEt1U050U1A3Vjc1cFRrUWtjWnlqV1ZCNnpFU3pOaTROdEtJRm5IdWNmVXVzZW9vWktTOTRwU29jMEthVVhRc1FGK2RrUkxISW5zYzNaRzBvekVDdEs4YkF2b0wrVHo4NWZkMERVUE9rcFJIcW9DOXIvaWdONW9HWmJ4MENSeDY0bzRwbG1BdEtVUVNhMUxBRWJxVFZFRUhUV2d3K213YTAzSmpLUUIxTlV0eWRPaTBHck5zaWViK09rRnNTQlJsd2NkcFNqM1BlMzVmRGo1UzVHUWFRM0MydVdJaFdEdDVJYXc0ZzZkb3BsVlQ1OWora2ZRTVZUSzNRTlViVUEzSTJrQWRYZmpseWdidnJmZHFIK01vRWt5Y2h4UUhuU1Vvanp5dERlV0gxMnhIVUgyQW9SdDJGN1NsSytyTjIzRjNhUkE5R3FPL2hGMDlKVlF2U2F4YkIzZmpLUUIxQzFDVTZrNnJLWTVZVVltQ2p5MFlxQmREblNVb2d3elo0RTdrUjlkMllrZ1cwY2FXN2Fuemw2bDdFZ0U0MVJXNWw3ejlSa25Fa0VIZkx3YjNpOVpabWNralY0L1c0NEFMV1p4T1dLY25hYVUyWkRlUEE4NlNsSE82ZEV6cHFMNHc2WkhldllsWk5tcjducUxoR1FyZWgvNitvd1RDTkVSK1Boa2tRRStLMmxxcnNJZ3lpNC9Ib3FaczZpc2k4Nml6bUU3U2xITzZkRXpEcGU5ZFppV0hybWVIZnN6aS8rYWcvQ29tTGtLK3c0QXgzWUowUkg2K0FXRzhxeWtHYm9LZ3pSTlhrNGR6NnFNRmJVaXowankySTVTbEhONjlJekxXdXdBbytuNkp1MVYyVkJlT3FmQUkyZHdGS0lqOVBFTDdPeG1KUTJnN2puejVxRkJRVVdkamNXRFY5R1dnY2QwMjFHT2NpMmZSODlZMjNWMzJWbGhXNkFCSmZyNGlZL201KzMreFJPdVVEWnZjQlNpSS9UeGl4enN6MHFhSUJSS2RnK01PaGJ0dWVJMEJkWGxmbkE2T3NwUkh1Yno2Qm12bzhoWldBSmgyVENpbVE1RGJGN0Zla3dUUEtqUEd4eUY2S2lCRzVmY0VoKzZ6a2lhTUJSS1d2dUd4dzI3c0Z5dXcxeFZOcDJPam5LVSs3NzJRajY0WkM1bUNiU3dWN21KM2x3cDRYODZNV3NqV3VkTDVnMk9RblRVeGVsTE50WXFuZC9PU2hyOW1JVnNoUkcvdjJjUzIzNk5LWS9jbHFXWm1ZNk9jcFJIc1JtUE1LT0xWaVZEMUViSGZWY29nenZDRUlHSXBrQ0thRlF3Q2YvZzZUTk9JRVJIU3p3RHl2cXMwcEg4cktUUm03bzlsLzkrdytUN2ZvM2JUdVlXWklneUhSMmxLR1BsMDFxU1E4ZlRWZkcwazF2b3VHK0hjK2xKT3U4WnRTWGhDRlcwS1pxc0JmcU1Vd2pSMGJXUE5Db1psOHYweEhaVzBxd0loZjFnSmtlSEZPaXFNaTZrS2NVUjlSWTNtSTZPVXBSaDVraGJQTlRZUkYwRUZOeEl4MzJjU1JMOTRpOTc5aVRaOE1OejBUUi9zcDVUdGdBZDBzY3ZaemhkcGJPRldVbFRFd3JyYktWSzZHOW11c0JzNUZmS1NKanNxZWdvUnhsbTdsWnVobG94K3c1aGVSY0FTdnFvOUs4c3hVdEZ6dWx0Tnk4Ri8rQ1Z4TE1CT3FTUHJ4SXNUTjlaU1ZNWENoTldWbk8xNUtneUxpT1h0a1c0TnhVZDVTakR6QjBreWZyblI5Yy95c09PVFhSalhuSG8raVlkbEc1WkNuZ0lZek9sVTkxVWF5OS84dlNiallrMEFuUklIejg4Y2Z2T1Nob1JDcTE3cHhzcm9adGZ1bmJGWlp0elRiR3VBM1NzL1ZidmVkbXhIT1dhOXVoZjdxbnJTdjBkanpzdUlkN2NzRTM2cm0vcXVHOWl3TkZzMmJZbFUybHd0UGJiNm5Ta1RxWElBYmtBSGRMSGQyNjQ3V2NsVGRjcWJQa05sNlZxZUhqWXQ0SGJXdmV6c3ZtMnJRbk9TdWM3NnJSM2Vwd2tQMkY2bEtOY2gwZGZVTTl0SmVzOStSaGVjc0ZwbU9rdHpuQmk1UGdtdlZqQmxMMmM1N2UydUZBS0EzODNhWjcrV3BMOG00eHBRaG9CT3FwZ3h6U3J1SHdsTTVNR0xOMHlQTlg0Mld4V1VCY1RucFZnWVhBYm5DU1pmdW10S2w2SThtekhXbGQ5SjZtMFhrdGVJdTlUam5KTHFVbzcvUzV6TzdScWtoZWtNZk5lQ2JJNjdqdXd4YUQzTnphSDFHZ3E2SnptMFl3T2poNDRiYUFPcG1ndjJpUXJETkJSdHo3ZVBuM0wyczVLR2hrSzJhZHZHVTh0eGcwSmlhZFdIQzROWGYxdmlKWGlvYU9aenVXY091NFIzTXBSaGtkZnViMnBlWUVSSGhCUDhmdXk4dHlrYnFhUE8vYTRQV0xTMTFOcVhOSStoK2R3T2pqcWZqd2wyVlhmWTlKaElrQUh3RW9iOWlPUCtWbEpvNjNyWHNiNm1uOFkxUEVMOUhPSkU1S3o3ZXIva25nTzU2SURuWFowcC9wbitTRkhLY3BZK1c5MDl0UGhFVC9lSUQ3aTk4dXgvWWR6M0xIWVUyZkhidWQrc0J6YytqeTVtbEtmTjd2azVzUzNZd0owZE5uSFYwYWVqNStWTkNJVWVwK3Y4UjQ1QXRhS2ZDZTg1OG9PelhNekZ4MGQ0NDMwSTY5YldadFNsR0htVG8zZWtUemgwYUtKcXN0ZDFrWWZkMnlhNWcvaXU0S0cxM1UzdHRncjcwOS9jeUwyWitEMTE5bTZVcjM5ckx6dXJoK3ZjWUFPVnMvYXJ2WGZXYWZ6azhaallrcTJDcDZ5Smk5NklWcVNoQXQwVzZtR0lZampMenJtVFV2Z2RBYW15bzFLQVlwR1dpR2NXQ25LMnN5ZFpFUEFwUnVjWmZudzcxSHNaS3VHNzV2U3BsLzZWM3dyY3Z2WTd6YU1uYmE5QzhPT3VieG4yeWs1K0FkeUM5Q1dQNExJKytqUTZubnVrVWNlK2R4VFBlRy9zdzduSjQxZ0lFZXlqZ1VKbGg1NzRoa3dSK3NxNjRmNXYrSlJhRm9Jd0xnN1hoVStmWWRhTzdhand6WitSRTZzSEdWdDVnYlpFTkFreHo4MHFIdXZ1OWpOS29lZ1FOZnBSMTFwZFl2dFdLYzY5UWp2dDkweDAxelg2Z1U5d3pHNGk0OE9EWDYrVHJoWm1qZy9hVnk2MDNJdFpzaGkzdlRCRkRTODdtMGJYQ0NtTzVTMVdNN2NXcUlETm9WUTFDY0FsYU5jdFMraUFKcFQwTkdNbVFFd2NKWis4d2VoYjI5SjdyUDBFWWVGb3M3OU5sdW9TNm5ZN3dxaEFhMHByS1VDNk5EZzUrdUdZQURKODVQR3BUc3QxMldHM0crZTBBOVRzT04xNzdFZDBLOUdYSlcxc0FkN2xKZm8yTGJhNnBPbExVZTV6bzVGNzFjUGFiRDR2VVhiSTFrOVlvZjBNNEJIT0hOVnNlK1MvUXFrQVh4eUxFbkxycVVJQmQ5MkFQeXBJNnA4NlVPQmo1K1ZOR0RwbG1iOVBRK08xSnV1REppQ0xiY0VDR0JYZTJSblBXc2tQaFNSNk1DTTBEUmtaOHhvWFk1eXk2SVZodXZBWmMzUDlkbGkyUnA1M1BHQWY5YWhtMVhWSGR1NlhBcWk4WlBDdGlUM1EwLzJ2dlVQa3FhUERvQ2ZQRldmVldZNnpFZ2FRSjFNd0twdnJMRUxHVWh4VW12Q3o3aWJQbmJFaEFsMHdMSHdVMURlejVlanpPRFNUMU9ublZ1MWZXa2dpWFBjMFE0VzZMbWdBLzZCY1R1eW9pZnZWcWVmNmpvUEFIeDBBUHgwM0ZGajgyUDBQeU5wQUhWeUNCWGFFQkFpc0VCcDFac2lsTnlpV21pWGt0bGRxRVdnQXc2STFoS1FhSkxsS0Z2dEpUWGZjTG1zSUJmVHAzUGNBWUJSUE1TZHE5WXJjRm5CUkpYMXFVOW0yZExPOSs0Y0o4azMxTGN0T1I4ZFhWWlBVdldPTzJZbGpRNkZkZ3pIL25GSE9JY3kxaEFoU05iZlJnVnlSN3RyaTRGRWc2MVNsQzI0MG5lNnRxeWVZNmxPeEhibzR3NXVpOWduY0NPWEp3WUszSFZTb203MWlSSFkwdGF6TmRnV3Z0cEhCNWlqcFZmMWZEdyszQXFEOEZMU3JNV09iVkQySTFHWkFIVldtUGZrUngrTWJycWRqdXlTbFNGSTFxaG5BMFZoTzNyMmFNTWEzVktVTGJpMFpXQ3VYUTQ1MTJWVmM1RzJPQllRRU1CM25JaTBUMjNyY3FtVzVReHJnS1o3elp6TlhWTDJCekk5ZEdnZmYyREdyUGxZT0RkcFJoZ2xldTNFeEsxYmhWVjhMR0EydlM1TkcydkloWkcxaXFKRHUzb2F1TXBHdHhSbEM2NGtDUXlYeDZoK0o1Qm14bFpCV1BMc0tBUm5lN1l1VFdFNWVpV0ZzeUk0RXBaMnhieGtWQkh3OU5BaGZIeFNQL0hHUFRkcElIVDh1dUtObUdZQmRWTFl2QjhLaFhQWXR0b1RDOFBRSGRuNXNMWUR6VmpoZFFaS0tjb1dYUHJwcDNOT0c1RXNwazhJU3pFUWV2VEN5UFljYklmVnAvN0F2MkU0TTQ0bHdTYVgxZ3FFY0N3RWRNSjF1emM4aWM1Tm1nOWpsTmoxbVlFM1lwcnRXb1V0K3FGUU9JZGl5WXFGWWVoR2JRZW1sTFpwMEF3QnBSVGx1dFVlMWxrUVVYclN4VHcxaExVR1JXNXZxZS9sdTQ1S1pYQUVlUWVHY3BkUzRsMThEeDNRRktrbjRSZDdpYkVaU1FPV1NHSDgvak94RkVRSE10WTRzaUdJYWQremV4NXJPekNsdk1xdDBTMUYyWUpMbjhTZEVKZGo3ckU5QzRROTRPYXdQeUtYRmQ4OU9tUndoR2ZBWmpSZ3hxVEV1K1VlT3FBcERvcGVaaTVOWWpiU3lGQm8zVGRuOEFxYkRwc3kxbWphaFdIYVJOR0JLZVc0M1JyZFVwUXR1TFROdnVKd0ZtWWkrdFRDN25GTENCT2NtZHo5YVJpc0lnRVE4S01ON1NwUC9JcDlkT3loQTVvaUg4ODhjbUkyMHNoUWlGbWhSRENIS0xoRmxlS0ppeW15ZWhFNzJyN3RJb3h1S2NwQ2U2QTZJRWJHM0NPbmkxcllIVzRPSHZ3dFBNNUsyUTF5dTJLSnFnVWdUbGZJL2RrM295NnhQZkhqam83MThlR1FzNUVHSmw0b3pPTXFPTkdVc1ViNHUzcDg2Q3AvM1FVeTAxckM1RkFZVm9heUFCY0NTamJDSHMrY2Jja0FOQ3ZWY1IvWHA1L1E3dGxzbXFxSncwMWJWZVQ5anJyVko3UkZvdHVuZTBKeXozYUFPVjU2ZG15VE9rZHBBdHJqQ3dCMW9UQ3ZIYWJUTGpWZGQyUU5Pa0lRamlleWJvank5b21BalR0R2RpMEpvMXVHTXZxUTlnQVVzdGswWW5BZitrK045RG01QkJXRTRTMEY5YmF6U0NXNEYzcS9vMlgxQ2FCY01XU0d6QzhlTEJ5YlFoY2RzVERJTW5GKzBsaWEwMVBianNLODlqaXJJRW15bXFhRkM3dzJtVTNUQzNqWkl3SVdIVDFMbzJvYmxLRXN3SVVGcUszUStrZk1lQitpZDRmZnUwVWN4RjdWd0hRSnp3NWhQUERyOTdvOHlHdHk2RGJ1Q3YyUUNJNzZXZGoydFUyOWp5VzZRQWRCeGtVSEtxeitXQXBLUkY0OHFaZVRoaWptdWU4NlEzZzlBT2VHVTlTMkN3TmUreEIxUHpyZ0JsalFEY280Nk5neXBSQm54eVRMVUJiZ01oNXV3K0J6bms0NDU0VTNxVWtrWk1PMkhNL2VWMkh3TWhRRURLdjRZSzZIbHZFcmZMOUQ2Tk5zLzBjRGZiUkw2TUNxMm1jbGtLUFZCUk45ZkhKKzBwakJjOTA2anNLOEx2QVZlMDdSeUlaVVpvTGF4OXdBOW9BbVgwU2xJenNGbUp4TjA3b001YnExUWtnMlFHbjdNQ1BIa2Q2RzNSREFqZmpITjBuWCtpWjBCR2ZNVDBaSC94Q3lBUndWRkwxamlieHAraUNwSVRHbnorYTdYQXAwSEpnR3J1Mm9naDFURWJuTlJocXdkQ3ZDakNueWduck1LWnZTbzh4QzltaStFL3dBbXQxSFdOdlJzVExMbjFjb1FibGxKN09kSmZzM01qNVpkVFZlb3ZvWmZ4QzRRbGlhR1hSRUxwaU8vaVJ0ak5lVHJVRndSQVlCMWxVblZ6Vkk3YXN6UU1lSmFlNmlZM3VTajUrTk5KTkRJUWdsdEptK0hzR3ZhalJUU3pGSHh6MWFEVUxaRmgyWVUxYUdzUFVsS0hldDRUSW83VzFscExkcFpRN0YwbDhtZDJPR1QvVDNaTUlXNm9kdzJTTzNoUUUzQ1QrazRLcDhDUVJISjZabE5kdkRYZGJIUFJZZHNMRFV3RVhIcnZCSmhvSzR6VVNheWFFUW5oc2ZDZzcxL0hOVTEwMW5mVWxZYi9sQmprVkhuZEVCeDJvZmNwU2diRjlzeE1ScTg4M1BoZGdmeUtVUDBheGRTNlhBdXJhK0w4VktodTNtSGd2WkMwNUF1Q3BmQXBBd0JrMXY4STdScVg2Q1B6MFdIZWc0UklHK1hIUjBwSHF5QnVMdlRLU1pIQW9sdTJ3bVUwYnhCSlBRQUNIMXdsc2hKNHYwWmE2VTV4MVExeUR0akJkbkJiWGlsRjJQZmtzUFRwRWVRMjJrcm1aajRTL000aFpuMG9SNzNBRUpqTy9wNmtsTUw3aE9UbE5ac1RzV0ExRXc2NkxiQUFVNzgyUFJBWGEwVUdPdW1VaUR1U1BESDJOTGZqaU4rcHFOTzQ2eTVKRVFxRWIySFMydDdjQ0N6ZFNsWitPRUJ5bE9XWGgwa05LVWhvZUdISDF5amNtOVlvcHdVNnBoTXpvRjlrVW9vajNMYlYwOFp6V0FPUmpvb3ZKWHkxcXNZZW9KMS9VaXlvRU83ZlpPSm93N0MybnE0Z1hxQ0d2eXcybFVEMjNyVVdaRytPZm5VTHN0bkw1RkIyWnNQNldNem14MDljRVVMWHlxcEFobUhHWGgwYUhKcStnMjJrbjdhaXZSU0ZOQXpWWldwUDkyZU90b3lwclc5T2tTOEpPaVk5a2VyQzBFc1lycG12c21ncU42U240ajlhWTlYam5qYkFkaVdKOWZaOUJaU05NV3J3UTd6R1NaWmZkZ3VROEpOdE9hUzNkMjB4Q2taeVpJRnpiWm9VcmJnZUkwaUY5UUdPczRJNHUveFNsWEJialM1Q3BGeU5nR0RGTENNaTdXSjFDSGFTbjlXZXU1d25hTUtXRVRwSDhLaUdoU3A2SjNBY0JzSjlYZjF5UWNkSndZb2pMdXFPeEN0K0tkVTlQRTNtWWd6VHZCMHRuQXN1Q25sdHkxTkVMenZiUk41NVgwZUdhQkZyd3ViQXZzVzlzQmplc1ZXbW0vMlNKbzZjYkZLVzhMY0xXMDdXaTlvZ25oNHMrN056SmprSlVtZFdITGtnOTg4RmMxOStyUGYrbm50MHc5Q0dxcnZ5WXdlOW0xYUtaaGdSdk1HRWRpUzVxYnBiTjBPZGs5QzZCOFlBZ3lPbDU4N1BHdVprNDkvL2dMdjVHMkQ0ZTh4OUtzUGZ5NTMwMVpPdjNqai8zakw0YnM2QktZOElHdGdaTXcwZFhQM3RsTW4wbS9aRGNoZW4wMHVLMUFSOUpYZjVETTljOEd3dWlXb2R3VTROSS9kdnBRcG5jTXlkK24xL2hwaG1ha2FpZEtuOFh3UmVkZENHUzBJL294Q3JUUlpWdkV6WnBFNFF0elQ4Y2RlaHM3bU90bUVKNThHdFpsM3BBNGpnOTZqNlhSRVR4ZkRIaVBOWWRadU16YlNuMHhxWHhkQnhBZDFaaVQvNU1YeThiQ1hxSUR2OU56WFowMTRPZkZQQ0FuMUpDSGNsMVkvVXBYamRSSGlGZitBdG45eVJqcEpqUVM2RHFrZmkxdHk5OHRnaUhzMFE2b3N0d2R5Mm1mZS82d09xUGZCK213VVFKK3FBWGJqcjY2ZHYzbTAwOC9lL01hM2hjYWNIOG5jWStsV1ZXbjEyNysxOU5QMzN6MTJuaVBKNzJGUHU2NDlaQlMxM3ZwNTZNUDRMZWU1SFF2eWcyQlJFZXkvcVQ2NXJHMlF4S0RoU2t2WHR1ejZsci9rOVBmNFZ5VDNpOXlmektHbjc3b2hsLzk1M2VrN2QveG5xOXl2N21PVXRkNDJuUXhFTSsxNVJLLzhwem85L1hlcDdleWJJdUhnUlhiTTAwWUhTWS84VFlUYVNaeXBCOVBIdG9XT082NG1yejRTZlVaL0NRV3JoL3ZQcjlqS3hGbmlsMklnNDZzRVphdk5icmxLWXNSS2RtbWc0S3V1L1I3NHV5TDJqcjN0VjkrOWZRUFJRbGM1NmJJbm1NeSsvRWpUUkJxT0RhRUM2RURqbHRxTzhMYnZaT0dCci9NWjN3b3FUbkhDZFNFN2pVNStSRjBpQjJwN2xLV01nMG43ajBDaFYyV2FXMkxiYmhvUENrcC94L2VwSGJGNjdiWnE4SUFEMHovWXVpNFFOS1EvRXZDMmV2amppMnFDTys3MG9GSDBGRVZPMUwwTGtzNUhKamZLNEh2Y3BaWGpXeEsyQ2Rlc2tFdUtsNTlGNlVjT01QRTZvMVNlaFZEeHdXU2hnU0FyYVZrZ3MySHlOaGlreHBKNkVUUVViY21WZmNvU3prWU4wR2NsNEVDUm5zem1mc090eWo4ejNpT3lBZ3hpZk5LOERzRzhubERNWFJjSUdsWUsyMzJrbnFIcGs4dXhseHJNaWdWSituY0hEdUVUYzRnVVpLeUpKR2xjY280U0ZNcit1aDZ5WWErTGt0aHg2Q2s3OXFlb0w1OEFUWmxwdlA0THhhbVVMOUEwakNuWWpsaHRkc3paMjVBaVZVWm9jVFE0Ungzb0ZkSnlqU2V2ZlBYalRYdDNEZEU2TnVYNXN4MkdKZXFURUwvdUU0NXkwY0V2TG82b1M3RmJBZE05eGIxekhOL0s2V2g4VmV0SzRaYjV5OVRxTnJlYTlqUDJDdjBMSWdPWEd5VnBHekhvQlNDNVN5WnZwNTNkRURsT295K2FqUFRVMHVUNUp2ZWZXS0xKa1Zsd21RV1JNY0Zrb1pFRlFpRVd6K2s0dkRlY3BCTjZKanYvS2RwaWxoZHJHb1VscVFjam94Z2VhQkxFWC9nNkhhM29kUFpWWEM2YTBYM09EUk9qdnVHa1g1TmV6OXpGVVRIQlpLR0pNQ3pyQzJUeHBaMG40djlSRVZ1YnV4VHVGM2VCQjk1MjAzOWxLd01aWC9nTkZodTZGS2dCSWZrSTlsZ1ZPaWhXc3NOakNTaHUwN1BHYSsxSXV4VFFYUWtGMGNhVnNjR1F3SmIwZ1lYKzRrbDF6SVkyNEhUZGRvRytHR0hmdkdUd0ZhRXNqK3dEcFpUVjc2Z0hvTG0xeEY2Mkt0TzN0NFdqVSt0eWVPODhjMUsxZ3d6YVlWandac0hyaldkUnZrQ1NVT3MybzhBNnJRM29DcDVQM0tSWTlDaEgzNWxjUUJTOVBTTHVwV2pUTDM1am1CWjNjWk90dnZ0ZVVTbDI0N0NWeWY1UXFaZ0Vpc0VaTC9pWFBMcnZiUGpKUGtGK2F2OVJkRnhnYVJobGZUcDlHYml6eXQyNzNBSG5URG8wQzhtWGtrcmhuUW9JWnFWb2l6NlowbHNGcitnN2p6UlE4dzdWSC9oR1l1UlkwcUN2azVCODNUVHlaOXpCcytsUHZVTVBaVkxhUmRGUjNLQnBDSGxiRkMwM1hWREM2cFA3d3Z5LzJlaHhLQURSeEZaRUlhSThhK2REanBUaW5KQVJiL3k4N1ZuVHY4TVUxdjU4T252dS9WSEhOdTQ1WkZjeGRtU1J4cmNiZEU3bit4ZGQzNWV1VEE2THBJMFJodHJGRWRsSCsvRWRWVHoxcXhCQjBEeGNkMmgwdEhHMzc5S1VmYUp4TDcwc0czV0ZiMGlaTXZHcEpibE82bGoycHh2Y1dGMFhFUnBobWZweE9LNHc0OGNyTEk2N2xrRzJZNmtlL3JyNlB4ZS9HZW5ZOXVZVTJVb2MyZEtwQytwVVNhNDc3b2VMNmkzQmYwQ1RzajJ1cHRVWVhRa0YxQ2F4U3hhUTF4NU9FNFhxK1I5cUlHeEhmcDV0YnFPVGNXZEdEand4dGFCN2xDSU1vM0E5K0ZFajdERUd5UHVFRThzRmpzNWl4TXBWbG9jSFJkUm1sWjZhb0RvNzhvNDZYZjlCekNFam1UOU41L3RuWDdybnpialBVdFFEZ2k1ci95RTFmeDlWbERsRkF3TEhZMDRYY3RtNXRScitLSFFuU0xkV3hkUG1pVzFweVhvLzhjNE9kYWRCVG9Qa1p2bXdkaTRIcWE4SU9Vb05lK1ZINy9Ob3J2Vjlxc3BQK2RiUDZwNEMrLzZOR2lTdTQ0TWZSR2wyUlZ2ZlVWWVRyWWRsMzJVQ2oySU5RektpbEVPdXV1QzRBeldheldjOEhESU5xMTVnWk90ZWV0U0pkQ1JYRUJwMWlmdkN5dXV5eW1Dam1LVVl4UGx2L0lUdEZuN1lsQVVLWGhnRUNsOGk0dktvT01pU3ZNdkUzVlhjUThaaXFBaktVUTVObHVJZTJQRjk4dnVhd0FhV0ZHNTk2ejM5ZlY5cDRHcTk5ckk5NTBDN2dzOFFRUFZnZzg2SjVDNlgvVzIwOERDemVPM25VejNCU3FxZ2Y4SFp2aFQxV2pYQ3E4QUFBQUFTVVZPUks1Q1lJST0iCn0K"/>
    </extobj>
    <extobj name="334E55B0-647D-440b-865C-3EC943EB4CBC-35">
      <extobjdata type="334E55B0-647D-440b-865C-3EC943EB4CBC" data="ewoJIkltZ1NldHRpbmdKc29uIiA6ICJ7XCJkcGlcIjpcIjYwMFwiLFwiZm9ybWF0XCI6XCJQTkdcIixcInRyYW5zcGFyZW50XCI6dHJ1ZSxcImF1dG9cIjp0cnVlfSIsCgkiTGF0ZXgiIDogIlhGdG9YMXh0ZFNoU0tTQTlJR2hmTUZ0R0tGSXBJQzBnUmloY2JYVXBYV2NvWEcxMUtWeGQiLAoJIkxhdGV4SW1nQmFzZTY0IiA6ICJpVkJPUncwS0dnb0FBQUFOU1VoRVVnQUFCRGtBQUFCWkJBTUFBQURHRytKdUFBQUFNRkJNVkVYLy8vOEFBQUFBQUFBQUFBQUFBQUFBQUFBQUFBQUFBQUFBQUFBQUFBQUFBQUFBQUFBQUFBQUFBQUFBQUFBQUFBQXYzYUI3QUFBQUQzUlNUbE1BRURKRVpuYUpxN3ZONzVraVZOMlRCb1ArQUFBQUNYQklXWE1BQUE3RUFBQU94QUdWS3c0YkFBQWEvRWxFUVZSNEFlMWRhNGhzMlZVKzFhL2JmZnRSSFRVTTVsVXRZWkJSUWpjK2ZnbFdJZVNuMWhWa0JJVjBvemlqRHFRNkVwalJ5TlNOb0diOGtXcC9hSndScHRyWFpISXh0eTRJSm1RaVZRWW1oREhRL1VOSWNDRFZnMHJpa055Nm10RzV0eWZUMjIrZnM5ZmFheitxNnB4emUyNDFrM3QrOU5uUHRkZGErOXRycmIzUE9kVko4cmE3S2orcHI1MjNuVndUQlpwUGhaN1k1RjVXcnY5N250RmVhdVJwZGI1dDVwUyt2bGVJNkVXVTVoc1RBYjcydDQ2QVI2blFBNmRzYktZUTViRlVKbFgwLzM1U0xkVnQzS2JVdmJ1WFFjY0ZsR2IxZERCUlo2T3Jzcm9JT29wUmxxUGtUVjlTVzNtYVZrWi9tcWZadWJZcGdZNkxLRTM3ZnlacjVYMTNOa1dESXVnb1Jsa01ranZaK1c2K3BpK2RTUm55OWJuTFZuUHF2NHRTdUlEU0xLdUpqaVZKMW5xdmVHSWVxWUZYRXMwV3Bmd0RQL1h3RTgrOEVTVTFwbkJGTmNiVWVNVnp5cGZCYTVBN1czbi9CeDk5cW5kamV2dmk2SmlCTkZQRjZMNDJyY20ydi9CeW9xTWc1VXRwUlBQNk5HNWtmZnYvWk81U0w2VmcvbHoveTU4VGxjTTdJbk0zeVhaS2ZuODZDUjhkajM0aWR1MEpRdmRjbXFVbllpejlrV0Rwa3BJTWlncWJYRmNITnFOVCtkQlJsUExsVk85VHNTcFlXVkpYUlM2cEdsenc3WFZyRlpkVWpnbVZ4TWFsTXdRMnhsWGJjZzhkODh5Vms3aGxPOXg3YWVvT0s1eXhMQ1d0SE9GOHkxdlErZEJSbFBMOHc0OUM5VVcyZ0hXMUtTUkpGaDU3b3F0Ri9QVEhYbmpoOFUrTWtEbzc1dnJSLzNMeXJoSS8vY2p2Z2ZCZ09nMFBIV3RQdmFwNVUrcjBabnFabkVESHZaZm1LODltV0ZmWE01NU16c28ybnlkMjJsQlhiQStrY3FHakRHV1lqME5ucEltWlNpODBOSDJvMzBEbXdhNVNkd1pFNFNqZjdvYWFUN3IzMU9ta2FsUG5vVU9YMWdFT0cwWi80QXZJSHByV1NUSWJhVktUdGtOTXpMME1nQWpoM3BVbnJsdFQ3clltRnpyS1VBWTY5b25UNmZjVjMrT2h5NjVTSEl2TWRjVmtMS3FUNlJUenRlZ3B6NVpHdTBYUXNRdzQzQkNOd2V3QloyY2tUVWNwdVJGWXhJcGlscEt1U050U1A3Vjc1cFRrUWtjWnlqV1ZCNnpFU3pOaTROdEtJRm5IdWNmVXVzZW9vWktTOTRwU29jMEthVVhRc1FGK2RrUkxISW5zYzNaRzBvekVDdEs4YkF2b0wrVHo4NWZkMERVUE9rcFJIcW9DOXIvaWdONW9HWmJ4MENSeDY0bzRwbG1BdEtVUVNhMUxBRWJxVFZFRUhUV2d3K213YTAzSmpLUUIxTlV0eWRPaTBHck5zaWViK09rRnNTQlJsd2NkcFNqM1BlMzVmRGo1UzVHUWFRM0MydVdJaFdEdDVJYXc0ZzZkb3BsVlQ1OWora2ZRTVZUSzNRTlViVUEzSTJrQWRYZmpseWdidnJmZHFIK01vRWt5Y2h4UUhuU1Vvanp5dERlV0gxMnhIVUgyQW9SdDJGN1NsSytyTjIzRjNhUkE5R3FPL2hGMDlKVlF2U2F4YkIzZmpLUUIxQzFDVTZrNnJLWTVZVVltQ2p5MFlxQmREblNVb2d3elo0RTdrUjlkMllrZ1cwY2FXN2Fuemw2bDdFZ0U0MVJXNWw3ejlSa25Fa0VIZkx3YjNpOVpabWNralY0L1c0NEFMV1p4T1dLY25hYVUyWkRlUEE4NlNsSE82ZEV6cHFMNHc2WkhldllsWk5tcjducUxoR1FyZWgvNitvd1RDTkVSK1Boa2tRRStLMmxxcnNJZ3lpNC9Ib3FaczZpc2k4Nml6bUU3U2xITzZkRXpEcGU5ZFppV0hybWVIZnN6aS8rYWcvQ29tTGtLK3c0QXgzWUowUkg2K0FXRzhxeWtHYm9LZ3pSTlhrNGR6NnFNRmJVaXowankySTVTbEhONjlJekxXdXdBbytuNkp1MVYyVkJlT3FmQUkyZHdGS0lqOVBFTDdPeG1KUTJnN2puejVxRkJRVVdkamNXRFY5R1dnY2QwMjFHT2NpMmZSODlZMjNWMzJWbGhXNkFCSmZyNGlZL201KzMreFJPdVVEWnZjQlNpSS9UeGl4enN6MHFhSUJSS2RnK01PaGJ0dWVJMEJkWGxmbkE2T3NwUkh1Yno2Qm12bzhoWldBSmgyVENpbVE1RGJGN0Zla3dUUEtqUEd4eUY2S2lCRzVmY0VoKzZ6a2lhTUJSS1d2dUd4dzI3c0Z5dXcxeFZOcDJPam5LVSs3NzJRajY0WkM1bUNiU3dWN21KM2x3cDRYODZNV3NqV3VkTDVnMk9RblRVeGVsTE50WXFuZC9PU2hyOW1JVnNoUkcvdjJjUzIzNk5LWS9jbHFXWm1ZNk9jcFJIc1JtUE1LT0xWaVZEMUViSGZWY29nenZDRUlHSXBrQ0thRlF3Q2YvZzZUTk9JRVJIU3p3RHl2cXMwcEg4cktUUm03bzlsLzkrdytUN2ZvM2JUdVlXWklneUhSMmxLR1BsMDFxU1E4ZlRWZkcwazF2b3VHK0hjK2xKT3U4WnRTWGhDRlcwS1pxc0JmcU1Vd2pSMGJXUE5Db1psOHYweEhaVzBxd0loZjFnSmtlSEZPaXFNaTZrS2NVUjlSWTNtSTZPVXBSaDVraGJQTlRZUkYwRUZOeEl4MzJjU1JMOTRpOTc5aVRaOE1OejBUUi9zcDVUdGdBZDBzY3ZaemhkcGJPRldVbFRFd3JyYktWSzZHOW11c0JzNUZmS1NKanNxZWdvUnhsbTdsWnVobG94K3c1aGVSY0FTdnFvOUs4c3hVdEZ6dWx0Tnk4Ri8rQ1Z4TE1CT3FTUHJ4SXNUTjlaU1ZNWENoTldWbk8xNUtneUxpT1h0a1c0TnhVZDVTakR6QjBreWZyblI5Yy95c09PVFhSalhuSG8raVlkbEc1WkNuZ0lZek9sVTkxVWF5OS84dlNiallrMEFuUklIejg4Y2Z2T1Nob1JDcTE3cHhzcm9adGZ1bmJGWlp0elRiR3VBM1NzL1ZidmVkbXhIT1dhOXVoZjdxbnJTdjBkanpzdUlkN2NzRTM2cm0vcXVHOWl3TkZzMmJZbFUybHd0UGJiNm5Ta1RxWElBYmtBSGRMSGQyNjQ3V2NsVGRjcWJQa05sNlZxZUhqWXQ0SGJXdmV6c3ZtMnJRbk9TdWM3NnJSM2Vwd2tQMkY2bEtOY2gwZGZVTTl0SmVzOStSaGVjc0ZwbU9rdHpuQmk1UGdtdlZqQmxMMmM1N2UydUZBS0EzODNhWjcrV3BMOG00eHBRaG9CT3FwZ3h6U3J1SHdsTTVNR0xOMHlQTlg0Mld4V1VCY1RucFZnWVhBYm5DU1pmdW10S2w2SThtekhXbGQ5SjZtMFhrdGVJdTlUam5KTHFVbzcvUzV6TzdScWtoZWtNZk5lQ2JJNjdqdXd4YUQzTnphSDFHZ3E2SnptMFl3T2poNDRiYUFPcG1ndjJpUXJETkJSdHo3ZVBuM0wyczVLR2hrSzJhZHZHVTh0eGcwSmlhZFdIQzROWGYxdmlKWGlvYU9aenVXY091NFIzTXBSaGtkZnViMnBlWUVSSGhCUDhmdXk4dHlrYnFhUE8vYTRQV0xTMTFOcVhOSStoK2R3T2pqcWZqd2wyVlhmWTlKaElrQUh3RW9iOWlPUCtWbEpvNjNyWHNiNm1uOFkxUEVMOUhPSkU1S3o3ZXIva25nTzU2SURuWFowcC9wbitTRkhLY3BZK1c5MDl0UGhFVC9lSUQ3aTk4dXgvWWR6M0xIWVUyZkhidWQrc0J6YytqeTVtbEtmTjd2azVzUzNZd0owZE5uSFYwYWVqNStWTkNJVWVwK3Y4UjQ1QXRhS2ZDZTg1OG9PelhNekZ4MGQ0NDMwSTY5YldadFNsR0htVG8zZWtUemgwYUtKcXN0ZDFrWWZkMnlhNWcvaXU0S0cxM1UzdHRncjcwOS9jeUwyWitEMTE5bTZVcjM5ckx6dXJoK3ZjWUFPVnMvYXJ2WGZXYWZ6azhaallrcTJDcDZ5Smk5NklWcVNoQXQwVzZtR0lZampMenJtVFV2Z2RBYW15bzFLQVlwR1dpR2NXQ25LMnN5ZFpFUEFwUnVjWmZudzcxSHNaS3VHNzV2U3BsLzZWM3dyY3Z2WTd6YU1uYmE5QzhPT3VieG4yeWs1K0FkeUM5Q1dQNExJKytqUTZubnVrVWNlK2R4VFBlRy9zdzduSjQxZ0lFZXlqZ1VKbGg1NzRoa3dSK3NxNjRmNXYrSlJhRm9Jd0xnN1hoVStmWWRhTzdhand6WitSRTZzSEdWdDVnYlpFTkFreHo4MHFIdXZ1OWpOS29lZ1FOZnBSMTFwZFl2dFdLYzY5UWp2dDkweDAxelg2Z1U5d3pHNGk0OE9EWDYrVHJoWm1qZy9hVnk2MDNJdFpzaGkzdlRCRkRTODdtMGJYQ0NtTzVTMVdNN2NXcUlETm9WUTFDY0FsYU5jdFMraUFKcFQwTkdNbVFFd2NKWis4d2VoYjI5SjdyUDBFWWVGb3M3OU5sdW9TNm5ZN3dxaEFhMHByS1VDNk5EZzUrdUdZQURKODVQR3BUc3QxMldHM0crZTBBOVRzT04xNzdFZDBLOUdYSlcxc0FkN2xKZm8yTGJhNnBPbExVZTV6bzVGNzFjUGFiRDR2VVhiSTFrOVlvZjBNNEJIT0hOVnNlK1MvUXFrQVh4eUxFbkxycVVJQmQ5MkFQeXBJNnA4NlVPQmo1K1ZOR0RwbG1iOVBRK08xSnV1REppQ0xiY0VDR0JYZTJSblBXc2tQaFNSNk1DTTBEUmtaOHhvWFk1eXk2SVZodXZBWmMzUDlkbGkyUnA1M1BHQWY5YWhtMVhWSGR1NlhBcWk4WlBDdGlUM1EwLzJ2dlVQa3FhUERvQ2ZQRldmVldZNnpFZ2FRSjFNd0twdnJMRUxHVWh4VW12Q3o3aWJQbmJFaEFsMHdMSHdVMURlejVlanpPRFNUMU9ublZ1MWZXa2dpWFBjMFE0VzZMbWdBLzZCY1R1eW9pZnZWcWVmNmpvUEFIeDBBUHgwM0ZGajgyUDBQeU5wQUhWeUNCWGFFQkFpc0VCcDFac2lsTnlpV21pWGt0bGRxRVdnQXc2STFoS1FhSkxsS0Z2dEpUWGZjTG1zSUJmVHAzUGNBWUJSUE1TZHE5WXJjRm5CUkpYMXFVOW0yZExPOSs0Y0o4azMxTGN0T1I4ZFhWWlBVdldPTzJZbGpRNkZkZ3pIL25GSE9JY3kxaEFoU05iZlJnVnlSN3RyaTRGRWc2MVNsQzI0MG5lNnRxeWVZNmxPeEhibzR3NXVpOWduY0NPWEp3WUszSFZTb203MWlSSFkwdGF6TmRnV3Z0cEhCNWlqcFZmMWZEdyszQXFEOEZMU3JNV09iVkQySTFHWkFIVldtUGZrUngrTWJycWRqdXlTbFNGSTFxaG5BMFZoTzNyMmFNTWEzVktVTGJpMFpXQ3VYUTQ1MTJWVmM1RzJPQllRRU1CM25JaTBUMjNyY3FtVzVReHJnS1o3elp6TlhWTDJCekk5ZEdnZmYyREdyUGxZT0RkcFJoZ2xldTNFeEsxYmhWVjhMR0EydlM1TkcydkloWkcxaXFKRHUzb2F1TXBHdHhSbEM2NGtDUXlYeDZoK0o1Qm14bFpCV1BMc0tBUm5lN1l1VFdFNWVpV0ZzeUk0RXBaMnhieGtWQkh3OU5BaGZIeFNQL0hHUFRkcElIVDh1dUtObUdZQmRWTFl2QjhLaFhQWXR0b1RDOFBRSGRuNXNMWUR6VmpoZFFaS0tjb1dYUHJwcDNOT0c1RXNwazhJU3pFUWV2VEN5UFljYklmVnAvN0F2MkU0TTQ0bHdTYVgxZ3FFY0N3RWRNSjF1emM4aWM1Tm1nOWpsTmoxbVlFM1lwcnRXb1V0K3FGUU9JZGl5WXFGWWVoR2JRZW1sTFpwMEF3QnBSVGx1dFVlMWxrUVVYclN4VHcxaExVR1JXNXZxZS9sdTQ1S1pYQUVlUWVHY3BkUzRsMThEeDNRRktrbjRSZDdpYkVaU1FPV1NHSDgvak94RkVRSE10WTRzaUdJYWQremV4NXJPekNsdk1xdDBTMUYyWUpMbjhTZEVKZGo3ckU5QzRROTRPYXdQeUtYRmQ4OU9tUndoR2ZBWmpSZ3hxVEV1K1VlT3FBcERvcGVaaTVOWWpiU3lGQm8zVGRuOEFxYkRwc3kxbWphaFdIYVJOR0JLZVc0M1JyZFVwUXR1TFROdnVKd0ZtWWkrdFRDN25GTENCT2NtZHo5YVJpc0lnRVE4S01ON1NwUC9JcDlkT3loQTVvaUg4ODhjbUkyMHNoUWlGbWhSRENIS0xoRmxlS0ppeW15ZWhFNzJyN3RJb3h1S2NwQ2U2QTZJRWJHM0NPbmkxcllIVzRPSHZ3dFBNNUsyUTF5dTJLSnFnVWdUbGZJL2RrM295NnhQZkhqam83MThlR1FzNUVHSmw0b3pPTXFPTkdVc1ViNHUzcDg2Q3AvM1FVeTAxckM1RkFZVm9heUFCY0NTamJDSHMrY2Jja0FOQ3ZWY1IvWHA1L1E3dGxzbXFxSncwMWJWZVQ5anJyVko3UkZvdHVuZTBKeXozYUFPVjU2ZG15VE9rZHBBdHJqQ3dCMW9UQ3ZIYWJUTGpWZGQyUU5Pa0lRamlleWJvank5b21BalR0R2RpMEpvMXVHTXZxUTlnQVVzdGswWW5BZitrK045RG01QkJXRTRTMEY5YmF6U0NXNEYzcS9vMlgxQ2FCY01XU0d6QzhlTEJ5YlFoY2RzVERJTW5GKzBsaWEwMVBianNLODlqaXJJRW15bXFhRkM3dzJtVTNUQzNqWkl3SVdIVDFMbzJvYmxLRXN3SVVGcUszUStrZk1lQitpZDRmZnUwVWN4RjdWd0hRSnp3NWhQUERyOTdvOHlHdHk2RGJ1Q3YyUUNJNzZXZGoydFUyOWp5VzZRQWRCeGtVSEtxeitXQXBLUkY0OHFaZVRoaWptdWU4NlEzZzlBT2VHVTlTMkN3TmUreEIxUHpyZ0JsalFEY280Nk5neXBSQm54eVRMVUJiZ01oNXV3K0J6bms0NDU0VTNxVWtrWk1PMkhNL2VWMkh3TWhRRURLdjRZSzZIbHZFcmZMOUQ2Tk5zLzBjRGZiUkw2TUNxMm1jbGtLUFZCUk45ZkhKKzBwakJjOTA2anNLOEx2QVZlMDdSeUlaVVpvTGF4OXdBOW9BbVgwU2xJenNGbUp4TjA3b001YnExUWtnMlFHbjdNQ1BIa2Q2RzNSREFqZmpITjBuWCtpWjBCR2ZNVDBaSC94Q3lBUndWRkwxamlieHAraUNwSVRHbnorYTdYQXAwSEpnR3J1Mm9naDFURWJuTlJocXdkQ3ZDakNueWduck1LWnZTbzh4QzltaStFL3dBbXQxSFdOdlJzVExMbjFjb1FibGxKN09kSmZzM01qNVpkVFZlb3ZvWmZ4QzRRbGlhR1hSRUxwaU8vaVJ0ak5lVHJVRndSQVlCMWxVblZ6Vkk3YXN6UU1lSmFlNmlZM3VTajUrTk5KTkRJUWdsdEptK0hzR3ZhalJUU3pGSHh6MWFEVUxaRmgyWVUxYUdzUFVsS0hldDRUSW83VzFscExkcFpRN0YwbDhtZDJPR1QvVDNaTUlXNm9kdzJTTzNoUUUzQ1QrazRLcDhDUVJISjZabE5kdkRYZGJIUFJZZHNMRFV3RVhIcnZCSmhvSzR6VVNheWFFUW5oc2ZDZzcxL0hOVTEwMW5mVWxZYi9sQmprVkhuZEVCeDJvZmNwU2diRjlzeE1ScTg4M1BoZGdmeUtVUDBheGRTNlhBdXJhK0w4VktodTNtSGd2WkMwNUF1Q3BmQXBBd0JrMXY4STdScVg2Q1B6MFdIZWc0UklHK1hIUjBwSHF5QnVMdlRLU1pIQW9sdTJ3bVUwYnhCSlBRQUNIMXdsc2hKNHYwWmE2VTV4MVExeUR0akJkbkJiWGlsRjJQZmtzUFRwRWVRMjJrcm1aajRTL000aFpuMG9SNzNBRUpqTy9wNmtsTUw3aE9UbE5ac1RzV0ExRXc2NkxiQUFVNzgyUFJBWGEwVUdPdW1VaUR1U1BESDJOTGZqaU4rcHFOTzQ2eTVKRVFxRWIySFMydDdjQ0N6ZFNsWitPRUJ5bE9XWGgwa05LVWhvZUdISDF5amNtOVlvcHdVNnBoTXpvRjlrVW9vajNMYlYwOFp6V0FPUmpvb3ZKWHkxcXNZZW9KMS9VaXlvRU83ZlpPSm93N0MybnE0Z1hxQ0d2eXcybFVEMjNyVVdaRytPZm5VTHN0bkw1RkIyWnNQNldNem14MDljRVVMWHlxcEFobUhHWGgwYUhKcStnMjJrbjdhaXZSU0ZOQXpWWldwUDkyZU90b3lwclc5T2tTOEpPaVk5a2VyQzBFc1lycG12c21ncU42U240ajlhWTlYam5qYkFkaVdKOWZaOUJaU05NV3J3UTd6R1NaWmZkZ3VROEpOdE9hUzNkMjB4Q2taeVpJRnpiWm9VcmJnZUkwaUY5UUdPczRJNHUveFNsWEJialM1Q3BGeU5nR0RGTENNaTdXSjFDSGFTbjlXZXU1d25hTUtXRVRwSDhLaUdoU3A2SjNBY0JzSjlYZjF5UWNkSndZb2pMdXFPeEN0K0tkVTlQRTNtWWd6VHZCMHRuQXN1Q25sdHkxTkVMenZiUk41NVgwZUdhQkZyd3ViQXZzVzlzQmplc1ZXbW0vMlNKbzZjYkZLVzhMY0xXMDdXaTlvZ25oNHMrN056SmprSlVtZFdITGtnOTg4RmMxOStyUGYrbm50MHc5Q0dxcnZ5WXdlOW0xYUtaaGdSdk1HRWRpUzVxYnBiTjBPZGs5QzZCOFlBZ3lPbDU4N1BHdVprNDkvL2dMdjVHMkQ0ZTh4OUtzUGZ5NTMwMVpPdjNqai8zakw0YnM2QktZOElHdGdaTXcwZFhQM3RsTW4wbS9aRGNoZW4wMHVLMUFSOUpYZjVETTljOEd3dWlXb2R3VTROSS9kdnBRcG5jTXlkK24xL2hwaG1ha2FpZEtuOFh3UmVkZENHUzBJL294Q3JUUlpWdkV6WnBFNFF0elQ4Y2RlaHM3bU90bUVKNThHdFpsM3BBNGpnOTZqNlhSRVR4ZkRIaVBOWWRadU16YlNuMHhxWHhkQnhBZDFaaVQvNU1YeThiQ1hxSUR2OU56WFowMTRPZkZQQ0FuMUpDSGNsMVkvVXBYamRSSGlGZitBdG45eVJqcEpqUVM2RHFrZmkxdHk5OHRnaUhzMFE2b3N0d2R5Mm1mZS82d09xUGZCK213VVFKK3FBWGJqcjY2ZHYzbTAwOC9lL01hM2hjYWNIOG5jWStsV1ZXbjEyNysxOU5QMzN6MTJuaVBKNzJGUHU2NDlaQlMxM3ZwNTZNUDRMZWU1SFF2eWcyQlJFZXkvcVQ2NXJHMlF4S0RoU2t2WHR1ejZsci9rOVBmNFZ5VDNpOXlmektHbjc3b2hsLzk1M2VrN2QveG5xOXl2N21PVXRkNDJuUXhFTSsxNVJLLzhwem85L1hlcDdleWJJdUhnUlhiTTAwWUhTWS84VFlUYVNaeXBCOVBIdG9XT082NG1yejRTZlVaL0NRV3JoL3ZQcjlqS3hGbmlsMklnNDZzRVphdk5icmxLWXNSS2RtbWc0S3V1L1I3NHV5TDJqcjN0VjkrOWZRUFJRbGM1NmJJbm1NeSsvRWpUUkJxT0RhRUM2RURqbHRxTzhMYnZaT0dCci9NWjN3b3FUbkhDZFNFN2pVNStSRjBpQjJwN2xLV01nMG43ajBDaFYyV2FXMkxiYmhvUENrcC94L2VwSGJGNjdiWnE4SUFEMHovWXVpNFFOS1EvRXZDMmV2amppMnFDTys3MG9GSDBGRVZPMUwwTGtzNUhKamZLNEh2Y3BaWGpXeEsyQ2Rlc2tFdUtsNTlGNlVjT01QRTZvMVNlaFZEeHdXU2hnU0FyYVZrZ3MySHlOaGlreHBKNkVUUVViY21WZmNvU3prWU4wR2NsNEVDUm5zem1mc090eWo4ejNpT3lBZ3hpZk5LOERzRzhubERNWFJjSUdsWUsyMzJrbnFIcGs4dXhseHJNaWdWSituY0hEdUVUYzRnVVpLeUpKR2xjY280U0ZNcit1aDZ5WWErTGt0aHg2Q2s3OXFlb0w1OEFUWmxwdlA0THhhbVVMOUEwakNuWWpsaHRkc3paMjVBaVZVWm9jVFE0Ungzb0ZkSnlqU2V2ZlBYalRYdDNEZEU2TnVYNXN4MkdKZXFURUwvdUU0NXkwY0V2TG82b1M3RmJBZE05eGIxekhOL0s2V2g4VmV0SzRaYjV5OVRxTnJlYTlqUDJDdjBMSWdPWEd5VnBHekhvQlNDNVN5WnZwNTNkRURsT295K2FqUFRVMHVUNUp2ZWZXS0xKa1Zsd21RV1JNY0Zrb1pFRlFpRVd6K2s0dkRlY3BCTjZKanYvS2RwaWxoZHJHb1VscVFjam94Z2VhQkxFWC9nNkhhM29kUFpWWEM2YTBYM09EUk9qdnVHa1g1TmV6OXpGVVRIQlpLR0pNQ3pyQzJUeHBaMG40djlSRVZ1YnV4VHVGM2VCQjk1MjAzOWxLd01aWC9nTkZodTZGS2dCSWZrSTlsZ1ZPaWhXc3NOakNTaHUwN1BHYSsxSXV4VFFYUWtGMGNhVnNjR1F3SmIwZ1lYKzRrbDF6SVkyNEhUZGRvRytHR0hmdkdUd0ZhRXNqK3dEcFpUVjc2Z0hvTG0xeEY2Mkt0TzN0NFdqVSt0eWVPODhjMUsxZ3d6YVlWandac0hyaldkUnZrQ1NVT3MybzhBNnJRM29DcDVQM0tSWTlDaEgzNWxjUUJTOVBTTHVwV2pUTDM1am1CWjNjWk90dnZ0ZVVTbDI0N0NWeWY1UXFaZ0Vpc0VaTC9pWFBMcnZiUGpKUGtGK2F2OVJkRnhnYVJobGZUcDlHYml6eXQyNzNBSG5URG8wQzhtWGtrcmhuUW9JWnFWb2l6NlowbHNGcitnN2p6UlE4dzdWSC9oR1l1UlkwcUN2azVCODNUVHlaOXpCcytsUHZVTVBaVkxhUmRGUjNLQnBDSGxiRkMwM1hWREM2cFA3d3Z5LzJlaHhLQURSeEZaRUlhSThhK2REanBUaW5KQVJiL3k4N1ZuVHY4TVUxdjU4T252dS9WSEhOdTQ1WkZjeGRtU1J4cmNiZEU3bit4ZGQzNWV1VEE2THBJMFJodHJGRWRsSCsvRWRWVHoxcXhCQjBEeGNkMmgwdEhHMzc5S1VmYUp4TDcwc0czV0ZiMGlaTXZHcEpibE82bGoycHh2Y1dGMFhFUnBobWZweE9LNHc0OGNyTEk2N2xrRzJZNmtlL3JyNlB4ZS9HZW5ZOXVZVTJVb2MyZEtwQytwVVNhNDc3b2VMNmkzQmYwQ1RzajJ1cHRVWVhRa0YxQ2F4U3hhUTF4NU9FNFhxK1I5cUlHeEhmcDV0YnFPVGNXZEdEand4dGFCN2xDSU1vM0E5K0ZFajdERUd5UHVFRThzRmpzNWl4TXBWbG9jSFJkUm1sWjZhb0RvNzhvNDZYZjlCekNFam1UOU41L3RuWDdybnpialBVdFFEZ2k1ci95RTFmeDlWbERsRkF3TEhZMDRYY3RtNXRScitLSFFuU0xkV3hkUG1pVzFweVhvLzhjNE9kYWRCVG9Qa1p2bXdkaTRIcWE4SU9Vb05lK1ZINy9Ob3J2Vjlxc3BQK2RiUDZwNEMrLzZOR2lTdTQ0TWZSR2wyUlZ2ZlVWWVRyWWRsMzJVQ2oySU5RektpbEVPdXV1QzRBeldheldjOEhESU5xMTVnWk90ZWV0U0pkQ1JYRUJwMWlmdkN5dXV5eW1Dam1LVVl4UGx2L0lUdEZuN1lsQVVLWGhnRUNsOGk0dktvT01pU3ZNdkUzVlhjUThaaXFBaktVUTVObHVJZTJQRjk4dnVhd0FhV0ZHNTk2ejM5ZlY5cDRHcTk5ckk5NTBDN2dzOFFRUFZnZzg2SjVDNlgvVzIwOERDemVPM25VejNCU3FxZ2Y4SFp2aFQxV2pYQ3E4QUFBQUFTVVZPUks1Q1lJST0iCn0K"/>
    </extobj>
    <extobj name="334E55B0-647D-440b-865C-3EC943EB4CBC-36">
      <extobjdata type="334E55B0-647D-440b-865C-3EC943EB4CBC" data="ewoJIkltZ1NldHRpbmdKc29uIiA6ICJ7XCJkcGlcIjpcIjYwMFwiLFwiZm9ybWF0XCI6XCJQTkdcIixcInRyYW5zcGFyZW50XCI6dHJ1ZSxcImF1dG9cIjpmYWxzZX0iLAoJIkxhdGV4IiA6ICJYRnNnWEdGc2NHaGhJRnhkIiwKCSJMYXRleEltZ0Jhc2U2NCIgOiAiaVZCT1J3MEtHZ29BQUFBTlNVaEVVZ0FBQUM4QUFBQW1CQU1BQUFDbUJ0OVhBQUFBTUZCTVZFWC8vLzhBQUFBQUFBQUFBQUFBQUFBQUFBQUFBQUFBQUFBQUFBQUFBQUFBQUFBQUFBQUFBQUFBQUFBQUFBQUFBQUF2M2FCN0FBQUFEM1JTVGxNQUVIYXIzZTltVkxzaXpabUpNa1JscVhZUkFBQUFDWEJJV1hNQUFBN0VBQUFPeEFHVkt3NGJBQUFCeUVsRVFWUW9GV1ZUdTA0YlFSU2RKUmpIZ0kyRmxCb2tLaXFvSWxFZ1c0cW9qU0pGRkVnc2RPazJmMkQrWUtscFRJUkVhMm9hdGdWRk1nMDEvZ05RWXZOS2xNTTVkOWI3RUxlWSt6aDN6cHc3cyt0Y2FzSEsxdmpMd1NUTGZUVUd0b0NOdk9LamFvaXZSMjRSMkM4anRSZzdxaHpqVHhtSThOeFVKUWh4YnNqc3VybDV3QWV1aXllcjNKMll1OHdZcGdIYk9rZ0VmQUJPNUdsVHdMSjhaNmgxQUJ6SjAyckFObDE5cktRQlBNcWJoWGJJL0Y4bFBkL2xnUmlxVmY0cjZ4ZkhHa0FzOStJamt6R3F4N2sxT3k5ZVpraUZ2MVh5MWdXR2xDRE5FZkF5S1pNRStPSG03T3dPMEM0Qis2Nm5UaXBIa2dOM21yQjF6Z0pueFUwSlNPbzJMODh1aUhMY2tYejhwOFlsNERuZm9HbVRxSzBDV3dwcUJWeFJNSzBMMlB5S2FRU3UvU3R5MUFkZnMzVUpDTnNXWFpiRzBKR3B5RUgrU21va1lKcnMxdFp0cTE4V01vSUk2WWVSQVJxYjFuc0hKRlozRmVEUVI3YVNLdkhwWEVhcVBPaG5CTHpkd2h5M1ZEdlJFaGNtbjhJdnIvNHpkMy9LTDdIZTN3dU1lVWIzV3RWam10VmF2S1VZZkw2S2ZjSGRsS3NSdnc0bG4xOWY2MUNkalJDYmZPTHZVTjNOWU5ROEhqY0ZPUDRGSS81bXV6ZVdSUmpocDBYY2M5RVpuYTZtU1hEOTdZemhHMXZ6K2dFak9UUHlBQUFBQUVsRlRrU3VRbUNDIgp9Cg=="/>
    </extobj>
    <extobj name="334E55B0-647D-440b-865C-3EC943EB4CBC-37">
      <extobjdata type="334E55B0-647D-440b-865C-3EC943EB4CBC" data="ewoJIkltZ1NldHRpbmdKc29uIiA6ICJ7XCJkcGlcIjpcIjYwMFwiLFwiZm9ybWF0XCI6XCJQTkdcIixcInRyYW5zcGFyZW50XCI6dHJ1ZSxcImF1dG9cIjpmYWxzZX0iLAoJIkxhdGV4IiA6ICJYRnNnWmloU0tTQTlJSEFvVWlrZ1hGMD0iLAoJIkxhdGV4SW1nQmFzZTY0IiA6ICJpVkJPUncwS0dnb0FBQUFOU1VoRVVnQUFBYjRBQUFCVEJBTUFBQUFTRG44eUFBQUFNRkJNVkVYLy8vOEFBQUFBQUFBQUFBQUFBQUFBQUFBQUFBQUFBQUFBQUFBQUFBQUFBQUFBQUFBQUFBQUFBQUFBQUFBQUFBQXYzYUI3QUFBQUQzUlNUbE1BRUdhNzNYYnZpYXN5Vk0xRW1TSTd3cXhRQUFBQUNYQklXWE1BQUE3RUFBQU94QUdWS3c0YkFBQU9RVWxFUVZSNEFiVmNUV3drUnhYdVdkdHJqOWZyOFVaSkZBNWhEQWdoa0dBV2tVVGlUN05JVVE0RW1CVVNDSVRRR0xLc2NrRDBYcmdnUldNSWlnSUNqU1VVRHVGZ0s2QklpTU9ZVTRRUWpNOG80QlZDYUM5bUJpRWlPTEEyeE13dTJaL2llOVZkcjE3OTlMaDc3ZTJEKzFYVmU2KytxbnAvMVd0dmtoejlMSDdxYUo0a2VXTzFETmV4ZVg2MlUwSkZOU3lqYjVSUW1jeStXWWJydUR4bkorTVNLaXBoV1ZBYkpWUW10YzR2eTdBZGs2Zi92eklLS21GcDN5NmpFZ1o2dUZLTzhSaGNNMnFubEhRaGxnY2VPM3pjaFhsR3JaWlNtZFRWSjhveEhvTnIrSjl5d2tWWTVwUjZTdDF3ZFBTZDVrS3F4SFBwTis4VnZJTmJvbkZmeUFWMVJlcDlRVUJSazZmL0tQeW9BRXNiaC9WQXVpNlV6S3Z6b3BVMHBFcWliKzd3OEx4YVovcitFRDAzaHZsWTFBOTQyamlXR1FYMy9ZV1NEcmVySEhNOTlkenpRMUw3N0EvMzlsNzhVQWZVNFJZcjdmeVh5ZnRDTEtsL08zcmZjKzJqaEdYeTR0N2V0ZWNmSS9LVFBCN0ZNc0lKek9OTW1DdXBwYUhGajZBeVgvUkxRNlZ1alEzN2ZybElhOWdydng4T1E4RlpMT29ybWFMNmwwRC8xaWlOWWFrcnRaWHNLaVdzNEl6YU5oTDg3aXJyb25Vc2tJOTdUbDFncHZ0QkRFTUhSOEN3UHZrVE5IYnlpV05ZemlnWVkxdWdUNUtXR2dkSSs0ck1PSDhXb0hQTE5GSW5GcG5lazNxZlVuY0RWVFQ5QnZjQzJWdW1FY0d5cVE2VEJEN0ZCNUxVMUIzRGI5K3BVbXUyTlZSMjJwYVl5M0tjRk5WVVZ3TlZwK0VydGhNSHhPY1J3ZEtuMVdBUDFsbGl3Zk5vR2xpR0VzdVJiTUlERGY5c3hKck4yUEhmZlRmVWFZWDdUclNBZ3pHQ0NCWjl1Zy9LSTl1TWJOa3BLRm0xYUdmUjNNbWJpOVk4TE1OSlVYVUp6Q2h0S1NVRFlNY2FYNGhsS2JPMDMrV3hrVlMwSTF2bW1ueEN6Zk5tdW80d0Z0TjNVdStaaUMyUnRkbFlvSTJQZzJPQUJabmh3QVVUM1RLWXZCSnNrTEppWFhWUkRKMHNHYk9sSkJXVFk3cWV3QlpnZ1hmeVFXVFFkTDczVWU0N0NTU2hDTTFwdHlramp5OTR6SFk3RXJ3b0Zrak1YYlJYOG5rQ0xBMlJTaktlWml5aHRaU1NkUXBsV0RhUmhmdm5nRFVLN3Y1RHNVQmF6QWp0alp3cHdJS0QyWElWZEczdXRBTjlzUjcwemtBbDU2VWxHMHV0d01sUWM3YW9zQXE5V0VESm14TkVnQVVITTdhaVJIWDhqcXpUK2h2YTVJNEgxSytmUUlVWk9QWjcxdTZpMVVYQjI3WVNja2ZiOXJHTXhKZ1dxc2RPb3dZVjU0Vk9uTHF3NG5ic3hBWDN2Wk9ibk5tRWpxWWJDOGdkclJYN1dJYitjczdHVEdJUk9xVEo0OVRGbWxwaXJRTEhDWkFqTVF1ckc3aXhnTnpSbG9nK0Z1VW4wSWFvMUZnbHhaTWRiaVhKRU8wVmJ1L2JXTU45SjBPNHMrWTZSemFmVXcvVlp4ekxFdzhMaWh0WkNvQjlWemhXcmpCSlBKT25rdWdtRDJKVXhsYmJmMndLeFVkRVIwZjZma0sxb2lnZFBTdzRYSTd6bWFwZWdjbHp2UWsyaW1ENUJZeUVGdVRsS3ROeU1qL25mZWNodFJRTHRvWCt2cjJab3RmREFzTTdFTHdnaHdVbWIwMDhnUkhZakFNUmJKS3JvM3FyL3NUaDk3VFVxU2NtcjQyTi9CbmhXS1l2b1Zod2hWdTY4aGRISkxETXArRE1IbkU0UVQ0a1ZTUFg1TnV1VmNOY04reUU5MFQxSnFuNklDUWZTaWNkZFhNbDE5R0lWUTVlTEtCVXZHcm5GRmpJcWN6RERERDVDRmJYNUtuNjNHSUpFTTRNY3FBc1BUZlpXVlQ0bEZwUGI0eVRWOWxsZHBrU2lyeFkwQlBYVytLeVdKYWUyOXVEOFg1OGIyL3ZpeXdQN0V3ejRaazhWSDZkeDRqb0NBZDNCc28yTmxFTXRhR2tld2RIaDRTV2IzSFBkeDdTMXhSM3o0UytIRTEyNURRdWxsM1dsZlBNaUZ6SllxN0pJN3F3QldVcy9lTlcyTzJMZEEyNE81K1pSYzhFcjNZc3NRNWt1cU83MHJjWkp4RXVscTUvWEtkanNkQXgrYmxVSFc0NUt1R2VCMjVIeGRZeTJVeEwzZWhsZ2FKcGtrL3FGRTI1MHBHTUJaK1hud2MxZzR1bDd4OVh3OC8zSkVRbXY1S3JmeWxWazlXY05xK3U0bUxiZENYSjIxNHZldjVnbVRMcTdCMjhzZFc1WFNKa2pQV0FpbnhKb0c5RkpwM1hzYnl2WmlyNHA0c0Z3WXBITkxFZnk5Vk5VK0g5ODVVL28vamJja1dTWkJDcGVXb3A4Qlk4c0VibmFkQzU5ZmhjWUM1WGFSeU82SE5tNmUrQ0huMzUvWmppSTBUS3g4R0N3T0dWSHJ0K1BVT3lBNEZ6OGgxemtsYnJaa1FJZ2Jqd09XOUZOYlc3aGxlZjB4cHV6OVNSUU1VcXZaMkhZZ0Uvejc3REdhT0dnd1VhYnJzY0xiK0Roa2M0dnlmcGdlSTNOMXdCYXUzSDh2QUxqTUluRG5jOEZhT3I2SURkNTkzSTBkcmU4Zlk1azRSaWdjYlNBZkZoVHhHYURoYnNsTEhsbkxNWFN6bFFkWkNOL3g0TFhBbVVObndyRHppbWQzUzJ0TjBaVThLNjNpSUJ4UDV3TXlrV1pOcVdSa3JYQkZuTC9IU3dJTlN2bVlIc1BZcUVDcG4rSHZGekg0azFZbldpcTNkYXEwYkJDM1puZ2hUV3BaZUtveG9IY2syYi9tcDlML2NSczRNRm0zSGUxZEQzRHhURFR2cURtMnk1SXA1T2YvRG85aUo5M3NOaTFuSlc3THF1ZHZFT2JXVWcwaDhZOUVITEtaejFOZGluRFV0c2ZaamFPZ0syeE95emtjR2UyUXMwZDVZbjZoOERML1N1NXlMSUQ1UXc2Sm9Tcmc5R2FVTUdIR2VjQzVtWGcyVXpPSXgyNVB5c3lVTUpuRU5VNDVuVzB4d2F6Q3pWMzdDNzFWd0s4K256d3pyRDlXRkpCNnk5NVY2VnFOL0JndkV4TTJ0aUtLVE5DS2EyUzZMUEhaNk1xOU5JVlh3UHJGck1weS9kdUprSFNtUXMwQmMxMzVpYzlZMENEYkgxN1FxVHB3SmRYcjgwQUd4NEFLUnF4OGphQU9iVEpoaGJINlhWSzZ5NzRTQUxzUXpGd1dSQ3NmWDFwTW5UNTdoMW5pQWpuRDN6eHNvMlJTV0YrYWlnb1M4cmdUUmlxNDBGOUozeXBzZmlZQW0rTHVHVzRpVkVpQStseWJzR2tpay9mYno0UWtxZ2xqOEV0ZlA1WXY1SFg1T3lTZWxuVTNwTzFpMnh3SmRZYVM0VWk1OVF1WjBQSi9pTkY5a0tkVEpqTlFJNVNKOFpTV0dHOC9TT3hVOVlwSTBGS01aa2kyUndwRGFXUzZWNmtLckE0UHhjazBmOERPelR5VG01b29vdmtmNW9CMWRKUExZKytLYjRFdFFLN1ZOaWdUSGJXSnNCaXRRdnJzbGowdURXMG9oZEdqTjlaWDhpUk9rekF6L05OeWE1V1AzU2MySkJQM1F3aVFVR2ZvRVVpYWNuc21mZTdabzhYRm9Fc0l5Rkw2UkNVVkl2dXY2OUh0ei9JTmEwZHlFc05UTXhMSFJIYWlSNjZCeEo2cHltNXBWWWdIVmRkOW9mZzFqRkk0MThIK3RidGZ5YWNtcjJmS3pLL1E4aUExdExZNmxaMVFYMzJjcTE4UXV6MjFoQXVkZ1BJQklMTkYxa3lZellEQVRvbDJOY2t3OTJOWFpwSks4dGVvd2xpcmxITml4MmpWWEJFVmNGQzVGaExMREZXc1lxc1FENVR0YkxQNXR5TFZsdnp6RjVBQW5xRitmT2JGUzlBTWI0YzdoamVPeTdZMTI0WTVhRm5ISEZjbWpLalFWVUdQdjFpOFRTRFF1OHlQZVhvV1B5bUQyb0NydkJMQjZzSTV0WWlybjk0ZFJNaEE4am1Sc0w0S2xCdUpkWWNIL3laNTZWdnBZTlFvazFlVXBPSXNGbUhLTWdEUHRxajJxTFRJVkRNWm13SXlmV0tocE93a01ybUZsaUVVWmhBTXdFUzNaTm5sdzYyNVJUWXlPRG91Y0MwL2RHSU9zYzVKTDcxaXJiYXMxVHQrdkVBckRtSEI5Z1BvbkZZYzQ0OE1WaWhYazE0Wm84clRZem41YjFqVFRJaUs2S28xdUk1TWFSaHRhQ3VvSDE5WnhZZ05WbU8zdktCa0NCQlpidVJ4OHF2elpjT0s3Snc1RHkrWWRiaGcvT3c3VHBxL2pHU2VTQkhoUHdyKzV2c3FVYWRVTjd6dWdhQU13MkRaM0pFZ29vaVFXbFZsQ01pWCtmSUVFOFRiTWczU0w3MUw4dFZMZGVpRDBaNjhGNy85SGlTUjVXRTFiV01JczJpb0ZldWlSMkphdDZOZzhNaDhRQ1Q3NWcrdm5kOWxNK3ByN0RvN3I0MWV1Yk1mR09ydlJCbUJJQ3BjZytrSTZKczlZUlp6YWpicnJTVlB4ZXRWME5zejc2OTR2c2tWZ1FYdGROUDc5N25rOHZwMjROMjg1M2VyREdJZ3MrREI0cFRhVHFWazliMm9OcXNzRlM4LzdHdllFRnJmT3cvalVja2xxMCt5dXhZUG1ybGptbmR0blIwZkh5dTcvY2dVcjEybWZmWjJiZHpPTG5zbkM1MDc0WkJVcVA2b0RWMzVnbEsxbnF5RSthQ0daakZxMi84cmsvRVpaYjMzem56L05PR0tNK2pYMTJQMXlQYk1FR3FBWTFhOEczTU11TVlNcVBDVzhVVGlIMVkyR3pteEUzdGdyTFVMQzcyOHZwcjVKNlg4Q0RvQXhjWFlaaVY5M1R1YktlWHVWSkpKWldtS25wMG1WdG50Wmlualdqb3FmVVo1SkhwUnQwcGM4YnRrcHZuZjcrcGc2Vit0cUtGT3dMYThTODVtRnpCTUREY1cwazlscGlHWW1sc05ZbGFmUFgvM3BPRDV4NyszVm1xTGVWdXV4c2N6dGk1c3hlaWtENjIwNlNuNmFYdnUreTc0cGdzSHo5bkY1NzdkejFNWFA5Q042U3l1a2xscUdEMHNpa1FjMXRSdkwzOGhlZW1qd3UraEMwblUwWFEyWEovZkFpbzBWUGh3bmFVL24zNzZiUFhMUjlEcFpZK3FOL2gxdTMvR1dvT1NkL2xKRUllT0FwRzBFbk91WmpGaFpqTkgwU0M0TFd0dWtYN3laWGdxSnpHamtyTXRZMHZpbGovVmdrQUQrT1k0cFVaRWhpUVNVa1RwYVpnMThSNVpFQ1lqKzZUUVhNOGU3VTN2NWNocjVJUSs1SXZDV3hvSHhaaVhBdHExdVIzaWxkbzZNY2RvcHNOZ1JMc3RXUXd5M3hPZ01GalJ6TFB5NWZwWCt4c1psQXNvL2l2aUJaSkYwcjJudkpOSjJtOUJmbk9Gdk45bk1zcUF1UU12WUxsRGI1UzExOFRxOTN2aG9FVDFvM3hlM1BHNjY0ZVRrV3BCdWtTUDlYUVkzcWlvQ2JWZU90bWNlK3MvUm4yNExxVlRLbUhNdEFyNjlkNUx1ZHVOMktXU1haaTNxeDVEaVNSdnE3VXNBMFcybjNjaXc5ZlNVb2pDTzdWUUxHY3JSSUtFQmIwSTMwdDFVd3RGVGdSRkYyZ3dYcnU0dS8wVENmY1h6ZXM2SXE4c2VDZHV5UEJRT21JenFRL21LUlhFdU51Tmc4UWdtR0RaWVdxbExjSkZhTEpEcWlZQzNpTWYwdDgyZWRwcVA2bTc3cEZLNXZWbGJ5UitnMldKcUhHL2lsbldJdmkvMmRaNEhxV2hYN2llcDQ2Tm9RNjN0bTcxdlJVZnlTVnBHWkJmeU1aUkcvK1BQb2xDeXdXUDZ2Mm1laU5WQXc5WlNPRVZhbm53S2VRZW4vUXNCaWVSVlhMZnRKTFZUY0xWM0N5THRYcUtkTVQydHk2ZWxmUDNtNW9OaElFQ2UyeTZnQmo4RHlyczZueDFPazRuOUpIaEdZbTJJRkVmWjc2dW9WTzVLanJ3cVczclRURlZvSEplY1dJcFhKK2NMazZLcXFnbVd1T0xoS3BmVUt3VTNLVmFPNzlwUFJGTUZxV0FhbG9sYXpvT3lmQXVNZWhoWkwxV2pWc0N6L3BReVFSOFpsdUk3Tjg2OHkwMWdzL3dkTjcweU5UK2l6eXdBQUFBQkpSVTVFcmtKZ2dnPT0iCn0K"/>
    </extobj>
    <extobj name="334E55B0-647D-440b-865C-3EC943EB4CBC-38">
      <extobjdata type="334E55B0-647D-440b-865C-3EC943EB4CBC" data="ewoJIkltZ1NldHRpbmdKc29uIiA6ICJ7XCJkcGlcIjpcIjYwMFwiLFwiZm9ybWF0XCI6XCJQTkdcIixcInRyYW5zcGFyZW50XCI6dHJ1ZSxcImF1dG9cIjp0cnVlfSIsCgkiTGF0ZXgiIDogIlhGdGtLRklwSUZ4d2NtOXdkRzhnWEdaeVlXTjdjQ2hTS1gxN1d6RWdMU0JRS0ZJcFhWNTdNUzFjWVd4d2FHRjlmU0JjWFE9PSIsCgkiTGF0ZXhJbWdCYXNlNjQiIDogImlWQk9SdzBLR2dvQUFBQU5TVWhFVWdBQUF5UUFBQURFQkFNQUFBQ2NpUGdvQUFBQU1GQk1WRVgvLy84QUFBQUFBQUFBQUFBQUFBQUFBQUFBQUFBQUFBQUFBQUFBQUFBQUFBQUFBQUFBQUFBQUFBQUFBQUFBQUFBdjNhQjdBQUFBRDNSU1RsTUFFREpFVkhhSnE3dk43NWxtSXQzdDlvcFBBQUFBQ1hCSVdYTUFBQTdFQUFBT3hBR1ZLdzRiQUFBY05VbEVRVlI0QWUxZGZZd2t4MVh2MmR1dnU5M1pYUnVabUNUT1RFUXNHZjVnVnhEQkh6R1pKVUlpQ2xGbVFTS0lBSnI5QTRORWhPYVNJR3hqWU1aSlVJS1JQQXQvR09Jb21RVUVzVTdoNWlRUVZyaUUyUkRpZ1BpWUlRZ1JqS3k1S0FoakN6d0h3ZmJkK0x6TjczVjNWYjNxcnA3cDZaN2VuV1NycGQxKzllclZSNy9YVmUranFtc2N4MTRlQjk2MWs0QVJ4VThuSUxJa3MrSEEycWlmcEtKaE13bVZwWmtGQnhyL202aVdOOXpjU2tSbmlUSnpZTlZOTW04NVRySHoxY3h0MlFvU2NhQjlLeEdaNDJ3ZjIyR1NrRlhaeUZiY2ZWN0JMN3ZzR2ozMzJiTEtYSFFQVk1KQytYR2dma09ybXduRUJ6K2dzdXN2SzloQ3VYSGduUHMvV3QxUFBma2JKSXJSL1ZldlB2bkFvd1QrdTh6ZmNQY2tiSUhjT1BCYTl5aGM5eHJrOEhzK2N1RW5BSDlDRUJUZFpMYVpvTGYzVkJ4bzM0d1VXNElZOWdYMk81Q1FGbG50V0tEdFBUY09yTHV2UnVwZWdSVEtFdHR3M2Y4VGlRdEtWQUpsNzdQbVFNbTlFcW55QWxTSlFwNkhnUHBCY3QzT1hJb3hlVUVOZHl0UzljQjFtV20xQUpFY0NKcGhkSm9UV2ZZK0d3NHN1SzlFSytxNUx2Y2VoNjc3ZFVGVWRYY0ZhTy81Y0dBMVpBSjdyVUI3Y01zS1NlbTZiTGlIK1hURTFpbzRzRzFRSlU3SGRhOExBdHpybUxsRWNzbDlVWUQybmc4SFdzeTBFaTBVSVlLbVNPQmVRMW9vbkFKWC9JekdnclBpUU1FMU9CcnJFTUVlYTZHTGRGbWtHMWFaQ0Zia2MxOXlYNHBXckxzbGp0T0NTUHFDcktLc0w0R3k5MWx5WU1QZ0tEb2JFQUZ2QktwRnBUZE5KVGkxaGJOeFlOdjB6cGVZaFlYcVNiV282VzNWTks2eWRjS1c1aHpvbWdJa1ZWY3pxMGkxcU9sdG5ZbUgxMlRoR1hHQVJSUlZqVjNtR2dKTEFSVVZ2OGVZS1N0U0M4MmFBK2VZa2xCMUQzVzNaQnNpdWNoenVUV204QmFhQ1FlV1hVUElxZ0FSSExEcUd3aENicWwwUS9OWkZONUNVM0pnNFpIajkzdEYxaDhaUGRZWGhjOHpKU0Z3emlKRXNpOVRubmJuNFpXZTV0a3JPZ3ROeVlINnFPTStqREozZEVaRDkyWHgwbStxbFJCVkg2MHA3cWprS3BKSEt1bHNhL0V2bG1IQnFUaXdOTnBaZExIbFo2SHpVdDk1aDJScVJVS3N0cEJiVW1jcldFUzFxVVdKV1RrTFRzV0JiU3dkdHFDa2E2OWdnQ2lqcVc2YWhFb3UxekRMMENSc3pEaHdKTmxheWxTZHNNU2NBNjA5Q3VpK3V1d0hxT3BpczBQTHZjYXBmQmh1aVhKRG5JYnJ2aytqV2JHQlI0MGZLUk5GQ29qMDNKZnF2cDR1aVJlOVk3S2V1dHd0ZVEvZk0rUzFEbFdUc2hlMkdPUEFHaTBkMWx6aDVVRmo5NzFjMTdSYUFyZEVlSVlMa0VqNEV3WnNYL0VMcy9vdE9EVUhObWwwUUU4SDY3VjQwYTlRSFZBcW1OQkNGN2tsMXdoWGZOUGZkbHozdzZGc3NwRjN3amlibnBvRGxVTVVhVWgzQXk4NklSdzQ3MGQwMXk1eVMrVDFxYzlyZVpUQTdvaWpDTklpcHVWQWx3WkZSK3BsQkJKaGdUa083dEVYbnR5U0YrakNCT1orTU5vU2h0WitGR3N4VTNKZ3VPczRtSkRFc2psRTRXMldnNEZianRTazNKSnpYZGR6TDBNa1dzUXJsR2VUQ1RsUW9LVnpURWplMEVBWmlNS1REZ1pFUDFKRlNia2xoVWJJSi9HSTlRaFlwTHhGSk9IQUl1MzVBZjhQQTJLczVIcWVCKzZRVmVpcU1yY0VCSEx2cVNTeklwR3NTQThzZkFobE1TRmRES3FBRVV4V3NXTVVDV1lydVpIT2dUNkpqS1BBSUF2cXNyZjBITUNFZEJTVWhuUzhVUUxSUkVjSnBIQmR0dEl6REltT0hHMlN6QUtwT0lBSlNiendrSTYzd1JUcmhaR3E5TldTZ1ZKQWt0S0tSTElpSTlDVk5yQlRDZVltazBqZ3F6QWpkNU1wRnRIK2tJMGlnYlAzTkJ6QU1va29WZy8yL0pwRUFtdU1PU3Y0ckVHV0VxWHRLQkdjeUhqSGhPUk5WbFJOSzFBWEpsMUNteDlVVXlWbEVVdGt4eFErbHJrV1NNd0J1Q1Z5dVJaY2IxSkJrOFdGcWVxbXFuUmJTL2w0S3hMRm4wd1FjMHZvRzU0anFzd2trb3FtUFhxR2ljdGdoR1hxMlprdERNTzNHVHc4cVF2UCtESjU3M1h1bGxDbzB2TmdPTnRVUlJ4cjRhazVVRktCZUVqSDMxQUsyZXlFSzJwenQ0UytOR0VyakI0dGxOTEZjQ0diVHNPQnFnb3hRanArbUFUNlpUZGNsOHZuSlVSOWxWRVFVTnBJY0pobGFkTmRaVWpWUkVqRXNQU2h1eVcwSFZoRlYveW1qWXNzYVh0MXBzc04xZmVHUXhGYXdSeTBIMktLN3BaQTJjandzU0RFMElyTWRpTFAzcWZnQUxndlZrc3dOc1MzQ2RHMWQ5MHRnZGFSNi9DaU1idjJMamlSOGM3Y0VyejZ3a01aYXB0L3FZbE56UkZCS2hJOVFmR01mYkhGUFE3QUJia2VzR0tncHF0V0pLaGIwVXdza0FZVWZ5LzV1Q3JIbUVSWklBMEhFS3dTYTRwdDVaN1hJdE5TWGRQbkVKQWZQVmxYcHZDRnFLZVNwa08yRE43M0lNU0ZLZXlQQlQraVc2N2JhalNCcUFxUkhCRHhlYlc0V0RJc05JcjZUdUMrK0xVa2pUeDlsSVRxZEdsNlVrZTgxaDMxUlY4aVc2NWhCWEQxQWtINlB2KzJtUFZ3d0tNY2JxS1dFNzEzNWZzMHJ0a05XdHFlODZzQjVucVNLQXlsY25lYzFYRG9uUnlSSytwUlNMMDNLVWw3aW9PckY5RS9JdWNrN2l1R1BUV0dkZ3ZEM3pKZzV3dlZjVy9XRDZoTGIzQkhaZG0xWmJXczVlT2VoZ3d1eW15SXpCODBpeU9GYTNBQ2hUNGhxQlgyWEdQYWZmcDRLeVpuWHRDSWdyeTBRUUhFYzBPK05RdWVlRjkyY2VHZFAvWVhFSUY3ODc2L2UxdUFwSmp4SWVDQlVpVUlleDBGdVNkd3UvM043MzdnY2VwM2NKMVAydmlDTys5bkdtTkMrbnF4ODl2T1FrTm9lZjhaZVpDclJ2SUlMaUVvR0dEd1lSWTZWd1JQYVAvcHliMS9GRDNRbGdjYXl2SkRqMVk2UVhlOTIrV1AvNlhzSlN3VHR1ckQwUE1EZW03SlY5eGoxLzFEamFGOEZnTDd4U1huS2NSWGp2dUZMbnRQbDVRSm5mL2p3WFRISlZkRHNTZXd5UnNsVmFkZEwrL0k3T1ZUblY5bE4rSUJQTnVCNDd5OWMva1hkWm9LMDlYRloyN3p4Rlc0N1ptK3BMb0hIMkZwVTlVcTQ1Q2t5Z3M0OSs2ZncwQVFEcFhqVlBRUnV2N2VCOW9ra2s4OWRQWHEvUjhkQWpyZWxWMFppZ0NTeE13WE1GQ3JKVnJITGtRQ3ZWbzJFdi84YTUwbjloaXlGUEV1V1dZT0lGNm1RMUZ0b2FNR2pNQjE4YzU0YjVMajNOMkdJcFJ2MHlDWmJTYnFPZkY3VDYyV2FHMHZoNjFnTGRlVXFIRWoyVVF3WXh4RWNsRlVlWjc3VEFHeXhpSkFDNUNKdE1pVzVuelhSaU1tVmdqWFVEeHZ3dnZ3aEYrK2tsaEpRUDk2ekQ0VTNjV1RpU0NxdDVsQUxjcDFORk5BME0vTnZhTldTL1ErTmRRajZCa3hxZUpKYW5mcVExWFo2UVdYbVJtaWY5QTFod0oySEF3VHFYbDZKL3p5cUY0a2dlQ1d4Q2k3Z1dFdUdGZmptcG9aeHBITkxvOXQwbHd4cURGYWlwWVRHMFY3MUN1ek1lV2p6YTdQU1dvaXQ4Uk10OGFHdlpsQ3g1WjBNMVRQekNQRk5tbWFqZ2FsQ05DUmFwZlczSGFDNU9McHhrZFZwNHdRV3kwSjVSZmlaclFRblVqV1QzZzJnTEtUVmxaTE40RzlMdUhKZUk4bzJSUjlIVXIzU21EbTZPNjdKY1lPVGNmand0UVdtckhSNUVnc0pRamxZRHhsR2svR0RSUzR0bktwenFrWnZsZE8zbkxPbEFQWDNZOXBZb05QeFRFMENyMXNtTTVWYmc0UVFpcUhRYldycGprV1Q4Ymo4TmdZb0hwWWtrVno2RmpXS3VHVzdNYlVjUzVPeXhqcEIzemlObExNR0FubElMUjN5ZVJvNE1tNDRVSkJNV2tUcjh5ek1tbU1pUlYycDVseDJ5Y2R6Q3NwN1YwempYUThtUlFCM2daYVRSQVRIVDdyUCtuZUpuOGZhYi9jVmh6NXhoVHUrTG80RHlldXNwbmpxOG90R1JvY1JmcVk4anBybEZTTFNxdXlqR1Fld0R1ZWJLT2pUMXo5R1hObnB2a3hwWkswTU0xMXpSNnIzSklGMHp0UEM5Tk4xdW9BNldzeTNUS05LNWw3aWtBWDNmU3VtRDVVa3kvQXRmaThIVlBkYk5IS0xWbUxiQmhIU3pESU5MTUtxb1dKb2NmRU05dHVaYXl0TjdyODNNZGV1QlJydmk0bDluTFhwcGpqTW5ZNktJNVJJTjZDVFpNZFF1cDhoelhWUmxwTjBRTk56ekN5dVFjVC8xcGlqZHViSi9KWWJKTm1oU2tKMlRaNTZ6TGhIYm5EMzd3TktVOUc4dzBCTHJPeFBxN0RpOUllSFVjMTB6eU1BcUd0NjZiQlhHSXhMVFJNem52dzY0UFVqUlhOWjVscHgvS3VySFlyVVF2YmhrQnNvb0pwaUg3bytac2Y4STYwYUFhbDI2WVhCd1laRDhFUElKS3lhZzBCTUpVSVFjVTNmMzhJNDl6K2cyOE1vMDR0dmNpZkk3WVhCVTJSeHBMTkpLUHdIaGVINXo3c1lCVHNCUlVhdmQydUhrOXRzWWdZaW1IclJqbW1PLzhBNGQzWTVabm5HdnFJNDNtbkFQOWJQMEdqaFY5TlFEUWprcHI3U3Q5NTYvRVdSa0hacnhLK1ZRRHhKb1pxWWdPYUlseTdQRnY1bVJ3THVBZEtyQkQvaUVJdmRZQTRWbWtMNlJ5NDB6MHVBOU02Nk1xcEIreldhU2hGYnNtQlF0ZGQ5dzlVQ3RBd1J2dmRpWEowalhZRU9mYTMzZmhDLzNhUnRQY1FCODUxZkVadjNGTGZqaG0vb1NDM1pGOFdobktYNTRUN3lFWk00SEhvZnZpTmQ3MGRoYVVpcW9kMlU4bEtMZUJ4b0JJNDZoUUlFbTdKQlpQMXBMa2xtSHFPZDNVT2RxVzlwdUZYL1IrQ2ZnMnFEN1lPd3piYjBraHNRdU1BdEhLd2V4U3FRZ1FWTjAwTDcrU1dDRmJlamJNcmo3UjY2QnhlR1lQa09kM0FkS3hnNnVwN0dlMlRqbkR6N253RHdOdlNJNjhwN1QyUTQ0VTlRVWxvNUMrLzg4L0RGaFNSVlUwZVB3eXhLMzRkUmFoMDc5dUlWU01kYStpc2d5cXVCZUUwQTI1VTNGdFJ2bFF4U3NRMStoVXhYaFRkdHFtUWMxNEdJZkNoZ0JmZzY1cXNPVlhObVllZ0lJUUhYbEp1U2MvMEluZkJVdThBWGNqbFJqbkt1WUhTM3l5ekltY3oraktnU2NGTDltVUFJN1Jnd0lHS0s2MG9nT1VBVzVkYWhURnFLQ2UydDBBbTBWR3l5U05lc2x4alg0SVlaaGg4QSttUHlnd0xjQTUwMU1wVFhUa2pYWU9tNW00SnpDZmRKNkVxTndQVGpWY1BaMGJKanRicSswNUx6bVFhb1UwRUhBQ1hKSWZhQ215b2JRNlNWWnBiMGdoNTdrUmxGTWs2UDRldkRWL3puS0ZxMllZRkhBZHJ0WEptVjI2Sll4S0o1cGJBSUpZNlF2QngweFFpV2VPN0RBZG9Zc05hd0lKaDVudFA2Z2Y2bVFMaGx1RHdRL0VMSHFxWXRscUNzRzlrOThNRjE3RFhZNE5YUkxzbHUrTkNXNXNnT05zWHhhVmsyQXB4cmV0Q0FHMEZDaFRGaVpVVWFIZHdYMmI1Z0ZFa205YzRWUnZGNUtqa0dRRnNSVUlCZFduLzRJeWRwdUNTU1NRVkZxUnlIQlRjRjlUQkhjTW9oRUZ5Y0pIakJpaDJqU05Dc0JXSjQ5dEFQbC9Bam4zQklaTkk2dHBxU1VmdHdoT0ZqS05rKzRySXBqdTF0OHNSSWRpS2hINFJXTTcvRlJsWm9ZTjB1UXJ3K2RabUUxczRVTzlSWERDcDk4cSt4blZVMHRRUU5oSGlRSWw5VkkxUklITk5GcGVyMUk2L0ZlSkFrdnVBVVNUVlBZMXFlN3d1MFdqUFpxTEMxbXJiVEhzYlJFS3grMzNKSmJLZE5DMkJIS05mRWhvbHNDRkdXN0lXQzBRNTBGT0dMNXh6dWNUa0dMeDNXdGZka1RWZ0FVdEVlQ1Z1VTdtYUV1Zm91b1IrMXlVaVNrVnNJZStuQnE4SGZNQW9VRjVkbmNGQnZuN29JVzBIM2c5eHNHU0tjZWtXRjFuUzBhcEQ5Wnp0WkZmcEIrNldZT2tqNGozQUdGSnVDV0tIYnNRTE4wYUNkYjhFdzQ4WkZHZWI5ekZQMzFEVEQwYkJBYWkrejV2cERVc2ZGVDZ4ZVp0TzFEVG0xMjVjWkRtdm1XN1lwZDVSVGNaMDZteWo4ZEx1QlJ3bytUTlJ1MHpwRXRNclFYNWRtM0ZRTU9LOUcxY1ZsN1hodHVwZXFXajFCSlhibStRQStId1VKS3FlOWk3NGhyQmg3YjNOM1JJS3hMQ291MStGY2UzOUhJOEVPOVhSRmhTOHRibWtBS0pBVFZsUlhjOHQ4WDd1anJhaU1yM2hGNE1NYUdJTExxU1VGeFBndW9iQUdIN3pVeFRCM1R1V0JkSnNNcHdGZFE1c3E0VkVuTFNIdkJWLzI5Q3FjdXFEQXJwYlFsRkgzKzFmNzhzYVc4YndWVjNNaktBN1Q4SkFtNi9JTWhZSWMyQlRocHd3bnhDakx2aXJJSWhGYmVtMHVsdENBdktEN0wxOVNkZUplQ3FVTlRpVUJFNkRwaXlxaVlsSjVWcUlPQUNQNzhqblJNOWZ3S29jZWtsRWlNcytYdnpYM1JKYVlmU250dmF1b0lDdktXR0J3MzFOT2FEQjRSZ05HMVJoL0FtRFlQMUZEMGM4dmdXb3NlK1RTRkg1U2JMQkFobDRDSnE0dkFYaUJhVlJVRmRmVUxON1FmbjhEUitrRDRISERaTnYrUjY2V0JWekRucmQzZUdkTExTMUpNK2FESXNvZk9WV2w3ekRndUJxS3h6MndDamlHa0NJWkZWc1dhVmY2cFpCWmEzZDZ1OEh5WDhWL21janNwMVlLd0JsZzhza1hvMHNqMFNhbzZycDlRd3RlNzkxN0NzM29lTURuMDNyN3A3bkhTNkx2UkYxOTFBclNWc1Z1VG5iQ2daTlZaR3RhQVNxOUhJd24wRmt3YnREcXliNnFaZUtHdEFwaWlUTlVkVlJrV0JMK3A3MlJGTWxGbjBub1hITFAxaDYyOWZ1ZEs2amdGRGRtNzc0azBONkV4NzdxYjhxQjdXRGJUUW1pa3g5WFBCbXZpQ2YzN292bDVHOG8rUCt0OEIrRnlxN2NkOFhSVEowUHoyUnBEcXFPaVNTdSs3Rjd0d3NJa0UwNjJ0TzhlZVBkNXpDME4xWjdBanBib3BKQnV5aWwxcGNRbEJrTnBVZDV6dlpaTFp0V1BieW1MM3VIdi9TVXcreS9TK09GK29LVExhUVBKRGNEbHQ3VVpLY01LbVBxaTdLTnhnR2svdHNOcEVVMjNSNExrbmlUcHkrS2pVRG40V0kvZUk2Rk15b3UzanBYOGZOM2hwM0pRV1pkLzhYci9RZmJTbGtFY1huVHlUcGo2cG1Jcm4wN0kvQzBCR3Z0bnJrS2FDRnozU2UrTHhILzViMnMyVlI4QnpYMWMvODQyMGUvcmE3bmhINXprTExkUzlwVTFWTDJOT1NSZ0ozUERyNnp6K1JLUS80NGNkSHorb1ltY3BwbER3aVhpdi9mdm5qUHlCYkRJQ0dzdGVCV2Vud0F1T1BxbFlpb2FxeWlpVG9UdmpXVWJack9NdFBGMy84K2RHdnN5eTRKV3dZc0l5cHdYeEVndjZGci8vU3U1YmhxT29URVVrOWJBWHIzWSttbGpRak9acWZIQk1SeWNLbGZ2TFNzWlJQUGZsUjc3My96YXQwUFVqd3B6WGlpdjVPVFhOVTlZbUlwR1NNSVdxUG9DYzIxRjVKUFdQcVZFUWtGV2JYVFYwYkwwREx6T0xUamVMZklQRXd5ODF5VlBXSmlHVHFFODhHc2RxZFBYWWlNQ3lTMTVrak5ZbnEwb25JZGxTSzl4MndNTmhjbStXbzZoTVJ5ZFJIRkhjbktSK2RPMk5TSVpIQW9ablZLQ0VMVmMyQjVQNStWZlVqeTFIVkp5SVN1QTVsMWQzSjBMU0h1NDZwVVJOSjhhL0J4bG1KQkpzNGVOQ255b05FbVk2cVBobVJsTnptR0xaRnNwWm5wa3FZcTdoNDlWRVN5TXhFTXRDalFoVGRMb3NueVhSVWRXcVJGTDcwK09neDJRZlJsNWo3bER3dVRXdWh4VFFMdEJvbHBJNUh2OUNlbVVoNmJDY2hHaUxWY2xIMEk5TlIxV2xGQXUvdWlRZmRtMlhSaVFuM0lROHpUcUIxbkxwdVFVNmtIMFBBUkhMNXVjK1duZG1KcEtGSGJHbEY0cnJvU012d0FLUjd5b0xBVzExU1U0ZDJWSFZLa1JRYjd2c2Q1eXZCRiszTTFGQnRhbEJsR24xZDFCeDVyWjZwRTBva2Z0SFppUVQ2L0pCMUIxNjIzT2VYN2FqcWxDS2hBQ091aG1jR3Jyekt1bVlHMTdUdW0ya2sxbVJCeXN3cGdkeEVRakhiSnVzTUxWZlR1aDFkMlk2cVRpZVNwY0FJOTM5cWFGTU9XTDlIcHY5REZ1WTE1WE5jYjRZYmdYSVRDZTB0MzJPOXBvbExCRnBMcHIwYzBEMGluNHFSYXBQZkRtcU9XenFSMUFNYjNQOTF4K29CNjFvTU9PRHphQXhOZ0M3SUNXQThYYUxjM0VRU1VnMmVlaGNzcjBXMk9LT3ZEU1lDSkdtRldzNHUybEhWcVVTQ042VHZNUVRodHlNMGhyOUoxeUozcE1ZVHIycHYzM2phaWJtNWlZVDJsdlBXU1VSaU0yYTJvNnBUaVdSYlJnWGJGUGt3bUJlOHN6NWM4emVoUkRNaW1PNFVjMXlrY0JpUm0wZ0c3Q04vYXBSRUZMejFHWStxVGlXU29Weno2d0phU21UZ0p2NjF4Q1ZOYTRaWlBHMDZONUdFVklNREVRa05rdkdvNmpRaWdWY2tGQnNkV1hOQmFxbXgvS3ByYXpyeHBOVkVFbzR2citma0pwS0dyaHE4N2Y4QlZ6Wk55cERVK1E3cld4dnBMWmtlS0ZXUFBRaFN4eUJmVzhKNkZ3cUZMbjhQQXNhb3FJeStPZWcxWmMzamdLWDRoVUplVEI2NXhaSHA0ZHhFTW1TZUlYV3ZEVllGM2F3b24xRjFmRVBsRTVMY0dQYnU4YU9xeDRpa2dWS2h5emNwcW1wajNEWU11MDVmTlR3T3FpWWFUU1ZodG95cktubGVYaUtoZGNVbTZ3YTVLV0lheUhoVTlSaVIzT09kbDZYOWU1L1hpWll5c0FmdWk4dE0yS3lQVWJENHVTZ3VpbmxOUWdGSFN4b3hlWW1FM0pBOTFpTE5TOWVDZE50a0ExZVZ5SWhzQVBweVFJOGJiRmlaR0NNU1NSTUdwR25oZmM0anQydUZ5ZVlpblpkSXdxcWhCQmFMbDhrWTJleXFlQXN4cHFWOGZVcGlIaXZUbmE0VUlzRVl2ZTRYcG0raFh4N3lsMFhnNSthZWwwaENxc0VCeDBVNEJhR1ZjdlQ1ZGQxRGU2ZDJPWkhuNFBtSUZDSkJrd2VpdGsxdHc3WEF6dEU5TDVHVTlBZW5lZXdvZUd5d084b0EwajJTYXhUckRoMEx4NDZxVGlFU3pIdFhSSnN3dnNTV0FJR2FyM3RlSXFucXFxR2lYSGVFU282alBDQ1o3VXMwWFAzNG82cFRpQVMxeThvaGtySnNhQjZCdkVUUzFWUURCc1pvUnp4KzFxT3FVNGdFcXVoSU5HLzREbEZremNjOUw1Rm9xZ0hIM3F1SkEvclZFQkVpM2JNVnNPVHU4VWRWcHhBSmpzL2FGL3crcjIwSkVOZzV1dWNrRWswMXZCNFM4WmFQL09lR1l4QmxRRWxzVzU1OFZIVWFrYkJQZUhvbVZSYnQwT2xoY2hJSnFZYlBQVVBYbCsvOURPQVBzU2VraUVia3FvSklYQk9PcXRaRkFtTnFMMUpiQkxFdG5TS0tTRWV5NXdxUmswaklMVkhYc2VZRVU5d3ZjblV4U2hJZVZhMkxCQUhGaTVIYUlvZ1Y4Um9zZGo1SUR0TGFRWVJrYmhBNWlZUlVRM0NOZnZkUGhaTHduenJyVWRWTUpMZmQ5ZTExR0dkdkM3NDJHTVBWb2I4U3V6NThFUzdTa1ZNNUhFTjd5bGs1aWFRRWVjUTlXVmVMNVBwVVhQZE1PcXBhaVFTVGxyZ21UVjdmNW1tejcrMjh0SVZZVGJQWU9ZcnIzZW5qY3hJSlZNT051SWN6SEFubmFHNUpJK1M1VTBYc1NEZ3VrdEdsRjU3NzVBdVhPcFAxU2QxOTRvRzIreDhZc0F1ZEd5Zi93Nlp4ekREZ2N4SkpWOS9ib0RWc0Vva1dFc09zeDFkRXZNTHNxR29sRXEzYUNZbkNsNTQvL3AyZjlvaStkYWcrdDVwUTZqU3lFNHZrbjd3dnppUC92bHZYRStJUmhxRUZMSUdudStsNFVTMGtodkRIVFY2QVlIYmlhenFSaEN1YzMzUlNrVEI5TGFadi8yNndudndmVjdzZTk5QnRGWldWSkNVdUJWcGI2Y3NzSDdBaUNUR0U1dktZeStEMitiLzUzSXpVRVNCTUlxbG9JVEUwdFI4cWpWZENZT3dvOFRteGpLbklkSTArSVRqRjc2UWE5amlDd3lhUjFMV1FXQ2ZxYTloUndsbVlBcVpwcmh4WHpxUkwybXlOYWRKUjFYYVV4SEYySEw0RWtjVG1teXd1MEIvSUFvamJzcFNQWmtkVlc1RklUazBCVk1lNEpZNUJKT1R6N2N2NllYRkZnaVJHdjBTVytLWUNrbHBjMHoxMGQ0eGJnb0JHeE91Z2RkMGQyUVJGQnEvSWxBK3dvNnJ0S0FueEpsRVN0a0Q4RHFoNk5PeW9ud2xIZTFYM1ErMlUxSzR1SzVJUWI1SWtLV0oxUFpZdzYxSFZWaVN4ckkzUG9JaFZNelk3NjFIVlZpU3hySTNQR091V09DVzU3VkhXb0xzbFhVaTBML044b0twbU95dVNFRytTSk1lNkpRZ0VSTmJlMjlwRUIwMGsxK0ZGY3pWbEUxaVJDS1pNY1MrQnAvSGtoaTBpb0Q5UUJaQ0tGTzhxNVdSRm9saVZHQnJybG1BZkZ6ODFnaXJWM1JLS092b1U1cU9xclVnU0MwSVJRalVZbzVFK0JWYkx0eFF0UWJwYlFnTHlOOStaajZvK2d5STUwdm1WSWdWbEVPK1dhRnV1L2NwMXQ0VHNOWCs5cEwwckdvZFpMZUd6SmhKd2MwL3dJZTE5dkZ0Q1B4TjVwRmRkRWpMdzBEUnhlYXZFTVVkVm56V1JnQjFYZEg1Tm42TGpVcTZOS2NiMnVmbFVQWDRLa2ZmTG5wNUlZbzZxUG1NaXVRZmN2QldhNmNjdzE1eFZSU1hqTnFkblBLcjY3SWlrOExOWEgzZ0V6SVJ1L2NoRGYzWms1dlpFN092ZmUzL0xxK1FqRDkwWEo5cUs4akhTSEZWOWhrVGljVkw4YTA1a3ZwbWdLeXJBL2NoTUFsOVJuRW1RNnFqcXN5U1NTeTk4ekw4KytYeW5HY1BPU2VpYWUra3lxcUc5VmNkeG95VGpVZFZuUnlTVG1EMjcvSXhIVlZ1UnpFNFVzcVpzUjFWYmtVaEd6ZzdJZGxTMUZjbnNKQ0ZyS3FrWW9zU05CYlNqcXExSXh2SXFYYVoyNGxtU0tnWThVR3hGa29SbFU5SmtPNnJhaW1SS2RpY2k3OFp2dkRPVjE0K3F0aUl4OFNncnJqUm1hZDVRdDM2TXNoV0pnVVdaVVRxUEoxWlgwbmJhV1pGTVpGZ2FnaXhIVlZ1UnBPSDR4REpaanFxMklwbkkzalFFV1k2cXRpSkp3L0hKWlRJY1ZXMUZNcG05YVNnR3ljM2c4RkhWVmlScEdENjVUSWFqcXExSUpyTTNGVVV0OHRGdVhEWGQwT1pJSzVJNFRtWEVweitxK3B0ZkpGL0F0K3daMlp1cWVMcWpxdEhaZS9uU2ZhcW01N3ZRdHJkVzNqK0ZUcVk2cXByMmVCbk9qamlGN3VmWDVPbUp4RWx6VkxVVlNYNnZBbXBPYzFUMWJFWHkvN3l3QWNCMDVnUTBBQUFBQUVsRlRrU3VRbUNDIgp9Cg=="/>
    </extobj>
    <extobj name="334E55B0-647D-440b-865C-3EC943EB4CBC-39">
      <extobjdata type="334E55B0-647D-440b-865C-3EC943EB4CBC" data="ewoJIkltZ1NldHRpbmdKc29uIiA6ICJ7XCJkcGlcIjpcIjYwMFwiLFwiZm9ybWF0XCI6XCJQTkdcIixcInRyYW5zcGFyZW50XCI6dHJ1ZSxcImF1dG9cIjpmYWxzZX0iLAoJIkxhdGV4IiA6ICJYRnRuS0ZJcElGeHdjbTl3ZEc4Z1hHWnlZV043TVgxN1d6RWdMU0JRS0ZJcFhWNTdYR0ZzY0doaGZYMGdYRjA9IiwKCSJMYXRleEltZ0Jhc2U2NCIgOiAiaVZCT1J3MEtHZ29BQUFBTlNVaEVVZ0FBQXRFQUFBQzlCQU1BQUFDSFRqdzhBQUFBTUZCTVZFWC8vLzhBQUFBQUFBQUFBQUFBQUFBQUFBQUFBQUFBQUFBQUFBQUFBQUFBQUFBQUFBQUFBQUFBQUFBQUFBQUFBQUF2M2FCN0FBQUFEM1JTVGxNQUlvbk43N3QyUkZReTNSQm1tYXNjWmFQekFBQUFDWEJJV1hNQUFBN0VBQUFPeEFHVkt3NGJBQUFXVjBsRVFWUjRBZTFkYVl3a3lWWE82dW03K2hwN3dWaUFxczBQLzhGTHRROGtaR1Jxc0dZQmpaR3I1UU44c0s1R0xQekIwQTJTaFRpN1pSbWhCVU8zeEdMdEgxUmp2QlpvYkxtYU5ZZkUyRnVORVpjTXJqRTJFa0xNVmlPejR0eXQ4VTZ0V2ZmdVR2QmVacjRqTXFPcXNvYXVuT3JxU0drbVg3eDRjWDM1OHNXTEYxSFpRWENlcjBlKzl6eVBQc2V4ejVubmMyenRIRGRWYkh1a2Mzbjh4WWVNUnpvUHBMK2xaanpTb3dmNk4vK3hBVGg3cEVlUGRCdFFmdlBMUGRLalIvckwxOTcwdDhFRmovVG9rUTViOEVqbkJMVFg2YnlBOWtoN3BITkRJSytHdkozMlNPZUZRRjd0ZUozMlNPZUZRRjd0ZUozMlNPZUZRRjd0ZUozMlNPZUZRRjd0ZUozMlNPZUZRRjd0ZUozMlNPZUZRRjd0ZUozMlNPZUZRRjd0ZUozMlNPZUZRRjd0ZUozMlNPZUZRRjd0ZUozMlNPZUZRRjd0ZUozMlNPZUZRRjd0ZUozMlNPZUZRRjd0ZUozMlNPZUZRRjd0ZUozMlNPZUZRRjd0ZUozMlNPZUZRRjd0ZUozMlNPZUZRRjd0ZUozMlNPZUZRRjd0ZUozMlNPZUZRRjd0Z0U2L21GZGJXZHFaLy8wc1V2Y2RaWkVhTDVsRlk3NDJUajFxWi9xdXkrSno0OVRuYkgxWk5lYWxiSks1U0syWWd5enRGQnZmblVWc25HUVdhdkF6L2MrUFQ0OXEvNXV0TC9lZEhHWVRIQXVweCs5LzhwMVZBTnFZano5ejh6VmowYVVMNWloYlB4Yk1KN0lKam9WVU0wUTUvbTg4REYvbldZM01TcVFIY1ErdndKY2I1TnEvTGZUWVU4M3VsWSs5UHJxdVhSNExwS2ZNcGtZTjVoRDd1clBEMlZQbW1HbFBESTNBcnJHczc5TDlUMVVRNnJjK2ZmUG1NKzlzQUhXeXgzVTJ4c3BsNG02ZERhSllUYnYyYldPNk1md2ZxUmh6ZTQyR1Vzcm1wWkM0djJzRUxwZ05uUXpwYldQWWRpOEExT3liekpxcktXSFB5SWhBeTdER2NvbU9NVi9ueEFvWWtEMUtWZmtKRU1mZk15SlFkSzJocXNaY2t2S2cxRitsVk11YkQ0SmkyUHVLZVNGVnBBQmFmQ3pjT2xocVNpMDZiQTNsK1h0ZkJPcm1SaXAvQ1pBK0VpNUVhY3hPbkp6M0g2OFVZSWFqYXJhUEZ4Wkd5M3dnMVdCeWs1S05MbEgrUGhRQ0N5NHpQUTNRcWxxbUlIbUwwdHRtaTBoL0h3YUJHZVZrY0xtU01YcjFPZ3RJc3pGdjZybVNTM2hpSUFKTmw0UGNzc1BueTRBME8zMHIzbEFQQk5VcHNHM1cwM3pMblE2Q0dVQ2EzYnc1OFVQU0JUMm5Od0lOeDdvbGFDaTdERVhSYkxPZERveXJSTzhHZkU2RXdJSkxRNHVBTFBzYUlGZUM5RlZHck9aNkN6alhFejBRV0piNGhrak1BN0pia2d6QWJDdDBXd3AxSmVUSi9naXNTdkJJQkhFRzNKRmtVSUgwSWFkTE1qc3l6eE1ERWRoVkJwaUZjVTNJaVNCWWdPUWRTUytPMTdhK2RHeThxYklyak5GVWNRN29QaTRSM3lMRFdMRjhiZUY3eWtMZ1pXL28vcEJtVkpRQlp2NitpazREc3dSSUgzQm1BRUVSU1NTb1YvemFXb0pUZlBSaE1UeUp2RWxPZnNDWXkrWUhnbUNPa0ZPUlp4bDNXNFgrZ1Z1ekQxeUJNYUhTVWlTa2xzQTdOTyt5bUw4Q25BMkxjejRTTHpjbmU4SGo1cWhRalJmYmMwN1ViSGNhb3g1N0doOHJ6cWN5TUFJSTEvY3BIWWEvVzZNZFJDVTgyU1JBc1E0anJEOFBTNUZJTFFIRjlKRFJuVlo2V0RibSt5MmhobzVkUzA2eGhyRENKZEsvWU15UC9Fd3hha29FendGVmkxeTZ1UzRZNG1qNE0rWWtQVzUwcDllWkRmUGhuVU5PSWRGeHg1Z1d6WE1QWC8rbW1pbzhaYm8vYVpVOEx3a0lYK3lGWTBVMG9rRlB1L3dJeTUyZXJhTEZzYTYyeXpNRWN4N3VvQmM3NExqRVQ2WmozbXNWUERlSkdwMGszbVV2YnRVVm5VWjNtclQ0STFYVFBVb2d0QzNoSnBXekhPL2RnT2szMGNuVkM5U2Vram9YSktqMFpqUlFnRExlNFM2NVZpRk5PRXNUQ3I3eXcxK0dRUFZlRXAxOTE3b3lxTlBoMmZ2Z3JNZ2FscWxaQzgxa0xST2MzdVlnSEppSCtBREhya3Z0d0lyejFmMGYwbTVCcHU0cUZGVGl4eGdVcWlZOEtMbDhYbGZ0NEFiVFNTOUErbFlFWElzZ0Z4eURvQTA2ZlEwdndQdTVBNTBUMFNWNkkzVFduTVJTNjlHT3piN3RHMnJoeWFiQlpMd1FqeEIrKzdFUmtXV1gzalg0UWZ3eVlIYVlnbVhWM0VueGdoVTVjWU8reTFGUTRBZWJGcDVzRGhpUDQzaUVxK3pGdFIyVG0zYW5uOURlTWVHejZvcHBOK2t4Z2hRMDlWWFlxTm1rQXVmc1hwVkk2QzZUSGRaelFjTnlwenZrR1VwKzRFUzZkU3dTOE03Y0RoSW5XQ1YzMGluWTMrWkZTcG5jYVZpRUtGV01JYkRjYWJBNXZJTklFSzFLVGNRQzQ3NGpOQjZCMm1xa1Q3Q0t4Q1JUc0FBbk53d2krM1Q0cStaQUdzQ1ZKVG9zNEVtVzBaazJqc00xRFczUFc5QlkzNTJaVldoakFxOWJpTkUrZTNZQjdMblM5RlVoSjRSaERJS21CaGZWYzAxbEl1bEVtbDhZbEFEejRiQTZtQk5mazR4MGh4MktBRlp4ZEI3YWhmU3VQQWpBQlNCYkozemlPeWg5Z2hNRUJjc2R3ZWRqUVorVW4yU2tZZXliOFhnaGdCZXFPU1JkU0pmbFFZQkVWVndXZ3N1bDB3dHNta0twN1FGL1BYYUNrY1pveEZFTWxialRzR0JPejRnVmVSQkJvRjArUVRxdHIzTmtqeUloYUVJZk42T1M1K0dPNGZ5RGVLQ2dVT3N4NmZJOVFIS0RJY0hkV2tsRjdHbUhaWmluOVdja2dzWDJ1Skp6UmFEclJnUGVaWGZhNWVXaDlxK1RLRzRhOG9LSG1DNS9PcUhUUWRuYTVLV1M1K0VPZ1R6MjFnQ0Z3M2pNampVaWF2OE9RNEw3NGpjNEZSR3JEc3VRc05NWU83SG15RVFWRTV3RWY0RXRxYmpUb0hya2hmRFkwVVBqUkhna2IxMlNJZFYwZ0dqN0hxRjVWODhyVWNGRUoySGg4andOVUlHK0wxektCU3ZPMmgrZFFEaWlyUGhla29jbU9mWWtpY2JLdlFjbUpTYVVBcVRwQkxSeXB3TkhxSGxYUFlnZ1BKSW50aVFDeHhuVXJwQkJDbVZLNWhHMUpwMVFUTjNEVXZFTE1NVHMyalhUNmdsV1hGbVVOdWptV3FKSzU1NUxlVTlMMVY3Q2lUWDVpTFRFeE5Jd0k5NktCd2VnYjlBNEhmdUlGWkVFcVFZQWRralM4ZDI1ajdoN3JLVG00WFJaKzV4NkgycGRXRmRlM0tLMnlSRlVBQzAvaUhBeHJ1YkhTS0xORDAyQk8wMFBFbmwvQktza2VLRG5jdkVDTHpOQlVWT3Y5VXdxTEdlNzB4akFpQUozUzJzTWE4MWNaWnFKS2IxMHFRREd1SGk1d2RubmlPQTRNNjVGRG1uZ0VMVm1PdUxaN2pUaUhua1ZyWFVxQTZFUUI0SUZGVWxkQ1krbWdzSFg2SFB4U1NmSzVNL3RFM1k0WWxDOEEzdmt0anVOK3krUnoxZlpJemtJaFRCTlBMaTMxem5SRGl2RlJjOGU4ODRQUWNzTnhFN0YzU1R1RkVQUkpHakRORnFQME5vdWlMV0dwN1Btd0szSkhzdEs3THpVQmlqMW4vNGNYbzZxeHBNMWw3RzdZRFJDTzlHNm85WXdlUHJsMkI1WHkzb1FHSjRPa1o0UlE3Q1VzdTFoRGZQZCtPMG9WR0pWUnFYK2I3dDJLMVdIZlBkVHM4UkdrZmoxblF5MUZuN1FFaXBsN1c0bmpFOC9ZVDZvM09rQWx1T1hyT3J3V0l3T1dOUmlGZDhYc1JWTFFFcVg0MFZvaXcrYmJzTjAydWNJWkQxcjE2V05VNktXbzBOV2cycHJiR3FKVXRidUx1TXBtZDgxSHdWRGZGVXEyTlVic28vKzFVODFzTHJYdmY5dll2MkVSV1Nvd1FWbGNhZWRSNWlDWU5uOEo5UmJmTWljck1YMUwyQnRiM3YvbGpSblVWQTNYQ1JzWlkwNDBhSDFjdjkyL295T2NvWmlwY3pkL1pEcE5zd240UXlCZGgxV2FhS0V5c0FSNFlzMnhORVZBZFFmVWFhOUxrdE11Nk10ODZuWGZFY0Z0c1daSFlZLzlJUGxIQ1RxU2IvSHloMWhZaWJqNnJWUS9VU2lGNlZzaXZGYmpaUC9DT0FjaHRKUCtMV1EyQXBFbGE1TDFFVFptSThHbjlVUFoxdXZiRWdNNzRVT2x1NSt1K0s5RERsWEZVT1Q5d3pwU3RZREV2V1RROTFoRExnTjhRb0NkS3I0bko3ZUxuN3o5YkRpNjM5NGtSdFlxT0ZQWTNUWGFyeE54a0l4VWZ6eHhwVUhkeXp1L0plcVY0NHRqaVJHaFBRNzhPbktkZVZOdnlGTmh0U0tXZGVjZnhOWjBKT1AvY3VCWk00bmxXb29wQ3Z4VWlTdXJ6cm9UU3I4OUdQV3o3M0FuVlpQU25vMVBEVWFwSEhuTTNGOTB1NWIyWTRTSklTTitYY1JMOHNiSHpLSFF0cjI0c0Q1T0phS3MxQ3oyaDNQVXFDblRBcnBoY3RyUFlXelozd3UvbTdzZ3pmeCtrb1ZrTFRjdGJuRVBQTzVKOStPWUhlZnVYbnp5YWZlZytRZmNHT0xhdEpCNWpCSXcvbzY5c2FpNnBvY0QrSHEreE9MSE9qdUx6YzRONFgwcnA1QkJwZnZMWUV6OFZ2aTdNSmZRT0s5U2hiRFg0bEx5Uy84R0lpL2x2SUxpY0VPZ3pSTWV5OVFQWGdmK3NNb3BhVHQwclVOUlNlUi9xdzFWdzlWVlVJWXZhZ3Q1bjBJNGcvSzRGWFVsbElzZy9MckpQL2JrTmloeEhZVTlhSGtNRWhmU1BnQ2hYVGNsS3AxMzl2U0RiZEFabTRDNlQrQjkzd3ZjK0crZ3JnNkZVTkVQMUtJaWl6cEZVUmNDOG9mY0kzZ1F2RnJQeTFQQVBPSFFicWtuellXanNKQlNHVzZpcWNYZGJhUUx2d2xqUGEwa0lhOVBCVmF4RE9Kc2g1b2FvODFIckl0RDhySXoybkpOaCtEa2Y3QXlWWmNhZHNrWEljbW55TExoUFNVM1hTbU1qMkVCT241bStGTWRHcElsK3lRQWtMSEt0dEpqQjg3Wjh0alpIMkQrdHl3YkkyTmRQRUxiK2kramlzT1M0QWRpaU5FRUp6ajB3aFJaVU5DMXh6V1Y2RXVwKytDTk01STNWZFZUZzNwbHJGV0FHaUdqK1AyblYrdFM4ZzMxRmFxL1dzZEMybFlhanp3RlhQYmdyck9vZENrbVliMkd3bWZNUTJKNXBRZEtxSHpoNkFWMGxkd3dYQjZTSGQ0M3lQc0RrYUtiOFVkbXpHV1F4QnhRVjVIUWlESkx2ZWlGWUxUU01PU0dBSTkzeERyOEdGVTB6WWpEZFJhM0NiZGRvZVo0Z3FXc2xBVmQzY1hwS1B5cDRkMDFUNXNndWFBb3VkMWg1bkdBN1gwSkxBclpaQ25JYzJTTlFnWkd1bDlFLzRSbkU3bzVhekVnYUlhV1E5NHV0UWtWUVV4dUV0TUR5UmNINnNlV0tpSHdNaVF4djJMVGRVb3JDRllRV3Bpc1ZraUtRL3F5Rzl1MFpwYkZkS3pKbklkcDBORVYrTW4xU0hYcm1Vb1hzL05nUG1RaVZseDNXU0xQclh1emg2S096S2tjYXQwUzNVRnJVYzhUeFh0V0VRa2xKUnZnL3dCbGU5b2gwZ2hYWTcvRGdoOGhnQkU5emNpK1ZiOHM4SS90bGRMY1dVbHFaYXE3M1V2cGwrSlhxS0QrU05EMm5hUG8zQndqUFJzMGlIQWJpYmxhNEQwR3ZWL1Yvd1E3VS9EMDRsRUlNNXlCTitIZ0g5NFhUQnYva1VJMHYrcXdlL1ZwSzc1N0grbFpjYlNsVlJOd3pGR2hqUzR4Mnhuc1V1SVpMd1dXWFNzVy9Cb2lpVVBabHZTcTdxRTZIU2RYZlFLUGdxMk5tRGp1OWVnL0hjNXNkaTJmRWFuU014c0QyRm8rdFVUNW8wTTZaTHlIYkFsUkQ2ZXNlcGFRNm1IVFZzZXpiWXN3bWYwV3lCSU45aUhhUU0xSy83YkI5LyttTG55WURKU0d6ZVYrYSswekZvVERYWDBidThqUTdyRlpqbnFHaUJQMnhGdGUzVWQ1ZS9iOG1pMlpkR3hwRkNYMVRpNDZGdnh1UEczOTlQYVNZejV6bHRaS25ibUUzTmZIaDJ4L2gvM2tTSGRzZDNqOE1Ec1Z0UlJGVHlTbnJkdGp3eVhsT0owZzRZZnNDanJOTHdtaHpFWGo5NjJObG1rUHpHTFJuM3d0ZUR5UlFjWDZ5VXhNcVFidG51TVM2TFk3b0svNStoTlFyNE80c2NpMW1EdFZUUGl2Z1RtNnVEWFZOZEV2aisxbjBuN20zTG9vMzkxMlhKSGhUVHV1bWdkUTdzYnY3UlRBcEQwRWVVM0pBay8vdUUvRzRUYzZQaEdsTTg2WFNPM0VkSC8ybFQyZDczd1JkVlNUL0tKekUrdVp4VTZZMVJJby91OHBSckNxTXJWS0gyQklGZlpBY3F2Q3dNZmpGYThsbG8vTXRJOHhlSnZrcCt0eC9PdFZESmUxS2lRUm1SMzFGQ2JrSTUxUkIrNllJbUVQQncxdDR4cFhlRk9TTVBUdUVYbDRYTW5qUzFLak9kOVZFZ24zZU8yck1WM0ZXb01Ta0srek01M0pMRUtNeDVkaERUWSt3M2lyWEpRaVRoamR4OFYwcUREZW9HQXh1RW9IbnhaVkZIZ3NPVmgrNityM3doWTE0Z1ZKcVRCRWJ4QkZZQWJRbnVXeEJxMys2aVEzdWNKTUJ6eHJ0TFJHaGxzallVdDMwa2UyMXhSTVNaQ0dwN2VPbFVCU0I4UVBhYjNVU0hkdHR4alMwZXJsbE1TNDJMSlA2UVBJWVFDWU1ZWlFFSWE0ckJIeEhUOGdvV3l4dVUrS3FRYmFyb0s1aURGTHpvY1VoYWFZUUFKV3Fnc0FORFc0UkFRZ3VYZ0dza1MwbERST3ZFdUtKMG4zcGpkUjRTMDVSNS9CbUFNQS9iaDJNRmwyRXFCZ1BKWGtWdDQ5TytyeWE4NkF4c3N4UTVtNDhWSTEyUnQwMUk2SDBtTjNmOGpRaHBud0M5ZXhPdVZ2L1Fsb0g5WUJnNHV3NUdrWWdybCtYcnI1MVA1MmxJdzBuVTIrQmdvVEpVWk04YUlrRWIzV0s0VHZTWURsNEhWazhGQStmQkRqS0QrNXQzTVpnSmVoSFZLTU5JcjVQck5WOTl0d0xvc2I1RElPTjVIaERTNngvSFYvYzUvT3RRamg5bnhRS2REV3R6cHViWnpwMFJGUVJqcG9CRnRQaTNCbjFCdXc0dXlleWxWN3hneFJvUjBFMkR1TVVwUTM3VlVGc2lUK3cyZmRMWjk2VkJZclZJRTZVK0g1djlucTg4ZWd2SGVMRlNQVXZXT0VXTkVTTy9iY1gwOVlMQ3BsbzZIZVNEUFFXTVFpRGRuVkRFbjByQ0Ivc0JURmZON1VOOUM5Ym5hNmNiZVZPT25RbzRJYVRBQnZjYnRSQnJrNWJ3QTJPcVUxbk44U3ZrZXNGZjRoY2RPdnVkSFF5QWViM3pxNEZRUUdWVWxtWkYrUmZoTHdOUi9QNS9XVCt3cWdQWDFIbDJHNEZHNkRNamZZdm1XVW1CaVZ1V1lobGdQeWp3VDk2eElxeWtPVExDNlJCWFZlTkU5RnVSVUJwQ3dtMkl6SUdXNTMyQnphY2RSQk04UDBxc0tYSXQwR2dsMGp6Y0ZKb3R5SVEwK3RuaHgrTXMyTnRwVXRDRlBic0oxZWdyZWI5ZlZmUzFob2Uvb0htOXBocUpkU0lQbnA1eHNDQmZkVVFWQzh2em9kSExrL2ROb2F3NTZpTGpzTktDdlRFcFRYRDZ1bzhyclFUQXVhOHcrUTBSV096M2NrQUFyaFp4ZDF1VjdnTDBnZHhxRTYxWXFLdTJSdGxHazFINXZkeG9QTXgyU0hOMTNMY3ZjY2xnUDVZNTRuU2JZNE43dTdVN0RzZHIwMjEvVzdqVHVpNmVPYWFrWjFpT3RrRzcwZHFjRG1QMTJsR2hJVml5bnNHcHBlQ2dBYnVBeEZmSklFeEtSZTN4TGtqWUZIdUNlelFtLzZiWEJQSWpiVVpCTzg5WXA0WkVtSk1LNGZVOTNHaitHZENTaUlXVzcwM2drTDdrZUFna3U1SkVXK1BxNTA3Z2VYQmZSa0xMZGFTeWRQQ1VETHdLYkhJKzB3TmZQblVaVGNVTkVROHAycDdFMDdTbVNvSE1ma1RMUHhuMGsvblFUc09vOS9JWWNpSW1GVmkwSEdsS3k5STRsUU0rNVFxL1REQVgrbnBaLzRTWmNvbW9TbG90WnU1YXpVUUtrTDRVNWYwNUY0STh0blREdGtXWW84QmR1enNCVEpMR2RzZzBncjZaQXdEMWFlaTlKbkdsYWVkaVRnL1NSUUhhWFZLT1BPNDJMN1dUb3VtS1pDM2dqSXZ0eVFiWmVtbW9iWmtLUUJwQzI3aEpmTHRZdk9nMUMralJqV01hT1RrTUVLVjRRMXNVbnJ5dHZaRUtRaGxFbVBRTkdNQ3NCam9KRTN0S0ZacEl4VVhTZ1ZhT3JoSFJ0aXd1M2xHMmZES1IvQjBiNTRpRVA4TzRJZlAzN25QeU1mcWFwcW9ZL0JTdHI3UUJtdjhoNnpLdVBWblNVd0psSHV2aHRONStLUGdsMjhyNm4vK0ZJSVRFTStabjduNmtCVXNhODcrbFg5M2hpc041YjR5b1hQdndULzR6aXQxLzlkdy9IVFB5RitTV2dTMkttNFVmbFIzR3V0V1BMdkROQWlEK04xbEt1emJ2c2UxdXFVT0RZbGVuQXg3YVNKL3pMNFlTNlVMM0J4UUQ4UTA2Y2ZaMDJsNis5UHJyZStGajFicEhlTnBldlFEVnZ2SGE1ZWlMZ01Fb2hvVTBCb0VvWEd3dFluSitzRmRzdlNhbFp2VkZ3NXBHV2NZMmEybFhUVytIaTlmQ0JGSzlmWE9OMlliYm9hbnNCcHZ0RnpnVGZSQ1NGTy9hVVdJLzh1aHA5STZKZmU5LzRYOVVIdHBSQVV5OTJQTklLbWY3a1ZOTE42eThPdWR2YUMvUklEOFNMQkdEdUpUTGp2YUYzMmozU0dWRURNZXZES0JtSzJkOFQ5RWhuZ0N3V0thWGlwdjNMTHVzQWxKOFIrNE5sNVM2bllreFdkaXJSdFBiS3ZFNm5BT3JKR1BZYmxtVnRwcjFPOThUVmtXRkQ1eEN3V0VYYlYvRTZiYUhUUDdHb0FrYjlKVEYzU252VEV4RDNHRHppMDVPWXM2YTRRZldXN0FpSzErbEJnT244TmdjNU5MY0hYVkduSTBIRUk5MERKeWQ3VVMvNm5CTENYRW9FdXozU2dzMWdLdmxGK240bG1uS29KaFR6U1BkREs1VzMzek9tbWhKTi92ck5JNTJDcUI5ak52TXljVGxwYUR6Uy9ZQk41eVgvU2t0YUl1WnNKdy9wbkZtay94cCtZOWh6bUtQTG1FcWRnM1MzTlcrNTN2ajNFVnRuZFNjQU41ZnV4U2JHdHRwR2NZTWNjdXRxa3dzOXZIdlYzVDVkekpaVnYyZGRuN2VDR2IxNlc3UVArcFR1V1hkN2RUQXovOTRoSFh4cmxqZXArSy9XVUxJZy9YOFF0QXIzclR0emtRQUFBQUJKUlU1RXJrSmdnZz09Igp9Cg=="/>
    </extobj>
    <extobj name="334E55B0-647D-440b-865C-3EC943EB4CBC-40">
      <extobjdata type="334E55B0-647D-440b-865C-3EC943EB4CBC" data="ewoJIkltZ1NldHRpbmdKc29uIiA6ICJ7XCJkcGlcIjpcIjYwMFwiLFwiZm9ybWF0XCI6XCJQTkdcIixcInRyYW5zcGFyZW50XCI6dHJ1ZSxcImF1dG9cIjpmYWxzZX0iLAoJIkxhdGV4IiA6ICJYRnNnWEdGc2NHaGhJRnhkIiwKCSJMYXRleEltZ0Jhc2U2NCIgOiAiaVZCT1J3MEtHZ29BQUFBTlNVaEVVZ0FBQUM4QUFBQW1CQU1BQUFDbUJ0OVhBQUFBTUZCTVZFWC8vLzhBQUFBQUFBQUFBQUFBQUFBQUFBQUFBQUFBQUFBQUFBQUFBQUFBQUFBQUFBQUFBQUFBQUFBQUFBQUFBQUF2M2FCN0FBQUFEM1JTVGxNQUVIYXIzZTltVkxzaXpabUpNa1JscVhZUkFBQUFDWEJJV1hNQUFBN0VBQUFPeEFHVkt3NGJBQUFCeUVsRVFWUW9GV1ZUdTA0YlFSU2RKUmpIZ0kyRmxCb2tLaXFvSWxFZ1c0cW9qU0pGRkVnc2RPazJmMkQrWUtscFRJUkVhMm9hdGdWRk1nMDEvZ05RWXZOS2xNTTVkOWI3RUxlWSt6aDN6cHc3cyt0Y2FzSEsxdmpMd1NUTGZUVUd0b0NOdk9LamFvaXZSMjRSMkM4anRSZzdxaHpqVHhtSThOeFVKUWh4YnNqc3VybDV3QWV1aXllcjNKMll1OHdZcGdIYk9rZ0VmQUJPNUdsVHdMSjhaNmgxQUJ6SjAyckFObDE5cktRQlBNcWJoWGJJL0Y4bFBkL2xnUmlxVmY0cjZ4ZkhHa0FzOStJamt6R3F4N2sxT3k5ZVpraUZ2MVh5MWdXR2xDRE5FZkF5S1pNRStPSG03T3dPMEM0Qis2Nm5UaXBIa2dOM21yQjF6Z0pueFUwSlNPbzJMODh1aUhMY2tYejhwOFlsNERuZm9HbVRxSzBDV3dwcUJWeFJNSzBMMlB5S2FRU3UvU3R5MUFkZnMzVUpDTnNXWFpiRzBKR3B5RUgrU21va1lKcnMxdFp0cTE4V01vSUk2WWVSQVJxYjFuc0hKRlozRmVEUVI3YVNLdkhwWEVhcVBPaG5CTHpkd2h5M1ZEdlJFaGNtbjhJdnIvNHpkMy9LTDdIZTN3dU1lVWIzV3RWam10VmF2S1VZZkw2S2ZjSGRsS3NSdnc0bG4xOWY2MUNkalJDYmZPTHZVTjNOWU5ROEhqY0ZPUDRGSS81bXV6ZVdSUmpocDBYY2M5RVpuYTZtU1hEOTdZemhHMXZ6K2dFak9UUHlBQUFBQUVsRlRrU3VRbUNDIgp9Cg=="/>
    </extobj>
    <extobj name="334E55B0-647D-440b-865C-3EC943EB4CBC-41">
      <extobjdata type="334E55B0-647D-440b-865C-3EC943EB4CBC" data="ewoJIkltZ1NldHRpbmdKc29uIiA6ICJ7XCJkcGlcIjpcIjYwMFwiLFwiZm9ybWF0XCI6XCJQTkdcIixcInRyYW5zcGFyZW50XCI6dHJ1ZSxcImF1dG9cIjpmYWxzZX0iLAoJIkxhdGV4IiA6ICJYRnNnWEdGc2NHaGhJRnhwYmlCYk1Dd2dNVjBnWEYwPSIsCgkiTGF0ZXhJbWdCYXNlNjQiIDogImlWQk9SdzBLR2dvQUFBQU5TVWhFVWdBQUFUVUFBQUJVQkFNQUFBQVI3cjE4QUFBQU1GQk1WRVgvLy84QUFBQUFBQUFBQUFBQUFBQUFBQUFBQUFBQUFBQUFBQUFBQUFBQUFBQUFBQUFBQUFBQUFBQUFBQUFBQUFBdjNhQjdBQUFBRDNSU1RsTUFFSGFyM2U5bVZMc2l6Wm1KTWtSbHFYWVJBQUFBQ1hCSVdYTUFBQTdFQUFBT3hBR1ZLdzRiQUFBSGxrbEVRVlJvQmUyWlRXaGNWUlNBNzdSTjAwa3lrOUJTUVJBU0VSZTZTVUVRRkdRR2JFSGRqRldMV01VM1hka3VaQUlpUWwyazZrSVh3bVRWUlRjVEVRUjFrWUFJUllYSnlwOHFwSnVDcmpvYlVaQ2FxRE8xdHRYanVlKzllKzY1NzU3MzVuVW15U0QyRVhMUFBmZWNjNzkzLzk4ZHBiYjRLZnlxbjg1UVVjdGhqS0ZDaU00bDBNOWZZbGxlWlN1TXNaVFhQTGZkYmJiY1RlVVlsdUEzSno5b3BnWGIwYWUzMlFicGovOVFuOTV4dm5iOHpZdDVYdkxTYzQ3VjlvKzM3d0c2K0ZkM3FoVXpaZmpUMFc4NzJ3SG9ubENGMDNDOWI4c1YyanZNVmd4Z1RqZkdxM0RWYVJNL1U3Z1hkcGp0VWx5ZllmU1pZczNaSnU1U085cW5oYmpabExxY3FOaUJmUDE4TGR3L2Q1UnRBcTdIRUxzQTBrZGNHOGxlT0xmRDdUWVAvNWdHQ21EWmlGNzY2ZUdQWDFZVE84d1dRTldBekdkMXFqYmFZYllwaUdhcHJyb0ZQWjJrUDF2RFZ2NzZTRGgwQVhxSGhMcnNualhHQnRrZWdJNWdiRlZid1ZZNEdZUHBoSWFUclVOWnRnMEEwazhDU0M5QzVWdlJwOFVLUTRPak5qWkpscTFDMDFRcG5LaWJaQ0lKdzdjYjdpd0FUMy94MG12aGMyVkdxTVd5QWZ4QjVlUFFaMnNZbnEwQmNPMFVWU2dLeElZNE44Z0N2eUlzS0dtWk1EUWJqcG9iU3l5Z0pCSWJUdE9iWkZEQW1VTVpTUmlXcmJBQ042UnVkT29pTnF6dGQxdUNZeUhUZFZpMmc5RHIyTnBTSkdLYmRsWjZaTXYweldRcjNIT2s5K2lKbEFvamRRM2V5Q3dQQzRtdDVhd3hBY0JhbG5NVzIzZ1RBTmZVaHpMODkvVVp6cEVyc1cwQS9HMmoxZm9zY0JsczR3RTh0YVQyQTlSdHVLVFVoak5KbFpBbnRvWno4NEJzbWQ3cGJNVW1QS3ZyT1pmUk5DVzJsQXBNUmtWczgwbTJxakdSMG5TMkJsd0xaeEdlQmxkRHo0bERYb0NKZkJjd3hOWk9zajNwaFdTS1ZEWmNpbUtXeGZnc2MzbVorVVhpWWxaL1cydGlxemhzSzMwMnJWUzJOblVsbmhkbWREM3JhN2EyV0FyTUlkWXJjUlRFMXR3U3R0MUFwMUxjaytkMFZiV08vcytmY2ZIVXdTMGlPWjB0ODU0a3JkM1dnZTVzaWdCNldKVDhEV1ozV09DekpEV2NqZEZnbjdKYzBpbjEzRnZtWjRRZ0hIQlRkcGMyWWFidElkYW94SlRZWEJvMzUzdW10QnN1NEhZS05jUER3NWgvYWx6TTNnK3B0blMyekh2V0ZEWjhwVHFGWGcvUEN4c1cxcFMwdTBiS1Rqa2JveG1zM2JCTDJlaWFEOGRlYzg0RFdNaytmNUU5c1RXVDgzU0E4WWJMQmp2TExPcnpRbEhvUDI1RUlJS3dwV3dONS8wMkFCYlVwRDhWRk53TUwvMzV2eXNDbXYyV2NkdXROdERhaTE1Vld3bXkxVldMRFpTNENBK3UvblBVK3BGRTdWWngzbmtnTmx6UllJMGk0NjBLcmhXVlZhdUlKWkhObjgyNE5KcDFySjA4STIxNlFabENuS2U0RS9CN0ZHUmJLOUZTYkowbHR1eHY1L2trVzlWRzh5V1JEYWNDbTZhNjNkYjIzZlI5VmI4TERlTkM3ZFpJc2kwYkV5a1YyV2J4czQ0WnQ1Q3RVV1VLSXdZU3NDbGtLYkhoeUdWOUh0QlJoOWt5VVdURGhtSkxDRjZxd0RmaVYwZVR2d0VMbWhTSkRRT3oyejV3Um5YU0tXVS9YWFJlVDdOZEVGZlpkZDd6Zm16U0VOczAzNllWc2kyUWpTQ0k3WVpEbGsrZ1dZQ2dLdmdpOUVWSjdlbUlEV3V6SGFLbjBwSm55eFFpVzl0WjNoU3l5UkI3ek5HWUJaUkVZbk8rNi9Vdmw1STE2VVMyZFh1dzFJYklKZy82S2JOdVVUaFpJRGE4RDdHREF6UFp4MmFSRGZ2MEVLc0ZSMG1WWmExWVlqMWt0YjVFYk5pTkZnZFhVZHZCdmxQS1hHaEEvR2tWZVNEYnF1U3JWQ1Y3d0JnbllsTXJiT0hFV3g1L0h6UXVPaFhicmVYQ0lOc2E5N0Z5Sy92ajF4aGF0bmwyUFlNci9MS3hFRk9SRFc5bHp6RHJkTGFwUHJkN2NSRExoa04zd1VUR3NQVlkvdVd0anRHeVZHVEQxcTVhRzd6R1N1dFRGWWhyc3ZXTkpNdkc3M2czcUEyZDZXdWRSVFk4aDJ4YWswczQxL25Vc0NYNmh4KzJCL0VDUjdac1BIS0ZwZ0pTMnVhMG5zam0vaDdYMHNPN3lhcmNCZDlGQStOQjYwVVNIdDQ3bEVrVkxKdGFwK3B3emxaamp3cXlMZnZlN3VrYnkwTzJnM2F2TDYyOEdFWFpLMjZlalpTbHo2bUpzZTJCM2t4VXR0dStWZzNaaENrN3pXK0h0VlBJaHN2aVFoU2hXTUhGc3FrOXg5Z3VIWlhwLzdoSVBXNXpLUkpqS3dabWZHeFFsMko4YWFrcmFiVnpNeG15cWNXNFU4dk42eDNOaS8xZU9TUFcvQ1BBSTJJQlV6STJIS0hSSG9NNzFxb3hhU0NFK3pseTE3ZWZ2Qk9nRnVDeEJ6Ny8wdGhGYk9WQTExZzhDUnBON1lYdXpEblRGOFl3VHZVc2ZqdnVwa1FSWlRsYktZaVlGdGxnMklkbldidVhhYmZaa0N2K1I0TXBZbE00cmJ0NG4vcjh4YkNDQnY3Ni94NVY1UXE3QXR5SXZ2b2hDNCt6cVFQUXUwK3AwOURyMkRqM2QrKzJlNWxXei9hZWVlS2o2RGw4TE1tbXlwL1Z1dTlqa1BBcFhEajJRU3o2aVlhakovdDdJWFQrR1Y4N2dONmNHOGxsYzh0TUxtNDNrODJUN3NkdXBVZGE3NXgyVStyc3c4SHhkenR1NUFJMWpxdDNjZ093cWNJck5XTEwvRDUxYW5JeUpYY3VPR1dVR1lRTm5lLzhLZGR2YlZSTlVoalBQaTVGNWdPeUpldHk4b2srZGNyaXpLUTBGcEtHSTJJYjIweUNDUGtSc1YxZUZsaVNxaEd4dGV0SkVDRS9HclpDSUtCNHF0R3dUY29mY2dtNjBiQzFwR1V4UVJhZmtUenRjSXIrYThoS1BVOE5JMm0zeVR3NzFvamFyWkdyUzZOemI1NEd2Z1diZm4xYWxxOWJ2QnBHMGFmakgzb1lvbUlVYkNLSW9Od2V0cXY0RzBSSHFDMi9xb3dSR3ZtdVgvSUhSVXQ5MHlaKzVkMUNsRllZWStrV1BQS1ovay9ZL2dVZHU4clJVcG1IRUFBQUFBQkpSVTVFcmtKZ2dnPT0iCn0K"/>
    </extobj>
    <extobj name="334E55B0-647D-440b-865C-3EC943EB4CBC-42">
      <extobjdata type="334E55B0-647D-440b-865C-3EC943EB4CBC" data="ewoJIkltZ1NldHRpbmdKc29uIiA6ICJ7XCJkcGlcIjpcIjYwMFwiLFwiZm9ybWF0XCI6XCJQTkdcIixcInRyYW5zcGFyZW50XCI6dHJ1ZSxcImF1dG9cIjpmYWxzZX0iLAoJIkxhdGV4IiA6ICJYRnNnWEdGc2NHaGhJRnhkIiwKCSJMYXRleEltZ0Jhc2U2NCIgOiAiaVZCT1J3MEtHZ29BQUFBTlNVaEVVZ0FBQUM4QUFBQW1CQU1BQUFDbUJ0OVhBQUFBTUZCTVZFWC8vLzhBQUFBQUFBQUFBQUFBQUFBQUFBQUFBQUFBQUFBQUFBQUFBQUFBQUFBQUFBQUFBQUFBQUFBQUFBQUFBQUF2M2FCN0FBQUFEM1JTVGxNQUVIYXIzZTltVkxzaXpabUpNa1JscVhZUkFBQUFDWEJJV1hNQUFBN0VBQUFPeEFHVkt3NGJBQUFCeUVsRVFWUW9GV1ZUdTA0YlFSU2RKUmpIZ0kyRmxCb2tLaXFvSWxFZ1c0cW9qU0pGRkVnc2RPazJmMkQrWUtscFRJUkVhMm9hdGdWRk1nMDEvZ05RWXZOS2xNTTVkOWI3RUxlWSt6aDN6cHc3cyt0Y2FzSEsxdmpMd1NUTGZUVUd0b0NOdk9LamFvaXZSMjRSMkM4anRSZzdxaHpqVHhtSThOeFVKUWh4YnNqc3VybDV3QWV1aXllcjNKMll1OHdZcGdIYk9rZ0VmQUJPNUdsVHdMSjhaNmgxQUJ6SjAyckFObDE5cktRQlBNcWJoWGJJL0Y4bFBkL2xnUmlxVmY0cjZ4ZkhHa0FzOStJamt6R3F4N2sxT3k5ZVpraUZ2MVh5MWdXR2xDRE5FZkF5S1pNRStPSG03T3dPMEM0Qis2Nm5UaXBIa2dOM21yQjF6Z0pueFUwSlNPbzJMODh1aUhMY2tYejhwOFlsNERuZm9HbVRxSzBDV3dwcUJWeFJNSzBMMlB5S2FRU3UvU3R5MUFkZnMzVUpDTnNXWFpiRzBKR3B5RUgrU21va1lKcnMxdFp0cTE4V01vSUk2WWVSQVJxYjFuc0hKRlozRmVEUVI3YVNLdkhwWEVhcVBPaG5CTHpkd2h5M1ZEdlJFaGNtbjhJdnIvNHpkMy9LTDdIZTN3dU1lVWIzV3RWam10VmF2S1VZZkw2S2ZjSGRsS3NSdnc0bG4xOWY2MUNkalJDYmZPTHZVTjNOWU5ROEhqY0ZPUDRGSS81bXV6ZVdSUmpocDBYY2M5RVpuYTZtU1hEOTdZemhHMXZ6K2dFak9UUHlBQUFBQUVsRlRrU3VRbUNDIgp9Cg=="/>
    </extobj>
    <extobj name="334E55B0-647D-440b-865C-3EC943EB4CBC-43">
      <extobjdata type="334E55B0-647D-440b-865C-3EC943EB4CBC" data="ewoJIkltZ1NldHRpbmdKc29uIiA6ICJ7XCJkcGlcIjpcIjYwMFwiLFwiZm9ybWF0XCI6XCJQTkdcIixcInRyYW5zcGFyZW50XCI6dHJ1ZSxcImF1dG9cIjp0cnVlfSIsCgkiTGF0ZXgiIDogIlhGc2dYSE5wWjIxaEtGSXBJRDBnWEdaeVlXTjdZVjk3TVgxOWV6RWdMU0JsWG5zdFlWOTdNbjBvVWlBdElHRmZlek45S1gxOUlDQmNYUT09IiwKCSJMYXRleEltZ0Jhc2U2NCIgOiAiaVZCT1J3MEtHZ29BQUFBTlNVaEVVZ0FBQXprQUFBQ1pCQU1BQUFEK3lPbFpBQUFBTUZCTVZFWC8vLzhBQUFBQUFBQUFBQUFBQUFBQUFBQUFBQUFBQUFBQUFBQUFBQUFBQUFBQUFBQUFBQUFBQUFBQUFBQUFBQUF2M2FCN0FBQUFEM1JTVGxNQUVHYVozZTlVUkxzeWlTTE5xM1l1MGRGcEFBQUFDWEJJV1hNQUFBN0VBQUFPeEFHVkt3NGJBQUFWeUVsRVFWUjRBZTFkZTR3anlWbHZ6OHphNC9HOE51d2h3UjFya3dPSkpIOTR4VVpDa0p5OGdUdElJQmR2WUZlRUpLY2VvUVNKZjVnaDBTazg1Y2xwUVlxNDRKR0k0Q1FpUEgrQXhDUEVnNENFUzA2WjRiRjVLTGZ5SU82U0lKSjRrQUFKS2NHVFpBeDdkN01wZmxWZDcrNjIyKzZlY2R2WC9ZZjdxNnF2cXI3NnZxNzZIbFhkZHB6c1VoeklQK2ZlMlZMSkRFb1RCeTY3NUFhNXUrN2tmamxOVkdXME1BNnNFdkk2cDFCL2cxTWoyUVJLMnpPUmE1STNnYWJGMHpsQ3R0TkczTXVlbnNmSktlTkIvZnN5NmFUdVlTZ1Fjc0NJYWhCQ2psSkgzc3Vjb0JZNVdXY3NXSUIwTXIyVHJxZWhTTWovZVJUQk9DRHBvaTJqQmpQbTBPTUM1T1Fwb0l3cHFlRkFqZlM5aGMzSkVmSmlhc2pLQ0tFY2dFMGdSQUtRcjNFWmExTENnUXVFdk1SSldTTGtXS2ZxZ1V4V09qc21BZmVVajdNc1RHdVBqa0w5MjVNZ0tPdFQ0NEJMeUFaUHJoR3lxMHJ5VFpKSlI3RmpJaENDTjlLS2JpaDNKL2Z4QnlHMlREb1RrWW5xRlBhMHRLTGJTbEJkUWs2Nm1YUVVueVlEdGJRWjBsR0NldjdHVjNkYW1YUW1JeFBWSzR3Q1liSTV5clptNVpsMEZKc21CSFVJdWM2N3R0MmRURG9Ua29uc0Z1RUJFY2R4Ykhjbms0NWswNFFBekJkUzRYMWI3bzZUU1dkQ1FwSGRVb042aDZmS2hydmpaTktSWEpvVW9HOGFOSlM3dzhqSjVzNmtwQ0w2blE5MmR6THBDQVpOOUw1Q3lMY0VBWjY3VS9obmtjN21qdURFcE82WU95SmNBL09OQ21yNUJVRkxKaDNCaVVuZFlVVi9rL2VkSitSL0FaYmxKa0ltblVsSlJmUUxxMEJzNG1BYWZRUFptOXVpTEpPTzRNU2s3amhLSUZZeWJNTmRBeG5kSTBGTEpoM0JpWW5kdmVXTWRsL3pvZ2J1bnFBbGs0N2d4TVR1WGFGM3FGOTZoR01HZlVsSzZxWHpyaTFKYXpoUSt1bndzdFNYdE1nOWo4Wk5TS2ZpT0N2aUNFajZZd1h6ZlRuTkI3RzV2ajJvTk4xbENLNHhBZ3ZrUWJhRlhaYjdDVTdhNTA1WGFNekJITDUwdWo0WUljV2xKWDZzb1BwdEdBZ1Z4Mmx2UzJKVExwM0ZpS2VLUys0YjVKQ21EdGdrYndYTks1Qk1FM3NKUmFKV2k1UkxweU1jdFdFc2IvRmo0c1B3MGxpZUp5ZGJ6aWZjbjNDY1MzQjkzaTBpQnlBMTNkSlowYzhQT2M3elVKdnk2ci81QjNjVXIvUDhGUXVWTTBYUU00VFVXVGdITDFuZDFOOFFTYmQwMm5jTkhrdkpDT0NMcXJqTkRSK1ZNMFhRNzkzdVA4RVVaK0gxSi8rcTBaMXE2UlJZWUVOUisrcUhucVJ5NlgvbDZ0V0h2blNMZ2o4dUN4ZjBaMDdtVGptUWF1bmNSMDBZODBJb2l1bFE1QmEvQnZqem9yZ2s0eUVpWndidXFaWk9SNTdDazV5bU80bTdJdlZoSkxaRW9uY2lvTm01cDFrNmMrcWNsMlE0OXFya0xqemloU3BHNVZ4UVVwUFkwdzZrV1RwbGNzWEhYb1J4VlJqS2dac3R2WU81R1Z6YTBpeWRMbUYyakNHaGZTS2lValFienJXeXBPditkZENvT29XSkZFdW5xUGJiRldPcmFpZVJadGJWMXBXektkK3pVT2hURHFWWU9vdVdQYzA0RFUyalI5NlFsQzdSZ2p6d091VXlVZVEzNUpFRGxaY1NxQldnZGh6WGZIV3ZqYVZOa0x1YTNxRUlFa2U5OS9SbGZOVEtaNHZmMUl3ejBSUGl1Y1ozWkhwSUMrV1UwKzBGVVdGNjc3bUxULzhhUnZlRlA3d29CcGltc2VSSWdBUER0dzhsblRYUXZ5TlMzWmxTUEEwTXpidTBzS2dZNnNUdnEvSTFjWTBVMDkxeEVISlhKclhUVVBhYlZtVmF3UWE1ZWVQaFp4OSs1R1lxRit5RkFGL1V3VnQ4VXM5UXRydDZlaTJveHJRS0orVjB0NEptUWxtejBVQS9WVU5xL1ZzTW1tMHBIK1cwa2xjTGlzeHNFbU9lVXpYMG9oemduQ1lwbVprQlo4SUJMY0NwMnE5cDNpZHlhU1NIbnA3MExzd2thU0dJdk94K0poekFLMkVCN2RaTmQ2Y0Y2UndxdFBvczd2R280YVVJV2xMdmhpdXE2RHVXQnlwSlk5VGk2MHcwdDJ2NFFocGVCaWJNZ1dWTm9jaW1jVWhmMTBiVUtORGpPbFh6RTBDeVdnYkU0Y0FyWHV1Q3ovemltOUZyN0dVSnExVzZNN3FsOGhhUnJLZ2tqckRvc3RJS01uQjhEdnlLRUF5NzgrMmJSaENuTFhlbnJXMiswZTdYeEluazhXbkphbG9jK0pBaEhHRU10SU5XcWJMMmpxVkQzKzd2YXpQSmdhODZ6UWR6TExha0l3a2VHeGYzWDVyc1ZSYUxSTGc3eXIyaE5vRjh3NUlocnN4V0hOUWEvQ1NTcFE1azAzK0VDdWowV1Z4M05qd3EzQ0Q3cTZhN08vK3BINWhpbGFDV0pqR0VHZTd6YnlHV0gzSWNmQ2pPVkRRa2FIZW5ycHpQSW9SanZ4ZUNBenQ3ZmxaOTEvdkNybC8zSTJjNU9nZEtMdjk0T1lJeWNwY1RDRENXajNROEJsTjM1eHFGU3I5UHZ5ejMyeXhUKzRIQmJlZ2hWcFFEWnRoMXBGWE9RRDhITUhWK3lzdnRHWEVZaEFvcVBtenE3c2pyc2UvMWxYdHZXRmpaOURzMFlkZTJoWnNsVFE3VVpVZ0ExdklWVllhcDVKOEcxTjE1bUY1WTRjZ0hGTEtBTU9GMkJhenV4dGw0UTA0NCtwOWRBemlBM2JRRFhneDVYRk9Zc09SMlZJcER5dDBwMUFoNXY2OGNINTg3OUdkbU9lTnlZRlBwY1R6NEt0enNZSnJzK1JvdEszY24xN1Y4SFlhc1pPMnJtMldNekFGb2JQWDZsR0cwWVZLdCs1cURMS1c3QXdUNlhRenp5cVJqOGlOZUNqUGttbXpCWUhlZ2RMQ2NpYzlpc0lPR3Z0bWxOeWZiellBeE9ZQ2xxaUtyR3FjOEVlRDB6eDBZQThjU3ZSb3dVZHo0Qnc1SmRqRU9nTkUxUGZSaXpCM3Nla281Q0lDNk93Y2k0ZXhybjZJVm1abDBFbnUyanVuL21haXpXckFLdFBoL2tIU281N0lyQklHQXRGSkNJck91elMyUk4rSTlzZUZOZVVQSERvem9seVR6NEVxcUJEMHhJRXNFUU9PbFd5S0I5M1hJUFpuZ1FEWjNFbnNtamgwb2wydVN3UWlTS2FWQ2k5WmxFUWZvR1ErVlYxYm10Y3gwdGZaa1pnYU14d0VzVHJ1eUpxeTA2ektCYnl2NHBRTjA3UldkbHBIeWFtYlNVUnlNRFcxYUs5V2hhakZJT2cxRDAxUURWamJkYWxCdFpkQllIR2pySzlVKzBRK3BCOFVLZ0s3Y0hhZXJmZTFVOUU2Q05vVkVZWFlmalFNMS9mQm1UeGNWM1pYZXNodnJHSnJKTldZU3c0VU5xRTAvVWIwWXRyM3p2bXgvUi9BbzZON1VyYTY2c2IrRHpZSU51d3JSRnk0WTRGb1V5RU1OakZGbit6czJIeU9tdlkvRFNNNXF5eFo5WDdkaXRXSzZPN0RHOVhXTzRRWnVDbVg3T3hZZm95WTcydE9QcFd4YnE0ZEZhbGRMVXRCMGQraGVqK1lmTWR6QXZWSHoyMGVvcGE1c2Y4ZGlzWkZzYW1IbXNyVmxZT3pGc1ZxbXUwUDNlclFkQjRZUmZLN0E2REpMUk9aQVRWdWJhcm9PUWd0MUxhVG1OYmhtT0RoSTZkNHJROEY4aXR4M2hqaU1BNXRxN2tDaG0xOG5iT3ErS1d1b1lSaHArNUNPNTcyK1JuYXpxTnVBTW5mR2dQWHpHazlaQlVFUnVka3p1dTM1MXEyMllRWkFWbDdZWms1dXlDSDBKdi92d1docmxoS0Z4ODVzTk12OC9BM3ZZRkVaMFRVMWpiekNsaDZ4WmxtbXU3TUo2UnpRL0dXMVJWcTJHMkgxWnV1bitvNHpHMC9CZERGaDdQSjVDdnY0eU96VmQySWRWcHl1aXZhUjNLWlZXc2V5WXN0bnhjbWlXUUVpZmdGNnZPRTIxSDRPYmFBcFpLSnBJTjd3b21VbDBPMEcvVWdWdFFxMldSdEh2SWJqVkgyNlNoYk5DdEJWVTZmb2dnWGVkZU1mbGZLTk1kS0M2Y1hjeHgvMmVkTGZzVnBkMHJkTmFSazkwbnVva0tDbzJGVEtheDhFNitvSUNuV0dvSG50SEpseDlwTDhReEtqcktvek9HaXU1REtwRkR2a2QrekdzZXJ0eWJ6aXovL1BhK2xUY3ZyUlYvNGl6NlFmLzdvT2VGK3BIY2YxeFJka0N6TUM5SFQyNVo2R29mU0JpeGZ2Zi9vOTRJNTlxSHljRWMrYm11ZHZ5SXQ3em5kMkNMN0ZiRjk2b0sxSFJjTXZJVE5ROWdLKzBPWmVrUlVoc0hXWm1Fa2c3eTNtY216Nzhrem1ieGdMaTBRWUZhaURwZHIxL2FSZkorUUpMVWVBK2pJRlNZaExMbVFJN0p6czVXcWFEYjJxYjg2SlptYnFmcC8rRGpOR3RxbVcvNmF5ZjJNTXVhVyt6Y0ZhZWUvdC9wMS9EMnF2b2FuNDBpZTlEeTNsTG41U1RCM0hlUXJ2L1JocjJhSVd0Z3RxY2ZyenV2ckNodUZvQVpheXorb2RaN2p6d2t3YlZ2bUNGdVlKeHYzVWMrN2JqclNpc3MrQjFRcG5BY3pieHlicTZuazBOLzdISFcwdXFrK3laSnZVUTN2czZSYjNVT3dwUkxoZzdYbkJCWHhKREFNTHZXWWZpZHlSNzliWDgwUHJvK3ZRc3VDQ3VtWnVCbU5NZVc3VjBncXdxYStMSVNFK2IvcVNvbUMwZXprcUQ3dldrektzbTFMQ1JrSHhwdEp4dy9vK24vSzZ4WC9FNUE5Rno0Q3RVbEV5MG4zRnNncERLKy9yZ1p0UUxGVXdQMVJSS2R3b1VHUEVweU5LbTdGdzhyWmV4UjVYUmJTSTNhOGtWcmFDV2l0Rnk4SDNlZXJQakhDVm80bzlXcHZmUWRJbW5XVjdnTERUNVBRR2ZCeHRZSU94WE0xRkdZU1pHOUdDYjBkZE1nZDFLc3N1dTZtVFRsbk5GSTlNemQxeDRMRHZTdUpqQURYcFVBNXBaRFIyNTBhMjhRWjBYL29CZ210akFNWUVpbnBxcG5pOWErNE9UaDZkSmtMU3Bobk1DVzl6UWVtOGNDUlpzbVN2eXJKa1ZDQi85UmFWemZsTDV4TzNUcjQ0Z05pT1piSmhkMTk2cDNCM3pMMno0SFpLZjFwL2RDdTRpT2VXbzdvbGhaSFUvTDQ5N3djU01haVFIdmZwLzBYbjNLWHpGRG45TWprc1Bya1JRcHk5ODZ1N096Vnl1aDVTVGNzdU5zbWR6ajNucVU5cmVSYTRySXgwcThST1JsNERhY1dBUCt1eDI0dVlucjlCLzFMdTNLV3pSTDYxNS96ZDNYS1lkaS9ZSnJQbTdueFBOSzNUSnE5elNzMzNEL0lrNXlNdlFRdFJaeG5ZUGlmKzBpcWlDSWFpbmJkMGNoMm01enFoYjRpdDJrdUpjbmRnd2dSOHZzRTN4QWVZMGIxOE1rZzZ2bDU4cllpTVVmNHRyQnhWbTRuR2g5M1BXenIwM3l4eDdYdWJpZ0hVTGRxdUNIZDNjaC83Q09uL2NFQUZPeXRYWnp6QzhhY0JCa1NlcUZNMGRnTldlalA2djRnMmsvQ1U5ZTdQV3pwMXp5S0dlcitpazZIZ0JYdkpLME0vZXRmUEROYjB2STBGenZpdXJjQlVIL1FEUmZmMDVDQjROWEs0WUQ1c1RJT2FIMWgyenRKWjRXZnhjSHhpZzlPVmY4Njk4ZFU5U2VTYUhhR0d1L01WWExmeHFvekNrdWgrb01zYnFLcW93bnR2OWQ5b1RidEJFOHRxTS9LL2lQYnVXalZqSjg5Wk9sVWVHVkdualZkZC9FY3NPZDBSSXluYjBxbnhPVERuS25ZTDVJQTc1TzYxMVpOTDVKK1F6ejdVSVQ5cUlLc05QU003S0xFVTBRSE9qK1FhQmZYa3l6dGY2Y0E2UG1Ba3lPOHo1anB2V1hjK1ZsZHFvR1V2SkhVaEZLeUdSejc2ZlJsbE1TdTZ3bWgrNEM3RWxhdVo3UTR5R2V3MmpXTU9kcUZLdHlKR2gxU05vZEQ1U2dmYk14dU1wQXRpM1Y5bVE4SURmNFdUMnJMQ2JCQ29PT1pmNXhOdjRLRGFRcGl1ZUpTNzdEakhpdWpScSsyT2NEZ2pIeWw0bG92eTdBd2szVjk0SnRKNWw5RGo2dTY1K0dYeHlPNEwvNzkzeUdpcVNqdTZJWmpLYVlXN2M0MkQybjljNWJFYVd0ZkpIa1dETUk4Wk9teTJDZ09RUTB0d1dJWWhzRHo2ZXNFNmh5TGMvbHF2R1lhZis3ZXdrdkh6ejBRNlhZdHhTSHEyWmxXRWZLdENLYmh2WjdRdml2VUlSendPamRIQTNibkNNMXBLV1dDVjgxMUhGQTJ6Y0p2ZUtlRHhWTHpCSnFZdEs0VVhIb1hqSHU3a2ZzOUVPayt4ai84WlA5NW5nWnRpeWdpbGdDZDhndzRlTTRSenk1NDdjSGNZQnBBYVl1WmhKdHd5V3FlSlI5ZHBRemllV2FGM2ZHeEFoS0c5ZDNQUjB3NHI4SDVHbWp0YXZmTUZrNUpPNmV1Myt6KzJOWXgyZVVKQUtBWHdiSmRXd3AxWGJsaDZwNnlPNy9XVWRFSTdXaE5pbHByTmVUZWJucEEvRXgrdjZZNTZZQ0MweDdNc1NFZzYzMTBuTUl5SHZRT0pSZWFZRFFiQ3FIaWpjcjJaQWVXdzRXWFlWa0ZEdmEzVWxkUEJRdzM2YlFrSlNzM0dzYXgvbkhnNVNRYzdyRS9zT1o4UzYxWVEyMmdlemlVZnNES3BGSndQdjRWbFFHNTg3cFJOeTlkcEsxc0w0bWZJZzM0YTVOUXJscHFOWTIrU3Y5ZnJSUkMwamo0aE9KRzVBMFA1YzVUK1M4YlM3aDhSaExMTGNuSGUzeXhGQ1Y5MzdGaEJSNG9jODJ1NE0xNFZubE5OdUR0ZVIzTlczUWlDTmltY1NDb0o2U0R1N0psa1JldTV0MGNFR1ZSWTNnTGwxZEkxVmI0c1o0Z1ZaNE5JWHVKbzBCejNWSTBRcUNxRVdhZjY2NDg1MXYzdjZaeHM2RFZHaUxQcDFjNGJUa0k2ajB1bDBSV2NEQjRHK0x2QlN0akxtaGM4SGNReU51WE9pUFhQMGxnTXIvUEdZRnUveU1Id20zaEZDbEk5d3A5TmVvaXdMS3ova3ZEdElvVzNPTW1TQktRREJvcFRURDBCQkE5SmFoY1dibXNkU0N4RS9UZDRZc2tNQ0dEUlBPUWxPQzFGcDJqeGlLY0RieTN1MW1LYTdqaEZyb01Ldi9CTHp4Tmp0M3hPZXIrQnJhUWxNd0hwd0V6YTVjUFpIQ3dkZkVsN2cyRzYxSGJySGZGYTFFdVJSd2VzcHhvaXFYQTBmRWlRTnIvOGdxd1dBS3p4SndYSWpyUHFMYmdNclMyZFdwcU12amNhME1mNVpjV1hUc2tWWmhJWXpyYld3cW12ZWJFb3VJeFlyanJyRXJFcnB3NUNNWVp5d2FLMHg5RWdLTnA4QzFYRHIzbXVBcHZVN2xnV0VUcmc1dzA3WUVHdWwrRk5wYUFrdm5Ud2xNcW51WGs4ZUVqN25xdlpKWWlkRlpVVVZzaWJWRDN6VEU1VitDLzBlV2Z6b2xOUnVINm81TmxtaVBUQSttNGRhZ2hOdVVRaWM4MllTUnBXdXNENDBta3J6VkRTR1JBMFRtODcvNW5UQmg3ZFJUWFBta3BRbUgvQ3RrWUQ5LzhSOVBtci9zcHJDaTRzVnFvbHJrdUNtcWQ1UGVvNGxUcWZvWE9uQ1ZCZUt0Q0tySVp3cjJSeEtvSFkwZ0hQdExWblo4Z2d1M2lEOWpJNVhNRWExZDRXdUpla2FxRTUreXFGT2NZdVBqZXIrR1BQWFBldG9scndmWVg4bkpQcjNYTzZaR3ZKY0k5YStwSlpzL3l0NExZbW5odGJPdEFoNG1uT05ZZnVQNjJTa3krVG42V3ZzejE1dXM0SFgzVHA5a0pPc0VJN1I5MjkrZkN6ei83VEl5NFhDTFlOSHV2SWFnTGZ2dmZJbzUzK0Z0YkJ1eDBXSFppL3NjRlExaVNkU0xwREtiV2JuVWc2dG5SYVluZkFjUjczdE1yQWNWeStmZklGSUJTZVA5a1ZlQTNHcVo1WWhlYmticHRBa1BmaTY5MjNiY2hVQ0pEN212c29SZnBOOXljWmhnanBySGthaWVVVnBZdkxrcW45Q1pYT3g0Ty9aUG1yNG9rWEkrcUt2Y3ZjZjBSd0ZrVXQ3VDduMld0ZDJiQ3IyY0VhM3JoZ2w5dllMWTI4K1FqUDBiajlKVmt2VERyWVZnbStsQzczeUFEV2dlTmMvSU1IOFUzTm5YRW9hMytlMWVKdVBlRGU4RmpuS1AyMHVVbXBUb0U0VG5rNmpJTFFrN3Byd2JKUnl4aG5FQUlGNHZyZHZWR1lKbkFYUFExd1dTZ3ZCOS9RMmhDRlNkd2IvU1BXaktzWjBUM1ZXeEpkbkZrYllYTm5xUzZZYnQ3NzNwTXU2WUVUZ3I5QmUvTUhyLzdYV0xKeEVFSDFMcVdtZmU5Y3k4N0dBcFk5eTIzRk1BcWtoelpXaytkV0tVdzZVUW1BQXg5cmw1RitGNGhkbXJKcHlyQk9WQ29HNGVVNmI5K0NHVkxYZkxFbGJSb05xanJ4c3JqU1FhUWd6aXFSYzdsdzlLaGsyZnJXUjB3bXJicmtuYmNJMGQ0WDJVOVdzOFdrYjBEMXVOSlpDL2pXL0lEdTdDSkVyZm4xRFZVMHB6M21LbmQ4cVBDWHQ4a2IvMHlyMzV5U2hTM1VLdERHTWhBcys3OW1QaEEvVW1FNzBhWE4xK1ZTc21hSHIvM2tNdUxPblgwdEJwb1lWU3REZHNCamR0VFFkRnpNcHM2NGVnTFNPVTZleE9ZN2ttOVR0bGlVMjFFeUs2MUFYT2xnWmJ1ZS9OaFcrdVBaNTVFb09ZUFQ2Skg2SFFNcHJuVFc2RlpOOGxmdjdDWlAwVDFLbnQ0emFqR3VkQkR4T1RnRDB2TDZqayt5N1M4SGZHRXkyUjZTYXkydWRCQXJ1S1pSOHd3Y3YwU3VpNG0wRXRTSTNLb0lLa3haWGx6cDRPeUxaaFhrNmtjcEc5OTBreE5YT2pnM3B2bVJsNmJGQ1o4U29VRTZsVmlrNnYrUWt1dWNuVEtQUmVTMFZxNnpNNU14cU4vWHR1cy9kSmFHY0F3YXA3WXFvbHhYWWhHUHQ2ZlhlUU56NWpIL1dNMW1sY0VCZkUrWmZGTndkenlPZEVUTXN0QlJlelRqTlpYVmtoekkvZm5WTC8wV2hJTnplUi84bHgrcHlQeFJnUWY0Zm4yK2ViSXphdDBNUDR3RHNMYTBhenNNYlhoK2szd0daOCsvN3A1VWh1Tm1HQkU1a0NQMHRCaTdjR1JzTzJLdEFEUWNNK3MvZ25kcnRnTEtzcXlKYzZENGtmckpuZitlT0JsakVmRC9UMTBYN1ZVd0M3c0FBQUFBU1VWT1JLNUNZSUk9Igp9Cg=="/>
    </extobj>
    <extobj name="334E55B0-647D-440b-865C-3EC943EB4CBC-44">
      <extobjdata type="334E55B0-647D-440b-865C-3EC943EB4CBC" data="ewoJIkltZ1NldHRpbmdKc29uIiA6ICJ7XCJkcGlcIjpcIjYwMFwiLFwiZm9ybWF0XCI6XCJQTkdcIixcInRyYW5zcGFyZW50XCI6dHJ1ZSxcImF1dG9cIjp0cnVlfSIsCgkiTGF0ZXgiIDogIlhGc2dYR2hoZEh0Y2JXRjBhR0ptZTJGOWZTQTlJRnh2Y0dWeVlYUnZjbTVoYldWN1lYSm5iV2x1ZlY5N1hHMWhkR2hpWm50aGZYMGdYSE4xYlY5N2FqMHhmVjU3VkgwZ1hHeGxablFvSUhKZmFpQmNiRzluSUNoY2MybG5iV0VvVWw5cU95QmNiV0YwYUdKbWUyRjlLU2tnTFNCY2MybG5iV0VvVWw5cU95QmNiV0YwYUdKbWUyRjlLU0JjY21sbmFIUXBJRnhkSUE9PSIsCgkiTGF0ZXhJbWdCYXNlNjQiIDogImlWQk9SdzBLR2dvQUFBQU5TVWhFVWdBQUJrVUFBQUQ5QkFNQUFBRHdqMjFCQUFBQU1GQk1WRVgvLy84QUFBQUFBQUFBQUFBQUFBQUFBQUFBQUFBQUFBQUFBQUFBQUFBQUFBQUFBQUFBQUFBQUFBQUFBQUFBQUFBdjNhQjdBQUFBRDNSU1RsTUF1ektaNzJZUTNTS3JSSWxVZHMxdVc1bTlBQUFBQ1hCSVdYTUFBQTdFQUFBT3hBR1ZLdzRiQUFBZ0FFbEVRVlI0QWUxOURaQmtWM1hlbTluZDN0bVoyUjhpWVprUTArMkFpVTFzWnVVbENFRkNENjdGRzltT2VoTlJ1QkordWdNcjhXUHNHZGticldOQTNZV0ZJVUl3aTdFSVZFRGRsTENkOERkRDVDTENZTG9wQXJoQ29oa1h5cDlKdVNjbEdSVkZ2TDJMV2hxdGZ2Ym1uSHZmL1gydjM3dnZkZTl1Yi9kNVZUUHZubnZQUGZlYzc5NXovN3M3Q0tiNTJYOGs4bngxbXZFZzJ3a0JGNEV1aXp3N0xnL1JoTUEwSTFCbjdGWFBlY1dmZmEvTTJQbXZmT1VyOTEzTjJMbHB4b05zSndRY0JHWVpleG1QT3NqWVlSNTRNWHZLNFNHU0VKaG1CSGF4WHhEbUx6SFdFcUg2WTlNTUNObE9DRGdJN0dZTkVkTmxMRXpxUHVud0VFa0lURE1DNjNMUUtLcGx5T1lUMHd3STJVNElPQWcwdDhNSXhwNEpRK3RuSFI0aUNZRnBSb0IxaFBXd2R2OVJpTVBtNmpRRFFyWVRBallDaS9Jc1pEOWpjdmlvSHJKNWlDSUVwaG1CR1RuQm1tRk11a2I3OERRalFyWVRBallDSzQrSE5CeVBiSVhCOG5HYmh5aENZSm9SMkR3ZFdnL0hJNlV3V0d5RkFYb1JBb1JBOElWU0NJSStIZ24raW5BaEJBaUJLQUw2ZUNTYVJqR0VBQ0VRQlBwNGhOQWdCQWlCR0FTTTQ1R1lWSW9pQkFnQjQzaUV3Q0FFQ0lFWUJJemprWmhVaWlJRUNBSGplSVRBSUFRSWdSZ0VqT09SbUZTS0lnUUlBZU40aE1BZ0JBaUJHQVRvZUNRR0ZJb2lCQXdFNkhqRUFJT0NoRUFVQVRvZWlXSkNNWVNBaVFBZGo1aG9VSmdRaUNKQXh5TlJUQ2lHRURBUjJLMC9QV0pHVTVnUUlBUkNCT2g0aEpvQ0laQ01BQjJQSk9ORHFZUkFrVjBnRUFnQlFpQUJnUXA5eDI4Q09wUkVDQVJ6ak5IM2wxSTdJQVFTRU5panYxd3JnWXVTQ0lIcFJXQWZZOXZUYXoxWlRnaWtJd0RISXh2cFhNUkJDRXd2QXB0TWZ1M3Y5R0pBbGhNQ0F4RzQ1VDNmWUl3OSs2ZHZHY2hCQ1lUQU5DTlFxSUNEaEU5dG1vRWcyd21CQVFqTVZmcW5iajl6NXN5cGt4WDVGZklET0NtYUVDQUVDQUZDZ0JBZ0JBZ0JRb0FRSUFRSUFVS0FFQ0FFQ0FGQ2dCQWdCQWdCUW9BUUlBUUlBVUtBRUNBRUNBRkNnQkFnQkFnQlFvQVFJQVFJQVVLQUVDQUVDQUZDZ0JBZ0JBZ0JRb0FRSUFRSUFVS0FFQ0FFQ0FGQ2dCQWdCQWdCUW9BUUlBUUlBVUtBRUNBRUNBRkNnQkFnQkFnQlFvQVFJQVFJQVVLQUVDQUVDQUZDZ0JBZ0JBaUJTVUxnRHZtMXBkN3ZIMDJTK1dRTElaQ0t3THEzYjBqRzg2a3lpWUVRbUNRRTRFY1VzajYxU2JLZmJDRUUwaEJZeXVvaGpHMmx5YVIwUW1DU0VGZ1FQakp3QW5YTCsrLzg1dmV1clp1ZXREeEo5cE10aEVBcUFqM1IvSThuTTc3cE8xY3JOM2s2bVpWU0NZRUpRK0NFYVB0UHBKcjFqdXRDTDdtUXlrb01oTUFrSWJBb1dyN1B6L0g4ZWwzd2xpYkpmcktGRUVoRm9Dd2EvdUZVeGlDWS9SUE9lOXFEbFZnSWdjbEJZSy93RWI5VnhvUEkvUGprR0UrV0VBSWVDTXdKSDJFTkQ5NGdhQVAzVTE2Y3hFUUlUQXdDVmVFazIxNEdGY3FNOWIwNGlZa1FtQmdFOWdrZjhSd2Q1aXVNZFNiR2RqS0VFUEJDb0M2Y3BPWEZIUHdHWTl0K25NUkZDRXdLQXVGOWxGLzB0S2ZKNk9xdkoxVEVOaWtJN0JmanlEbFBleGJZd0pzcm5oS0lqUkM0MGhBb0NpZnh2YXpZWkxVcnpVTFNseEFZRG9Id1BvcnZGR3FHYmNTWDkrMVdmUHhGaS9VdWNQRjNMcG9PWFBEY3EyMzVMbTJuam95YVVMTkdoczhJQmMyTGNhUmY4NVJaWDQ1bDNOVnZ4TVpmdEVqL0Fzdi8rS0lwSVFUWEQ5a0Z1TFNkT2lwcVBNejZXNk15WjZ6bHRJV1RuUFpVY3UyeFdNYW03MEFVbXp0SHBIZUIrMWdwaC9nc1dkNXlvV2F4dTdTVk9DcGlQTXlhdWVqZ2pncXZvZVFjRUQ0UzMvU2praGRpYjBET3NGYVU5V0xHK0JkWWZQSmk2b0d5NXlxM1dVVzR0SlU0S21JOHpDcE94ejVudHZzb1FWQXB4VlJ6ejlmRlZONjVGLzIzKys0NTZUdDZxV3d5NEYzZ0FYWmM1cmxvNzZXZG1pWGJwYTNFMFJEallkWU05SytsMFJnMDNsSTJ4VUN5NnFsbE42WmQ3eHUwa2g4c2M1MlhHaU5yY0JZanhiL0FwbldIWUIvY0ZORFBzWWYrbVNFemYzRFJPVmwxNmZ5U0IrWWNEN09LN0NYc0Z3YnFPRUVKdTBTamVkVFRwUGxXbExIdGU3NmlzdzduSTk0RkxyQkR1c3dnT0tnZFJJVE94MWhqWnZBTHQ1MVRJNWYyazVLQmF6ek1tbUdQRmVyOVJnYTlMd3ZyWXUrZFE1ZGJGODJsazF2UWZJNHI4eDg0MG9OaWM0NGovZ1d1MitjNWUrNzdNQmJMYnZqSWtTTWZmMVlkUWp2NXpkWjQ3WFcrRE1PbE5lZUlRdU5oVmhOV29UUHNZbThiRGcxWm1iSFZZWVdzUVZPQkovMGp1NE1LT3BGcnpsOW81dllSN3dJTGxlaENxUXkzbDJ2Q2xKOERoN25RR0dTV2YveWNzM1IxYVg5SmZwempZZFkrUHM5cWp2dEFncWNiMW9UYkQyT2JhdzhJZ1NmL1o5VjcrYkt1NVBZUjd3SVBPQ3NGTkx4clFEWUxUaktLZmErdXM5dm4wamJnUTFQallWYVRiMVVzalB0QWdtc0pwM3B5VkVBVHBNQ3prU01yWnRtVGN3amFuZGRIL0F1c3NrYkVxQ1l6ZW4zOGNFQW53cEk1WXJjRG5rdG5GcGljWVN6TTJzZCtqR3RaSGZPQkJEZmZXREtlSHFuaGZaUzhIZW9LTyt4UlNKUUZQaWw4T2hyckVlTmRZSUhGN0VSVUdGdldoY0JBa24rU3FjVHNNZHdPSTExYU1ZNGtNQjVtTmNPTmlzVXhIMGh3SE1rMzBURXJheFk5VGMvU3pTU2ZjTjU3am5CNm1jOUh2QXZjRjdPWmdPZEJSckZMb3dBd0NPcE9MYmkwRDQ3ZVBHTmgxbHhsSTFUNEJjOTRhMzQ1R0xIQ282dlN6SnAwUVF3OGh6Sm54QXl6Y1oyMWo2UzhQdUpmNEZMTUNJZXJyK05hUGZ6YWk1WW04NFkyblJtYlMrZVZHNXR2UE16NkthbmIzSllNamVlN2FuV0tlWFVNNzZQazZ3OW1ZanByTDBYeStvaC9nVVY3NTVkcmhTdVFrdFlQeVh4OWc1WUJvYjNtL0MyR3RwaUhKU2JVckdGaEdaUi85dHBQREVyS0VGK0FPVG8rcFF4NUZHdGNyNllTa3dKNWZjUzd3TmdCQjNZS3pCVWNmdW54MlNRdC9kTDJNN3VEY1drL0tYNWNFMnFXbi9HWGoyc2RQU1RuVVVzeG4yc0ZRVjRmOFM1d3hsbEpjM3pYR0ROdkJlQUhNVWZ3cFdFRjV4dGpYSHFVVlR1aFpvMFNvb3NoSzd5UDRseXA4Q3Fwa0h2ek9hZVArQmU0RW5lK1dtVldsNCtXaitKZWY5TlprTGkwRjVaK1RCTnFscC94bDVHckIwMEZIbU14NjZ2TS90eUhtRGw5eEwvQXJuTnF3VTFxMmo2QnUrY2oyUHdOMXAzVFNwZjJoZE9EYjBMTjhyRDg4ckxBREFTZkhLMWxiNTVNM05pY1B1SmZZRDNtQkRHbzIrc1BYSjZNWUQwQ3R5VnQ3Rng2aE5VN29XYU5FS0dMSXlxOGo1TGp6SDdKNlVEOTljdnBJOTRGempMbjBBSlZLNEJQbVB0WTJEbXMrdXM4a0hQR0dVNWRlbURHekFrVGFsWm1IQzU5aGlhMEZYZ09aeTY1SERlaDhaS1MwMGU4Qzl6bE5GdXVGUDZleEphaFhoWG9EWVBPRzl6akxNdGNPcS9jYUw0Sk5TdHE2TmpGWlBvS2VWUDcvRWR3T1gzRXU4Q0RjZGNWY1kzZU12VEhoVmpOb1BNRzRUUzNaT1oxYVROdHVQQ0VtalVjS0pja2Q5NzdLSER6T0s5KytYekV2OEQxdUlVRzlnV0d3bWgybnQwOFEwUVlyRnZERTl4T2NlaG9qcHd4NDJMV083NTRxc0tPL2VBdmF6bnRHQzdiWng5NXFER2NoQnk1dTlCYTRObk9tSFVoYnRMdkp5T0xqOHgvN2ZhWENhbitCYmJqakZteDcyZmhNYnZ2RjdsaStZWHZYSE9TOVcvLzVCOUZUR3hheTV3Z2NPbElocndSWTJMV3IvTG1Bdjh1dkRhdkpWYSt6MTVUT2ZZVERSVlZ1UE9iMy8zd3c3QlNuTDN1NkhOck1ucnVuNTVrL3hyTHc5TGhVOEp6TDNyRGZjODcyWUdJYjV6czMvNm5nbTMrbFpWanp5MkpjQkM4NlhPdnUvNmFHemhsY2QvNkh5V0gvNXRmSVRZK1d1R1o4NEF6NmYvNjBhc2FtSFgrdXNvUE9oZ1kvRGcrY3ZNOTlSdTFhU0xiZTYrcDdOeGRnM3UwZGJoeVdlSnhib0dDTWU1L0wyNmhzV21iaUV0MklUZE9RaVFPOVJEUFg5ZWN4S296YXJtMHc1NmZIQSt6UGkyQmdIZjJSV3pVZXZpWnRHUHdPWS9qTWdVN0w5eE5LUlRaVWZZcllleHNrY2QrRkw2Yy9lV0ZPdXpJUUczQzB3bUNCMW0vd3RpN2tBL3E2Q2kwRm9qa0QwVExxVUljZDhqbDk1TDNVVnArN0pMcklIdGFCdkc5Qy9UREQzM045OWdPdTlEQXFJR1A3U052QklUQXRDK1o3RCtKOXJIenRVTHYwZFpid2xIQktWQ3czM3dkaDRLekM2UWdub05uaXNOdzJmNVFWVEhoVHVpZTN0ODR1ZkhISmVUajNycGZjbzRpWGRvUjVVVVdiam9waTlPZktoN1dyT0NORjdiczBuT1loZnVnNy83eld1RzlUUWlvOW1pTHpVTDlaM1ozSTVocmExSFNSMTV3NFZzenFodHJzdk12TFB3TVkzOVplU2w4L0FEV2tiTFZmNmdQbzhLMytkM0ZRdkhSRWpZL2VabUNWNW1ZVHNkd1o5RVJlTmRGZFdTWmVmQmNQekxMS2Y4bS9Od1Y5Q3ZsQzk4Q1JaTmxXVDd5eHpobUYvNkR0ZWtFT1AxKzdVMU45c3luSDYwRjFmREt5THJURnJIMFR3blZ3Ly9oN3dqQndxVmtxaWJDZGVzNEJHOXJkYUpNSXFacDd4SkRaQlZhNnYvNXZlQ3QveHl5cWM0dHpIN1F1WUR0MG9OS1NZaWZMMkk1NmxubXJFT2JCYWpLOWhPV1hjMXUxaHBvOVNSbW4rdEJhT2lyNXd2c3BTaXNVRlIzeUJmdit3TVF2RnFvYkVHRENydkg5NG01eEJMRGZobXFyaEY4NEhvc3ZqTUhQZ05QRDNQZkFXMGxDTUN2VG1OVUVIenZXdUFRUGhMRExYaTgvMk43Z2NmQkx5MTcyNXBpelBkcndXNkFiRisvRlFUL0psUnRrQWpUUi9heG5STHl2UzE4WTNpdXpqOHdqY3ZxRHY3UzNCTVlDZSt6L0czOCszdGNjZjFQSklFOUJrOFl4T09SYlIzZFp1eVhOR1dIY0pmWXJuejhKQUpySWRlSE1IVGM0dC9yV092U0ZyTVhNVnZIVXZRajdCN1dMTjczV3Fybk1hc01hb25ETkdpTkxoUmUxbGxNMVhBeUF2NjdyUkpnT3JjNkF3bjFzRnVEbVE3L2Znbm9KWUFwUENaQ0grMmNFTmxYb0hZS0ZXNGIxRE4zWVJUMk51a2p3cU1ON2hJbVozclFKZUhaeXBTcGFKM0E3UVZsWitCNlgvSDdNTjJDUVRoUmxPRWpoWjUwKzZxMjdRVHJOMURBT29PWlp5Q1BEdTBDTVQxMGJxRTkvTWU1SGp3enpva0ZqOFNHdjhGRCtBK3E1SHhOVVU0QUs5L3VNUGl0dGxYT1ZvUkUyNEgyT2RhNnRDUGRnMnhER2VZajlCN1dyS0FJTWcrWnhlY3hpN2VWQmtyaGMzVFJmWmxDTTRYbjJOODBSSWE2R2toNHZhNVd3ZWhLZU90MHIvUkZtSElCOTkvZjRsbVd3RWQ2TFI2RTZsdzlFSHBiVTFjSCtJc1lSNERKNGViWnN2eGJFeFZpeloxUzgxY3N2RGRYY1VuQzdzVXU1Z1NJcXlYbE4zemtmY29LYU1USHcwejFzQldDNmFlaDMvZ3pFVzBYQ0hGOHRPL3ppZnVGTS9ESXJZTGRUZ3ZuMmJFOXRJU2dJTmhmWVRzZFNVVGVVQ1dPbDRIQzhyb09HbWZmZEFISmxnaVh0aEo5Q0Q1V0hZTUd3aGlhZGVZVEl0T3dabUczYlBWcmVQODZzMW1ZSlFTeUN5RzdMK0dLdnVremc1NS9IN0Vlc0FxYjlqcTBlSmtNVGVFMmJFak5VTit1YlBiUTBGdVNDYjh5N2IrR24wdUFYdmtKZENwOE5vMlpka1cxTHBkYjhHYjRqMzBzUEdJSTljMW43Mm9VdDNqblhNZUZDR2hwdHhwWHBPRWpkVjFyYmZha1lJUmI2OHM4QkpPdE1BcEp1MENJdUFQS2VYa1FMQmJ0eTRvQWg3dXNCbVpzK0RWNDQvTnpGZGFYL2loaXJQL2dtazdkUTNWSVZmaHZHeDB5K1NHbWtVU2JhVDdodVFwamo3YUM0T3RRWnNuSU1LeFoyT1NzZmczYlRXYXpNRXRvNzRvT0dtcktMU0RPNlB5RFJtSS91NEdoeHFPZ1RXekxOR2p5NzBiWFdSTXVBY05CV0tIQXZpcVpVUHZYaEJSd1BIVXNUQUN0TmlSUDNmSVJnOXYrekk5a1QzeVhoUzJuRTVuc1JKakxidW1ZT2JRVXU2VVd4TFhkSnFiNVJFajdDRFRIaGt6ZHkvbzFIZ1lyRDR0STZPNWxhbUFYQ05IWWxyZ0tzTkZoZFdkcjFoMzRVQUFJRmJMZTg4MlhBSDlIeVkwR29JcE0zd1NHZzRpUG1GWkFkY2hnbUJONm1KWXB4S1hOTko4d3VMNm93cXJkcEljMWkrL05XSnJtTWF1SDlnc3pzTDdOUmlCaUViMUJ6eUhYZnRUZ09JK0Vua2JOMjZCdlBMVU1zWE92L0gxTWcvb05aN2ZRWEJRVExIOVp2WVBwOElBWWRDcDhRT1JwRWNLMXZKcHIyZHd4bmFqTU0raU5uU3c4OWp4N0VMT0lCeWlFY1p6Y2o0MFUxT0JsYjVxV3hFblJQbEkxV2pkQXNjMjVxMHAwMDNBaHUwQmdoTGIwMjBKNjErNXcxK01NQWFYVTA3KzdKaklPK0EveU5xd2szaHJPaXFnZWlMRzZJYWhSQXdsY1U5cTBKU21kQU5mZmFYQTJhRGJtOUhkb3MwRGVVMWI1ZWN4YUIvUERGZ1lUSlZsbHBsamNsb3AvZGxvbUg0WVBBdU1XandUVVZQT0RzRmtCc0Q0TUhRQVdvQnA2YUc2cUI2MHd0c3pGOEZhNEhRWWRIekc0clQ1VmNpZS8rUVlIS05aSVpqTlRvVVczTkgwQTdWc0xsMWh5cTBvbk95SGxJOUFwUy9jSEZra1UxZFMwTFJHRVZMdEFpS2p6RlQyS0JoYy9qTy93cVRxakFJOHVBNktuOEFFeno1VWthL3g3OWxxWXdwa1A3eHZESWtDUUtwanpBSGdiSnJOTG0ya2VZVEJtTzJTcnk5Ykk2YUhOQ3A1L1ZTdVVMRjU1ek1KOWtsV1JuVytaTEZzU3N4TFlPYmQ0SmoyaDRyMk1PY3NFcGllRllQQnlOVEJnbDZ4Y3ZxNWJBSENIK3JuamlNR05lMEZabnlyb0NvOFNucDRmQUNwcHJvTTRCRzdLeG5LWGtRSzNCMzVaODRtUThoRVFjbFluTnNOK29TNXhDN3JHdUdrWHlGYy8yMkZlY0I5VDg3YlYvWVk4SURRczZsNXdrbG9ZYTd5aWFocUpiZDFuUVZBdUlVTUdRMGtlNDlLR0hJOWdVM3RnVlhlVWtIRk16UG9DZTNkb0JiUllCYXFIWVhFc01DK1ZYYnJSL0dFY01UZEdZYkFKeDFPb2FOMjZ3VWRDMThIK1VxMzRvWEV0eTZMc3VaYkJyWVlVeWVueHhtVXFQQm1tYVREUU5yVGc5V1VJbCtWRVZjZERDSkJzV1JIRzU5bFhkSjhKTE4xd2tnS0tsRVNPcXBGdUY4ZzlzaUc0Y0tueWVCakVWNW1oeDlvUGRGT3FlMzViM05sSWpKcUdoUG5lemxaSWdwYU9uVnF5WUhGcFEwNTZFRnFOMGg0RzVwck9NWFptUVlzZDFrZUNCM1kyUWd1MXQrQnNWWG9PSmc3MkVWWHJkZDBhQi91SXdaM0hSK1JtUkN0VU9QMEZYbFhUWEcyMHRHNVpKaFBCM1kvTGNQaFc0MGhWRDVHUXRCUTJMa0MrSkRnaGZWdUUrTGhSazJGNGc4WnEvZ3F6TkhQaTNyUThSdVNCcHFkblJFM2Q2eWlKTVdxcU5Dc0FPbDFNSHpsaHdBV05vNlRMSGp1elJ1RWoyanpETDhCSHpONTY4Rnpyck14ZTExVXkyRWNNN2p3K2d1MFRuK1E3SkZJamZOcys4cWtHdEZwelFhVlpvYUloMFhxVWp4U05CaEVFSytGd1VGY2pUOWVZdHRnRjRtSE1xaElxVnpJaUlxNHhBYnNlemdCMDFWZExHVEZxeWlUN1hRVko5dGEycVFueXVyU2RQNFVxRy9NcjBLbWoyY2ZPckJITXRiUjFnSm9hTzhCSGRQL0hyNWZvTmJ0YVZPQjZaRm5tcitzcUdld2pCbmN1SCtIMm1yTTlXZnFnTjJ3MjFPdzA2S3JOM2x3bTdqS1g1U0pTK1FpME5tT01nU2JCc1NpcXB0RTJPbituUUhBb25kWEd0Qmd6am9CYjZJWnRUV3REUFdQVWxCYlk3eTVJMHFJd3JhTHJpck82TkViT0RUaFhleUhQb2Y5QlI2T2JCd0NpYlF6R3lheTVQN3orZWZ6d1ZpN3l0QVY1UW5NLys3cnJiUjhKbllJTGc0YjFqSkFLUFoxdVl1QWpxcGVzNndVTU5LNnpVZ2Q3UFJMSExUbTkza1dzZXFPdlRjc0VxamdzWUlCU3prejZYTTJrTUN4OUJQZFZPam9Sak9hN0ZwdHFONnRzVERhY0Fzc2FGYjBqSm1UMVl2UUFsOUtyUGR6R2EraHlSU2lxcHNzUjNIblRoeCtwUUY3SGROY25YQnJsMUhtMm1IOHR1eFFBY1ZuRmdJOTBGQUVibVZGNEw0OVpkNzFTR3hMVlNXdnNHWHB2S000Y1I5VDZHbVVvOTRHZVRqVjBIRWNVY1dsODVJUXd1K05wRjdaemh4VU0ySGFpQnBEU1IzQkMyOUk4SUlDM1kyZ2FoMFJzM1poNDJBVmFFenRvODdwN3dSMi9hTVd0R3h1RkNMcGVuT2p5azBOejMranBsbUd4MXAzeVhCcVpkVlludEdXSnd2bW1qbGt6dW9qeE1XdnVmM0lUK3JmaXZWckhkTnNZUHdvK0c5SC81SDlwS0VmZ2U3K1dqM1JsV3dOQVdrcm9wZmNSdmxjdStuR2xSVkxBYnJMSUNkVzdrWlJEcDBrZndRMzJsbzRHSCtIelJKajNpVVlPYlY5alpSY0k3cVdYRkRCLzFVUjhZMnFib3ZDeTNHbGRybGZvZzNWUUZqNE9kRlVSWDFZV2Q5eHdhV1QrVDVncjVybXhZWWtLcXVZSXQyUVNzYTdmdnZSbUxmYlFqQXQvV3NNVEsxbFR0aEZacUVJWkxwNGdDTGFQbUgwZW5uK0pqcU5zTnRCTDd5TkJHeTNlOWpiUFdSNUF2azJyd1NjSmtqNkNDK21TWmdRb1JPT3JoL05QU05kTjJTNFFxRldWVXptVmlJbWJ1RVBGbmxYODVrYXdpa3dPUElEb3NCLytFZjhvU2NSSHRDb29wV0tvbGl3MW1sbzBSczZnYXhVMEhtYk4xeEdJZjFVRDFVZmlJMkRqLytNd0pQZ0k3R0VhZCtNbGFKZkJSNkRoTXY0YlhsS0g1TGV6elFUTVphdEdrM0pMSHdFWnNUNWkzNDBQSmRrRkhqUUhMVWhhTnNwcnhxelpvYVJ0eFFMamprR3A2SVRBSDBNT3R2TmE1S2hpMEdKMWZjS2xMZVlVd3BvU05zMDFWekFlWnBYUi9IZHhLMGJoSXg5U0JpZjRDSFMvdkdWdXNnczFqZDlsOEJGY3lHYjRwVlM3eWFMbWRiR2EwRVlNREVrZndYR2twYm5BYUhHOENoc1p0MEUwdkw2dlUrMENyVUVMTXVyeEJxOVVxOU1pbVIxbmtodVM0QjJnbVVFbERBcWdvbXludzVPckdMWVlYWWR6YVlzNW1RQ1Q5ZXdTQmlTK2h4Rm1HUXV6b0JaVVl4NkJqK0M5MUphd1Q0bmw2eEZycmhWVW11eXBSdUZUWmgzeWkxbHEvTDQwYS9ZZ0tDcDFrK3RScEVLemFWaDhNSUhSZTlkV1NvU1FQb0liemgyZENtT0QyTGZlZlo2eCs0TzNGeTJCZG9GdHM1MnVXV0pnUUROWEoxeSt2ZkxCaWo2c3kwMFBOU0dEM0Vlb1l0aktvcExDV0plMm1KTUo2M0lPOUZybUZ1aFltRlZHNjhQZVpvQ1B6QTdZNXY3TVo2S2ZIem1oKzRRRUg5bi8xR3dSeTJVZk05R0RudkZTK3doVWo5NlpOM1dKRHdON3kwcXh1MEFyeVNXa2p5RElIWjBJUGlLMi83b2JQOGtoT2QvUWlmaWh3NVlteTRQbjdiQ3lNdnBpa1FWS05ObzFvQ3ZyV1V0TUNQRmhSSFlBVlZUTlpJYk80WFFTYmFhbGhhRWtWZTk0aStlc2tXRWN6T0k3TzNLUE50NUg1SlVOaE1sOXRneHplTEFvVitPSmEvYmRqd2R6ZjFIdjgrOE8waEl1ZzQ5c1ptczM0QklkclMrRW9Ib2pVNXpnMXgrKzhhVVdGeWVraitDNjRMaE9CaDhSVnhBcXRlQ0QxN0JqZDlkMEdwOTVkVFJkWk1ZMHBLNlBhSkZqMCtwK2VSNFFyWTlIZ2pXNzNHQ0FtcXEwZGF6clF5RlpSVUlsUVFDNis0MGsya3hMQzhOV3hHbkZBM3NZc2xDTUd3ZXpRRCs5aHhqdkkyS0RGUG1pajJrT21nUU5RRjFlRkIza1o4Sm9hNjYxdEl5eDduUHBmUVRVTlZxZHEwK1VCdjdqVml6VTZMWVZBY1IrOXFxZXc0WXMwa2R3RDNaRDU0R215d2VBV1lXYlR1TjRHZ1hLclMva3NMYUlnVjZLRG9qUXl1VTRBQXhWcUwwV3ZPVXpRRTJaakxOUVBiT3NJcUdTSUFDTndsQXNTcHU4YVdFQWNVdnhBQjR0Ull5SFdTdG8vS0ZRcVhnZkNUSjhmZ1JjN2hscElmZVJXVDdaaHJabCtVaDNWVEtaNzB2dkkzZkVOSEZUSXpjTU00d05Ldzdnc3lNZ3RmaExNRVdLVEh5MGo1UTE0TUM5R1c1UDdZKzlUV01YMkRQOEFHWmhzdHE0Uml1bVB3Z2QyM3JlQ3hGUXJMV1lHcUNteU1vdm9zbFpJRVJWSWJQbEl6Q2l0aVFydmwzYVRFc0xRKzl4WFBHMDdlRnhITXhhUXVPM1FnMEJkM3MycURUM0RhenBRUW1xRitadzhUNVNQaHNuOEpMN1NBRjJCbXB4bWd5TWM1ZTk2MDVUZ1l3SHp0V2drNCtPQ21vY2dUekx1b0IyT05IWVpUVkJsVzRWV0RUbVV5dDJpNGU3MU9hdFVaNi9aMVZtSGVxMnB1UU9WRk55UUxkbTlIZHRwR1FTdm1IWjBFaWl6YlMwTUhTc0hja0RyY2JhZXhnSHN6YlJlT25GZkk4cnR2bEtFOUxlVVA4eVA0QTgwRWVhRmc1UzZDWDNFV2kyc1lwSWhhTHZ1ak8xYWx2dGp2TTNEL0ZPdU9GbVZqNENBV01OQXcyWnMrNnoyNXpNYlJWWU5vWW42L1FWdVBlYWF3K1JHMnAyVzhvUkYwTTBGUXhTVTdMQXdHRHNaelNSa2tuNGhvV1lTVVpvS3pHRkFGa3R5UUxoMHpLTTczRXdhd21OUHg1cUJZMVV0M0ZUVSs5d1ZmZVIwTk1NOUpGeTdDcmdrdnRJMDZnY1B4T0w1aEFBV1hxUmxqbS9VK09MaFpZclVQa0lUT1hWZkJTWEZhTC8zMlczRFpuYkt0Qll3RUsrMnlRUGYrUDNmTmtQcmlNM1ZCUmtDRG4yTkNBeXF1Yjh0VCt2bUNIQXh4RzE1MWVCM0paVHVOOTc1ZEttcUxTd3VST3l4aEEvL1F4dFZuRHZWU1V0THBkWkI5SDR3NkdRVFNUT0doSXpCN3M2UDdTSmdUN1MxWU9yVWNTbDloSHdZdFVJRERXU2dsMXpDQUJHYTFYTU01N0FoUmZVZW9OVHhqL2xJN0FhMXMwWnByZGlVTmx2ektPTVhGYUJLOXE1WUg1aWx3REcxSXg4RU1TWmMwdEZvY2VJSlU4VkhTZXFadG1ZOFdBdTRGZlROejZvV0Q2eVc2V0pFbHhheFByOWgvblZsdVFzT2lQNzBHYkJ3R1NldCtReEMycU9xYjZ4am9ReEQ1Q0srNy9CeStUc1paMzNzWXZnSjd4VHNoYXhhK3lwUmxUb1NIems4L2RVMk5GYnYxcUxpby9FZ0xMWVhMSTh6bGMvUThPejdBSlI3ZFB3ejUySllCSGFSMDdva1J0M1pEdVlpZ1BLL1R4Zy83TUtuTUZlUnp4bHUrWTV4Q1daS041WXRUb0dtN25ZQ2U1MUlEYWlKdnFRVmZVOWlKQytERHRQOE5TME5MakxhYlc4Q0cyd3BnZUxhdnNCZ090WS9EQ2NsYXdJeERHRFdmeTdnMnFHaEJ4bThTSDFLU0ZqSDNzTmxPOVd1aUUvUFFoVkx1Y1JwOVlRNHYxOEp1RzJKYkN6ZityVW1UUC85eU5mYldpaEI3VzM0Z2FwVElBS09pdkRGZDFLYkc1Wm13OWlaY0p6dmlXekRIeUxCZFBBNU5pRWcvYklvMFlCelZ4cFFEaG1GbzAzLzdjRkd4UXNPeEtZcklYZ1E0Z2RPM1g3bVRQUGVjV2ZDemIrM3lvUVlLeUpOTmlCVkYxdnlHMDRub2haa1U3QlNaeHJoZjBWMGhFMWNTMHFxNDVuV0VJWXd6NmsrVmdGaUJhUEYvK1d0QWtodHpMSjRQSU1yaXZ2ck5vNlFQNGh6UXFhb0xnSlZSNnoyaUJEQ0NrVXoyRi8wWCt0cDJWeGJJaDBqU2ZNUEEzQ1dzRUI3bkpRcGRhc2huc21GZ3pQMzFGeW9GS1ZNMENDa01NLy9hN3dONm85bGh1UGUyNTlWaDMrbjJzb3VRTUNkNmhHTzRBaEpucUdXU3NwOFBWdGgrdjFTTWZzV09LSCtGZERYcml0Rm9iQXlVNkhRVjU1b0RqcTNnbmo4Q09iWm9GRldkM0d5a1N5RnBXa01LYXE1MG9ZZzNMeFBjTTlJYUltVnIwYXBaQVBwMnBoaS8yWDdGQWRpRmZYTUY0OFZUWDVpS2NsbjlkN1JucUd1VElKY3c1cFZvQ0tIeksweUdNV1RQaGdvbHFDd2I3TnZnOURIVDYvWmNqTUZzVHJXcmRobGtKeEF3eGVEZkFyY1FQNGtSSFdiMkZBUG0xZWp2aW52bVVISW1WUGhscHRoTXhkZmRDSDBhMHcydUUrektPQkY1M3laNEFQZnZjbjhTblVzMjc4Z3JnRk5mM2dzcUhkU3kydHNqYTVGbFpVQUtvOUhjYkFMMkQ4dGdnMjFUQWkyaVRvalU5ZlNiVUxQQkgyM3J0WXYyUkxoOW1UMDJxeEttei9Fbk90eldXVjAxUVRleGM1R0F1R0xtcnlteEQrQUx0UUt5UEJkZ1RLRU5kMFBOS2xWUmsrQWJqSjBlQjg1V2l0RFdsV1VBUzFsMDBsdWhDUjFhd1hZNTZkVjN5NURvakM2b2svUW1OVHNtOFllc04rQjVnZmhDbEVrZld2aGRua25pUDNvTkQrYzQ3Y3I2Und6eFJsQ1lXRDV4KzVHdWxYSFhsWk1IZmtXcWhmMXIvcVNDbjRYUm45OHlyNjR5OFBCbkhqRkkyM2l5cGtyNm5TWWdQUUtIQjVuZTJCMlU3RHlBSFd0Z3hTQmRkaEJYOEFBQTV4U1VSQlZNdDZRQlJ4b1JrM0hIa3BwOThYRHQxZllLeWpNblhCWnZsZ3A4VWZ1OEM1Q3ZlTjJSNzc4VEJkdjliTjJjL1B2dUc3ZFpUMXcvLysrbExJZ2pVRHdUbWpSRk5OZm42c3BVRUlTb0hudDc3eWJ4bjR3d3FHalRsaVJXMkdpand1YlVsS0plNFF2dkhpbU5GL1NMUDQ2ZWRaVTRGY1p0MWJFZmJ2ZElJQUtnK2ZoaWswVTdoUWhLcjRSNjhyNHRjdncraUJ2M2ZCVDExUXF1NWNDMy9DYWZtdkJFVnNTdUpKdk9jUVBoMzUxU1U0VjFQUk1OZ000TVlKQlovR1lKbW5reFV2RDJqZnlibk1SczJQbjJ0eC9IVjNDclllR2lUYjhXc1krNGN2dkFzKy8vbFJsZjNYd21vUW5NcDk3UUxmaDVzZDcraXgzMUhaVk9DZ0dxYjRDWjhzVUpiSXg2bFNFTHpBT0dxMDFPeEJqcHFTaG9INWw0UkMzZ1d1VmVmaEowSUdtQ3pYd2lCL3ViU1o1aEVHNmZjSGhRZllUaXZDUEt4WkIwRHZ4eTJwdWN5YXZRbS83dUVocnQ5bkg0YXFNb2RvUzd3SE1WL2tZSDRKV2QvWS8ydjR2NDhkaGJYb0k2ZU9haDhwczMvU2dKVENMWGZlaEZXekN1SE4vbEZZeEo4NldrRWZPWG9NTXB3OENsM2Vrb3hHSDhIb1V5Y3I2Q015MnVaV1BnSjE1aUFEUlZnUGpHVFdFc2xLSEV6WWM0cDFQVlV5czVpYm1TSitYZW9yR3htNEJ6NGZVOWxnK3ZTL2tMamxyWCtJM3dZZ0Z5enVwT1kxckY5bjdOa3FtdzdzTTZxTlQ3cFJQanpMa3FXTlh4WDhaclhSejA4NnQyUWlUQ043N3l3Mk5NbERQM1h0SXhWMkFjWnRjSml2SFFWaHN0L1o3NXdMdWJRako1WGNBNzlaQyt1aDQxSEdZYzBLdnJielJRbTZsSDdKekpJRnV1L0NkKzZwM1BwYU45YWkzOExPMTJSRTRWZWpad3d5TGZzYlBFNzBrK0RweVM2d3FZK0ZzaFN6cnRzY1pGczR1aEdYR1ZaaXBiaDRNKzZEOTFTT1hkVlNNWVc2TWFUY1hOZnJITHZBSUxqMzRmNFAvb2ZLWmdUbXplWEUrMy92RnA1MHkxdmZyMWhtaXd4K3Z0RkFKYUptc2FhWVV3SXpwaHpnZGVtVTdORmsrSFhZR3o5Wmk4WkR6Mmlza3ZLWk5mTjRqTnpZS05jTWw0N05kSEVpN2Q5S0xUdmo5akJsTHNsdmxGUE9Na0FhRERUV0xzNEF0a2owYmowWVJ0SlVCTXowVk5nellQOStMdXlkeUhyMUtwQVhVb2xmRzJrRjV2NzN5ZjVQYUJJbndRWUZ3WjVOSmxBclNqL0I1TklKV2JNbURXL1dnYk8rWmJwbXVMU3ZuT0g1OXV1WkJBcURCaEV6eHVZclp2YnFHMm84Si9TWmlUUEdFM29uTmxOSkM4bGloYXpZSDE5S0xxYXJOb1k1WDFuMTAxNEY4anh0TlJOS0xrcWxSdFNzcUtTMFFOZVlzaUd2UzZmbHo1QSt2Rm03dlgzRU5jT2xNNmc5Sk91S3M2RVUrVDJ6SWVWajlqUWZxYWZ1ZThVckFVdU4rQVF6TnZhSFpVeUdTQmpFbHN4STNYeTlDdVJaVjl6Tk5GTmdYRGlpcGxvRXhYRmJjWFZiWFRpRktGbnBJeVNHTit2Z3FxODZyaGt1N1N0bmVMNU5hMDZQbjJ4WUhsNm9sdkQyNzk1ekVwWWppUjErcm8xZlhrVFQyRHZWWmRxaHF0TUoyS2x4MUtJNTZ3WUdXTUZMTnA4Q09lOCtZMk5MWms1OHUyck9HbHRlaVJsaEEvbUN4ZURTVnVLUXhOQm1CVXVIUFZWd3pYQnBUekdqWUd0YkI1KzRnK285R0tZWGYvUFY0Qjc4U1pwcmxabEhVNDh0YkkxdHg4YWJrYzNNQmkwNHF5TTRyWkFDZlFya3ZKbHIxRlZ6ajdHZWw2WEh2M2M1cXpLWGpzK1ZMM1pvczRMcWNjK1NYVE5jMmxQTUtOanMvVk04N0JpZGp6eUE3bkhoRmErSE5YdUNqOERHN3pNNUxkbmxNVVprbnp5YU81eW9HR3c1U2YxOENoUzg1WXdUSGxmTkdYZVBWS29RZWE4NHZaeExSeklNRXpHc1dVRmtTM3VRTnE0WkxqMG8zMFdJN3pwZHNiTmVIYVpFT0xpR2I1d0VDY1ZFSDFsbnpwclR2OHlDMCtQSDVJVHJnMXN4MFVsUjd2bUNzYTNoVVdBb09XT1ZSdFJjMlU1UzBVeHJPOTdvMGlidjBPRmh6U3JZODhJRWZWd3pYRG9oNjZpVHJPc0ZJTHlYdThHNm11RVZsM01sakUzMGtid2J2N3k0ZE9CZ29zUjE0T3grLyt3ckozaVJYcThOMGdzTXkxandHT0lNZFNKcXRuM25KQVZuakhacG81QVJCSWMxYThGM0N1bWE0ZElqc01WYnhBRWJZcmQ5ZU11Sk1sYkJSMFJGSi9vSWJQemVGczNzR2JNM2RZczFjdTdnSWJsblN6VzdrZlFDcGZ4Nnd2UlM4dWgzUkUzNDlpSy9aOEU1SFhGcFB5bmVYRU9hQlY5VTVmZTRacmkwbjVUUmNFRTNidlpZZHhoOTVuQUZ3RDZwdkJ5UzZDT3c4ZHZ3TE9uWHRsekdlV2U5NnFiajkwMW1QNTYwdi9vSDd1d2VWbkxUQzVTczYybW5pSktSdjEwMUY1NnlraE9JTmF2KzhMZUZ6ZnBNeUpndmFUaXpndmFHWjdHdUdTN3RLV1kwYkp2bWlubTI0aXdBODVjQnN3ZTUvRS95a1N3YnYrM1RFWFhLYWxzMmtpUWlJdWNPQS9qTWFGaWtiMm42QlphWHBSWW9NKzdLdEludXFybjJpMUpPMnJ2bnpQQmRPaTEveHZUaHpKcEx1d0N1dEhITmNHbkZlQ2tDMEpZL3FzcnAyak12Rlo4akFDZjJjanNnYVYrcnpMdzNmZ3N4UGZOZW80K1BWZEk5ZDRobGNpT3J4aDAyV0ZhWnJwbGFvSkpWMTZzWUZUY3c0S3JKUDhNN2tOdEkyT1A4Z3FSTEc2eWpDUTVsMW9HblBaVnd6WEJwVHpHall2dVErdkEyWG1uc2pFb3NYbmRkRmNJZ05HaHlEaDdxdmZHN0VIUDBQSmUyTkc1bTZzNUQ0K2ZnVTdzTkVZWXJqVmE5cGhZWWlzQkpUMG1GVXdPT21yc0c0UlVSdE9KMEhDNGR5VEJzeERCbUJXV3p1MG5TeERYRHBaUHlYb3cwT01aNEozeHN1L0Q1SXV0L2FXUUY0RnhMN1BIakJ0ZWdPb2VOWDEvWWdyVTRiOXJjcVNXcW5HOWpHWDRxYWVlcmpTQjQrMTh3OXN0MkFXa0ZLbTBXcyt4Rk9HcXVlMCsxaWc0b0xxM1VHVlZnR0xQbXZhZGFyaGt1UFNwcnZPVTh2d0t0R1AvT0gvZk9rODRJQWtYN3JZSmtaOUlzYzhPeHdJQVV5V0c4NjNGN0l2dmxoTTVnTklLd3RHZ1pwSGR3RmovUzFJYy9kcmVUSjZWQWc3dnJiNXFyNWdNMVEwNVNjSmN6MTNUcHBMdzUwNFl3YS9IN25tVzZacmkwcDVoUnNzMTk1NXFqN05oRC8yS1VNdm5IRTE4TkVoOWd6NGFtZHNPLzY4Ukl6N0x4dXl0K082RTlhSWo2Tmliay96cTJ1NzU0c3RLLy9SKzBJbG9QTE5EbFhQQWFJb2RUcyt2czJybTBxOU1JNkFrMWF3VElaQmNCZlNPTUpQQzlLT2Z4cTNMa3hNdVcwL1BmK0lVcjN4MDdzNkFXNHIvcEFXK1F3S2k0bExvNUhDY3pNVzVRZ2RGTWJZOE4zT0hVWEhUYzBLV2pPbzBnWmtMTkdnRXkyVVc4R2Fkdk1KbnFCSi9HdDFpY1dHTGc1RXg5VnR4S2lDRmdmUk1UQzFIZCtLUGJBM3dEdCs3TVJlSkZaSXNkVUdCVXlINlBvNHJoMUZ4eTlzNWNPcXJUQ0dJbTFLd1JJSk5EeFB5WEg2bjBuOXVBbkovLzhzYy9FclBXYWJQNHNTR3VyTzZnMDgzRitQMmpnNHcxNExzVm5MbEluT1NzY1FNS2pCR3ptZDREREtWbXdUekhnZkpkT2thbFVVUk5xRm1qZ0dia01tQm84SmlOaUdJVGhwemZiY1JwZG9EQmprODFmZzBUeDU4aExyN0FHQUZ6TDR1SnRLT0dVclB3TVZ1WVM5dXBJNk1tMUt5UjRUTktRZXYrRzcremRYWGE0cW5CQXZ4Rzc1djlmZEJUNnNqWnJoQTFzOW85b1dabGhXRm8vaXdidnpBcmMrWVZxY1VYMmJQWXVVWXEyK1ZtdUVMVXpBclRoSnFWRllaaCtkL2lmK1AzMitBaTloZXRwUmUrZUUzL2g0MTB0c3ZOY1lXb21SV21DVFVyS3d6RDh2dHYvSElYdVFpcjcyRXRvUHlFd0VWRkFGYmhUM29WVUhnUVJ4SDcycFJYUm1JaUJLNXNCTnIySjFjR0duTnpFVDJFc2VXQkhKUkFDRXdrQXA0YnYzZGRKenpFdWZRM2taQ1FVWVNBaFlESHhtL2hSZC90U1E5aDhTZUZsa2dpQ0lGSlFnQStBZHYvdTRPZUYzM3VtMi80M3ZVUGEvK0FVTXlIUnlZSkQ3S0ZFSEFSZ0kzZmJJL3pPUWxYSHRHRXdLUWhZRXlpL0h3bDdzTWprd1lLMlVNSWFBUmc0emZqYzFwbnBoQWhNQVVJdERONlNNNlBFMDRCa21UaWhDTEFQMytWeVUzU3ZpTm9Rb0VpczZZV2daVk0vb0hNM3Bmb3B4WlRNbnl5RUxnanM0L0VmSXB4c2lBaGF3Z0JRb0FRSUFRSUFVS0FFQ0FFQ0FGQ2dCQWdCQWdCUW9BUUlBUUlBVUtBRUNBRUNBRkNnQkFnQkFnQlFvQVFJQVFJQVVLQUVDQUVDQUZDZ0JBZ0JBZ0JRb0FRSUFRSUFVS0FFQ0FFQ0FGQ2dCQWdCQWdCUW9BUUlBUUlBVUtBRUNBRUNBRkNnQkFnQkFnQlFvQVFJQVFJQVVKZ1hCRFljM0xEUjVYZjhQczFIeDlSeEVNSVhGa0lkTDEreTJxK1R0K0lmV1hWSzJrN09nUXE3TEYwWVl0Ri9LMTFlZ2lCcVVTQXNiUXZseXZjZVZPRmtZOU1aZXNnb3hHQk11dWtBTkdFbitkcGtvK2tvRVRKazR2QS9MZlNiUHVEWTU4c0xaR1BwTUZFNlZPT0FQbklsRGNBTWo4VkFmS1JWSWlJWWNvUklCK1o4Z1pBNXFjaVFENlNDaEV4VERrQzVDTlQzZ0RJL0ZRRXlFZFNJU0tHS1VlQWZHVEtHOERVbWwvNHE2TVAxYnlzSngveGdvbVlKZzZCYnY5NVByZTF3Rzd5a1ltcmZETElCNEdaZml0b3M1WVBLL21JRDByRU0zRUk5SDRzQ05iWXNvOWQ1Q00rS0JIUHBDR3c3eHhZdEJKZSs5MFBWM3NqejY4b2s4bEhGQlFVbUNJRTFtOERZOWZDajFqdGpUZ0lSS0FUaVlkOFJDSkI3eWxDb0ZBcGdiV2I0VGl5NTVGVDBlZHZLempJUnhRVUZKZ2VCQmJPbzYxbGR0YkhaUElSSDVTSVo4SVEyTTAvZjFobjJ6NTJrWS80b0VROEU0YkFuZzRZVkdETTYydFJ5RWNtclBiSkhHOEVGaG1kajNpRFJZeFRpY0F1eHJ6c3BuSEVDeVppbWtBRTlySUxYbGFSajNqQlJFd1RpTUNLNTNjNWtJOU1ZT1dUU1Y0SWJMSWZlZkdSajNqQlJFd1RpRURUNzNpRTd2MU9ZTjJUU1g0SVZOZ2h3Ymg0VGZTWS9SU2RzL3VoU0Z3VGpNQWNZMXZDUExxdk5jSFZUS1lOZ2NBZXhrb2llK3k5MzFjcjBiUWVVVkJRWUxvUTJPZDVQRUxya2VscUYyU3RSbUMzY2YxZHg4YUVhQnlKQVlXaXBnR0JOYy9qa1dEZGwzRWFVQ01icHdtQnF1ZnhTTkJsL0NiOU5HRkR0aElDaUlEWDhVamhsdmQ4Rmo2VStJbWZ2cVZHcUJFQzA0YUFPaDVKTW54ZGZZeVhmdTh0Q1NkS20wUUU5UEZJa25YcjdPaXhVMmRPblR4S2E1SWttQ2h0SWhIUXh5TVRhUjRaUlFnTWpjQSsxaDlhQmdrZ0JDWVpnWVBzMFVrMmoyd2pCSVpHWURQOGNxMmhCWkVBUW1EaUVGaXNud2FiaW14MTRpd2pnd2lCMFNDd2lkOFhQK3Y1aFEraktaS2tFQUpYRkFJOTNNZmRTOHVSSzZyU1NObExpZ0REcnpCdHl3OVlYZEtpcVRCQzRJcEFvQWVmcmRyamUrbjNpckNJbENRRVJvdEF1OThvbFAyK29uRzBCWk0wUXVBS1FXQ0duU3V5SDc5Q2xDVTFDWUhMZ2NEWDZ6ZmVmem5LcFRLdmNBVCtQOXE5UWE5Vk91bjlBQUFBQUVsRlRrU3VRbUNDIgp9Cg=="/>
    </extobj>
    <extobj name="334E55B0-647D-440b-865C-3EC943EB4CBC-45">
      <extobjdata type="334E55B0-647D-440b-865C-3EC943EB4CBC" data="ewoJIkltZ1NldHRpbmdKc29uIiA6ICJ7XCJkcGlcIjpcIjYwMFwiLFwiZm9ybWF0XCI6XCJQTkdcIixcInRyYW5zcGFyZW50XCI6dHJ1ZSxcImF1dG9cIjp0cnVlfSIsCgkiTGF0ZXgiIDogIlhGc2dYRzFoZEdoaVpudGhmVDBvWVY4eExHRmZNaXhoWHpNcElGeGQiLAoJIkxhdGV4SW1nQmFzZTY0IiA6ICJpVkJPUncwS0dnb0FBQUFOU1VoRVVnQUFBaEVBQUFCVEJBTUFBQURUdjBodkFBQUFNRkJNVkVYLy8vOEFBQUFBQUFBQUFBQUFBQUFBQUFBQUFBQUFBQUFBQUFBQUFBQUFBQUFBQUFBQUFBQUFBQUFBQUFBQUFBQXYzYUI3QUFBQUQzUlNUbE1BRUZTSnU5M3Z6YXQyUkdhWklqSVJiNzF0QUFBQUNYQklXWE1BQUE3RUFBQU94QUdWS3c0YkFBQU1hVWxFUVZSNEFkVmNYWXhiUnhVZWUzK3k2MTF2WE5SV0FxbjFQdkQzQXJzUC9La3ZYbDRBQ1lFVDFMUnBnM0JRU2w0UThpTFVLRUlnTHhMMEFRbThQRkFrSkxBcmFFRnRLbThmNENuQ2tVQk5YOUFhVUVHaWxkWnZTQWpKVzRpOWFaTjArT1ovNW5xdWZiMzNqcFRjQjkvNU9kK1pNMmZPT1hObTdpYUVCSHMrMEE3R09qUEd4YTlueGlxZTBlcW9GOTk1MS9UVXRzS0wwbnczL0JqcFIzamdxSlNleVdRTzg3UTltZUR1NkMzV1Q0Y1dwSEVyOUFqWjhCOE1BeHZGRXQzTVJ0TFFYUEowTyt3UWxSdGgrV2ZIdlhJek8xNGVUZ1g2bHFmMXJteGFvTHNoNVhxUTdvVmtueVh2SWcyNnlUV09zaFEyTEsvV01DRC9GWG9uSVBlTVdTK0dETzVsZWkxamNRT3lXd25wSGsxYUNpaDYxcXhyNFZ4NWpkN09XdHFRL0Rib2VpajI4L2ZPSHNwVXNFRFBoOUxFNEY0S0U0UXMwN2REYWFKSys2RlloK0NibzZNUWJNRXpSMFB1MEFHRWJvWUtGTXYwZndIRURjaXlFK29VdG5BdjVWVk13U2REQ1R3SXBlSlFaakVmeW9qM1E2YXZJYlN4RWlxdzBYdmo0czdvdEVqRGJIWUZTczBnOTBhcHB1OG8zdk94TTNYNnRjcy96K1MwTUVmRDVmR0JGTnVrVzRMejc2aDhqbDdKWUtnVHZ2ano0Y2VPZm5oTTNpbWcrUi9VTDdjVEROdWxoNXpxQmFVSXZLOGx3RTBoT1VuL0c2WElQVXRITmZwcFF0NDNzOVdsZ0pMM3d0RHBqUkxKUFJjVktGSWZpSVA1Q2hUd3hFZEt1VGVhS0l6V0kwU3pWenZqNS8wV3ZkMGp6dzlMcS9TZFdmbWxnQzVUK21kU3FKMG0rOU5DK0VuS3Ywa2NRQUZjd0dJRHBmU2ZLU3JTMU15Yzc2ZkRQbXJWN1M2ZDljbzdCVFJYcFYvQnFQTkhXT290RkNZOEM1UmZjTzlqL3VLZ01JOVMrcXZZS2ozbERscW9pMVJyNFZadFZrMmtnSklYWk9TdUlReHV1UkpGYTB2aUROWmc4Kyt4emx3ZHBUdFJzbG5yOWVpNEhTa1N0dGRaejc4cG9CaHRtNHZld2JDN2t5ZXhLalorRUtwY3FJV1N4MzRmZmpIdWVka3pRalRzcmxFcXZ6M1dwQnQ2UVA2bUZGQXlvUEk3MzRLZW5uOFF0Q0tpTUZNQW9iUUpValpGQzhWTmhmVjRubkZsSTJGekd3ZEt6NlJGeDBLSU5ZeW5tQUlLSmNyb2pHbE9TL1h5UXNRR202QVE0d1FydXZOQUI3UHF1R2RyVEg1UTd6bU5OUkdPMElhSmJUdGQweW9wb0xDRUhjRWVPcG1XNm9HRXljejhTTjdBd2w5OHdqNFRwd2M2Ykl2UnJGOUVhcWNSUEw4cXU4dDB0ck5aQ2loMnpsRkpESnVqdmxUUGtwZ1EyUEVtR3VZd3oxT2lneFhUWG0rQ1I5OGVCb3BtbzdBSHhUWXZKUHhKQVlWbHF1c2lGS1dmeEE4ckRlZzM5QWxKdzF4cVJsY2U0NDZGN05tTmRWT3ZLQzhVL2JsRzJ5WWNMOGRCcjF5aWp6OHlUbTYzTEpwTkVFdHpxTHNLbjZ5UHp2NUNWMVZoekJOWXVtbkJGTjFNN3lYcWZQYUJjdlZ1MUhBZDl2bnhrT1NNRkFmOVBaT1NYaWc1eEpGS3krUVFDSDdicW5ldVRoLzlES1hmVm5YMXRraEVVd0JOWUhIME1jUllMQnZ1L1o3Z3JDVGo3eGpvNi9TSmwvLzU4U25aTU14cFhUSTdhZHh6clg2N1Q4aWJsQjJCbkVmSEI5V2FoWGNnVWJWWHEydU16SGJZaDE1NkZldTZxd2IydnYzUU5aNURFeXo2amhmRkc5bVNxdDZPaVU2ZG0xeTBqa28xRkFtcFc5R3grTkpybjMwTWVDTzRKcHV0QUdPMEFUVmplSmJEd29YbzJXbWE4RVAvanNNbEhteDgvS3hnajJYSzJFUDF6bG5SQXVYcW01d0VDNzV0YUZuSmFPS3YxeUdhZkE1ZG9sbHJyaVlnc0Y1NXkyR1hMcDc5SmJwMkp6R1BnVGJrSkxEVWU3SHdnWlhYbStnMEo3Y0c3S3ZhWXdXTG1veU94Wjl5Sll3ZS9STjdaNm9KNW04OUtiRGxzS3hsbWliODBMenlQWmhWL0Y4d3RjeldnUnhhN2FjSVBMdGNGcU1jS1pxMGlYd0Q0dEtqUjBva2k0anB4Z25ZZ2Y3VVpqbHNFazM0b2ZNeUNXVFpVUHpuVE16b3ZKeWtGWjJ3Rk51OHRha2RSaExWZVVaVnFERkZuQ3VoTVF0TnVMdG8yWExuaWp2K05KdndROHYwZ3BTK0VYODNEL1BYOGRTS1R0REVxVW1hMkFlTWZvbFRaSytKanJYYlJXeHltaWI4MElHeWNGSnhOeW1wSC82Q0hlZ2dZa2NuaGExR2xjaU5oWVZ4bGZ4a29RazN4K3hTZlpjWHpmK25hY0lQaFg2RWhSUDA5K3pwVzJVMmo3NnNsMDA2a1h0VjJwTTUyVWtpbm9mdEE2Vk9CakdhV0l1N25ualJjejhCYTJ4TC9uaTFUQVMySEpiM1Q5T0VIM3FnazhjTlp5QXpKRW9zMktvR3FLNnR5dktOTlhuSGFVTERqamh5cTN6WXI0blo3aWR3MWw4M3cwRFBjZ25aU2UvUWRFemZPL3hRWkFxU2ZkZXN1ODJXbFdHWG5uUkNVMEdTTFYxaEJYNFdSYWczTzQ1ZkU4enI0aDZYSStPS3BkNWpiL0UwelEyV2ROamZsbVRYTkp2d1E0dlZjeExmaXZjT2VMemFZb2lJVG9YdlNSUjdQUmpWSVdhNFI4cHNqbHVTeks4SjhneWo4VDdEdGtTYUZ5eHQwOVN3c0x1eVZoWkthZlJsZlpvbUprQTVoNnJabnlWSC9ZSk5xQjBXNGpDbG5IaFhkeExTakNaVy9NNXF3R2FvaElYWlJFell3aWN0R2lzQW9tSXNaSVBiZFU0NzhEUk5USUJ5VWF4MWo0cUdlZHlTYlpna3l5ZkxoNFlHZW1xYkdpc2hydlFJNURQQzhuM0V3cmowQ1dzMUhSa0FhSmxSc2NZbFF2SXFKazNOTVNkQW1TU1EvazZjUk9oVElSSFRacW5veHBhbVJTTDVCVjBSQlJEeHUwV2ppVVdtbHJTYXFPcjBEc1BBNVBweTJEcmZ4SmVVMlk1cjRzcm4ycEtVdnlaQVdUOWt2Y2JwMkU4RUNuTlQzZ0N5VXlCbzdncmEvUGVmcHZUSG9teCs1NWxvSjlua3I4bkdqU3cwMGJMUEEyQy9McGhENyt6d3VLZ1hNdW9kTUdsMVFPQ0lDVkRXMzdYQ1JCU0tzNFk2WXUyTGJMUGU0endKdC9wdnlZcG93dThpaXlXSTZDWkhyN0ZLL0xsR0l5Y1c1T2RXUVlPUjkwU3BLNkpZNTd3Q1J6WFJ3ZGpycWhQdkNWRDBZdVA3aGlhT1FoRVRaWnhnZXdETW9hQVBQNFE4L0N5OUdWRkZtU2tPOHVpMVdLTHNZa3g1bUI1bnhvTDgzQ3BRWUwvRFM0aGNYTHJtcG1JWDFVUVRGTnVxRSs4SlVQUmlCZnVhT0FxRlV6TDd3N01CcG52UXFtTnQrMHBQZ29iNU1MUFVDbWpGNXBHcjNtRGZpMGF2S0lManZlZVZGQnpla0hHbmMydWZLVDVuTXVTb0ptb1lXN3NPdzhaRDBibHZyOWdZRkhyaW94Zm9WVzVvWlljeEhGV3ZCeWZyOHRER01sTTY3TVBlS3ZTYm9HSFBsM24vTVgvbUxBY201RUI0N0FyZEhiQ1ZtTk5ieDFqRXJHSmdIVTdaMlBGUXRuT00ra2ErTVNoOFo1MTFkOStHdm1FVGxTMVcwMC9OSFFqT3RNUDYvc1htUHZ6anA5aXhCSGtJZjNvYU5Ic0JDWnNGejRzdk1NMWJoTnZLd0N4TzFDYTZHQm1CeXp6eFVCWXZUeHRDMUNKUWVBWDczTFFFTFZReHl6VmJJclREWi9vV0hKZDMwQmFlSzNVd3dqTmNKK1IxVWJTbXdrbG0rbkVEM3daOWtoUS9NV3lUWEkyMjgvVmR6U3FxQ2VUOUkrbmRraVlXaW9zVVkxc2dIb2ZtS1ViOFcvMUpRaDZBRzMzUXNUVytZVzVyT1hoRUtvbnEybFYybWZ1ZE5xdjk2aEwwNGdva2lKTC9TbHVUZ0NKdVZFUWd1cCtPNnBaSVVVMlFudzEvb3M5TkhCd0xoUkZzT3ZLTVFjay9LQlUrZ0Q4b3VhaVRhQW1DNWxTK3dWcVd6WG5ONFpxNjB1SHhSN05adTE1L1NnVGhLNDJ6ZmQwOEZpZFlqNnNKRWdkZHNjT2w1QmlCa3Y5Y0duMmVyM1RoK2pDYVNrWHlqL25vWG1LRVRGZGE5TWpwNFRobUU5aFpISnYzWUdSVGQ5aUxkaWFCRnY0Z1VkZ2w3SkhLcVhPb3FEU3lQcGZNdXp5YVdITWlaZ3g3WnMzaUc5WlZTeDhKb0FoVTF3UlA1RnUyQ2JWVWUreUl4K3pBQnBRRTZkRkUzZ29qRTFpMFpCeXJXWnBJQUVXS0lMTkdhTUsyaVpxN2swd1llZGF1WlA5eXhLT0oxVVQ1N2JJS2w3YkNFMENSYnNsVUUzSEMyaFNLam9ITU90bUo5QWRPMWh4SDZ0SEU0bUVjc2QzZVFvYkdualhid2hOQW9RbHBjempTcUJNYStCempyMFQ1K0FsK1ZwMDlLZzdnMGNSZ080N1lhbCttYlZHYnM5YVZKSUJpL204SkpJN3FsczdMZEVzMFovK2JjN3d3anI5SEUvdDdjY1JXZTB1ZVFYTWRPNm9rZ09icFV6M0JaMkN1NmRCUUNSWW1FdkpHVnI1clRSREZYTjJ0ZTJzNGNWeGtENUpoSzZva2d0WjJKRWZueTAvT2pobmVJVk0wTG9nVHpXUU8yTlIzWElwVjUrenM5dWxhUlp3SDJLODV3NUJFMElIY3BIRkRZTzQyOFBWQitvd2VJc05Dd1Y0dUw5LzdIdm8zcG5Uem8zKzV6K28rWUtlbUtRL0N2bjRzWDA4Q3hiZWRjNXo3QnJYL2g2a0RlZnlhTXZBeHUvZXRPeUlmQytzVGl1VWhqVDBmcmRzR0Y5ZlBLZE9WQkVwd0dMbndITW45MmpYR2hyMEZHWTRabFJhbVpHMEZPUHVaeDU4K2M3RnV4WXBWTzl1SkUyUkQ2OEdlVHlJb1dINEk1MTJjTUw5b2NWL1JmeTVxTldaWFBOWi9lZEpONEJ3eElpYUd2bkc5UHJvc3pvT1NWVmx0eWpHczB6WnZ6UDdmUkJXT3Y1bWxnSktxdlJlbm5iWUh2NXdvelhTQStlODYxVmtxS2FDclUveDRGakg4dEJVN0FmU1QzQld0clNUQktaV2tjK3FZbElwTGNIQSttdE1FR0ZHZGt3S3d6cENsU3JZeVpEbkdLbi84QURqR0sxaER6dHJFZ3cxQzN1eUY0NTBWNTl5UE5LZi9BM04vZU8rOUMxMytBQUFBQUVsRlRrU3VRbUNDIgp9Cg=="/>
    </extobj>
    <extobj name="334E55B0-647D-440b-865C-3EC943EB4CBC-46">
      <extobjdata type="334E55B0-647D-440b-865C-3EC943EB4CBC" data="ewoJIkltZ1NldHRpbmdKc29uIiA6ICJ7XCJkcGlcIjpcIjYwMFwiLFwiZm9ybWF0XCI6XCJQTkdcIixcInRyYW5zcGFyZW50XCI6dHJ1ZSxcImF1dG9cIjpmYWxzZX0iLAoJIkxhdGV4IiA6ICJYRnNnWEdGc2NHaGhJRnhkIiwKCSJMYXRleEltZ0Jhc2U2NCIgOiAiaVZCT1J3MEtHZ29BQUFBTlNVaEVVZ0FBQUM4QUFBQW1CQU1BQUFDbUJ0OVhBQUFBTUZCTVZFWC8vLzhBQUFBQUFBQUFBQUFBQUFBQUFBQUFBQUFBQUFBQUFBQUFBQUFBQUFBQUFBQUFBQUFBQUFBQUFBQUFBQUF2M2FCN0FBQUFEM1JTVGxNQUVIYXIzZTltVkxzaXpabUpNa1JscVhZUkFBQUFDWEJJV1hNQUFBN0VBQUFPeEFHVkt3NGJBQUFCeUVsRVFWUW9GV1ZUdTA0YlFSU2RKUmpIZ0kyRmxCb2tLaXFvSWxFZ1c0cW9qU0pGRkVnc2RPazJmMkQrWUtscFRJUkVhMm9hdGdWRk1nMDEvZ05RWXZOS2xNTTVkOWI3RUxlWSt6aDN6cHc3cyt0Y2FzSEsxdmpMd1NUTGZUVUd0b0NOdk9LamFvaXZSMjRSMkM4anRSZzdxaHpqVHhtSThOeFVKUWh4YnNqc3VybDV3QWV1aXllcjNKMll1OHdZcGdIYk9rZ0VmQUJPNUdsVHdMSjhaNmgxQUJ6SjAyckFObDE5cktRQlBNcWJoWGJJL0Y4bFBkL2xnUmlxVmY0cjZ4ZkhHa0FzOStJamt6R3F4N2sxT3k5ZVpraUZ2MVh5MWdXR2xDRE5FZkF5S1pNRStPSG03T3dPMEM0Qis2Nm5UaXBIa2dOM21yQjF6Z0pueFUwSlNPbzJMODh1aUhMY2tYejhwOFlsNERuZm9HbVRxSzBDV3dwcUJWeFJNSzBMMlB5S2FRU3UvU3R5MUFkZnMzVUpDTnNXWFpiRzBKR3B5RUgrU21va1lKcnMxdFp0cTE4V01vSUk2WWVSQVJxYjFuc0hKRlozRmVEUVI3YVNLdkhwWEVhcVBPaG5CTHpkd2h5M1ZEdlJFaGNtbjhJdnIvNHpkMy9LTDdIZTN3dU1lVWIzV3RWam10VmF2S1VZZkw2S2ZjSGRsS3NSdnc0bG4xOWY2MUNkalJDYmZPTHZVTjNOWU5ROEhqY0ZPUDRGSS81bXV6ZVdSUmpocDBYY2M5RVpuYTZtU1hEOTdZemhHMXZ6K2dFak9UUHlBQUFBQUVsRlRrU3VRbUNDIgp9Cg=="/>
    </extobj>
    <extobj name="334E55B0-647D-440b-865C-3EC943EB4CBC-47">
      <extobjdata type="334E55B0-647D-440b-865C-3EC943EB4CBC" data="ewoJIkltZ1NldHRpbmdKc29uIiA6ICJ7XCJkcGlcIjpcIjYwMFwiLFwiZm9ybWF0XCI6XCJQTkdcIixcInRyYW5zcGFyZW50XCI6dHJ1ZSxcImF1dG9cIjpmYWxzZX0iLAoJIkxhdGV4IiA6ICJYRnNnWEdGc2NHaGhJRDBnTUM0Mk56TWdYRjA9IiwKCSJMYXRleEltZ0Jhc2U2NCIgOiAiaVZCT1J3MEtHZ29BQUFBTlNVaEVVZ0FBQVZ3QUFBQTdCQU1BQUFERnZpOUpBQUFBTUZCTVZFWC8vLzhBQUFBQUFBQUFBQUFBQUFBQUFBQUFBQUFBQUFBQUFBQUFBQUFBQUFBQUFBQUFBQUFBQUFBQUFBQUFBQUF2M2FCN0FBQUFEM1JTVGxNQUVIYXIzZTltVkxzaXpabUpNa1JscVhZUkFBQUFDWEJJV1hNQUFBN0VBQUFPeEFHVkt3NGJBQUFKT2tsRVFWUm9CZTFhVDRpa1J4V3YzcDJkMlpsc3p3eUpxd2NKMC9nSC8xeDZjb2ppZ25SRFdBeUM5TWI0SjhiRXIzTlFFaTg5QkpaQUx0MEdjaENqUFRrWVljRjBCMFc4OWR5VUhPdzViQWdKa1I2RWdFR2hXekFRRWRJVHAxdDNaeE5mZnErK3FucFY5WFdQMHpPOU56K1cvdDU3OWVyVnIxNjlldlhxMjFIcS84K0pQSEQrNEVUZDV0VHBvNyt2UFB6TTNwSEcvbm9wK2Nidm5NWUNWUjBkRUI5NytmTDQvbGZYQTltOG1UOFRqZkN2T3QxdTdsUEV6eU5XWTQzb3ZqYys4WU9uM0dNQXZxUFY2R0JnRlcvRCt5NGFQYVp5VDlQaGRQOFdhZlNINTErOFRpK1o0ZnNwTFBuZDFnM1g2UERWdDE3OFBCMWw2clFUV0U2b3dEYXUwcitubWJwR295MXUrLzdJYU5RRmFFcHArU0s5cjcxOGxlaGZSbkgrcnpmcFA5cW9oWjBkWVpGb1Iwdno1cTE2RWR3VVhmR1dScXVXMFpwMnlObzZyU1Jubkt0VTMrRE9XS3haWi8ycCtWN2FXSXJndGxtOFJGdHBxNnJmUHZldTBLRVo1QXpSbmlHREY1eGIxWUx6Wk9PbEVzSGQ1dmFMTGdJVzBEelFYZWIrVTZUL1dwc0p0UzNwdjJ0MEkyV0xSQ2JmUm1qVGFDclNnMmE2RjlEZThFM01qMDZvYkkwVkowWURJdkdCVktPSkxhK3BaZnJLVyt1MmwxcWxUVTNENVdibWVjQzk2ZHJuU2NBUkJXdXZSV05MZW0rczdGYktBbTdxNTlWZ3FTK212WExBYURJSGsxUFRqR2Q2ZHZLY0Y3QUFOc2hhNkxsSjlJamUxKzFuZ21tVlB0QkNkaWtabjROS05iUG1UaWNaRWprRGQ1QlpWaWNCQVJSMkMxMjBZWEgybHFleFNMdWFpK0Q2S3A3MktjbVNTd3hLSVRYc1o4d2hIWmpzcFpidmZYQmJ0NitrZXl2VmJkbk1BcGNhcjNNdzNCN3Z1czJPc1pjbVJWeHJnc3ZYL0gzVXNVelhyUU03K3JiRUxoREtxbUdVYkdFSUVOWFVqZks3NFMzQ0JkZDhsa3hZSUZjUXBRRXRmZVpDSVRISXFtRU5nejNFSS9DNnBoSGdqVGRzQzlPWEdmN2liMGFNcUtJcm9qSS9hc1V0SU52RUtPdVJiUjQ1RW1FT25xUmlrckluVW9oMzYyaGZmSHA2amZ5akFhTU1JcHVZVDVwckk3bGx6Mlo2b0FWVy9Ybm5Qbmw1Zk45anRzZHAzaTEzRXJHVkpPc1VqQ3pSTW1HaytxVFdldEJwcVVsMG1laExFM3JQS2hvR2U2S1N6UUpROExOV2JEK1hsR01SZU5ocE8vRlNRbC9mVm5kTzJMRk81ZGhFTFRqY01Vd2o2dHJUN3M5ZlQ3NzZ4YWhGcytleisxQnhZaGk3N2JuY3BHK3o2clVKV1dlU3hTTmx4Umh1T1ZMdnNQc3hKSjREQjBGMGFwSUdSZmh6b3U4NER2V2MzcjY1eEpUc0s1dXViV2FpRzhPOUVwa0F6SnZxN2RFVGFyVkg1ckxnYWVUY2llY0pFUXNqTnpOa1NnT3ZicUtxMy9aMVo2TkxBVnk0Y2ovc3ovZVk5NVoxU1picmVENHpXbWVsbkpOK2YvZXZQbDBYQXlpZzFsbXB0eXVxbXJyNzNXblBQeUpOaFZXK0tiSXNYRDZmOWoveXFGWkJUaHVJcnFhRzJXUGxsNDhUL2RTcDRhUnJHd1ladk1Ca1pjQy84aUJLcGo0RlVkTlVCcTR0WjR3ZURtbmFMdzAwQjd2eHlWcUpRL2RaSHZuSHBqTmVQVGtUc1ZCWElNbkhNMlNQVEhzYVlrbFRnT3NCaEhjOWpoVndUNk1QTEtZYWpmVnlPaHRMTWY1Y2hRY2V2V1kxQUVWS25VUUg3d1ZyemVxb2U2ZUJwZEhBS2FWRUNERGtXSVBQNElmc0ZGREtOOUp1NW5lQnlnR3ZtYnV2RS8zTWlGdCs3ZERVMWRRNWMwSEtkanlHSkFRSXpvdGs3czZYUlBmTkFFeDRaTlJvZDlJWVJhSjdVamtNVnAxR2VpMFpja1NjOUFrQmdyT2VOQVkxM0QzRG9NQzBwWGdxU1NiZjlLRTMxbjM0dkJCa21NVzJVczJDU0dhbW1vRS9zM0E1R0dSRU1BTnZDT3hEai9QSXVxbEVrTHZzeFFtdGtBN3doV2ZkVTV5Vi9GOXdlYXRKUVp1RXdic3lyVmpqQW5JQUtMWEFHVU8rVXQrUjJXbXpRQTdoVmpMSEJDY3ljVkFuYk85UEs5YjQ4dk1BWU1CZVdkQU1PWkJiMGVhUTV1TlFwV0QrV2JpY0ZHVjdOWVA2VFhXOXBuQ3dqcTZTK1VqY2xZWStueE9sSFJITVRuVURBRm00N0NjNUd3RFhMMitEcVFaakY5RnRvTE9nM25KcEcrRHU1aWRWY0VIWEl4bllGVFRSNG5GSGRwQXNYOGtQWkw0NDcwOHhEbVE0ZkxIVFpKdnlGMDdhUGU5UGQwcm5JOFMxR0c0N1ZPYWJwZVMyVW5BVFFqMXdKZFIyM0JxNjNWUWJnYnBxQVc2dDdIUk9RZ3pqeTg5bVpFV1BhMlhkSVBFQ1U5bTJSRy80RmFkdjM5K21pdUcrRmlUQ3FOTXhXRmlVbmNRMzRkMm9VOU1QaHE3N2FNZGFtR29qMHJZc2lqZmt2M3JnQzRiN3VpUkZxenJUR3g2U0dvVGhia1hkZTM2MGRBUHZvbW5IMDg0Lys5REFzcHg0RDFVeERPNE5vcVJzTmJ4M2ZscTUrMjZtM2cyK00wejZCRkwzNFphQ1lLeUVhekgwMGdiQ0doOVB1MkcwYkVDNDU4RTBaQzZCZk1wVGlOUlJFOGhlNWF3VnRmTUtTZ2xWOGo5UjhlU3FvcTVIdFdqWXV5TXVkdHVpd0R0UHhoTDVMUFV1a3BHRUU1aXdoSUhOTlQ5YW12N2U0V0dxTWlvZjF5N3lPWFp2Y0RCc2lnS2JLbnVzSTJlb2QrRWlRWWg2Umc1Y1l3M0xLaTRCWE1uU1hQMXN1VEhUVXJOaGVNNE10N2hrMkJFRmh1dXpYc3Z4eVk2WHlmRTVXbzRFWXdJK0ZQZDMvRXpMOGVuQlpmUU9EZ3A1Wkp5V0NOZ2E0TzRhcXlkK0ZiMnZXZkJKTzJNbzhkenZBVko4WnZsWkZKRWs4RGRBNzZ2bzlqRVB1RERzWEFSN1ZRUDNMei9aTTFSUDVzT2J5NHJUNzNZRG80UVhIOWMzTEZzSDAxQllyYktWNExObEozUzJ0TXhBK2Y4Zk1YVElzTEkyWWxzeUh6alFBVkpxQTVBRXZLNFdkK3pBbUNQYU1JTjlLMUhxVGNnMmhUMFo1WnNzdVowRzRIYWhrZW9zQ3FRbjJXbXFyeUhKcUxXRDV4MlRwQkhmOUpMZ0dYb2pqYlV2T0syVEVEMTNyR0d0eThaQ0NWQWFocTY0R3FjVjdCV2UwcDdSNGRlQ2NCekhYQmhkbE5YSWQ3NlgybC8wRnNqcmZWeHl3WDA4d0ZZZm1GNFZqRmMyOU5DTjJmUjJuYjU2Q1VEbzV1bFIwOFB0UXNEZVNtWExKZVNYSmllZWMxNk5ZdlZuZUM4bk5xS0dMaGI0VzVUekxxS2hvTzNoSU9BYmpYM3EwUEc5cTJyamdXbnIyck9sYnFKaHRYbUl0aFl2WktsaGxFNzQ2cHRkaFNQWUJpa25lSmNrVk5lRVM1MUc2OTRZckJQQVhhU0R0QjBUTkY1ZFRlakxTQnFQRTZQRko2SFIrclhvUTVCbjhIaGtQa2xoMWwweVVBcHhJU0dHNUhFUFRIMmM2RWUreFRwQWJmc0M5VFlkYkVIQVg0Ty9aaHFBZkhTWjZMdnB2R3I0bTUrWGdpNG5ZTzZpOGVlVWVwcmNXc0xHRHc4TFl1a3EwVE5QZlpib1d5SUN0UkZlYmJpdFIvVGNaNTRFV3BzRjhTWDk1Y3JvVnpDdm45enIzL3lOSVUveGVnY3VTR2hjbUdyaUZUalMrenVuVkE4ckVGY1l1VTlyUlhva0RZcXA5azdaOE1LbDVPSG5Ca2NZK2VldngvZi9NVzUvWlZTTlJlcUZTNVh4YjQwelB3UVg4TEhXVFRObnJnQUFBQUJKUlU1RXJrSmdnZz09Igp9Cg=="/>
    </extobj>
    <extobj name="334E55B0-647D-440b-865C-3EC943EB4CBC-48">
      <extobjdata type="334E55B0-647D-440b-865C-3EC943EB4CBC" data="ewoJIkltZ1NldHRpbmdKc29uIiA6ICJ7XCJkcGlcIjpcIjYwMFwiLFwiZm9ybWF0XCI6XCJQTkdcIixcInRyYW5zcGFyZW50XCI6dHJ1ZSxcImF1dG9cIjp0cnVlfSIsCgkiTGF0ZXgiIDogIlhGc2dYRzl3WlhKaGRHOXlibUZ0Wlh0aGNtZHRhVzU5WDN0eVhpb3NJR3Q5SUZ3c0lFVWdYR3hsWm5SYklGeDBhR1YwWVY5cElDMGdhRjlwWG5zdE1YMG9jbDRxTENCcktTQmNjbWxuYUhSZFhqSWdJRnhkIiwKCSJMYXRleEltZ0Jhc2U2NCIgOiAiaVZCT1J3MEtHZ29BQUFBTlNVaEVVZ0FBQkZ3QUFBQjdCQU1BQUFDN3NZbG5BQUFBTUZCTVZFWC8vLzhBQUFBQUFBQUFBQUFBQUFBQUFBQUFBQUFBQUFBQUFBQUFBQUFBQUFBQUFBQUFBQUFBQUFBQUFBQUFBQUF2M2FCN0FBQUFEM1JTVGxNQVJJbTczZTkySW1aVXE1a1F6VEoxbWkwYkFBQUFDWEJJV1hNQUFBN0VBQUFPeEFHVkt3NGJBQUFlOUVsRVFWUjRBZTFkZTVCc1Ixay91M3Z2emo3bTdpNEVLQzJybkpVaVpVblF1V0tpQWtuTkF2ZUNSbUFXeUNMRXlCbWsrRXZMV1RTb3FOUXVUNjJTdUFzeGhScmlyQ1VSaGVBc0ZaQ3FYTUpNSkJHTFN0Z3RRSHhBbU1HU0tnV3RYWklkU1c3dXB2MTFuMzZmVjU5NTNOM05URmZ0bmo3ZFgzLzk5ZGUvL3I1K25IUEc4MFpocElFVURZemQ2eDk4ZVNHRmFKUTkwZ0RUd0pSUEVEclBHNmxqcElGMERlVEtCMi82N2FlWENWbFBweDFSREwwRzlnN2EwTUVrSVJlSFhoVWpCYVJxSU9kZnkyajJDTmxLSlI0UkRMc0d6aHdHR2hnajVMRmgxOFdvL2FrYXFGM2lKSFZDbXFuVUk0SWgxMEJwbXl0Z2paREtrT3RpMVB3MERlUkpaekdnT1VQSVVocjFLSC9JTlRCSHlQOEZLaGduUlBpbElkZkpxUG14R3NBTWw4OTFwd2o1Zml6WktHT2tBYXFCSENHUEJwcVlKdVI3STUyTU5KQ3NnVEo1UENDQWRYa3ltWFNVTzlMQWJ4NnNCMHJBdnU3SUdZM3c0S3FCQ1VLV1hXbEhkRU92Z1hsQ3hCYk0wT3RpcElCVURWUUpXVTBsR2hGY2JnM2tXd3VYdTBxbituenloQlBkaU9peWF1QVp4M092SFF1ajBkVGxzZ0xCcWJKYmorblJ6QnJwRExjdnV1OXBRV2c3ZGVObElmckNEM3dhenpsV0xrdGRVWldNeGF1a05leTdMbmpnaDRXdEtNVWRTZG9NNUxuK0tPR3lGbWlFbkEwMWY1YVE0em1sQ2trNnFJUmpDSmVWNjM4ZFozcVZRYlU0bFc4OFhLcmtqYW1sbjlvRXh3OHVWTi9IRXk1VDVLRDUxRVpEYXV2MlNDckpFUkFjS1Z5QzlzNkduZEZHT09rSWRIT2tWWTdnRXFQK01GeW15Q014dE1PVFBJSkxURitINGJJeDdQTmNhR29FRjFlNFRKR1h4NUFPVWZJSUxqR2RIYkl1MVVlYmxIVHFNekVGaGlMNVpNRmwrc1dENkpUYzZ5TzQybkNaNUMra25ScnE1MTFPRmx3YXZ4alJzU3BwN0Z4YjNXU0lsY003Y3A0Tmx5cWY1ODd2WjJEOGxDTTlVWENaSWUzRURqalQ1U3VwOXg4MlEzd3R1RXlLbCtuM2RrT2tRNVJ3b3VCU1NubXN1bHU0NVB4WGhMcmNna3RWVkYzY0NwRU9VVUlrWEtZLzB2bHkvM1NRLzliN25udWR2NTJGWWZRMjNSa3h3dU5ZelRnODZoWXB6VjU0dTlhRXk2UTRpYjd2Q0U4bjRwcmRqL1RuL2xSVWVLSE5PZ291K1BSTm1iekJwdXo2dnM2TzdMYXlsSStHU3oxdG0yeldvUzhqcFprbUlSZGp3cVZLVm1qdzBaU0ZMQTA1S2JSNGt5b3kySTJOZ0V1dTNGbjNhbWtqMlYwUlBoTmszYjFBekpuUmVOSWVmUDVDazM1L0JiWGtMeVRXRkMxTjhhSmR5SUFMWGw2VVlkV203UGY5ZE9zbC9XYVp5aTkzM2ZtZ2daMXpRZkNEV3dlNDFNaTFuamZXdjlldm52WHNPMUYzSmkxSFdwZEMwc2NQWnFnNW5LSkQvN1pranhRdHphbVFYVExnVWd5VXgvNm5xcjVYZ3NZUnZZZGRRUFBFREEydjR0M3U0OTd1dGJCMW1RemUyR3QxZW0yMlZ0NG4yYmhGd1NYdkozMWFCZSs2M3dXTXIzcWZULzlpVDRRMHVkQnpUenBjSUk0TUIxcXpCaEtsZmlITjZ3NmtZcndVUXhZMXp2UnpmTm90aTRiaFVpVTMwWnlOL25ranovTXpmcVFyQ2k1bnd2TUxyVEZ6WmRMWnpKSG10RThldFllRVJzYWlVZEpVYlJqb2NNR3JyaktFdkpiTnZkZDdQSU5GYkdGNjVlbFUvalFxYnV1VWJ3c1A4aEJjOFBReUs3UFh4NGVZODFrL3VoUUZsNDJRWmRTYjVvMlZ5TVVIU1I3L2pTWWJOTUZOcERTbmpZRUZRaDB1RVV3R2wwUUhlV2hVRDY0NnhYbkhybmRNZkVoQTBZVGdVdURmcHBnUG1XZFZLR3NNbzlOK3MzaTZUTFZpaEFObEZTTGdrazk3WlNOM0pYbDE1emJ5dW1hYWRCSFMwR21QSmVHUndZVmFGLzY5aDdTVzlEZS9KajhjSVBpMlFxYlVoa3ZlSjB1TStuUmE5d2llRGxkb1lOOGlvMC9rMnFFaWFTTGdNa011eWV5WXlDMWcrRzh4ZVZveXBGbldibm0wYkhYUmtjRUZuM3M0bWcvZ05lUlhiSVIyaWsrSW1MamFjSUVwWEdCNXAvcm9RRStSMEJwNDdtcStZbE9YNjV0Q3FLaUhML2VTRnp5c2FGVjhLRUV5aW9wRVNBT3lHdGswaUk4TUxwZzFraTFEbE10MEEzdHZXZGdDL3dpU0VzQ0dTMDFNU3JIVVVGUTl4dUFWSzVsWVJGaVhVdEl5T21CK0I4YmxDOUxyaVpibWxHVnlqZzR1YzNmL2JYb2oraytCS1ozdEEvWWV0NnV4NEFKZnhBL29BWmUyVGR6dGZTMHJyekJjNWxKOVkvNUs4Z2FudVV1ME5KUGllMks4a1VjSGwyNjEzR001VE9sc0g3Qm1XWnZRMDNTWVVwd05xZ1ZjMW5zVVFCWnZaTFZVWWJoTTJJWlNNdWVSdWJycnlpaGFHbnl1MEdBNWRIQ2hVK3lLb1FKdkxUUmR0S3hMVGRvQmVIaXJzTWtxeTExWmZLdkx0VkFZTGp0OEJoN0hZYTRsOTEwT1YrT0lndlFZYWVybTVHWG80SUlPdC8zSjNyNnRTUXN1Mk9UaUZDaTlhQk4zZVErdkdKb3pKYk1LdzZXYUlnMk1vZU91YnB3MEJYTWJjT2pnZ2ltZFBWdXRMZG5kWk1JRmUzVGkxR0MrZngrK2lkem9zQVV4N3NOd0tTZHYwbmtUOHN5b2xyS0VpcE5tWHN6YUFrbUdEaTV3TE1KVWlMN1kyQlV4Y1RYaGduM2daWjREc0cwSm9oNnZFZHN1S1J4RGNKbEwyN25pSjlLYk9CdjdlRE9SZTV3MEUrWkp6ZERCcGFINWdEOE1ORmpkc2pWcHdtVkRlYUE5T2VtMWkyUytoMThMd1RTWlNRZ3VzMlpmeHBSMmVkN0ZnelJubzhyamxWWTllZWpnVWxiYkxubXVpV0pGMXdpTm0zQkJrVlZPQWR1MHhhTzlYbllVQ0IxWjRWUzJZcERPU3lkcEpGczNMay9UZVhIU1lEZTFyZkViTnJqbzJ5NlRmUFAvR2JwQ21HNE11TUN0eTYzd1l2L21MZ1d4VTZ6MVJuSVUzeVBkTWlnSzlnNlNrU3R1bko3VmpaV21iRUMwejNCNStsZS9MZ2Fpa1BaNFhmVnRsek9QeGNsbXdBVjJXaTVoU3BsTlFsd1ZIcEFYbXhlUjhlQVh2b1VTRi8vaTl4OVVtVVVuZCtZRWwxaHA2b2FUU29QTDA2LzJiL2hwaFlEOFcvLzBWLy9xbjVmd0lPQ25WcDdmRklMbjNuMmVYUDkrM0wySEVQcXhqOXkzM25mVmRlYzNrWEQ3K2M0cmZ5UWd3NCtDM3ZEOGRoRDN2Qy85NEx2dXVmcEdkbWRRdi9RbkJNVmdydnEyeTFyc3UxUUdYUGFVKy9MUXZrcWZCR3N4bTNYNzFaM3IxeDA0YW8rTktnRmE1anI2MXBVWHNaNGErNVQvNzFUNVBEaTlaeFJJZ3hMNVcvd2JWWC9USjN6MkJTTmNVK0J5SlNFMzRMbVVkVkVpT0RKZDh2QUV4WXA4em5rT1l3N2hMdThoOHNrOFBjT3NzWHRJL0JiUzhRbjVlVnA2cW93UzJEVGluSkNNc2NKdWFqUktkNE0wYWs3Vi93dDJJcVF6TGk3SDhUZmdnb0VuQ09tNXFHaEJYRm5IZEhqRlJ6dzhYdERCRTB5VjlESmpwTE55N3BWZlBZZm5xQlcxS2N3c0ZFd2ZPQnRya1FPU3RpdG4xY2lrWVdrTmRMaCtLTEpIbnRSb2srRnlHL21iVlM5WFZMMHM0UEx0d3cvamxMWWRNTUpHOC8va3YwUEltL3pQNGdrSkhIclZvRlhhbEhkMFlDditoSG5jZk9tSk5tMklXTVQ2bE1LRWkwYXRDZGpuNkE2cTVTenoxa3hBcThtQUMwVGQ0bmxvbldpMFJ0MVZGT2JpZTk0R1ZkQnRYQStaMllCRld5dlVlQlVjM0xibk5RNC9ERTNmcE9Xa1I1azBsT3labmZkNzQzSm1qNFI1OHBoV1BCRXU0K1N6bEJTbVJCenhUMTkxSnpTMmxQY3IxUGZ1TWtZM2swNGJFZGhzb0JKUGg2OTZ2M0ZQQzFTYk9jQUhvVVZMdisySkpxS0EyQll1Q0w5eU55Z0N1RVJRQnpTRCtGOVEyeTRUOGNjL09seXdmSlVXaGJxeVpuL0VncUwydjRpWEM5Z0Qvb3RkOFFRTHJkeFlwK21kUnQvT2RCWTg3M2N6UXBCS1EzbU5BMi81SDllbks2Y01Ub2x3MmVCV0NUWWxRQWJsK0V6QVpRSVpaVjVEM2lmc0hWMEFGRVI4NXlqWGdvNGZDSXBqUUMvay9YVmFGalpQN0k5Nlh4Und3VnpIcEc1VDBnRUZnSnpQVzNNbGZSQ1oxZWx3MFNFQ1YyWnNRNWlsTXQyQjFXN3JXbGFrWmU2Y09yT1pNSVE1QlcxUDRFU3c5QTM2eG9KMU5KakdrMHBEYWVxWWVYNmJkMnhRWnNiZ2xBU1hIUG5hYWxDbUxNMExzeDlMRzR2MHdXUnlpZVppNGJCT3J4NThFdjcvUjRYR3FhM1piQzJ3S01DMmRJWURyNjRxQjNRQzZ4S21ac1VHOHcvQVpMNDQvMSthS0tHcWRMaWMxdGJSODVyTW9VTFpFakNJN3VidDM5QzBtNFhKYWVuYWFTbDZsQUZvL3hERjh3TWtveFdFTklzb04zSFFWQjJMZXdTd0RDTDg3cXgyWjBaQnlYdTVvT3l4aDZYb0s2aElkYUNBMGxjRkF2YjBqWVI1UXY2TUQyTkEvZnNVWHpUVU5IZnJLN2hZMUFIdFFQNURqekpJdElacTB1RlMwTjVZUUJOMVR4NHFseUVCYlAydGdMNWdXQWwzSHZNR3pFb1Z6OFBJTE44RUJqVzAwWjBQS0NFTkhkdDFnSUhPejVaVllXejJyS3E3Sk91Q2NVV2FqRlRZS25xRDNuOFpSZEZhVUFPTUJLWW1OSUI4aVVYb1B3RGd2ZnlPenJwdjRCazdBWXJaWGRtQWkwWXRkemw0b1Q1ZUlMd0s4ZlhvY0NuQ3VueU1oNWEycHU1UktyQVZmbTB2WTkrS210ZUVYNlVKZUQzRTg5QlByTnZCWEt3cEJISHlGUVZRZk9ZUVZKakdrQzFGRGV0QWdjUkRFbHptVVhDZDBRRmljbzhDVTc5ekZIMjVlLytPNWdHTWZNQUIycEtJWXFlOHljcDZkTE9DNG9zR3NOeGlFZnhyS2JpWTFCeCtncTZmVjZxTEYxMjRjT0dlNi95a250Zmgwa0lSTGV6M1NaeVcwbFpCak1xTXJBdEM4N1RjSk1VSDlNaVVWMVBNM1hoaTdRM0N4aTcrVWV1eXFrcWh1OWZWWFJwY0tvd1VaYVFScGl1RlJjVUFpeDJPQlhTRkdxOFFYQXdlejFmV0RjbFVKQlpNdUdqVTJRYUdZT2QwcGNPdnpTanpSV1AveVN5dHd3VWw5Q0RGTjB0a3ZnUFBDaSswMFNWY050UzZBWWFGZHRBYW4wL09rSU0yWis1MllUQ2JwVE1Yenl1UlYybUZzTlcwcUc2VDRJSkpMRGRFeXVPd2RSL1hPT01DSXI3WWdRbFNzd0hnZ200WnNWQldCeTJnWHVLcGxuWFJxS2xKSEZDZ0JwT3pUbXE1QmhjNk9pcThDSFZsaXp6ZTR3V3M1QURCdmxaWDNJcmtTVlZ1bmxyMm1wRHY3VzJWNHhDRE5CanpqVmN3MHJGM0dpVTBmNUM4cXd1M0pRYTZoZ1RvVDI4ZE9vQUxEU3VtT2hwd2tVdG13R1dUUzREUnZTeUVNYTJMUmkzMUtDajdkeTJvSmsxTEZJVFphM0NodHJuTkthZ3JXeFhVLy90b1UwUzd1SUtWYkhGZDAxc1dWZzNOK1hzRnF0ZUdIQXhaK0xENXlpVnZQREF1ZGtuTkh5VER4YnZqWUpFWFZscW1iN3NJRU5ITWVMaGM0bVhwRG8xUWNqeGNOT29Cd3FXb0hPYVlSSUdRVTEwMXVHQkdKdXdSM1RPUXNzRkliNmtDbVdOUXhLNG9wTTM1UlpMVHRSN3NaQVMweFVWY1l4NjRUZVVHYVphRWNiR0pOVUZUNEtKS2FoQUJYUFM1YUx3ejJoZkZBUmNSalllTFJpMjdSSlRxMzdVbGJTRTJCT0xaYW5CQis2VE4zRkZnby9zUlorTVpwT2JNQzdmQjlpN1ZuQysxb0VaZ3dPV0sxUjQ0UVpydGh3NmJHbThWcFVpU0ljbURTeUs2dUpFV0JYQ2hzeW9SakttdW5JRFFPZnF5SUhHQ2kwWTlRTGpBVk94enNkaFNRb2hvWFRXNFFKT3lWUnZhZ2dQdFhyZEtlZDViK1kvK1dKY2Zib1lvQzJKYXlKWWkyaHdrUkJtZlVOS3RDeVhEN0tFN1RwRG1mWEhHMGxjZDZXUmRjdi85cm50TXVJaGxNUmVSancyTU55VXM0TEpFczJrb3E4a09ySXZvTG11cXU4UklUV3FSMUxjcm5hdnVjbTR6QWdVZkRMUFg0TEptVERKa2FXdy82VFkyWUFGTEZCM2tORVZXVlZRV0YrNU82a1RtdTBSYWRqbjBRSGVjSUkxWTM0WXF6Z2FYMzdrMzBJQnVYWXpXU3lSQldVdXlzdU1KRnpwWFhlUXludUt0eUVjNEpRMHVCYjQycGFWODNhSzhmWlV6VWhkWW91Z1Fkall0NWVLZ3FyT0tSNFpZQ0M3b2dkME01UlZwQzJML3doK29lejFXMWlHWTVveHV3VHJvcnord0tqSEJGdElHWEtwaW5Ld3ArMnB1OFY0TzY1TERBMW5wbnh1R2NaTjdsUFBMZ1ZMRzFlcGZha21EUzAxNVZiaGgwcFEwRVpIeE1pZ2lRdWRmUXNTYWk5dlRRUmdpVEVnSXdXVkhEWWFFWWhGWmdjeVBia1prWVl4d1JkSE1aTGprRzlqeFh3V1pDUmZsYzVBRlNGZHdvYXM0VGZHWDI3cXMwUmEzbVJ3Si8rWkJKTExIYUxzUVRodXRDZEkwdUd5b3NROWJIM1pBUVlHcy8rRVY1WmdycW9Wak5qYWh1VXRORFlaTW5LZzA5ejBIaHFFU1VjelhmRVlLWEtyaTB5QUpjTWtiRHpDSStpNDNYRDUvWGtPQ0VDSjBMV2pMSEpGWlhSSXhkZFhnQWhVczhneTBTUzczRlcxWE1YakZmVkhRVjZ0emtlUjJOVlpHdEVoRERRWTNEcHdxa09ZN1VFNHpYTTRkTHUrUUpqTUJMdGhLUEtDMTFJektMamRjUEx6NmNCaHVxNVdDZ1N3bXVETEhYNWRSR2RIZ2dpS0NBR0RibGlTOVJlQVZkemtIdUxqdzFNYUpld2d1WlFjVlJISG0wcUI5d2I2dVFhTWtSWEtTTThyNTByZ2x3Y1d2azBkVzgxZW9VVWhyT3dxNGhKQmdOSnZldERRZndET25wSGZTcUUyNExQQ2NlcmRlUStQTW8vTktXM0J4Nm1RVzJYUDhvYWx3SVR2RjJOVkZKajM2dDJtYzdyazBBSzQyblJBbGxUTkdTaEpjSGxES1RZREw1Q056SlVMRFIwVUY5RG9vdU53cCtrNnZqTVVMYWpZUXloTUprSEpmeFBuMVZOUjBSSU5MVldJRXZSR2hUWXVkNDIxQkRrU3FLV0ZvV09FMTUxcUtWb3V4N1NJblJJNXlCR1JDbW9ac3F5cU9WbStwdXlTNGxNUWtObkdxZS9xU2wzdHp1Y05lSEZGOEJ3U1huQzY3cW8zR2trNllPYVcrN1NJSzE0eWh6Vk5OdVBCRWVQZ29Xc0VvMDdXb1pobm9xNHBldHFGMlJQWGtpSGpOMml1Qm5lcHViZ1ZwbXBUL25uSzhzanJuRTJuWUpubVdHRmlYcDFFbVNEYldFbnZMa3JVV0dSQmM4bkxlcWRVVlJGdm1JQTNsSXdFZEhpb2Y5YXM5K2t1dk5kbXhhTksyNEhyRnl0ZEV0S3VydHUzU0NQcnF6NXVjVWNuWU5FL2l2bWRSOXJEdEVteWt6d2ZxeVg5U3F4VkRiRjNkSmxnWGJIUExPUmlEeXh4amFzTWxhbVV4R0dmMEpZaE5aYjlQaWEvRndralFNb09vdnUzQ015ZmxQb3hPclZrWGpEaWVJNTh5OWZBUjdJZDcrdzFDYlpiaEI5YWt2TXFyS1NoUTZpSkZ4SGVzcWNxT2d3b2kyRkRmRVhoa0RwZEpmUVlFRDdlZ0NpWEFaVTBaWHpndzdPcEd3Nld4cjdpcDJDQ3NDL2ttRGhRMjhaTUlGVldQakdFVWFNMlN5VVlFNnJEMzJkYWtBZFVwTmJpZ0QzaU9MMmNHK2ZLVzEwcGZoK2tjelRpRUZRY3BpTklqdURrcFIrNURKbTM4bmZtc3JuemdOcjVBVEk2VUJqMitEcG96K2d6SStWbmRncG9Yd3FMRXdxVWU2ZEFIQUJkNDBjOTZwZlpZT1hMNHdkRTBZOVFoay9mQzJ5NGxhVUFsRlNJYVhOQ1FJQWQ2MitZMEV4aCtEZmtNajE3UU1RNWh4U3dESjBZME9odU1iOGZ5QWRrcGE5MWNkRkJCVkFWU0d2UTRIWEk3dWdIQWhFZ3JrMkJkTnRUMk4xUVZDNWRHNUhKaEFIRHhyc0RibEkwdmxNaHJtbG9EUk5SODZVYWttdGVxc0xveWVWWjJtMHlpRVEwdWNNbE5scmRET2tFRTd3MHYwVWNVRjFseVYvL2dGY0dDaGZsZ29ScTF0OHdwWWkvMHJTSTlhQk1pUGRtT2o5MzlsMmFTbEFZOTNrU1c4WGtrVTY4SmNJRnlCY3pBTUJZdTFjaGhOZ2k0ZVAvWU9xeFhpZFZZM25UYk1wc2FDZTVLeWdmdzdHcjBTa3VEaXpUR2RlbUxQRHJQOEtXdGlhb3BKUTBZMmVZa2NBQ2JpQmFXVW9wRVpFTzBwcDZzVFlqMFpEdGV0S2M0a0dhUkVmSFpXV2xkSzJKK3B6d0JMalUxZHlrdzRFNERNbXhscFBzMmJ3MmJkQnA3SGgwSVhPZ3I2TkhuWU5RZ1BCNld3a29oeWdjRU9URERiWXVHM1dwd2dRdGtKUERIRlU0NkJUMGdlWjNmZG5FcHFNZFJFYVVNV3V2WjJVQ2t0bFlLVXhDalk3UXNQUW95UzFVUVlZRlJWSmwzeXhzZzNER0lFK0N5cGxaRzU5YW8zWnRrL3RXV0NwWUhQeWIxOE1OZitmaVBhYkFCWXBlRmtMNXlmMWpyN2F0a0JqOTZhMUtiSmxhUTArc1lIbXY5TlQxQnhhdlJia1VSc0Rla3BBOWc2Yms0ODYzQnhXc0Z1SGhBN1o3UjEwc0JOSzIxZWkwdWNRendKcWZERVFwaTAvRnRUdUJuUWxaT1FSSktJSXMrVFdwTzB5Rk5VS1RHMmpqT3Vsa3cyVE0ybXhMZ1F2azJXYW1KeDlITkMzekdqR2VkNlZSZUJtQmNoaGZJMUIwTkY1SVB3NFdjR1d0U1IxTG5uM1B3T2ZEN3AyczZYMnNHZkwvclg2eS9OK2FMNWFVQUNXTWZPVndNaU1QL2FZTzJ0ZVM1aGozT1JLWU9sMXJ3TkVwSlBaU3lzMHczQ2lUV1JhRU0xNVk2VlN3d1J1TGhtd3c4UUZveVhDbkc3YTVEZVhTbEJYVTVhSFlZWEhaa0QxRnVHMnJZNHk0QkxqbWZIem5sUzR0WWZTK3h0M0E5Zk1TRjBIZjhWUUE0WlhpTlNFYWlXSFBBeGNwcFlWVnRwTk5rd2NlaTNtWmM3ajhzd2Y1UGtzTlBjSHkraHh3czFCOXNrSXROVVl0MkRaQXcxenE0eGh3NmlpU1B5cVZEd1FuTHMxcTRYMWI1V2t5SHl4bG1EMmVWY2ZGdXJ0QkZLMHhNMTBHYmNnZHpyc1pXTjd5S2h2anpTczFKekRCMzE5VUFVam5uT2NPZ2EvN0liOTJBWkFKY01CMElQdXp5RnF3YlM2UnpOenpsMUlWUDBObzZMN3p3bzFJazJ1OHlzRGVhdm52aEdwcncyZ3VmOFhJWDd2WVI3YnpvUXR2N1BaSDhPWm44TVd3Z3hsQjdwY28wSUZkNlBmMndRQnUxWWJwUThWcnR1WlpoSXJnWXNIR2JpRlpmQjdJS1Q5TXZ2M1hWeDFxUWc5eDQ0ZGswWE1WZVk4VDlvazRrNHpwYzVoanVHeFpsWFRsVldjbzVBbUVsMk1acEY4bDNOc2F1K2VXS014dGdWamNFNkM0eC9KSlkwRGRoREExQ21pZURBdmptRVBXTFRiMjRIL2hpbnBRRWwzd0ovZnozN3lwMTFwbE5JYThPSEIrdFRwdFY0VWNLOU5BRzQ1cEkrSjVISjFaQjJLVHdDOEpqS2hrbXFDYVNUZXF4aXhUMzdQbjBPbXRlM3IrTGJkTk4rUlhVWVFWZ3RnbGNYV3ppN0dqWHlxTzNMVkdKZFYyTm9EVVcwdFNRckh2UGtKL0tDdWpOZzdkSUhnbUo2TEZMTWh1ZlVwNXI4UWNIOHFYRGx2WjdWNUltSmpLdlVBZUtEYWFDR0ZJdHVhUmU1bWVwa0dhZloxZWhhUGxUNGl3TldHcnlUSHBKZ29zM0JzNEl6Nk9FdDNUK0ZmOW5DRDU1OVRDK2VhVW00UTN5T3Fyei9JTnYvYU1XaUpjUXIrSERXQTgvakE5alVRQ3MzSUFDNTFjdytQZEVNb1VMVFQ1MzNxZHdFY2ttOVF4R2prLzhzL1NYYllONVF4NnNxZW5JNFdvSDlobVNmS3RDbjRaZnNqTngvMm5ha0hDUXp0TXNvbHNYYjZ5TUQ0STkwVFFvb09JRkl5SFREY2JRbGl6d0VENE5CcFN6Y1A5RnZCVy9LN1BTSWpPYWg2U3doaGR3Q0pPdGwrM29kVUNhYlY0TW1pNTMyam9QekFYMDIwUzRlUGtQZnNKLzZmdDErbEQ4ZnRsV1FPWTkwZzJHNkRJbjBDWVJOaVhFSEc2UkY4L0xsbG44VGxQTjNZeUZKT2F6WjYyODdMY0dYTHlwcXc5K3Rta3lPV1B0a0ptNXFYZHYwV0Y2cTM5am01Y29MV0w4U2orVnlvWTVEMGsxdnJJbzR5bVJlUjB1M3BVdmsrVC9VTFpXbmhQbXVpWVpMcEpOZktRbHU1TFNORXpiRlY4c1BhZFlvYy83VU9lTXlka3FwOC9Gd1dVTnpacnpGNmk1WkJPZGRQNUpGQ1pjSWlpeDJSU1IybXZTRk5iVTFsZlZrMW42WGRxNEhlY1J0YU81VGNqU0sxd20xWktRdGd5ZHRVNnZmUWpZT3VWbU10ZjZwdVIzYjF0R2pjZ0dnRlY0STVMeXBSY2JHVjNkcE1LbGFFd3l1Nm9qb3RBcERBNXpGeldDU0U4cWFrNU5UMCtMNzIyblVZaDhPcHZSUXE5dzJSR3phczdUNzRNcllLem9GOWl4OGRUVVpFMksxc255VklaSlloSXI1S1hDcFcvTk5BVFp3S0NuWnRJNTdNaEpxbk1SUmxpcnVOS1hUVnZkSzF4cXh0S2ZlcU5sVjBtUzZYSS9SeitHUkhjOG5ZSlA3cXBmNjBUcFFwUUdGNWk5VFh3Q2R0V0ZWd1lhK2dHbFRIWnJKc05FUjVlanNhRGZKY1J6NWt5M1oyZFV0S3pKUnBkNGp4VFo1ZGd3S0pqRGxMNlBzNGswdUFTZmc1UlBORVVLbnoweFQwOENNdGt0dXpkZDYvUmRDV2ZWQ3BnVjZkVzZtSnQrV0JYM0V5NHV4NFpCdytuZTAwdisyRlVKcVhScGNOa2hPRmNKbmhaTDVlVk9rTU1LSmJCYnptVWFwcTl3TERkbkxJNlRDdTFZMXFCWHVGU3RiWUlxV1VxcVBsdWV3N0VoWjRncE5zSXZ0YlB4ajZWT2cwdU56dGhtTWt3eVltdXlNN0FQWUNjbDNkdmRtVVNyOG1hZEpTOWFjT3dWTHVZK3RPZEY3dEFyUWJQRlNzN1lPMFVlemQycW5jUmtxeWRFblFZWGRsaERUeHI3SG9KVFBtZTI0OVpLdzYzZ0EvdHVkTmpKd0c2V0hucUZ5eG1USVd6cHFzNit0N2phYmt6anMwTVBkcjdZangwNlZsTWFYSmhOTGEyblNkVkZ2dkY1UW9meVphcy9IWXBnUGJMb1JFYVhwcGRNeWw3aGdqT0ZkWTNqMjZoVDcxY0E3MDFIWHN3N1lGbm12aU9heURnTkxudHc2WlBPRTRERXFxek1Wc2FWWmFHTGpicWNlWWhvU2FEZnJobWRpNXhlNFlLNXJYaFFBZHptTXMzcmRjR2k0cGkvTnFQU0k5SWFiSVk5YjVxNkNEckhwRFM0VEtCVCtYY2lIVGs2a21HRnQraElHcEROWm9RWExSWC9zMTkyMVMxN1NQUU1GL1RwWGJLV2FyLzZpM0hFMTJFbDU1UkltYzNnejdCZGd2OWNTQ0ZPejA2REMzNjFxWFRZVE9lVG1RSWJreG1kZVRtN09XK2NkWlJyaXR4a1VmWU1GdytmYWVEUHZ0QVRSbGZ2WVlrUmVjdU9EU056N0VRY0xsV1FGanplVXg4OFhMekphMTdiejViSzltUi9TRy9OV3J0SVZyR1JLV2RmdEJQeWRMM0R4YnNEV3g0ZndtSE5zL0FJMWZOaWhld2lJMzAvL1BiUEJXengxRUlic2VDOHhYa1BLbDZrTk9zU1g3TEhIUGFRM3ZUTE0zQ1pqdnJJUm1MNUFqWUIzRUpKbTJjRUpmb0FGKys3UHZZODZOL0ZkVGN4SEtub3NXRml3Q1pGWUVsZ3d5bmhQSjFIMGNlcWVnMUhCaGNjZmVGN1hDbk5ObHRYdGVjWFpuYjQ3bzdWY0Zwa3lxeDV2RWhwK2dFWEwvZkJxMWZJRFY5L1oyU2wzU2N5M1NVVngrTjUwQzVDNElVQUY2eU1KcHdIVHp6cm80SUxuT28yRGppWDRpVUw1NHgzZVNvZDVtU25WUEZZcUJYNkFoZUxaNzl1L1RSRlZNVXpyOHlzME0va0FTclpsQjB0NjFIQkpYQ3E5ZlZvcVdKU2kzMDhMTk9ybUk1US96R0dDNFphaXQ1cTRyMkNRbkFTTms2dFMzbEJiM04zOGFPQ3l6aDlTSStkTkdhUWV6Sk5UUmw0NmFSN0VXdXVZd3dYRExVVUw0dFhaZ0xIelQ4RmxQY1BQZnE2ZTgvaHFPRENub3lkY0Q3UjRlMnM5Y0g5aGxXV1o0dE5LLzBZdzJVcWRkc2xkODFyenJIMk5NZ2l1OTVNcnZmaC9Ic09Sd1dYT2ZvV1NYVTNvL3k1ejJRczRFU2UvMmdFMlRHR2kzZm56MFFJYkNXOWt0MC9KRlpENzE3NVNZdWdxOXVqZ290WDZuajhSNmk2a252Z2hZNHpYRndhLzFvWG9zdzBSd2FYKzhsWHlEY3lpM3Y1Q3B4d3VPVDZNVk1KYS92STRPSzllZVVGWVhHT1Q4b0poOHNVM2l3YVFEZzZ1QXlnTWYxa2VjTGhNckhmVDJWSVhudmtBK3duaWRveVplZ2pZMHdoVjdDajNCT3JqTUxpUUVRWGIzTnZEWVQ3aVdTNmhrTWVHczZlU09tNTBLM21RS1Fmd1NXazFqVUdscE1ObDluUWtXbW9tVjBsak9BU1V0dFRBUzdWRTIwYVExMHlTaGlvQnNhY243WWJxQmdqNWlkREE1UFhuZ3c1aDBISy93Y2l6SXdQcTBVMFBRQUFBQUJKUlU1RXJrSmdnZz09Igp9Cg=="/>
    </extobj>
    <extobj name="334E55B0-647D-440b-865C-3EC943EB4CBC-49">
      <extobjdata type="334E55B0-647D-440b-865C-3EC943EB4CBC" data="ewoJIkltZ1NldHRpbmdKc29uIiA6ICJ7XCJkcGlcIjpcIjYwMFwiLFwiZm9ybWF0XCI6XCJQTkdcIixcInRyYW5zcGFyZW50XCI6dHJ1ZSxcImF1dG9cIjp0cnVlfSIsCgkiTGF0ZXgiIDogIlhGc2dYR1JtY21GamUxeGlaWFJoSUY0cmZYdGNZbVYwWVNCZUt5QXJJRnhpWlhSaElGNHRmU0JjWFE9PSIsCgkiTGF0ZXhJbWdCYXNlNjQiIDogImlWQk9SdzBLR2dvQUFBQU5TVWhFVWdBQUFUd0FBQUREQkFNQUFBRHRtTEJOQUFBQU1GQk1WRVgvLy84QUFBQUFBQUFBQUFBQUFBQUFBQUFBQUFBQUFBQUFBQUFBQUFBQUFBQUFBQUFBQUFBQUFBQUFBQUFBQUFBdjNhQjdBQUFBRDNSU1RsTUFFRlNyM2UrWlpva3lSTHQyelNJN3B0NmdBQUFBQ1hCSVdYTUFBQTdFQUFBT3hBR1ZLdzRiQUFBSExFbEVRVlI0QWUyY3YyOGNSUlRINXc3L2luRmk4eU5JcWM0VkRjVzVBQm9LV3lRdHVnZ1pJU0hFMFZIYUZRMEMwbEFnQ3ZzL3NHa29nb1JUMEZIWURRVVZRUW9TQWdrWmlSK2xRM0lYQllKNTdONTVaK2Z0ekx4Wno3M2JHYUhaSW40N3Q3UGZUOTdldnAzWjIvMEtNYlhsbysycDdacGp4LzNiSEh1WjJqNWdZMnE3NXRoeHdwc2tpeWw3LzRmc1BmbDhINjZ1YXYrVFNBN3VNd0NiZlJocVJUZ092SGw0dUN2RTUzQy9tcjRvOEZxSGI2N2tZRjJvWGlTaXdQdjFkRVFuMnZDZ2tyNFk4QzcxMTg2b0RtRVg4OFdBZDFubXJBdTM0c003bEV3ZCtETTZ2S1dCUkZxR2V6SWVCUkVjM0wxL0pkSXlQSlJ4TEhpOUk0blVxVmErOE5sYk9wVjA0cVJhV2NMalhmNnJ4T3VPRCs3WG9DL0QxWEt6SnFNZGVkNEtzVFUrTlhvNkhWUkxUa09JTGJVU0E5ek5aZCsvVml3d0tLSlg5aHNDd2pJTGo4cjFlWUMxY2kyUGduLzNadjh1Z1M0Q0hKZHJlUlFjNytCNkNYUlFQWEhENDYzZmtIaXR2cFlzclVGdTNGQ2dITTdIdFdNYlBIdnQ4b0lydmdYbGV6ak9UdWpzemNuQmxGaUM0Vzcxa0lYR204a1Q5bHdQTm4vNGRCMStydElGUDdpZGJJQjNFWWF2NWRlSmZ6UzY0SGpkMjBLYzNQL2xpVCt5QzlsUmZIaGJONFNZSFYxaU42dEQwUncyOUhldnQ1OUJQUHZTVnk5K2sxVzk3WndJTFlIeFdyQWljVTZnSERZWGpZSHgycWNGaU1nS2k3SnkxaHdZYjA2ZFd4aU9ibUM4VWRrckVyaWwzY01JZldwMDdoWnMyZDhQUVJuWGo5c0RaeTh2ZTNMWjA4WlRvYk9YbHoyNW5JQXlQaGkzQnY1ZFkxVDJDcjRPUUJFV2Y4UCtLdFJDUE11Z1ZNRUNNT1JmdGV4bDExNTlPQm9TVGdoVTlzUmViTmxEWlU4YzZOKzlzTmxEWlMrcmU4T3dPRlYxVlBiRXV1R2lXKzNSNkRvcWU2Slh2WDNXS0l0QkRKVzlGcGdHcElaZVRUV3BvejBoc2pzczZoVzRLUWk3VGh1ZEN0a2Rsalg3dGdFK21VUFgyS3dxN3dlQXNFdk9JTHlkMkU3Y2pucHdzek5ERys3Wi8yZE5mTkpWUndSekFHODNJVnBmWTB1OWNic0hnNVg2WFp2WXNxZmNHTWltdVc4MW9WbGZvd1U3RzNMcnAwRk5wV3dPR0xRSEhma1QycVdlZm5NdklGb3VQZmRnWVZoODNib3dPQTZNVTVXZnVTZDYzNDBibjRydGlwRmhaZmYyZmh2czVueS9BL3c0NW96bzMrNkd1TlI3OUlHNDhoN0F5eEZ4bmFIa283MmxmbjV6Yi9CeGZIUmlOTnBiL09UT1QrK01qbkJraEhpMEZ4bWNFSGlTR3gwZW51UkdoNGNudWRIaDRVbHVkSGg0a2hzZEhwN2tSb2VISnJuUjBlRjdlOUhocGJJM3lTRkpaVytTN0hWdlRkSjc2bjI3MjFPWFNBSXBBeWtES1FNcEF5a0RLUU1wQXlrREtRUGhNNURmNEl4M0VmR2k1V1FKYjVMakUvN0xud2hTQmxJR1VnWlNCbElHVWdaU0JsSUd3bWRnNGZYd0RBVEJyUDRtRUxIMUZEOHlXNzhzb3ljeE9lVE5PcTQ5VzZ4ZjJQRXNPZzQ4bS9VTE41NU5oOGF6V3I4dzQxbDFhRHlyOVFzem5sV0h4TE5idi9EaTJYVklQTHYxQ3krZVhZZkVzMXUvOE9MWmRTZzh3dnFGRlkvUW9mQUk2NWZhZU84ZVV3cmp6d2dkcWpOaC9WSVg3MElkN3hCQ2g4Q2pyRi9xNHJWcnZMWko2UkI0QnVzWHVYVmR2SG00THZ2WUFrckgxaWRyTjFpL3lLMDU4U2dkS2FnRkp1c1h1UkVqSHFrakJiV0F0SDVoeENOMU5DclpRRnEvTU9LUk9wSkdDMGpyRjBZOFVrZWprZzBHNjVmeFU5MlZPOWV2eWg2R29NYVphOUFSN1Y1RkpIdVcvQmp2M21EOU1xTjF5aG9VZHlLOGczeXRCcDVCUnp4bUVEcENlemRadjh6ZktaeWFlbEJFMThpM0M5eDRKaDF4NFV1NSt5SzR1b0x3YU9zWHZ1OGVyWU9RMUpYUkE0Tlc2eGMrUEZwSEpVSXhiZjNDaDBmcklDUjFoYlorNGNPamRWUWlGT2ZQU2R1dFgvandhQjJFcEs2TW5wTzJXci93NGRFNktwRWFxNitIR0t4ZjJQQWNPaXFTR3F2UFNSdXNYOWp3SERvcWtocWoxME4wNnhjMlBJZU9pcVRHNkRscDNmcUZEYytob3lLcE1YbzlSTGQrWWNOejZLaElhb3hlRDlHdFg5andIRG9xa2hxajEwTjA2eGMyUEllT2lxVEc2UFdRam1hL3dZYm4wRkdSbEJpL0hyS3NtWmRRZUZkdWxzdG44RWE1Y3ZNTFJXRWN1blMwRHVNR3RSeVpyRjhJdk96RmErdHlWSlZ6NlZTM1AxdEg1Y2hnL1VMZ0xWcmhERzZvTGgwTEhpcEhCdXNYQWsrOFlPVWI3RmZsWERyVjdjL1dVVGt5V0wvVS9WM0ROWmgzNlZqd1VEa3lXTC9VL1ZYSWhlZlNzZUNoY2pTQjlZc0x6MU1IbGFNSnJGOWNlSDQ2Nmloc0l1c1hCNTZuRHB2MWl3UFBVNGZOK3NXQjU2bkRadjNpd1BQVVliTitjZUI1NnJCWnZ6andQSFhZckY4Y2VKNDZiTll2RGp3L0hUN3JGeHJQVTRmUCtvWEc4OVRoczM2aDhUeDErS3hmYUR4UEhUN3JGeHJQVTRmUCtvWEc4OVRKUjJFODFpODBucWZPYUJUR1l2MUM0L25wNEZHWVpUeGRyNW5FODlUQms4OTZISmF0U0R4UEhUejV0QWpYYXlieFBIWHc1TE1laDJXcmVlckhlazhkUFBtMENOZHJYdFE5cTh1T25qcDQ4bG51emlmNmZ0WGV5MU1IVHo3dHU1LzBFMDhkTlBtY2xJSG83NmVENzdrUnU1L3dJMDhkejNKMGJsaFBIYzl5ZEc0OFR4M1BjblJ1UEU4ZHozSjBianhQbmFhc1h6eDFtckorOGRMNUQ2ZStDbXBWNlJaZkFBQUFBRWxGVGtTdVFtQ0MiCn0K"/>
    </extobj>
    <extobj name="334E55B0-647D-440b-865C-3EC943EB4CBC-50">
      <extobjdata type="334E55B0-647D-440b-865C-3EC943EB4CBC" data="ewoJIkltZ1NldHRpbmdKc29uIiA6ICJ7XCJkcGlcIjpcIjYwMFwiLFwiZm9ybWF0XCI6XCJQTkdcIixcInRyYW5zcGFyZW50XCI6dHJ1ZSxcImF1dG9cIjpmYWxzZX0iLAoJIkxhdGV4IiA6ICJYRnNnVmw5cEtIZ3BJRnhzWldaMFlYSnliM2NnVmw5cEtIZ3BJQ3NnWEdGc2NHaGhYMmxlS3lCbUtGeGtaV3gwWVY5cEtTQmNjWFZoWkNCY2RHVjRkSHRtYjNJZ2ZTQmNaR1ZzZEdGZmFTQStJREFnSUZ4ZCIsCgkiTGF0ZXhJbWdCYXNlNjQiIDogImlWQk9SdzBLR2dvQUFBQU5TVWhFVWdBQUJTTUFBQUJmQkFNQUFBRGhRTStTQUFBQU1GQk1WRVgvLy84QUFBQUFBQUFBQUFBQUFBQUFBQUFBQUFBQUFBQUFBQUFBQUFBQUFBQUFBQUFBQUFBQUFBQUFBQUFBQUFBdjNhQjdBQUFBRDNSU1RsTUFFTjN2elhaRW1hdUp1eUptVkRMOFpwcFdBQUFBQ1hCSVdYTUFBQTdFQUFBT3hBR1ZLdzRiQUFBZ0FFbEVRVlI0QWUxZGE0eGt4MVcrdmJ2ejJPbDV5VXZlUkQzeEJvaE1TRys4Y1NLY2hEdkVDMFFtb2Rma1R3Q0pibUZraEZHWWpaUmdoMGowQkNMbFI0Q1pQQUFCZ2g1c1JIZ0VlaFFIbWZ5SWVvS0RZb1VmTXlRZ0JTS2xSd2tDSzM5bU0rT0U5ZnBSZkZXM0hxY2V0K3JPVFBjbWE4MzlNZmZVT2FkT25hcHo2dFNwdXJmdlpObkpOZklSK05qV3lFV2VDRHdaZ2VPTVFMNThuTm9uZFU5R1lPUWp3SlpHTHZKRTRNa0lIR2NFVGx6eU9LTjNVbmNNSTNEaWttTVkxQk9SeHhtQkU1Yzh6dWlkMUIzRENKeTQ1QmdHOVVUa2NVYmd4Q1dQTTNvbmRjY3dBaWN1T1laQkxSYzU5NFBsdEt6K3BnanhocEMrMUlrMDg4aFdoRGhDMHBGY01xcTVWdTVHZFVFM2VCTUEzVGZHbEd4dXhLampwMDBkYkVZYU9YVTlRaHdoNlNndUdkZGNLM2VqdXFBYi9ONEhwdGx1VE1sYm5seU1rY2RPVzNzdTFrU3QrZU14OHNob1IzSEp1T1phdFJ2VkJkM2c5ejdRLzA1VXgzcitpaWg5ek1RWjFvbTI4TWorRFpreFIzQkpWL01YL0haKzhEZGZDM1RtQm5VaDBIS0JxcjN6UEx2enozWkw2VGVjY0ladHhkdmN1ekZHTDFHaTlVd0pRYUxuMlEyWk1TbVhySDJ4ZWRzOXRxYU81bWVadUs1L3p1WkM2WmhkK01lSDJLdTJQS0dIUVBRS3pUNDV4cmw5Qzd2OWxaY3VYYnIxZk00dWE4M2E3T0t0bHk2ZHo3K3RNUkpZZThyRk9PVTV0dXhnamxXc05RK2d5S1czM0hxUkdWMG0yQUYwZnN0Rm9uRFJ5RFJiVDdRMmZETEJNQkp5eWlYYmJEKzNWWFUxYiszL2JjNXRIMGlOajlXRit4bTdQVDh3aGo1MGQ4K3cyeDRXVGhuZFVoeGFyRlZoUlRRZy9selJoS1pFWHRPWUFqakxOaHlNVit5NWRUeU93eUFtalhiL3ArdWRVc2hWalNxQVhuTDdjcGE1ZFJ3Ukl5a21YSEtHUFpQVkhyUEd5ZEY4K3NuTmJINk5kM1BMVStnNFhaaGk3SjdzNnl3VlY3dzJEV0x0cDdQc0NhNVlZajB5TlE0UFRmelJCM2tMalAzMWV4ZDE3VjlwQ2RUZDc5ZVlBbGhoaHNjaHFlSXBMM1lweXBIdVAvZGdvY3IxRDVtVmJ2STlRcnNuUDdGcGk1eGszN0lSZ1ZMVEJOc0FkVVNvaEV2MnNVV2NhOUcwMTlWOGJ3bWFUUExBMFBGVk9ub1hhazBrTGpWSWRRYk9iNk1NTTcvUEtiOEVFZkU5UlZuOUVuenRDdzhkM1AyTGhIZ09MZXgzQ0NMTGFwaWkrMTRpVTh2VGM2UE9uck1rSGJ0UXk2R2VjeGo2WXFCZTdjMk9jNEdZNGpZL2dEdU0vWXE3NUJSRGdPd3hHcTlkemRlMnVJNnpPUXZsR1VmdndpM3NZREdid05oZFB1b1FUQmNPOEJnYmFYNDIzMmNNOCsvVlJpdXU1Tk9tS0tDRmtONW5xaWpTRmhQSkVYZWNZaHZxdWRPYWtkUlN5MjZGREtpcEJUQVJkeGVIKzRqRmVCdDc3Tm1NSnlRYlJycXJlYjRyYUM4NWY4WHdhT2pvWGVqeTJJYkYyODVqdGVBS3dPa2kzdFErK29ZS3pGVlpFUDhRWDE3ZVlqK2phL0R4dWFwTEJYQW1GSm0zUGRkd2F2SGk2YU4zT0NBTnFCV281MUtzWlU4U1o3MTU1ZGJpNWZ3WWlWUklYZ2dYZDhrVzhvc1p5eTg4elVQcnRXbm9xRjJZRjlOZ0ZrMXZHV0dIZ3haR3VsN0x0aDhwNHN0Y2J2U3FRMGszQzF0Z081NnlOV2EyR0I1UkkyWkh2WElQb042aUZsOEFDRFRlMVdDaG1PS3liWTl0NVg0SDlIU3ZBMzhVNFJoTEdkK2hkYlJxcnVhMStLdythaGN3RDdnNlRYYjBkYXd4aGdrOW4wdGZrNjRwaGdYalV3UmtQVWhaTzdBTm1QWWMxL0FUcUZsaC9TVHNTUkE1aE90R0U2RnNhTTF6M0pEb1UxV1NqMURGSkE3WmtIOXRlTldtR2FZTy9pQ2hWSmVuT2J1Z1NLSDdVYnZRS0ZhYkY5LytnWkRVU3JpRmcwcHNoMkk2cDVJd1RGWTlnM1BtUnAxYXZ1eUwzYXNVaHJLaEVlekxPQUxtTkF5dFZTM3Fud3Q0L1h5bEdKN051VjMxTlpwMUR4cDhsaERtODdlcWkrMHI2SlVkanhNemJDZkQzdmVLcHZpYXh6ZlZGYnFnWlZOZ0dOd3RVWTRrUE9MekZORmVTd2VKdG9tTUxXKzNNQlhLR3Z1VndoQVdwZWdjVDNiYlpUZ0RsN3hzSTd2dWJnemttV294UEdzbUovcGU4bmpUMXNZclJYUEpGYkZabS93M1U4dlh2SStkY2VSS2R5Rll1VTBqYzVBamlaeGhyMDN5SEpJQm0rdU9ySExhekprMTVrYVl2Y0M2N1UvbWNPTVRLaENIeVlmR1lwRWpJWVZYbjNkZGxDTXJ4dkNzSGFyTUJlaHJlUFJjcTVBUmRjbWV0MW56TmUvRms4bDBGM1JmS05CMXJVeUoxZUN6Yk9USjVHbVQyc0k3ZDZRZUdDVW5NRFNYZkJWblRGajFpUVJUWThrNFJMalRJSC9ldTJHeG5RcjVERCtBcm5JMWtrRjgrN2o2UjEyeTVZNTE1bXMraUI4ZXBMc1FISWorOGYwSk8rSE5vT3lqSTNzbWdrSDZCU2xvRytmaWxzeUprSGtiMFpFbTlkZTByeFBrMFVGK2FyRmtWVzgvWnhWRm9lWjB3ZWVRbU9sa01qbGVsMlN1WXdRMFB4WHZUTG9Md2Q3M2pmR0Q5Q3JJcG1PS2NKM0ozd3ZqUTlpY1JMcW1QbnBFZW1PZi9BMUNwejN0K0dwaW1sdlIrYXJCSFFQeWprM3J6am91WkUrNGxpNXJjZElrTENVc1kzVkpSSUpuN1hZRG1tTmhXTGVackZLNkN4YTdLb3pDSlh1VmhubUIzYUVhVGQxaDNhdWFwNnV6M1FGY2NsSGpBZlJEU1d5emFzeGVpQzg3MmEvVHB0S3dkMnc2RTByK1R5VWFOZTBrMTU2eHVpUml2ck0zQzJpTzU5RFJNK2xrRjB4dkNUUUtsMnlZelFpUjdJSTRKSG5LY2lpWHdaU3hVMWpXcGJZT2pRdHd5VjJOejNCUXNrTktFcHhQUmhkVlp5WStrNmFUK3dzbFNONmhuYlZTRDUwd0k5ajJTTStjK2s2eEg0MUFZQjZyUytKNW5va0twWnAzK2RQbzhpdlpoV0RWVWJnazFBK0ZLNmU5ZWg4YjVrMEhHUzdDOTFZMVpjalVBeHozNU8rY3M5a1JWYWJpanFiRjRuV0JlQ1lVZWpCRWF2dGdicTkxdFh6RDU4bTZLVWZUZGJaVDZkQllYUkpIV3N0YUZRR0VOQjk0WEZhZFpCY3NibFVZaFV0aXlRcWNDYXNXOUoyL1NIRnRWeGNqQUx6d2lpYnZhZjkwVC82Nnp0SWlxaXpFMXhJdE5zdWc5aTRwdW1DRk45enNLaTM3MkRSNFpwcFZXbENFM0lFZGMrMjJlR21zTG9tb1lFd2cyZzVwanVVc2xNNHJYWk5kVUl6V2ZSUXVtYTE1K2x0dHFFSWRmTmQzVlNseTc5RzB1YUczM003SlgvRFlEMjgvWEkxSXRrak42TkxjdFhmM1ZzMWdBYjJqOWdtZG1mSlhhNEoxQThoVHFZM25XRjF5VDY5TlVyV2c1angvM2dub0xsSEpMZ1NyanNRbEIvYVNGV3lJSTJ0ZHhOTklGMVRGRm4wT3NxQmZ0bkJPL29MSGZsblBYWENVVVArKzVwd2oyaHhONmw4MktWenEyY2Vtb1RQVDdHeWw5VVRJbi9ZT0JwMW14K3FTMis0U0V0YThIODNaa2wxd2VsUVVSK0tTZUhjam11YnFsbXNmdzlIaWxpNldBZGJjZzB2S2JaMXo4dGNPN3ZaYVhyTDJtWWYyUHlsYStreHozenFJMm80RjFNblV1dWtwRHl1U3dEcWhuejlSeGpOZXBsdi9rK1p0VzV5bC9sSDJLanBkMFZ0YTA0ZXJ1Q1IrcUhmd0t1OGRaeWtybHF3aWVOZ3QrcHB6K2pDYXN5VzdZRGNoUzQ1TDFoNS95OEhkZjY0NVgvYXVmM253TDI5SDhYL1AzL2tSamZXQU9malFzb2NOSXZCcVZQSm5Qbnc1Nk9qYWZLZGVGT3lUdnpyWkFtbm1ETWthdFNzSTMyUXNGMnZnV1haUUFJcDdMK1oxMHpHREtRbldmUVZxRzhUZ21vRU50TUNlTlFVT0ljRStLTmFFSHJ0SUZ3Yzhqb3ltdXBWeXlUbEVzZk9NZmRodVU1WEtlb2k0b2E1bHhadDVtb05TK3p6bnU2eDVYQ0RaQmJlQ2VHZFl0djFjUVp4dGlWZTVmM1JSOHE1eE1xYitTMkhOd0R0MWt1djdVU3VWK09qRy94aytHZkZ1enNkZGIxZFh3RHQ3MHJyY1ZiK2w4Y0ZqUDE3WFZPVzhzK3pWbTBnWU5uQ0srYWJGN0g2YXRDK3daemhIK0Jxb2ZYNllITUFPb0o0YXVKSXpVMlM2Y3FSVi9lMzlmODFleEpmb21ZUFBaWk45bWl5NDJaeXFvdTdwS0RtWHN6czJzeGVVQ1NwenlTWTZJcStycWpGZmM1R0hYUWVmTVlsbVZrQlp5NHJ1M2JucDVWVU1GSDdaODdiRjdJVnIycitrUzg3bmIxL3N1NE9weGIySXNUN0VHR3RvU2hENGQvQytPMGhSU0w1QWI2b0NmNDBVRmhNWDhNYWl3NkEvSWQvVU5RWFE1V3dUOE9wcGZpcndlU0lBa3FXdjJ6V0swdHFobnlBdlFMMWRKV291N05FOUoxZVlFbXh0QlB5MVpVeWZsaEhBMzJGZFZkS0M5NlJMNHRqdHpiem1wMHY2V2VhU3YvckFBdzlpMEI5NDRJSDM3dXFXWGMxQmFMTnZMOEpESW9PWTZvS1dyb0E2R3MzWkFmNCtVUGpJR25zTnArRkhCdUtlWmYvNVlNNmo1TGx2SXk4dlM4enhYc1E5ZkMrOHFzU203dmVEdVdRcEthcENvdTJTS2tXRE1tYmR5NWRERGMzUWZBNE1aNHVmR09kc3B3ZCtuS0RLSklEWG5ZNjhlREZQV3VLOEZTN3IyUFIwK0Zpczc3aEI3NDFjOEduMjdGbk8zNlVuRFRqSHVCQnROZW1TMit5NmlCTzFYSzROWjFZdGdZNHVsSVpvWlNhL0lMaWFaOW1uMkxYRmJHRFppb3JnY0tvTExyOG85M1VJeXJMdlV3NlBNTldSM0pNNWJOemZFYSs4QndYVW0rd0QvSWlQUFIwa2g1QlBnUHNmUWdTSmcrUFlMcWtDVm90NFZQallEOVpWSWJVUXRpMXNEbU8vaG9zY1duTWE3WlJxY1lSWG92bXg2Ym9TR0R3enpiS2NaeERtbWkwbXpCVGIzOFB3OFpSODFSQzdUa1ExbEFKS3VTU2lpSlEybFBOcmI5bVNFWEZKUklXckZxK3JPZEtybkVkNGJpdmRhYnNHU3FrdWVCVTRncmdrbkd0VjhneE5sdFZqKzdPSUxEd0VMRXFxZGJ0WHNIYUpzMWprWU9GUkNQdkpJRVVnZWN6ZDFHUnVhVm1ncThRZUNYZWFOME1XVHRNeHpKV09JTGJaQWNmM0xUVXg3cVlaSW9PRFhUMHBIVUo1a1M0Vjh5VjJjZzV3QjhXaEFSVEpyL0MzZXkzenRoT3pQT1dTWFJWaGVEd1J0dXV0VzlwSFhCSjlXYko0c1cyRWh2VGFGZ2NoUEJoZG9HZ0xUblhCWWxZRjRwTGtWU05Nc0k3a0dMTDl4aEpmNUp3VlVaSmxRQjFnMHlJeFZXNHZRVWQrcEpTUm0yWlRVNGxMOWtqMjBGclNIQlFZNkR4WVlNOUl4OTB1b25pdUQ1UTRGVkdwSTdqOFAzTzJaL3NNQVF3R2pTMUwvQm1WYTloOE1PQmxpbW10aTVKTW52bTA3eGp5VUIxK0daUUZKVndTRmx1Vy9IQjUwV3l6WXdrSXB6NkNCVTY4YXZHNm12UEIyK0ljbU9YQnd6aFJPOVVGd2VUK0lTNjVSbVpsVXorMVhtSDc3UjN4OUMzWXNveW4zSXM2cnV4SStRVndEdklUYlp2VGQ4bkZnZ0dPcFJ3L2ZPekhmN3I2REJXMmZhRW90WmxZTVRGK3E0YU1NNG90VTdLZ283eTR4aDFMTnBlMWc0UEZ6d05vaTdPeU4zQVpubTZnMzNTcnNHZDN4ZEtQRnhJdTJUUHpHdjdFRlp0WGd5ZEZmV3hMQXY2dDRjd2RWM00rMElXdWUvWXpLMXRVcWdzMnR5d1psOFNJYm1pV2JiMloyV1A3NXpuNjBiZnVhcW9CTU1hcnZBVHJ1b0hkTUlXZzJaeXhPNlNudVhUdWtvYkVvNlFzclFDVXpBMXFQQ0tnV0U0MEl0OHF3RzR4WXo1bEJUOVlhbDF6V2dDNnMya2hxaFF3RmlvQnExSFBKM1hsbXFJd3ArWDBRVUxHWFJpWjB4VkZ3bjNBbmlJbEg0eTdKTFF4a3pNWHllUlpLNmZ4QlJJTVJycERpdndzelVaZzdKWUVBMEo3ZUNmSHFha3VDQW51SCtPU0RYckl2S0FMbUFXUmtSbW81VHczeTRUYlJMZzgxNFJnNldvT0IzRkNVRWhwQUtOTFZ3bStLZ251bnJWVG5GTnhvUzk5K1YyV3Axa3hreW94dEtSUVNnU0dsZFE2RXo0enhmNmZzVjBpWVhpaEtHQU9YdVhRNUZjSkVXbHh5YlNUVEhHWHhGaEo2V0R2aTZsNE9oeTZhWnNLYnVzd0lER081dHdxdTRMRTl6ZXFsbmRQZGNHcndCSEdKWHRVdEVsdjRaTFBCV3NLWkVzUnV6cENsRFBibE1sVzJjdHF4QWxSaFpla0l5MEE3QWdwOXJIZmYxOWZWTEs3eWlzRVlrYk5wdkJVTHB0R0pKVldjcXZjb1owMCt0QUVLS3dncmI5UXRXRS8yUldCNmE4WEJQUnJXYkdZKzBJay9IQ3V1RXRpZExlMHJKNUllRll1YUVRS1dOTVprdVIwTk0vYWFyN3dZd0l0alJoQzRGSmQwQlVwb0YwU2J3aVRBSXpzUm83cUhwMXR0Q2FId2JaYTRJYkVKWWtOQ21MNGIrbkxhc1FKVVpNNEtNLy90NFF3NjlnUDRXbFZZUEZuelhxWXNQQjBnUWRINExlTTJFVXVxM3IwWG04cDE2TFlOSnpyUWJNMkRnTmxQYkZKMUpNSDhwUi9EdHpNVGJTVnNtZlVKYkZ1cXhVQ3d0cGlLdlF2cC9zZ09ab2l1U1hzaUZGVWN3eW9IRm9Nb3FaUVE0aTZxUzZRQmd5b1hSTEpBa2sxa0V4SkI0VkxiaGgyQjhKWWJoWW9USFQ5WUluWXdPRzNpL3pUaE5jN05vNlhlQzRweGFKRVhKS0Q2NEsvcHdhRWx6Q0ROd1FXZjJ5WG5DcTQrZll3dEdneDk2U2prSUtZWXBwWGdpdmNXeXJIT1V2VXo3S3VNYTlqMlBkSm9VTVYvSzFHRmxSU1pHRk5JZXFTMkRLVFNTZ2FxR3ZYTVRMS0lOVVRUWGMwaDRsV0pTMDN4cUtHRU5SVUY3UjRDbWlYUkNOa3RVSE1sQjJBUzE2aEZTeTRyd01BQXBqMkVtSURpOXNyMUx2dy9CMFBYZXFTR0pkaUpPeGpQL0J2S1NGOU16TVVDbmVNMVZWU1ZHQk8waTJGeTJvOWpNUjkwZXZYTkxNRllJWVYyWjk5WnRvM0F3dE5GNjBxUlFIREVNQ2Vwbkd1b05mK2gralZQU0NGK3padENkdkVIdUlUV2p2WkZBazVOck5YUWtSNjFrWTZtZytZVG9wYnBrL1VFS0o2b0F1MjJGQkp1K1NDNVpJOEhCZStza2ZzN1FwQW9GWjVKZ0tZanBMRUJtNE5wOHpOdjk5eGtFNlV4SHhYQnRNbmYyZklvc1JmMHpDRDNRcjZIbVFzdTYyZ0hIUkpxSlM4WGhzUXhyZFdjbWxwWGFEMEZUT25NVXFVb3VDbVdwSVVRdHdEOWp4WHJobUppYngyMDFvQlZyZ1JCenBtV00yRUNsZ3lIV1pIOHpVVHdmdW1UOVFRUW15Z0M2SG1iSngyU1doTkowWXU0eEcremlCOTA2NG5Tb2hhU3hLTkNYSlZjUkFiS0ZUcC9SMTJzNEtQQjBNejZZbExZcVNLdUxadEw4T2ZOZHhobDJ5b0JkL1dvMmwwMWdSK25KVzgxRVRVdFFTd0xmTzNXYmtIazlUNlZ6V2JZMWlKeDVMMGxHWXhBRHB1Q2dVRUk1VmQvR0RUWEFnVzlJQUxScnljclYweDlBVGtyeXEyNXRCWVQ0RXVVWk1ZUXJRUTZFS2laWkMxUzJJOHFaMmJLcTZnTjUweU1RMlRsdE5PRUJ1VTFkVDRmeUtkVTBqSTBzdENsaEdYNU83Q0hiL3MyQStrc0VzT3c1MElSc2x2b3BIRWRiQ3FWTFh1R0NyaFJJMWkrYlpvUmNFMnJHSW95WFFESVdZNkw5WE0vZ0F3OXAxa0NIbGNXWjhuMDF5MVhIYUhuc3MyemRhY1J0R3VuMS9vcW9FdWFGb3BvRjJ5NTdua2txZ1VjOGx0RTgzZ1JoZEtHeWtuUElHaDg3N1pabzhuWEZJOW5lTVpMbDlRcG9NWm1XZ2xuRXQyeVV3bXl1UTZ5Qk1rLyt3NlhTOG9LUTQzb0I2UDEyczZoWEg1bll4TWt1bDBKalhJVjJnSTFvQ3g3UTBHamVZMjNDWDFnWmlSVUFvdGVCc0lXM095UEdKRGFRZG9LalRWQmNxclllMlNzQnBkanBwcUlVWnZkalczQTVDTUFrcHVPTlFLUlI2Ui9IZUMrUHE4cTJ0amRQWHBGQWc4bEsrUWpaam1Ld0I3eDYySTRXUU51ZVNTNHFEM3I1dmdUOUZKR0lia0s4cWsyV3k1VlRCS2l5NU9yQVBMUGhadnVxaXBHQ0FDRlhQSlJ2R0lVbFVjd0NXM2wxUXBmUWYvbHMxbGE0N043QlZGYndXempvS2E2b0tTWWQyMVM2NGR3U1Z6czY5QVlGKzNCRmNwL0RKcytINmZFV2RxSkZsQTkvVkNpSW5DdlRGZjlpdEpUTkFsUzVLMXNuTkpIT09aL1ZKcFN6NEJrNGRiMGpvenRibHN3eXBhSXp4MnFVTzltRXNpa09oa0Q4ME1HUHRUTXFTcTRkTDdrTVlFd1dWckRuazdxbkp1Slh3S1c5eFRYYkM1WlVtN1pOZGV1SE8xRUtOenU4R2E0bFVNdmNMQmNUb2xiS1hvTHpIR1BoS2c4cFJSOXhqUDFjdzA3QXY0YktsRy9CRFEyU3B5K1NYSkdseHlJOUM4ZUJWUUI0RWdReGlKeFkzUHl4NWRiV3hPTE5HYk5vYVhodUd4VzRpc2lMeGF6Q1Voa3U0TUJveDlYTTlyWHRkOXpNSng1T3A1aVk2dCtZcnBCNlo3YVo0QzI1VXY2cVE1RzlRdTJiWXpLTWJrb2haeFNVUXpiZjlHY0VteTIzSktqeUhmdWNmQkZVVTB2cVVKY0VudCtGMFJNUWRQYWFJSDlDeFRTRExHTXpSc0dNMVZUNEJBZk1yTWdqQkRFSXRtSUxBZVdTN0NUeXJScThXQXdJWlpIUUxVdUV1MlZkNVYxR3pnaGN3bElzUjd6RUpvSE94N09ZT3QrYlp4V1RqQmtsUGJGRk5kTUp3RTBpNkpWclRsUWNmb2JnaTJpRXNpNTd1cVJLMTRuVkNVa25zTnh6OEhXMkZpaXlaekdFN3QrQmhwNUpYMnNaOHRZbWoxUXRLd29pN1piS0lFd3lDb2hhNWE4L0F4WHp4ZVpjdVpmV1pxUzBlNDNyRXh2TlFNajkwZ01TOWlVYkpyOXhoamFLMHNtRHdidmg0R2szdXp3ZGE4YlRTR3IxNDJGUjBvMVFXSHZTaHFsNFRyOFRSTlhlakRGUUZIWEJJNzR5WEYzN055RjRVdHY5ZDYyRWdIekNOcWdMYXVxMEtCcTZvdzVCdkpXZHVzOTEvOENVWEdQZmlHWGtOMUpwdGRKYnlZNEZ1a1NNRmJ6RFNnNkRnTXMrSFlZWnZPN0d6eTRkZGROcldRa215WmtvUVFyRlhxK2pnbHJsZ0dvWlFDanJra1JuQ1oxTUFBV0NzTFVvd3RRblpCYUVRelVVNjJOVytiQmRsc3hXMURDSm1wTHJnTmk3SjJTU1NEUkd0KzFOb1JESEdYM0JBOCtLTVBYMndiS0xKN3IzY1I3em91VnBXSGRFVkZZVmtSb0F6TDdLOVR2WlJkWWorczZGbldvTDFRYUlpUTN0L1EzZzBhWEtpaldKeDczWVFCaHhJcDhoejRxdjExcWxyL3lkYitwcTREVzYvcmdnS2dodlRpbW5VMlBnemxJS29TN2pHWGJOTVI1RC8vTU1HRFMvQWVzeEN4Z3V3MWJXdStiYUtvM3NFNGhoQVNVMTJ3bTVVbDdaS0k1U1FWeFRESmM2MklTMkxoWGxWQ2xkODRObEJrNXk1ZXVOaDFrS2JZVU5JNENxTjdXWkZBWUp2V3NWK3R1WnJSZjFybC9QYW1xTmpWeVZwN1dZbkNIVkhlZUF2QmMzQTc0RHNPaTFlRTJkalQ5cG5wTGRmdzJzaXk0ZFRoMnFENEEzaVo2VTdvMHk1T2JpY2lkY3dsdCsyRzRKSlhTSXRaOXRuU2puTTJESXlYZTFzU2hzWWxWYWJrR2tJMGwrcUNwWk1xYUpmRUtrWU9WNUVoeUIxYXhDWGh0NnRTRHNBZEFibzJVTzFZOThrK3hFY0dCU2RLRjNRRitKTm14ZEN5KzR5SGdvY2ZBSGRWREVUNWxEbkVSS2wybnhCamtyWG1aWUVvL3NBWFNNa0dLLzd6SExzU3RQdk9pclhrNFkzSUtSVURPVytUK21mMndnN0htVXozbEZXM2F4SVd6dVpkTVpjY1dCN0VvK1M2Vjc4Y2dSTWZNLzZTemRKOG9MeURMNDlMZ3NNMWhFQ211aUJsMnpmdGtuZ1VSL1o5Y0FxNXA5aGpWbUpNYTVOOW0vNzV0R3NEeXE5Zy9QdlMrSmNtclZsS2o3bGhQZmF6MWdFeVB3Q21YOWFjb1JNcjY3RWZRNk5ZVU9VQ01HbDl1a2dyclJRajkyci9Zb3hVNEdBVE9WaHppU0Jub2F2MVpkVSt0VFcrQ0xNTFpvendSbEZuNWJYRnZmaXJqRTF4Rkk2NUpOS3dEY0s3Y0RpWHhERFQya0tRcGJuNU54dFlHWFlFM1RXRXJMUWs3b2Y2WTF4eWhTeVFtWmxsR0xEZE1vbTVudk1OR1FvOEd3U3F6amFSdGk0R0NCcUZmajZyQzNUYnhVLysySE9hQktDNXlWL291YUpSOEdZakdyR2VMNFdJaG5ML2NNWUtRNmNWV3RjbVFNL0Vab0tOZzMydTNpN2hPWVY1YmJYU3BpdGlqNG54NitxSTFycE02bHJkb25nRngxd1NYVjVTZkZnc1dyb0pnNHhBQ3dFUHRqUTM2OHVVV3BWY1F3angxREtSOW15U2NVbVkrNEttWWJTa1pmZnNRZFljSERCeHVTdWQwN09CeFM4S0V6bCtDT2FqTFV5WHliU0JaK0xFaWhnS2UzQm5FZjRRckxkMGJVVEVYVjBZZ0JzRmhBenBpdlpETlRXUE5EOEZGb2lmVTN3TTdxSTl0WGtXZk5zYi9Na0pPY21nWDhiaVc4aXJZTXRWTE9EejJWdzYvaGlVRGNWY0VySzVhSGw5QXkydHFrS0ZPMnplY2RtbzVueklkd3VHaG93UW5pRTRPZG1GUW9ienQ2KzhQS3ZsWnV6UXBBcFRJZldVaklHS1dHaDdWeUE5R3loV2ZYOEpMRkQ2YzFuRk5UQlpIdktheXdyTjgyNXJZYzVPUVUzRXdrM05nUVBWTFYzWUx0N1lhT2ZTVWRTSEJpVERua3BPZEFVQ1RKRUpTdEJSc0EzMUxsQ081ZzRlNXRCV0Zzd1k4eC85OFZBMmNhQm0yWUErY09IcEJ1a1dsU3JobUVzaW1USENKdGdmRi9INGR3TlNRaWlNMjZLTHA1cnpsL2V2RkF4ZE9keStJVUJQZHNGdFJKUmIyaVY1VHFQR0FLbmt1bVJmQ2N3WUpXbGF4WVFwTmRLZURSU3J1dk9QQ3J4ZEZVcnY4TEl0U1d6UTR4anNvdlJjRWZUR0JSNEVFU3IxMVNmeG9DdkNZNTA5TGpsdWVVcXpjV0RiOWgrTGhrQ2dKcVdOajVXR1VHK0hNTlQ0aGpHbmVkbU1DZjg4bitDemJmQ00vUFJxcmFuR1hJaVl0U2NmRVN2QnFFdWVNNE15MzNvOVFzWVNmdmhLeDhtWFp6QmRPdVlTVFRYUHNuTnluczJwL3ZpR1FMMWtGMHlUQk1wTngySHZKVW5wcVphNDNiUjNrR29GaU1DNkthQ2g5QVBmQms0ZC91bVZ2M0p3b2FMNXRNRWFtZTU4MmxFRDQxTkpzT21LNVR3OTRtZHR3VDF6RFVGL0VhM3djd3A2clJIdnBmZ0NibFUxb0ttS1NXMVZxditBU0R4MkRBZDJOTHFBa00rNSs2dURJalhCWVFXOXBvME5LTnJBVVpmVVJ5QlpmUTF5Kzl5RlRsZWRaTTFBMDFSejNxdml2R3JBbGd1RmZFTUFuK3lDNll5QitPTHhibFc4bDhsVFhTeVc2eExKTStQWEt3YnZMajhLVVZlaDFyZUJYZVVKTlBmN05pcGNla1FOQ2xKSmVKMjZNTnQxSkZjNExDSlhOY3dkRklNdnJ3R0RUMlJyUzFsYk9OKzlsci93K0xXbE9BUDN0bkdlQURXSWF1aHpDa1BHV0pvQ1RHbjB4M0U4dWphOWozU0VPK05rdmtFWWVmQW5PYWhGa1lXb1MyYnFsSHF5eng5SmlJUjJiYU9vR1hqTUlrWEtHOTFSS2dyVkhMaHR4bjhKUEpmVGFXUWJBdVJrRjVSd2ZhODk4SnM1Yk16dS90QWZDQnkrdGlDMkFaTXRGWGUrOENBOGtyRTdQL1MrVFYyTEFyUHMraUxLWDZiaHhyWUI1Y1lIUjRNdm8xazhSUUhoY0YxQWV5bzNLUEI2bzJMcXdFMVhUUWxIY0NZV1RQQWM0VXY3aTBnM3J5M1cva3ZQczRJZGJYRGx5NjQ5NHp4bExDNSt3Wm8vQmJXaEpsZFJwQ3Q3R3orRm0ydStncWViSDhoZTNyZXpDdVJSM25HMTNWN2NKU2R6UHZuclgyVGlJUm4rb2NyaXArVUpXT2d4aXlVWkEvT2NoUkFGcWptZlFIaGxwdDVWS1NYbmNBd0JUTElMUWpEOWcvVk1Ydktwd1N6MkFWOTcyWDhnYmt0YnJTa0dmd2RXQ0xxWGYwWGxVY3R0SEJ1UUJ2bkhUajlDeWpId0c0Vk1yRCtGYTByZXBzNHRkR1VFK280dU9JdkZsOWtCLzlaZ2xqM0c5blAzWTIwVEtyYVQyZ1E4SFkyaGhOR0E1RU5mR3VsOEVZWW1DM001dTEwTU5jYjlmT0U2dWxxR3lMNU1TZ0V3N3BKODE3ZC9uckUzN0lxcTIyeWYvYmlBZ285WkxQRVkwYXNXUWhTbzVrQkEvTzA1K3p2QzV4Z0NsR1FYU08wQ3JMT0x0Ny95MGx0dXZaaExsOHdtbXNJSHIyMUszcldEMjIrOWRPblc4N2xsZFNxb3h3N09zK3VLbjFNY0d4aG12QjVaOGpLYTRkRlFiWTEvMHhpSDZuYldzTVoyTllzRXpwRDBES2hKcS9pVnUvWi9TL0I5TWIrekFFejFtZmpLT0hHeFkzaXJRZE9CNk5JaXVTMmtyTkRpM0Fmekg5cmxvbWNmUHZpRUFIaEJYdjNVbEVpNFpEYjVudWIrVzM5QlNxdDkvT0xiQ2pENG1FVTFLdTdZZDYxYUNGR3dOQWNHeXIvT0dsTEhFR0JKZHNGdnhjZlUzM25Yd1cyLzRlUExNVis1NitDbmRpblpzWUVtWVVFLzJOS2xKRERaRjE5K3Y4Tm1YUEhQandiTVh2SEtwNDh0S211a1ZrYUhQMTJjM045eW1iQVNyVlBjYWJwYm93UVh4aks0Nk9Mc2Nzb2xiVzVkNG1lejlIbVhKbWdBNXkxYnVxQ0JwT2F1SWZoS251aUNGajVXd0xXQmJteWgvR1UwelVPQit1TjNIZHo5aHhRVGhxMXpQN0QwUWxNOFZMVk5FNkVRd3lodzlxRXBYKy9vaGlEU3dvU1ZEWVVZaitpU3djY3NsdnlGb0NzbE5YY05nVzJiOWR6QWF1TkdGbHdiNkhMNzgzY0FBQVJDU1VSQlZMYW5yM2MwUEVvZ1p4dVd1RVlvRWJJNFpLSHBKd0VodHVQaDdFTlRzUWVvSnZCVUlBbXdheDdOSllPUFdXekJnMkNTalpobnM3a2wxeEI0bitRNWwrZTdVblp0TUc0bGNEaXhnMjMxcG02bjZqOG0xeWRYdXVZNEFIRm9Pa2RlNkt6Nmora0hxZDFOdG0wOWY2eXFmUEF4aTExNXFKNi8ydWlFNXA0aGNQSzBiRXY0THBVOEc0eFpqK0xmTXZEVlNGNVZYVzJxYWxhbkJCL3B2c2EzTS96SnY3cXEycWxidXFOVWtsYlVwbFFoS3QwYjBDY1JOcnJoSkR1aHVXY0l2QUxScWFUU3VKazhHNHk1d1FaUFdPWnB3T2hXVzVBYnpvSS9GajJ4MmwzQitkeVNFVDVWYlRXcmlTYzdwbG9BT3ZQbUFES0pDajVtVWJYcXYvTUdnTTF3TnA3UTNETkVoUzZvZHNkNjkyMHcxdWI0TDA2UnNFdy9RMXFwNkd1OWFwNUxCQjhCeExucUxwNGZiWm1xRlExMXRwcm5Hcm1IZ2J6SExLcnlDcDlCMktCMkZJTGVFNXA3aGhockY2aGlDZGkzUWFMQ2NjbmltVFpmamZSVmJTaHFWYmUrV3U1UkFQRmtXRHo1MTdXclRZVkdPRkpwS2NjQkVEWld3L1Z6L2lZVG52U0VxWEhOUFVPTXN3dGhCY1BZZ0EzQ2pLUEN0bmtPM2QraTRwclhhS2tFUGh0T21FcTRqNG9XVDRobWFBekhQblMxZ3JUZUdJLzAvTWNzVWlIRUU3amtESHMyckdCY2M4OFE0K3hDV01Fd05tQ0RNT09vc0h0SUNlMmZVZUVKU1NjdGZSQTZEazVYT3lUSFBFOEoyOHUwMW1TVmJWV2RXVzVNNng4ZjloK3pTSms0d01OOFdlQ1RQSFRGTlhjTk1kWXVoTlFyd3dWc1VNWTZHdndNNW5VWHJ5NlFxOUxidC9SbmphVHVxTUgrUVRhRjl6N28xYTN3aXBIMXMwWmFlUlN3OTVoRkNlVXV1WWtuMDdzSzRkeWptcnVHR0dzWEhNWGl4WUFONGhXT1NhMDFuK3cvYWRzOGE2YWZHc3pxL3pWMXpQWVQxVzloZDh2WEhUVGpxUXBQamJhdDM2M3BxcU1Cdk1jc1NpeFdkSnlnNXFVQk9xcTVhNGl4ZGtGcFhPa2VzRUdsZWtkbW1uajR6aDJuOHFCMG5tdkdScFhGWFhNZkEvajVpMy92MUs2bk45TzFLb3U3STdaNk1TODcvcXJ4L3pBOFZaN3J4alczRFRIZUxsVHZMT2YwYlhDNCtpUGdubVAyU2g0UTJSZHZoZ1lJTndBMWRGWnl2OGtaK3Q2eVR6NGV4bi9Nb3VVTnIrL1d1c2greTY2MDVycm1XTHVnVzdsNWdIYnF3Y1pVaGNWemJOMmRLTnMvNkJhNzZjeEQ4eDRhOEIremFCRjRnN05wdjdta1NRSklhNjc1eDlvRjNjck5BNXd0WDN5S1RyUWpvV0Q4M2V3bFRxa215bGJXa2FqbVBXWWhVbWNmMm44L0tYcGdTbk5kWWJ4ZDBNM2NSRURQZm9mUzFYd3U1Ykp1aGRHV3o4WWlFWm9hSmx6MmVOcDRqMWtPSVM2bHVSWTEzaTdvWm00aVlDSis2cmczem9XeHdqQzFTemUxdlBMOGVMTUs3ekZMQllVMVMxeHp6VGJtTHVoMmJpWmdHSHRWcnpiTzNVT1ZVWnFMSGdrMHhydjE4aDZ6Vk5GWThjUTFWMXpabUx1ZzI3bVpnSG9zSmFwOStMdmRsVWMzSXhxOE9FYU0xS3RJY2grelZLd20yYUthYTFGajdvSnU1d1I0WG95QSs1amxlZEdwazA3Y3pDUGdQbWE1bWZ0eW92dnpZd1RzeHl6UGp6N2QrRjc4UHdhZ28wQ25tMkRSQUFBQUFFbEZUa1N1UW1DQyIKfQo="/>
    </extobj>
    <extobj name="334E55B0-647D-440b-865C-3EC943EB4CBC-51">
      <extobjdata type="334E55B0-647D-440b-865C-3EC943EB4CBC" data="ewoJIkltZ1NldHRpbmdKc29uIiA6ICJ7XCJkcGlcIjpcIjYwMFwiLFwiZm9ybWF0XCI6XCJQTkdcIixcInRyYW5zcGFyZW50XCI6dHJ1ZSxcImF1dG9cIjpmYWxzZX0iLAoJIkxhdGV4IiA6ICJYRnNnVmw5cEtIZ3BJRnhzWldaMFlYSnliM2NnVmw5cEtIZ3BJQ3NnWEdGc2NHaGhYMmxlTFNCbUtGeGtaV3gwWVY5cEtTQmNjWFZoWkNCY2RHVjRkSHRtYjNJZ2ZTQmNaR1ZzZEdGZmFTQThJREFnSUZ4ZCIsCgkiTGF0ZXhJbWdCYXNlNjQiIDogImlWQk9SdzBLR2dvQUFBQU5TVWhFVWdBQUJTUUFBQUJXQkFNQUFBQWtrNFVqQUFBQU1GQk1WRVgvLy84QUFBQUFBQUFBQUFBQUFBQUFBQUFBQUFBQUFBQUFBQUFBQUFBQUFBQUFBQUFBQUFBQUFBQUFBQUFBQUFBdjNhQjdBQUFBRDNSU1RsTUFFTjN2elhaRW1hdUp1eUptVkRMOFpwcFdBQUFBQ1hCSVdYTUFBQTdFQUFBT3hBR1ZLdzRiQUFBZ0FFbEVRVlI0QWUxZGZZeGtXVlYvMWQvZjNaa1IyVFZycXBnQklZaldzTDFJNU1QWHdQZ1IxTlNBZjZpWVdCV1dyQWFEUFNwbVJLSlZ5Q1ltZ3RaQVNBZ1NVeTBiWEZhUjZpd29rRWlxY2ZtRDRCODFzdnhCeE5pbEdFUDJueDY2QjVpZDNlWDZ1L2ZkajNNLzNuMnZ1L3BqL3VCbE11L2NjODg1OTl4enp6MzMzUHZlcTA2U1ExN0xQeFpoV0h4TnBQSlVxcjdhaWpUejZaMUk1VmxYUlEycmxUdDdDMnRWN2hxZy9lcVlLdld0V08zSjE4MGViRWNhbWJnVHFUenJxcmhodFhabmJXR3R5RjBEekxGUlRKZHp0OVppMVNkZTEvMStySWxLL1hXeDZqT3RLekNzMXUyc0xhd1Z1V3VBL25lanFpeW1MNGpXbjNEbEFtdEZXL2owL3RuT21JaHlqbUVydjNhUnZlcHZSajdER1ZzNFNaNzNaK25CWS8vbEszWldtQ20yRTI5Njcwd0h2ZkZzWExzVmRxWXpSaXQzMzhmMlAyNVBEdGV3UFNhdVQ5cFVYTUI0Rmw1OFMzMy8vVnFQSXdEem1XSjN2bmdFM3BJczU5ajlMN3g4K2ZLRml5bTdvbG1hYlAzQzVjc1gwKzlvakFTNlQ3c1lwN3pNTmh6TVdNVksvUUNLWEg3OWhYVm1kSmxtQjlENTlldEU0YXlST1hhOW9MWGRXd1VFcDFJOXpkaEZabHZTTWV3VWUra2pZdXo5ekgwc0M4LzAyY0ZGOW9veGV0blkvL3VVYXhaTjJzZVFEOVpOMFhQeDMxVXRxUzZSdHpVbUErYlpsb1B4aWoyWHg2TTRER0xHYVBjOXpUZWhrQjJOeW9CZTRmWmxucms4am9oVEtmYXgxdHlYVWsxY3czWi9NVW0reGJzWkNQdmpXTGpOdnJPMlVpK2N1ZmxXbUx1MW5heDB1V1k3K1VSajFreC8rR0hlQUdPZitFT3pTUHhXUTZEZStHNUgrQ1l6TkU2VktrNTRzVXZWSE9uKzYzK1VxWExuejkraytXZmVLYlM3OWVpMlJnbGdobjNiUmdSS2RSTnNBN1duZzFwZzJJUjlqZEdzM0RIc3lqN1g1SzNvSmlXUzJvMWg0WE1NZVZXVnNXZU8zTkc5R2xobmVNaHFIVmxHZ1BHK1A2NC84UEdScVRpUEJ2WmJwZ3lvZ29tdzc2VUxsVFF3YVMyK0pGbms5ajdPcTVKQ1BlY3c5QjZnWHViTmp2TWxadTRnZm1Kd25Jcm55bW9qVkNNbEk4dUphOWk1ek01UHNGQWFkSFFMVityczVVblNaQ1FKeWxVeXA2Szd3eXVXVW5hc0dkQlQ4RGI4RTdLNS9BU3BqVGR2VmxrZzJrMkZMQ1JFa1ArYVlvWVR4TGdnVE1pY2VKZ0VyZG9vWWFacFZodFhuM0g1VnhpN3dmTWxrbVc0aHAzTXBuWGxnNjhNTlhaa0M4K0syTlptVGg0YmFpTVBsNDVFemIwWHIrWlJIQUYvRHc5L2xhK3hXNWx3U09BSjIwMUgwbFJveVJoNnJ1Rnc4ZUxrR0psS1FGeVc3Ym9WamNDNnNlVE5LNWVMbDFON1d4RWlPV0hjRkVQNjA3Zjh3alhzYW1DOU5sb2QyY0o3WWhvTWd4bXFFUitGQW5hUDBwZXBYSlE3NnlkTjVyd0lsM1N6c0ZYTVpQZXFNTFBGY090TWVlbTRWKzRCMUZzejhnWEVubk1RS0ZaWm1aazdQTG1WKzZ0UTFMbCszRmN6MldOWVIrbzBUZlFNVzQzT215TmJ1Qy9NaHQxaExhQldLVlRsdU9NTmIvV2JjalNWYTNJYzdPZ21nTTNBTm1ET2Mxek83RjMxRXV1bnh4UkJyRUs5a1YwL0hjZ3FrcTdudURaVFZwb29rM3lFR0l0eFhjY2ZVUXhZRVhwaVpvTzJveVY2aGwwOTBIVWg0SWdXcm1TTFllVzlMM0ZuZUtpUk1JNWRDdVBId0dLemNDVmozek9SSm1VR3ppb3I2WWJmeUY2cE1KVHNCZ0tzTDZ3OFpoSkRlOE1tUHgvdytwVlNNVHhaZHJ0cVMrYWxKZmVnd1NjSllwNjY0RjN2Q1JBS1k1K2oybnFHTGRoVUg5SEN5Mno4NlhnQ0p4WlRlcXVFVGMxSUdxemhUZWZaVU5iWUx4V0drb2xqbmtuSXZkUTBVZ1BjRHB4aUxKU0w0VWs5SG9IUXhCN1plS2dXaisrT3pKMXIvdzRTcVR6REx2Q2RjZjUxUkF0anhEdjVRc3ZWOUErSTN1VllpcWlhWnR1UzZqbURWY1RKRXZjQ0swN0pNSVFOZklDNVNLOUkvUnhjOHFwVnYrSzZLSy8xUW8zRllnck5FTE9wQnJSNzNHY0dsblFjLzl5MEVJbHYyUG40bnZpSUZzYUcyN2FqclVhcFV1LzRrOG5VcExaTnZZVDFyQk1KcmxxOTVpc29Ubmg5dEllcHNNSTQ1UEhFRVB5cDZwWkZNQkh5bWI0TytoYXRWNmdXQnZIaDhlcnZhSUNndjJXamZNTml3N2x0MDFpbEkxcDRnWTN2VHdNUjRpMXR4aXhnZUs4b0VRUHRPa01jVXlxc3VFK0hocmRxdk5raTlncGROL1h6S0E2RldJSkwxaXlPcHJzWlEyM0Y2WUxGUUF0emVpWlNMSVZQMWlWWFBjY0lHTGJ1OUppcUIvaG9Gb1pMNnNGM0JKWXVUcFExYzFEaXlydDhOTFlLSTRYRllVQXJnemN4NkFvcjdnTm5IUmZJWnRrNXRxa3pBa3ZvVVF2ZXNlbGlhUDJaanE5MXB2RVpuVTBibkEyZHJFc092TTFhd0xDOWVHK09adUhqY0VuRXRPdTJ0UTVSd2tzZi9weUE4MmtSU0MwNldRRldzbmN1L1ZCMlhZOHVKbHBza3F3V0JQZmZKYlFsUU8vWWRDR1VZazhVTkdvYWlpK0tvRHRabDhTU3RHMlU0VkRBc0ZVZExteFNXU3F5Y0pBcE9RNlh4RUZTOUJnLzNIS0dYVzU0c3hFVlhSSWlzQUc3bWRHdXdpVkhHU2orWHc2dHZDdUVsZEFHd0lYNEZKOExUSldBRklPQ2R0Wkt2ZnVjcWRQUVh1blEzQythNXlmcmttMFNGWVQySWNNaVhJU2lndXB0Z1lVVm1YTS9EcGRNMml3VUVKeVdnc1dsT21PdjhXdm93MzRjVXoyYlViZ25mK2REcHlDemNVY2piUzNGODQzUWd5SEM3WU9wZld4YVNiZDhHcGlxN0lJeWpPZHBKeDBsRys3VURoa1dLMFBnNkZWM3U4RENtczRHanNVbEI2ejAzTGRibjhZd0Jqd1NYbWl5UkR6K3Y1MXh1U2QvN2NDeEg1YmpzaEViOWh6WjZsZ2w1MFVzcXk1WVFMeW54MHJCTTFNOGdXb0ZtWDNrd0k2NVBzSEpSa2s2QktMdG9HRzcwUU9iQWd2N1hSS1lZM0ZKSE1rWkY4cHBLSVMrbHpIMkU0RUtKS2ZtNlNuU0FubmE0Wno4QlkvOThPNktYT1lEY2gxVVBibzB0KzNkdmNNYktHSjRxQlZDWjZiODFaRUFaeEExWVRsNGdPUkVYUktCUUs1TnF1V2dZUkdNUXVtSjRvbGJXRkU1OTJOeFNaN1ozM0FFbHloK0Ztdy9GNkpET0NUeEJsUnJnc281K1FzZSt5Vzk4Z0c3NjU2OFdiclVxWDlaTlRtRm5uMXNHam96eGZ1SHNZWE9FanhIWHd1emFtVGhSRjBTUjFwV1lweUVEUXYzaWVWc2NRdUhPZ1hjc2Jna2Y0Y3BsdWFHMi80Y2ZPMVR3YXBWYSs2QnJDWEluSk8vWm5DRmJuakoydWMvdHY5SndmLzUrdjVmMHZhR3NZQTY0dzRKNVF6Q1ErdllkRHE0UWsrUjhKOEpXZnpyK2t0M09MajRRZllTT3EvUjI0d2k3Lzh5TG9rdkNBOWU0cjNqbkNlUjRMRnhjVlliMzdBZ1I0b1ZDd0ZSQzVQV0xOQjF5ZnNlcmovdzJFaVJWUDc1UDMvMUw5NVFTNUtWMzE5L0xBdFZxc3E2NzhiVFhJdFdGWjVDYjk2bkN2WjlZRzNoVTNYR1pKLzhMYXF6SVp2WGk5ZG9KeFZCZDU0ZFpJQmkySXQ1M1Z6UjdrSkowZmROZEVnWGtvRk1nQTJHUTZ2dU9yZUNENSt5bytFZVc3Zk9pTEYwam14bXAxVENKWmNSS3k3bW10bVJwNHZ6c0xpOFNFejNEQXY2K3hxZ0l3dWFGaUdCcUlWZFlsSG1ScFRYS0NQNGtuaVYrK0FEa3B4bmJ3eGpVK25EWHErVlNPOVdBWmRsVFk4aWdIZ2JXTjRkd0hNVTlDS3JSbDBkVFBMODROdWFKWGpzeDVPMWtTYmh3Qko3MlhhbHpaZm8vbXZXa3JmVDQrdFZOMTJpakFPMlE0c2w0QUhVTTlNMmVHYUtucEdPY1puRC9YOUxucytYNklXREx5WXpmWm9zc0FJTmlsMXlPV1d2MkU2ZVZ5VEk3WnYramcwZDBuV2VZVkh6Zk1iNlZxYzF0UVNpRm5hSlJkbHp5YmV5VzNpVis3ZTFmeW1YL09hdGYwYzRIUVdGSkJqd08xRE1PRXVZek1ieTkwaVY0OXMxS0EydEx4cmdrbHNaQ1hqTWlPNDY2WGRHZ253ekE5VC9iVTQyelc0bmMzekdmNGtJd0x0QXdVaVdjWFlQL1FSNUZlcU5NbWErb3Uwb2tONTd6bkk0SzhpYUNQamREVXlmaGhIQWo2WTdsTldEQzExeXNaK0ZrYy9FK3VtSnhldjdINzUycmN2WW85ZXVYZnROWGUwWlZueDU4aWJ1SVIxTjVBSlJDN3ZFb3Z6WmE5ZitnTEZYb3VsclluclBzZjBScjhCSEJ1S2VMSC80dldpeVZrbXZJTHZOU3hxYStNSVJQWWdNTDVkcFgwOGdMYjVpbzBpcDZicGtMYXRNYVk2WmJoQU9EUzQ0aDQzejJZZThLYnZSQXoweXBLYzFhVEtudHZJR3BhRVZkNFhWTmJuQUpFeDFROVZPa2lWUDRYRHZzeG9wWWMvd2FsNmNaTS9OYy9xMlNsRUVUYmZneFl0Q2x4eXlPMkpZSzZsY0c2WTZRbkNaL3piSjlCTDBybUdSL05iWmUvQlpuVFZXanVpWWhSMVNVMFR3MjFLbFNrTTUvTkFjN2owSWwxeDRUcnp5ZmxNUld2ZkgyZTIxWkFETnRpMTByRkQ1RmVzN0w0OFVRL09NUWRhWkdwc0c4YWp3c1I5R0Y0c2d1WVppekRIWVA4bjEyN1ZtRGh5VVVOcmdFZDdxbm9JTnJpc3BiZElCaGNNOU5kYm0yS1Zzd3N5eS9UM1E4NzFDaDZPenErMUVWSVZYOXlLWFJGenJaTFM3Y243dGJTamV3bnZUdFkxcjJDUjVVT1E5YlRJbW50U1loVDFpaGFBdUNlZVNhQmhuUjRMb1dHMElTNmM1Uy9OTXlrblJ0aGtPeVpsN3EvU3dHN3FSVzgyZkoxS1hoQ1BleklpQlZ4b21leVRjRVZHcjF0a2dKbkZMVkRiWkFVL1QrcGI5OEtoeW03QmFZRHU0WWJaSTNBSmR3MVp5ck9HY0xBK3lRd01va2w0VnB4K1VyVW1ONERhR2NwRkx0cld4a0J5dWNRRzk2d0V4WVZUWFdXMndNYU41THBod0l0RENiYUNQalFPQ1loWU9rR2NvNnBMa1ZhT2VEcFB3emhmd1EyTzRReTBrSlF1b1BINWZDbFVIY0l0dGVHUXJVS0ZSOEJ3U1pCcmFKYmtySzZKR1RVSFdmV0J2QUtlazR3NHppYW0xbFVmWFdoYXpLU3k3QTJDcWNpRk1YcDNiVElYUDJXR21LNVMva2ZrSVA5M2E1dXUzcGRDdUhnUEtZdUFDbDhRTTJaREU4QXpSYkwxbHVBdWd1dlpuU2VnWWxxODR6L0lxT0ZDdUZYbmNiMG4rOGpmaWt1Z0Q3SkpkRS9vRUZEdXRGMkhkNXJPaEpTdnBUY1ZUZUZId21KRFNaakQvWFl3N0l4OVBNQkJtdTZUY09zR3gxS1lqZk96SE4rdkNVRXJZOEZJR05iUDhCSUk3cWdvblcyWXRNTWdNT3NwclZkeXhaSE5KTTJ3TUdIT0hOTFVrZXdPWDRla0d4a0l2QWlqdTJWMGhmQmxZNEpJOU01eVlDVnl4RldVOFQ1U0h3Q016NTJ6SE1Tdy8ydWh3TmhpUm5tTFlraUlXdGdscGliZ2tzbUZkQS9OdVpBVkl2Y0Q3cy9qT3Y5SzFCTmlVVnR5em42WVJDZ2VjZ1Z2YzNuYVFUaEVrWlAvZTBLVk5kRitTVnVuZ0VYYVNCWE5zdXBQVnRiTUo5YmdWL0RCUzE3TnE5MzkwdWtCRmx3TmxESkxLTUNyVTh3bXBYT3dVWmxKT0g2UTkzSVd4WDdpcXFuQWZzSEJ1b2tqaUxnbHR6T1JNR1k4cTg4N1Nxd1FGN3VCMkpwVmpXR2duRjRKVXU0b3ZKOS9DUHEzR0dKZkV4T0I2eTBzWCtDeklHVGlRb3MyYTRNQ2lvOWRVS1NKNDR5K2pmVzh0V0dXUXhnazV6cFFHMEVXNlN2allEK2tTKzc2Umt5eXJ1TkNYdnZ3T3laN1JXREdUc0dGUm9sSm9UUVNHTFZSd0Q1K1p3aWtZR3hFSnU1ZXlBZ2JoSm9kbXZrRXFrYjNsVER0SkZIZEoyRXBLQjNsZlRNVkp4OHRvWXc2TXVFMkNBcSswRGN0SFJacW9yU2VpSTRNWGN5MGNvRlVvNDVJd2w3QkxWcVBUVys2U0kwWHQzYkhMekNyNS9zYXI5Ukg4WmJTZlh2UHhOc1k0SWNlajlFeFd2NHBHV2dLMGovMys5NDRXMlZhMGdteEJ4Wm53aE1tYjN6QkYxb3dRVXZvL2FDY0hmZGNFS0N4dGpiOVZJbUNsYlFYajNyK2VGZEN2RFlLVzRHckJKSSs3Skt5Mm8yWDJSTUt6ZVVramlnQWtjUTZ4YlZqK2F6aWRUTWd1OFJ2UzFhd3kyTEdDeG8xTFZpMzJwdW9SWEZLRm1vQ29wcHJKeUNtTlN4SVhzWG1tVTFibVZ3T05FM0oybE9TTVJTaVdkcmFPL1JDZU9xcWRycUlWaUZYcHk2QndVaU5SYmZWWVNVRG9ieWpYTXJneUVEb25YVEhkSVBRRFphTUVKNkhrK1E1aWlQVFBnYlByeVpqSGNrbXN2R1RZbW1JcTlLOFFyZUxnUkpaN0V5TGJzSHhySVpYSGZOSUJsWFExWTgyeE1KSHJnOFlsaDFhYXVxZUV3U1ZOaXVueVk2amxvUE9mb2xpVDFkUkZMQTcrTXRyTExFeTQwRGRpUWREUWZUWW5mejNWTEJlQTJMUEY3L3l5TFRkN1BjTml3b1FXTFpWMVpFVDZmOFFVYVc2TktnVkEwU3dxejZ2aEVteDR1S1hZSFpkOGw4VHZCcVB5cXNyV0ZMZHpqMFpKK0JTWmhLS0JSVDFBanFCQWNkWEwxbXpESWhWUVdRWGloQjRNMHRWTWFJNkZBeTBhbEhGSitNR093VmVWSDhBbDg3TmljSGNrVDZxbmplVWlSbUtTOEpmUmZwa2k4bUNvb250SlhSSWptclZuSC90Qml4MGxxbSttckVMaERxZTlTWW9LVE4zVmlWZFVlZ2gyRDBXdjMxRUM3SHNYR3plQnNjOU0reXAyaWoyMW1yZVV0VTFXR0lPZnBIRXVRMWYraitqVlBpQ0ZoNXhKTkxSTXVNbWZLODNtajZOcFZFSjc1RUZVaHJJTmk2aWpzbTNFQ1IwbFNWY3pycUNGdmRac2hIRkpEUGVPcVZ0Vit4dTRKRTJNREFXSEJrem5tUTBUSmFtTEVIcithNHQvUjhyNVlOK3laMTM3a3o3NW15S0xFdC9xR21NM2dyNkhtTEVSYUM1b3NCN1VMTHBlSGhER2R3QXkrMnRjb3ZXYlpoK040YU0xQ3E0SHM4YUFTNTdQVjR6RVJDNFdScXNwOGVJOWxwMWtRS2E1cVFwRFF4TmdKSUZ0V0FTSG1xekFhT3ZwVHJxYTFRWXRMQm56YnRvbCtSSEdEVU9GY0p6TmVMZ2syWWdiQWdIcFRaQjRNS0lxcVlzb0hPNHBZOEZ6SkVJaXdXNk9TK3FUdjZHOURIL0JoQWpiY2twMDFWdUhSRTNkR0ZOUmluTzIvSUdYTlNwQ2FDNEJZQnpGVkZteU4wZUwzOUJrWVpmRVdjZlRtc1FBbUVlbWtFR2IrWnJwNUVCUUlvclJjNUk5bnF4MnI3cmk4c3R0cjIzYnNGV1QvZElWaUhRMWt4MnljSDZyV1kxMlNUN2NMVU1OZTJTSE9uQkplL3dORGI2VE53a0w3UVJ4RVVNTjRuM2k4NmJDaHlDTERIcGRUMFBvSXB3bzc5Z1BrbXpMS2RHN1Z0OFVGcFBra29ZMThCUWFLYmdPT3BxYUFoaDQ0VVJWbFdiUlNnR0hYVEluMHcxRXliazBWelA3QjRDeElkYnJGMXFHWnRkWHJBVFhVODFHZUIrRE9ZWWRtaWdLbHd4WVVZb0xXdGh1eWl0cGwrU0xZc3RVd3lXem85Q1lTOEtOOVdMUTlqTWZJMDFBNk1iK2pvTUxGNXV1UzlZeU9uaTFhSEF1UDFHM1V4NGx2dTFOZWxHVDZ0VkhFZkw3dDJMckFpVjA0U3JVMndheXEzTXJsd0xXWG5OeHVabnU1QmpiR3d3ZnpXMjRTK29ETVY4QkgrTnZJR3pEa3VVUmEvaVdMMEJpd2hiT0pSY1YyaVhoN0hSZW9VL1pzZ0dYSkJITEZrWXlDbXgxN2FYRHB1UWwvdjVQNUkwMHdnRG5KVzNXVFNJSXBYakkzc3pQYnJzbTF5WUN3OGthb21TTkVHbndmOHlxcEhGbGdGV28xK0twN1U0ZU5Rd1djRW5ZZWlQQU1ZNUxWdTF6a2dGY2NsZ0x0SkdEd3Jydm10ZzJiR3JTZDBUKzZ6bGllTEoyaUZhbEZPMlNzTmFoWFJJSjUxV2xUU09ZRDZuYTdQNEVmUElETmlwWTJyU1NoVlJ1czBFSzcrU21zbzc5YkFtMjVXUmRUcktHZzZzTm0xdVdtc2Jnd2ZvY0pKL0dPM2g3SXY4eFZ0Z2xxK0ZCSGVkY2NvK2tWTkIyd05oSCtXd3BleUdWSURGQmNGbUdoY3ZxRFFhY29KVXJOOC9DdVF5bzBDN0pveVFSallheXlCK0xrdWpwRFNVOHpVODVGVW1TOEhmSmY4OFU4eUFZVlBkWS9QaXVtb1o5c1JHWXAzUEhrZEUycVlTcHlVblc0SkpiaG9oQU02bVphZ1JkQk1LV1BHRDAzTkUwZkREeXRpa3BhTmV5dk1MaWdXSjgzWW1kUzBJazNRRU1HUHZRYlMwWVFPN0RqSXpJZnBJbmNKWmhaMGpHVmcxR2Z0bFlub1ZsZGZDbVhaSW54TnEvK0hkTEpwZk1OZkdtc1RBQ1VXNEdSUnArRzFySitRYU1VS0Z4SGd6bFJSUnJpM09BUVdoL0tvbDcxbEJJSkR3aHBCeDA3a2dLNS9aNGlaRHZzS0RJWjNVSGovM1ZCUElwd2s4cTBhczFuemFwTXN1TFBJcVlTemIxbGxDd1ZmRkNabzBJUUpUcmtLSUh3aXRxRHRJeUxEWVJOMVg5WmlUbHpiZXc0ZzdjdFV2eUhiZnRrdGtjalVYSm9kazFZTjdVQXVJOTFGTm9wdkFvQ09tSk9XWkR0M1JvYVlwekFQdll6MjVpbDhaWFZZVVZ0YVpnY3NmQTVIaFBwVTVYRE1JU0JmbXMza2pzTTFPYkFlR2EyRmpWMWNPRE9zNmJRRzI3eDFWb05sTE40WTdKczBXS0hvZzFzdU1nTGNPaXB6VlYzeU5qcFhEcW5tOWhSUkc0YTVlRTY5RzBISUVxTzMrT3VXVFQyQkx6LzBwQXZJL2lYMjhYSFpoRG1BbUVYREVsWnBlbkUwdjJzTDU5L1dkVk5lN0Jsd3lyT3VkZDZoQmFUS01kVXFUZ09mWU1MWmFENFhBNER4bVNuQU43blVjZUlIWkJYM1k4V1poejZxai95N1RTZlVPUjFuRTRGaVY3ZGhJSEF4aURnaFdqdnNORjVGMmdKMW9MS3N1d2NNa3R4ZHRYSzVEZFZWRWRzYkJpOSsvYUpaUFVpaGtEbFl6RVhWSm5PNUN6bGttM1hjUnZzY1JqUll5dFdiTlEwUHVGUFFiM3RIK2Q2a2ZZWlViK1JrYlZ0bjNXL0s0T1R0V2JSQ0ZJYnBFaUJSZk5aS1BvT013bnowMzcxNmtxL1Z1Ti9XM05CdSs3cmdzS2dCclNpeXQ2N3ZHNjNWQU9vcGh3ajdsazB3NXpDREExd29sREFUVUpLTmJBbTc1bExNTmlTZTBvYXVYOFRsZEZkY1RDaXQyL0c1ZHNFODhYSDA1ZEV0UXhseHdhejlIYlE4ZEYvQmFUZTlPaWx5OHdjdG9MK1d0UWVoV3ZNaXppMXJGZnBkNUo2Si9iOGo0UjRRcTA5WHhwYmhDRklObDRDOEZ6Y0Jqd0hZZkVLMEp0OW94OVpucnVkbUw5U1MwZHJna3pWbEdaNlU2YlhxTytXUkNwWXk0NXRCdUNTMTRsTFNaSjhHR0dvV2hxZzJtY1pWaTRXa2ZXQUx3aFFMZXJIQm16c09UM2I4WWxNVE15SnhSRVBkVm96Q1YzalV1cVZNTjFFYjlGS0pvV3ZhTFdJQWU5R0RHOWlNSzA3Q0ZyVGVFSHdHMnlrazhRWjhaUjZFT2lmWk9zMWE4UWhTQ1psR3pRK3hzdmRuVzRCTzIrdTZubkQ2ZkJHNUd6S2dieWNoM0pwcmwrdU1WaGsrbE9XTHh0czRVd0xBU0t1ZVRBOWtIWTdUcmhMQVM3eFA2UzJESXMyUjdwajJuZHJuSyttSVZ6bFRBdWlUMEYyWlkyVkFTSnVlVEF1S1Q2UU5sMWtXRERoUy95TnNrc3hZaHRLQ21BMlp1dEw2MzRBVEQ5Y2RBRnk1Zzk5ak5nUlJka2dqRmovYWFTdHFZU1QrN2VYOElpZGJsZ0hRRzlYaVBWUzlEVit0M1BQcDMyK0VXWUVZajM5UEswK1hMQ2kyN1ZhTkdEWXk2Si9ja1dZVGlzUzlhVndZd00yN0NwSHBPcW5IRmVWemxyek1KR3RBTVpsMFFxYWlZcHBvSE1ObUl1T2FsREV0YXNMSHk3THVJMEo0dmljNGZ0Y0IzSFZwVTR3RERuRHNmeEM5bzZoN2gxU0VuSnFvU2xZaTJqeGYvWUp2R2xFSE5WZG1iSzlCRDRTWVhXREFUbzVTL3FoTW9HKzF5OUVjRk5JTDViclRUcHRPOWxrNjJ0STFyakN1RzF1a1h4Q282NUpMcGNVM1JZTEJxNkNZT01RYzV1aUpOYWhzWENkRlB5dDZWemVsM2w5VmJmSlVQaHpiZ2tacVY1TElyQmxDRXo1cEltTHM4cTUzUmRKRWVCZ28vQ0lMaWpPRGVKa3dGdkczY0o0US9UWjBjUjg0ZzQwb1VCcUZGQXlKQ3V5Q2VNdWRRRU54Z0NyUkkvSitnbzJFWjcxcjVodU1XZm5KQXpWdnE3VGRCYkRHeXF0cmM4MEpoTHozS0RzcUdZUzBLMjhoa3dmUk10ZFd6bWFBbEdwQWZ0Z3RZeUxEcjEvVXdDdEJ3SnlPc3F4MFl0TE5nQy84RWxOeVFhTCtQdEtJcUJEbE1oOVJRVk9qN0s0S3BVMFhNUlJlcmU0NS9PVW90MmxUOUJCS1lxbVRkQVREd25ZdUcyRVU4NndYOWJpSTl5TTVXT29uNW9RRkx2bVNUVjhDdG9saTZ4Q2xsd2IwSzlTNVNtZmlOSmVyU1ZWZUtmL0NTNGhqNGRxRmsyc1B3QWhpZmRvbElsSEhOSnhCY2piSnA5SkJ2bDl3ZWtoRkRRak9Sd2tvSWFGbDlzeUtrM3F6cmtkWld6UlMwY2FwbmprRUZ1eURyWVFPOGp6Qk5yck9lbWM1SlMzN29xbExTbE4vc3VvbWtkWUxHTlZiWGxJSFd4cDNyS1g0Q3JhVFMyZHd4T2FLNHFQTUQrYVpBK2lRZG9BdUZ4a1gxWnBrYm5uamFjZ0lhMi8xaDE0TElhc2l0elNydFFEMDZvcndwZmRsS2ExUzJ3MjdxV2gvd3JpS0xQeWg4R3JkU3Y2em9BUy9ia28xVVpISFhKOHlZYlhHbjhWR1pFSGk5S1hkQ3M1aEZTd3lhVlZNNlhYV2x1djZ0Y1FOVENYZ3NTZ1VVTm81cGR1L293RHV0MlJ5SXhZOGpDSTVIcWRsNDY4Ykt5dE84aWl0UzdWM3FJWVhRQUtZWDVhUU84cWREU05aZzFkSUNUNUhHTTZhYmxQRDNUbjZRcHFCZHVJK2l1UVFZL0RhQlhWM2VTWWhYY0tEdUFpa0ZzVkN5bXhSZng5NEtvbDJKSG84a1I4amwxdnpQSVloSk9VZWcxcDJ4S2tSU091cVErbTBrV3U1RGI1d00xV1hhU1RaamhOdzFTdzNLamIvQ3FSWld3K1YzbDFYRUxjNHJBaGJWTmYxYU50dzNrb1hPWDZYanlRMWdxV3dGR2dWSi9MMmlRS1JoeWtUelc3R1cxL1oxdy9XS3EzR1dUck5zOFpQcXJXWmVtVGJBVmpDK3ZBWU5QSk4wYWZMTUQ0RUhMWDNqODJnRTI3Mm9hNThramNmRlZzczZvT2t3cEJlSU9COTFXUlJ6SFkwTE43U01kNGM0NGsyNnBHbkdmaklRQ1FSQjF5VVFkdE0vMCtWb2tFdHJ1bHVCTGloNW1XRHZLakFYL1U4UHlHSDZIei9JbjFUQnhNcnVySEJPM01LZHdyK2RmZXdSanpHNTk0bDJ3RGE3SFphTDlOald6bDY0OXpBa09Qbkh0b3k1dlZoNHkvbzN5Y2tvbnVPMGlZYjRNKzY4UW5iWHNVZTNKU1lHNGVKVlU2bzJLd2NGTk82WUVjNXBZTU0yL1B2dnEvaHEyM3JmWEt2L2huTTFCTkxkcTNyVm5uQ2VQeE1XdnFvMEtxWEJlbmxDVzVSUk4vRmJYY3YwRlBOMThUL0tqZlIwRk11NjlRRDVINU1hZjNuQVA1KzhTTEg0bHk0N3c1ejdXUGlOUHdJb2ZadXd4TnJLYTRnVnFXQlFmWks5WXd3ZCtkRGZuZEZXY3ZzVXM3RFVCeElEN203ZzJzdW9uR1B1VC8vN0NteGxNSkM3NHZieHk4c21aOU9CTkNkSkM0amFPaTJTQ2N2N1AvK0hUbFRTVHVXdmlOWmRCZmtsTGlVUm0wVkl3N3RaNjl5UTc0RCtDbUNSUHNQM1UvYW4rYWJYb0VHNENUa1pqS0NFMFlPZ3Y5emsvWEVLWHN1V1UzWSs1Z3BDVDR1ZWIzY1M2cVZZZUk5K0c0bEdTbjREdFg4U3ZoNDRFMTVEdHM5Y0pxTVREREN5ZGRsTzhaQmtXNVI0N3VNanViQk5DcDZ0OE4ybzlqaUtrdWVEZ1lQM0M1Y3NYTHE3cjNzTWIrZlUreVRMSDFpKzg4UExyTDZ6bmJuSFE4ZnRUOWcra0NjZEZTRTBBUkR6T2VZSHlIbmJ3RzBueU5TZHI2UHJUZDRxa1oyaGh4aXArL1EzN2Z5cWEvVXI2cWd3d1NpekVWOGJwOVphaExRZk55WE1IU3QwZ3VTM3dtN1M0L0hENjRoRW5YbnJrNEZFQjhJSzgra1ZUb3NBbGs1bDMxdmQvQVRZVVYrVkQ2NytVUVNVZVpyUkRhYXh0V01qNitoc09mbjZVeWN6K2Q3cktqNUh6dHlHVU1RNy8wOFBwL1krMjRqUldMY3o2Z0RYWWpvdFl4SDdoS2F6ZGRLWVppcmRqbHFmdXdyN3AvekxCd0k2anlGOWFSa2dNcWhhdGpESG1ZTjJNbnhwalozV2QwazdtVG01S0JSaUx6WnFEY29wRkx1bVFxMktKaHhtTm9Dc1ZHZGJ0S2orVzlNK1NsQnFuZVhkZHBLQnR2S3gySlV6eUwzRDJ4MXJoT29LMXp2MkE3MW1wSlNGMHdTWk5OOXpLNHlwakZiRm1ITExhY3FLbnJUUXR4SE5FbHl6eE1DTjBMRmxzV0xlclNKWlB3OEloMHpnNDEwV2NhcTk0NzdvMVpsNTlFU0psV3haSjFkcUFXMVYyb2U0bkFUYkJjWlRzUTFNUi9NcUpuUWdrQVRibjBWeXl4TU1NaExzTnV5bFJLaktzMjFXZStZOENjazRmNWJySUNXdUFZNVViMkZZYnR5NysyK3FaUnZwSTdVUVZGSWVteS9Kc2piZFU5cyttNjNPMVhQV0cxdlBIWERLbm9zVERESnhwWG5HNGVMSElzRjVYVDhmQ0FVMGRsT2NpVHYxeEY3TS9Hc0JYSTNtVk5jUnMyYXhPQ1Q3U3ZjdTNNL3lWQkhVVnUxcEcyUzVNaVRjUHZaM2xrcXZReDQ5blNqdHh4OE9iTlF1UkZZb002M1gxZENUQWVYVUFBQU51U1VSQlZDd2MwTlJCZVM3aTFCOTNzY3B6cmhVYU1Ocmxsb3VxcytBZnQySkNIallwVi9GVXAyYUV6eFl1eUpMUk9kYzNFaFEwOVZvRkhlYnVQKytpM0o5Ymg3cDVmNjBtYmxpL3E2ZGlZYXA5RHV5N1NBN2hNYUYzK1JEUDBjT0drcGJvbGZQYzhkVEVHampDWXIxanBGUllvYTl4NHZseW5tdmtIZ2JLZlppQkpRNFRmSkN6ZnNRTjYzZjFWQ3hjb3QrK2k1UmdHb05FUEhybHE1Ryt5bzFtaGQzV0hDY0hpR2ZhNHBVRTNVYTVnYXFXUFRmUWNzc0QrUTh6Sm5Fa3gxK1dxQVdGeFEzcmRmVjBMQnpVMUViNkxtTFhIM2RKUE9UbzcxQ3g5VExPTm44cVoyYmkrY1VDamVGWUZqdFUyUnk0RjB6bmNvZ1BpYzUvbUxFclhMSlBYeFNoc3FPRzlicDZPaGFtK3VYQUFSZkpvVHdlOUI1U1F2c3pLandoYVJYTEhoUTlIQ2tXVVlKaWhTL1R6UTFLT1pPekxGSWF2R0ZqdWJGVk4zWWgvMkZHai9HMUkvY3hZTlN3WGxkUHg4SWxyQkZ3a1JKY1J5ZFp3SmEyalZjWHlGWHE3VnY2V1NQaFBXNndmNURNNHIwUGVyVkx2R0prZmRaSW1ZOER6bitZQVpkOEJrK21rWjBIcjdoaDNhNmVrb1dEbWxySWdJdFk5Y2RkcU5SdjlXL1pZNTdVNmZzcDRRYVhqdkEzN2NPUzR0aHo3STN5ZFFkTk4xSGltY2JRK201TnN4NFBrUDh3QXk5bmJPT0lhQ2V2bmFoaG5hNmVsb1h6ZERYNGtJdVkyaE9BcGg5NTFRMUg3SUJ2YytOWHRjemlIaGRScnZZdDYvL29FQzdtUmlGTldDbXp1R3Zxd3dJcGNwM3dWZDBmNFJ2ay9GUThibGk3cTZkbTRYQlhLRGJnSXJUNk5PQmxacS9rZ1RiNzFyZUtBWUlUUk8wNks3bmYxRUx3OFlsUGR5Uk01R0hHTXZzVS91NzdWcTdZRW9iVnZHZHBZYTNFM1FNMGl4NXN6SlpZUEUrc085UEJSOGkwdVhaeDVrSEpEd2ZISG1ZOGlkY3FuNDZJS3pTczVqMVRDMnN0N2g1Z3Z1aWdwWW1OOE5sZHZmeWxVU2cxSFFsVTQyc2RmWmp4bGZxTHR5Tk5GQnBXODU2dGhiVWFkdy9RaTAxMS9zZllPMmVwNjd6OURxV255bTZCeTNvTWgwS005VENqd0xCYWtUTzJzTmJqN2dHbTgzZU5YTW05azF3WVMxaWhHVDExWERuWnJHS3NoeGtGaHRWOVAyc0xhMFh1SG1BMzcyeU5xMWc1eWQxREdSc3NSNDhFcWllNzlScnZZVWJVc0xydloyNWhyY25kQXl5K082SkxSWDFiRktFNTJhclB4aEsyZTJLVjQrczEzc09NcUdHMWNtZHZZYTNLRDRDNzN3S24vVERqN3JmSUR6UThZd3VjK3NPTU0rN3ZENXEvK3kxd0Z6ek11UHVOVktqaC93TXBJR3hyZGg1ZkNRQUFBQUJKUlU1RXJrSmdnZz09Igp9Cg=="/>
    </extobj>
    <extobj name="334E55B0-647D-440b-865C-3EC943EB4CBC-52">
      <extobjdata type="334E55B0-647D-440b-865C-3EC943EB4CBC" data="ewoJIkltZ1NldHRpbmdKc29uIiA6ICJ7XCJkcGlcIjpcIjYwMFwiLFwiZm9ybWF0XCI6XCJQTkdcIixcInRyYW5zcGFyZW50XCI6dHJ1ZSxcImF1dG9cIjpmYWxzZX0iLAoJIkxhdGV4IiA6ICJYRnNnVmw5cEtIZ3BJRnhzWldaMFlYSnliM2NnVmw5cEtIZ3BJQ3NnWEdGc2NHaGhYMmxlS3lCbUtGeGtaV3gwWVY5cEtTQmNjWFZoWkNCY2RHVjRkSHRtYjNJZ2ZTQmNaR1ZzZEdGZmFTQStJREFnSUZ4ZCIsCgkiTGF0ZXhJbWdCYXNlNjQiIDogImlWQk9SdzBLR2dvQUFBQU5TVWhFVWdBQUJTTUFBQUJmQkFNQUFBRGhRTStTQUFBQU1GQk1WRVgvLy84QUFBQUFBQUFBQUFBQUFBQUFBQUFBQUFBQUFBQUFBQUFBQUFBQUFBQUFBQUFBQUFBQUFBQUFBQUFBQUFBdjNhQjdBQUFBRDNSU1RsTUFFTjN2elhaRW1hdUp1eUptVkRMOFpwcFdBQUFBQ1hCSVdYTUFBQTdFQUFBT3hBR1ZLdzRiQUFBZ0FFbEVRVlI0QWUxZGE0eGt4MVcrdmJ2ejJPbDV5VXZlUkQzeEJvaE1TRys4Y1NLY2hEdkVDMFFtb2Rma1R3Q0pibUZraEZHWWpaUmdoMGowQkNMbFI0Q1pQQUFCZ2g1c1JIZ0VlaFFIbWZ5SWVvS0RZb1VmTXlRZ0JTS2xSd2tDSzM5bU0rT0U5ZnBSZkZXM0hxY2V0K3JPVFBjbWE4MzlNZmZVT2FkT25hcHo2dFNwdXJmdlpObkpOZklSK05qV3lFV2VDRHdaZ2VPTVFMNThuTm9uZFU5R1lPUWp3SlpHTHZKRTRNa0lIR2NFVGx6eU9LTjNVbmNNSTNEaWttTVkxQk9SeHhtQkU1Yzh6dWlkMUIzRENKeTQ1QmdHOVVUa2NVYmd4Q1dQTTNvbmRjY3dBaWN1T1laQkxSYzU5NFBsdEt6K3BnanhocEMrMUlrMDg4aFdoRGhDMHBGY01xcTVWdTVHZFVFM2VCTUEzVGZHbEd4dXhLampwMDBkYkVZYU9YVTlRaHdoNlNndUdkZGNLM2VqdXFBYi9ONEhwdGx1VE1sYm5seU1rY2RPVzNzdTFrU3QrZU14OHNob1IzSEp1T1phdFJ2VkJkM2c5ejdRLzA1VXgzcitpaWg5ek1RWjFvbTI4TWorRFpreFIzQkpWL01YL0haKzhEZGZDM1RtQm5VaDBIS0JxcjN6UEx2enozWkw2VGVjY0ladHhkdmN1ekZHTDFHaTlVd0pRYUxuMlEyWk1TbVhySDJ4ZWRzOXRxYU81bWVadUs1L3p1WkM2WmhkK01lSDJLdTJQS0dIUVBRS3pUNDV4cmw5Qzd2OWxaY3VYYnIxZk00dWE4M2E3T0t0bHk2ZHo3K3RNUkpZZThyRk9PVTV0dXhnamxXc05RK2d5S1czM0hxUkdWMG0yQUYwZnN0Rm9uRFJ5RFJiVDdRMmZETEJNQkp5eWlYYmJEKzNWWFUxYiszL2JjNXRIMGlOajlXRit4bTdQVDh3aGo1MGQ4K3cyeDRXVGhuZFVoeGFyRlZoUlRRZy9selJoS1pFWHRPWUFqakxOaHlNVit5NWRUeU93eUFtalhiL3ArdWRVc2hWalNxQVhuTDdjcGE1ZFJ3Ukl5a21YSEtHUFpQVkhyUEd5ZEY4K3NuTmJINk5kM1BMVStnNFhaaGk3SjdzNnl3VlY3dzJEV0x0cDdQc0NhNVlZajB5TlE0UFRmelJCM2tMalAzMWV4ZDE3VjlwQ2RUZDc5ZVlBbGhoaHNjaHFlSXBMM1lweXBIdVAvZGdvY3IxRDVtVmJ2STlRcnNuUDdGcGk1eGszN0lSZ1ZMVEJOc0FkVVNvaEV2MnNVV2NhOUcwMTlWOGJ3bWFUUExBMFBGVk9ub1hhazBrTGpWSWRRYk9iNk1NTTcvUEtiOEVFZkU5UlZuOUVuenRDdzhkM1AyTGhIZ09MZXgzQ0NMTGFwaWkrMTRpVTh2VGM2UE9uck1rSGJ0UXk2R2VjeGo2WXFCZTdjMk9jNEdZNGpZL2dEdU0vWXE3NUJSRGdPd3hHcTlkemRlMnVJNnpPUXZsR1VmdndpM3NZREdid05oZFB1b1FUQmNPOEJnYmFYNDIzMmNNOCsvVlJpdXU1Tk9tS0tDRmtONW5xaWpTRmhQSkVYZWNZaHZxdWRPYWtkUlN5MjZGREtpcEJUQVJkeGVIKzRqRmVCdDc3Tm1NSnlRYlJycXJlYjRyYUM4NWY4WHdhT2pvWGVqeTJJYkYyODVqdGVBS3dPa2kzdFErK29ZS3pGVlpFUDhRWDE3ZVlqK2phL0R4dWFwTEJYQW1GSm0zUGRkd2F2SGk2YU4zT0NBTnFCV281MUtzWlU4U1o3MTU1ZGJpNWZ3WWlWUklYZ2dYZDhrVzhvc1p5eTg4elVQcnRXbm9xRjJZRjlOZ0ZrMXZHV0dIZ3haR3VsN0x0aDhwNHN0Y2J2U3FRMGszQzF0Z081NnlOV2EyR0I1UkkyWkh2WElQb042aUZsOEFDRFRlMVdDaG1PS3liWTl0NVg0SDlIU3ZBMzhVNFJoTEdkK2hkYlJxcnVhMStLdythaGN3RDdnNlRYYjBkYXd4aGdrOW4wdGZrNjRwaGdYalV3UmtQVWhaTzdBTm1QWWMxL0FUcUZsaC9TVHNTUkE1aE90R0U2RnNhTTF6M0pEb1UxV1NqMURGSkE3WmtIOXRlTldtR2FZTy9pQ2hWSmVuT2J1Z1NLSDdVYnZRS0ZhYkY5LytnWkRVU3JpRmcwcHNoMkk2cDVJd1RGWTlnM1BtUnAxYXZ1eUwzYXNVaHJLaEVlekxPQUxtTkF5dFZTM3Fud3Q0L1h5bEdKN051VjMxTlpwMUR4cDhsaERtODdlcWkrMHI2SlVkanhNemJDZkQzdmVLcHZpYXh6ZlZGYnFnWlZOZ0dOd3RVWTRrUE9MekZORmVTd2VKdG9tTUxXKzNNQlhLR3Z1VndoQVdwZWdjVDNiYlpUZ0RsN3hzSTd2dWJnemttV294UEdzbUovcGU4bmpUMXNZclJYUEpGYkZabS93M1U4dlh2SStkY2VSS2R5Rll1VTBqYzVBamlaeGhyMDN5SEpJQm0rdU9ySExhekprMTVrYVl2Y0M2N1UvbWNPTVRLaENIeVlmR1lwRWpJWVZYbjNkZGxDTXJ4dkNzSGFyTUJlaHJlUFJjcTVBUmRjbWV0MW56TmUvRms4bDBGM1JmS05CMXJVeUoxZUN6Yk9USjVHbVQyc0k3ZDZRZUdDVW5NRFNYZkJWblRGajFpUVJUWThrNFJMalRJSC9ldTJHeG5RcjVERCtBcm5JMWtrRjgrN2o2UjEyeTVZNTE1bXMraUI4ZXBMc1FISWorOGYwSk8rSE5vT3lqSTNzbWdrSDZCU2xvRytmaWxzeUprSGtiMFpFbTlkZTByeFBrMFVGK2FyRmtWVzgvWnhWRm9lWjB3ZWVRbU9sa01qbGVsMlN1WXdRMFB4WHZUTG9Md2Q3M2pmR0Q5Q3JJcG1PS2NKM0ozd3ZqUTlpY1JMcW1QbnBFZW1PZi9BMUNwejN0K0dwaW1sdlIrYXJCSFFQeWprM3J6am91WkUrNGxpNXJjZElrTENVc1kzVkpSSUpuN1hZRG1tTmhXTGVackZLNkN4YTdLb3pDSlh1VmhubUIzYUVhVGQxaDNhdWFwNnV6M1FGY2NsSGpBZlJEU1d5emFzeGVpQzg3MmEvVHB0S3dkMnc2RTByK1R5VWFOZTBrMTU2eHVpUml2ck0zQzJpTzU5RFJNK2xrRjB4dkNUUUtsMnlZelFpUjdJSTRKSG5LY2lpWHdaU3hVMWpXcGJZT2pRdHd5VjJOejNCUXNrTktFcHhQUmhkVlp5WStrNmFUK3dzbFNONmhuYlZTRDUwd0k5ajJTTStjK2s2eEg0MUFZQjZyUytKNW5va0twWnAzK2RQbzhpdlpoV0RWVWJnazFBK0ZLNmU5ZWg4YjVrMEhHUzdDOTFZMVpjalVBeHozNU8rY3M5a1JWYWJpanFiRjRuV0JlQ1lVZWpCRWF2dGdicTkxdFh6RDU4bTZLVWZUZGJaVDZkQllYUkpIV3N0YUZRR0VOQjk0WEZhZFpCY3NibFVZaFV0aXlRcWNDYXNXOUoyL1NIRnRWeGNqQUx6d2lpYnZhZjkwVC82Nnp0SWlxaXpFMXhJdE5zdWc5aTRwdW1DRk45enNLaTM3MkRSNFpwcFZXbENFM0lFZGMrMjJlR21zTG9tb1lFd2cyZzVwanVVc2xNNHJYWk5kVUl6V2ZSUXVtYTE1K2x0dHFFSWRmTmQzVlNseTc5RzB1YUczM003SlgvRFlEMjgvWEkxSXRrak42TkxjdFhmM1ZzMWdBYjJqOWdtZG1mSlhhNEoxQThoVHFZM25XRjF5VDY5TlVyV2c1angvM2dub0xsSEpMZ1NyanNRbEIvYVNGV3lJSTJ0ZHhOTklGMVRGRm4wT3NxQmZ0bkJPL29MSGZsblBYWENVVVArKzVwd2oyaHhONmw4MktWenEyY2Vtb1RQVDdHeWw5VVRJbi9ZT0JwMW14K3FTMis0U0V0YThIODNaa2wxd2VsUVVSK0tTZUhjam11YnFsbXNmdzlIaWxpNldBZGJjZzB2S2JaMXo4dGNPN3ZaYVhyTDJtWWYyUHlsYStreHozenFJMm80RjFNblV1dWtwRHl1U3dEcWhuejlSeGpOZXBsdi9rK1p0VzV5bC9sSDJLanBkMFZ0YTA0ZXJ1Q1IrcUhmd0t1OGRaeWtybHF3aWVOZ3QrcHB6K2pDYXN5VzdZRGNoUzQ1TDFoNS95OEhkZjY0NVgvYXVmM253TDI5SDhYL1AzL2tSamZXQU9malFzb2NOSXZCcVZQSm5Qbnc1Nk9qYWZLZGVGT3lUdnpyWkFtbm1ETWthdFNzSTMyUXNGMnZnV1haUUFJcDdMK1oxMHpHREtRbldmUVZxRzhUZ21vRU50TUNlTlFVT0ljRStLTmFFSHJ0SUZ3Yzhqb3ltdXBWeXlUbEVzZk9NZmRodVU1WEtlb2k0b2E1bHhadDVtb05TK3p6bnU2eDVYQ0RaQmJlQ2VHZFl0djFjUVp4dGlWZTVmM1JSOHE1eE1xYitTMkhOd0R0MWt1djdVU3VWK09qRy94aytHZkZ1enNkZGIxZFh3RHQ3MHJyY1ZiK2w4Y0ZqUDE3WFZPVzhzK3pWbTBnWU5uQ0srYWJGN0g2YXRDK3daemhIK0Jxb2ZYNllITUFPb0o0YXVKSXpVMlM2Y3FSVi9lMzlmODFleEpmb21ZUFBaWk45bWl5NDJaeXFvdTdwS0RtWHN6czJzeGVVQ1NwenlTWTZJcStycWpGZmM1R0hYUWVmTVlsbVZrQlp5NHJ1M2JucDVWVU1GSDdaODdiRjdJVnIycitrUzg3bmIxL3N1NE9weGIySXNUN0VHR3RvU2hENGQvQytPMGhSU0w1QWI2b0NmNDBVRmhNWDhNYWl3NkEvSWQvVU5RWFE1V3dUOE9wcGZpcndlU0lBa3FXdjJ6V0swdHFobnlBdlFMMWRKV291N05FOUoxZVlFbXh0QlB5MVpVeWZsaEhBMzJGZFZkS0M5NlJMNHRqdHpiem1wMHY2V2VhU3YvckFBdzlpMEI5NDRJSDM3dXFXWGMxQmFMTnZMOEpESW9PWTZvS1dyb0E2R3MzWkFmNCtVUGpJR25zTnArRkhCdUtlWmYvNVlNNmo1TGx2SXk4dlM4enhYc1E5ZkMrOHFzU203dmVEdVdRcEthcENvdTJTS2tXRE1tYmR5NWRERGMzUWZBNE1aNHVmR09kc3B3ZCtuS0RLSklEWG5ZNjhlREZQV3VLOEZTN3IyUFIwK0Zpczc3aEI3NDFjOEduMjdGbk8zNlVuRFRqSHVCQnROZW1TMit5NmlCTzFYSzROWjFZdGdZNHVsSVpvWlNhL0lMaWFaOW1uMkxYRmJHRFppb3JnY0tvTExyOG85M1VJeXJMdlV3NlBNTldSM0pNNWJOemZFYSs4QndYVW0rd0QvSWlQUFIwa2g1QlBnUHNmUWdTSmcrUFlMcWtDVm90NFZQallEOVpWSWJVUXRpMXNEbU8vaG9zY1duTWE3WlJxY1lSWG92bXg2Ym9TR0R3enpiS2NaeERtbWkwbXpCVGIzOFB3OFpSODFSQzdUa1ExbEFKS3VTU2lpSlEybFBOcmI5bVNFWEZKUklXckZxK3JPZEtybkVkNGJpdmRhYnNHU3FrdWVCVTRncmdrbkd0VjhneE5sdFZqKzdPSUxEd0VMRXFxZGJ0WHNIYUpzMWprWU9GUkNQdkpJRVVnZWN6ZDFHUnVhVm1ncThRZUNYZWFOME1XVHRNeHpKV09JTGJaQWNmM0xUVXg3cVlaSW9PRFhUMHBIVUo1a1M0Vjh5VjJjZzV3QjhXaEFSVEpyL0MzZXkzenRoT3pQT1dTWFJWaGVEd1J0dXV0VzlwSFhCSjlXYko0c1cyRWh2VGFGZ2NoUEJoZG9HZ0xUblhCWWxZRjRwTGtWU05Nc0k3a0dMTDl4aEpmNUp3VlVaSmxRQjFnMHlJeFZXNHZRVWQrcEpTUm0yWlRVNGxMOWtqMjBGclNIQlFZNkR4WVlNOUl4OTB1b25pdUQ1UTRGVkdwSTdqOFAzTzJaL3NNQVF3R2pTMUwvQm1WYTloOE1PQmxpbW10aTVKTW52bTA3eGp5VUIxK0daUUZKVndTRmx1Vy9IQjUwV3l6WXdrSXB6NkNCVTY4YXZHNm12UEIyK0ljbU9YQnd6aFJPOVVGd2VUK0lTNjVSbVpsVXorMVhtSDc3UjN4OUMzWXNveW4zSXM2cnV4SStRVndEdklUYlp2VGQ4bkZnZ0dPcFJ3L2ZPekhmN3I2REJXMmZhRW90WmxZTVRGK3E0YU1NNG90VTdLZ283eTR4aDFMTnBlMWc0UEZ6d05vaTdPeU4zQVpubTZnMzNTcnNHZDN4ZEtQRnhJdTJUUHpHdjdFRlp0WGd5ZEZmV3hMQXY2dDRjd2RWM00rMElXdWUvWXpLMXRVcWdzMnR5d1psOFNJYm1pV2JiMloyV1A3NXpuNjBiZnVhcW9CTU1hcnZBVHJ1b0hkTUlXZzJaeXhPNlNudVhUdWtvYkVvNlFzclFDVXpBMXFQQ0tnV0U0MEl0OHF3RzR4WXo1bEJUOVlhbDF6V2dDNnMya2hxaFF3RmlvQnExSFBKM1hsbXFJd3ArWDBRVUxHWFJpWjB4VkZ3bjNBbmlJbEg0eTdKTFF4a3pNWHllUlpLNmZ4QlJJTVJycERpdndzelVaZzdKWUVBMEo3ZUNmSHFha3VDQW51SCtPU0RYckl2S0FMbUFXUmtSbW81VHczeTRUYlJMZzgxNFJnNldvT0IzRkNVRWhwQUtOTFZ3bStLZ251bnJWVG5GTnhvUzk5K1YyV3Axa3hreW94dEtSUVNnU0dsZFE2RXo0enhmNmZzVjBpWVhpaEtHQU9YdVhRNUZjSkVXbHh5YlNUVEhHWHhGaEo2V0R2aTZsNE9oeTZhWnNLYnVzd0lER081dHdxdTRMRTl6ZXFsbmRQZGNHcndCSEdKWHRVdEVsdjRaTFBCV3NLWkVzUnV6cENsRFBibE1sVzJjdHF4QWxSaFpla0l5MEE3QWdwOXJIZmYxOWZWTEs3eWlzRVlrYk5wdkJVTHB0R0pKVldjcXZjb1owMCt0QUVLS3dncmI5UXRXRS8yUldCNmE4WEJQUnJXYkdZKzBJay9IQ3V1RXRpZExlMHJKNUllRll1YUVRS1dOTVprdVIwTk0vYWFyN3dZd0l0alJoQzRGSmQwQlVwb0YwU2J3aVRBSXpzUm83cUhwMXR0Q2FId2JaYTRJYkVKWWtOQ21MNGIrbkxhc1FKVVpNNEtNLy90NFF3NjlnUDRXbFZZUEZuelhxWXNQQjBnUWRINExlTTJFVXVxM3IwWG04cDE2TFlOSnpyUWJNMkRnTmxQYkZKMUpNSDhwUi9EdHpNVGJTVnNtZlVKYkZ1cXhVQ3d0cGlLdlF2cC9zZ09ab2l1U1hzaUZGVWN3eW9IRm9Nb3FaUVE0aTZxUzZRQmd5b1hSTEpBa2sxa0V4SkI0VkxiaGgyQjhKWWJoWW9USFQ5WUluWXdPRzNpL3pUaE5jN05vNlhlQzRweGFKRVhKS0Q2NEsvcHdhRWx6Q0ROd1FXZjJ5WG5DcTQrZll3dEdneDk2U2prSUtZWXBwWGdpdmNXeXJIT1V2VXo3S3VNYTlqMlBkSm9VTVYvSzFHRmxSU1pHRk5JZXFTMkRLVFNTZ2FxR3ZYTVRMS0lOVVRUWGMwaDRsV0pTMDN4cUtHRU5SVUY3UjRDbWlYUkNOa3RVSE1sQjJBUzE2aEZTeTRyd01BQXBqMkVtSURpOXNyMUx2dy9CMFBYZXFTR0pkaUpPeGpQL0J2S1NGOU16TVVDbmVNMVZWU1ZHQk8waTJGeTJvOWpNUjkwZXZYTkxNRllJWVYyWjk5WnRvM0F3dE5GNjBxUlFIREVNQ2Vwbkd1b05mK2gralZQU0NGK3padENkdkVIdUlUV2p2WkZBazVOck5YUWtSNjFrWTZtZytZVG9wYnBrL1VFS0o2b0F1MjJGQkp1K1NDNVpJOEhCZStza2ZzN1FwQW9GWjVKZ0tZanBMRUJtNE5wOHpOdjk5eGtFNlV4SHhYQnRNbmYyZklvc1JmMHpDRDNRcjZIbVFzdTYyZ0hIUkpxSlM4WGhzUXhyZFdjbWxwWGFEMEZUT25NVXFVb3VDbVdwSVVRdHdEOWp4WHJobUppYngyMDFvQlZyZ1JCenBtV00yRUNsZ3lIV1pIOHpVVHdmdW1UOVFRUW15Z0M2SG1iSngyU1doTkowWXU0eEcremlCOTA2NG5Tb2hhU3hLTkNYSlZjUkFiS0ZUcC9SMTJzNEtQQjBNejZZbExZcVNLdUxadEw4T2ZOZHhobDJ5b0JkL1dvMmwwMWdSK25KVzgxRVRVdFFTd0xmTzNXYmtIazlUNlZ6V2JZMWlKeDVMMGxHWXhBRHB1Q2dVRUk1VmQvR0RUWEFnVzlJQUxScnljclYweDlBVGtyeXEyNXRCWVQ0RXVVWk1ZUXJRUTZFS2laWkMxUzJJOHFaMmJLcTZnTjUweU1RMlRsdE5PRUJ1VTFkVDRmeUtkVTBqSTBzdENsaEdYNU83Q0hiL3MyQStrc0VzT3c1MElSc2x2b3BIRWRiQ3FWTFh1R0NyaFJJMWkrYlpvUmNFMnJHSW95WFFESVdZNkw5WE0vZ0F3OXAxa0NIbGNXWjhuMDF5MVhIYUhuc3MyemRhY1J0R3VuMS9vcW9FdWFGb3BvRjJ5NTdua2txZ1VjOGx0RTgzZ1JoZEtHeWtuUElHaDg3N1pabzhuWEZJOW5lTVpMbDlRcG9NWm1XZ2xuRXQyeVV3bXl1UTZ5Qk1rLyt3NlhTOG9LUTQzb0I2UDEyczZoWEg1bll4TWt1bDBKalhJVjJnSTFvQ3g3UTBHamVZMjNDWDFnWmlSVUFvdGVCc0lXM095UEdKRGFRZG9LalRWQmNxclllMlNzQnBkanBwcUlVWnZkalczQTVDTUFrcHVPTlFLUlI2Ui9IZUMrUHE4cTJ0amRQWHBGQWc4bEsrUWpaam1Ld0I3eDYySTRXUU51ZVNTNHFEM3I1dmdUOUZKR0lia0s4cWsyV3k1VlRCS2l5NU9yQVBMUGhadnVxaXBHQ0FDRlhQSlJ2R0lVbFVjd0NXM2wxUXBmUWYvbHMxbGE0N043QlZGYndXempvS2E2b0tTWWQyMVM2NGR3U1Z6czY5QVlGKzNCRmNwL0RKcytINmZFV2RxSkZsQTkvVkNpSW5DdlRGZjlpdEpUTkFsUzVLMXNuTkpIT09aL1ZKcFN6NEJrNGRiMGpvenRibHN3eXBhSXp4MnFVTzltRXNpa09oa0Q4ME1HUHRUTXFTcTRkTDdrTVlFd1dWckRuazdxbkp1Slh3S1c5eFRYYkM1WlVtN1pOZGV1SE8xRUtOenU4R2E0bFVNdmNMQmNUb2xiS1hvTHpIR1BoS2c4cFJSOXhqUDFjdzA3QXY0YktsRy9CRFEyU3B5K1NYSkdseHlJOUM4ZUJWUUI0RWdReGlKeFkzUHl4NWRiV3hPTE5HYk5vYVhodUd4VzRpc2lMeGF6Q1Voa3U0TUJveDlYTTlyWHRkOXpNSng1T3A1aVk2dCtZcnBCNlo3YVo0QzI1VXY2cVE1RzlRdTJiWXpLTWJrb2haeFNVUXpiZjlHY0VteTIzSktqeUhmdWNmQkZVVTB2cVVKY0VudCtGMFJNUWRQYWFJSDlDeFRTRExHTXpSc0dNMVZUNEJBZk1yTWdqQkRFSXRtSUxBZVdTN0NUeXJScThXQXdJWlpIUUxVdUV1MlZkNVYxR3pnaGN3bElzUjd6RUpvSE94N09ZT3QrYlp4V1RqQmtsUGJGRk5kTUp3RTBpNkpWclRsUWNmb2JnaTJpRXNpNTd1cVJLMTRuVkNVa25zTnh6OEhXMkZpaXlaekdFN3QrQmhwNUpYMnNaOHRZbWoxUXRLd29pN1piS0lFd3lDb2hhNWE4L0F4WHp4ZVpjdVpmV1pxUzBlNDNyRXh2TlFNajkwZ01TOWlVYkpyOXhoamFLMHNtRHdidmg0R2szdXp3ZGE4YlRTR3IxNDJGUjBvMVFXSHZTaHFsNFRyOFRSTlhlakRGUUZIWEJJNzR5WEYzN055RjRVdHY5ZDYyRWdIekNOcWdMYXVxMEtCcTZvdzVCdkpXZHVzOTEvOENVWEdQZmlHWGtOMUpwdGRKYnlZNEZ1a1NNRmJ6RFNnNkRnTXMrSFlZWnZPN0d6eTRkZGROcldRa215WmtvUVFyRlhxK2pnbHJsZ0dvWlFDanJra1JuQ1oxTUFBV0NzTFVvd3RRblpCYUVRelVVNjJOVytiQmRsc3hXMURDSm1wTHJnTmk3SjJTU1NEUkd0KzFOb1JESEdYM0JBOCtLTVBYMndiS0xKN3IzY1I3em91VnBXSGRFVkZZVmtSb0F6TDdLOVR2WlJkWWorczZGbldvTDFRYUlpUTN0L1EzZzBhWEtpaldKeDczWVFCaHhJcDhoejRxdjExcWxyL3lkYitwcTREVzYvcmdnS2dodlRpbW5VMlBnemxJS29TN2pHWGJOTVI1RC8vTU1HRFMvQWVzeEN4Z3V3MWJXdStiYUtvM3NFNGhoQVNVMTJ3bTVVbDdaS0k1U1FWeFRESmM2MklTMkxoWGxWQ2xkODRObEJrNXk1ZXVOaDFrS2JZVU5JNENxTjdXWkZBWUp2V3NWK3R1WnJSZjFybC9QYW1xTmpWeVZwN1dZbkNIVkhlZUF2QmMzQTc0RHNPaTFlRTJkalQ5cG5wTGRmdzJzaXk0ZFRoMnFENEEzaVo2VTdvMHk1T2JpY2lkY3dsdCsyRzRKSlhTSXRaOXRuU2puTTJESXlYZTFzU2hzWWxWYWJrR2tJMGwrcUNwWk1xYUpmRUtrWU9WNUVoeUIxYXhDWGh0NnRTRHNBZEFibzJVTzFZOThrK3hFY0dCU2RLRjNRRitKTm14ZEN5KzR5SGdvY2ZBSGRWREVUNWxEbkVSS2wybnhCamtyWG1aWUVvL3NBWFNNa0dLLzd6SExzU3RQdk9pclhrNFkzSUtSVURPVytUK21mMndnN0htVXozbEZXM2F4SVd6dVpkTVpjY1dCN0VvK1M2Vjc4Y2dSTWZNLzZTemRKOG9MeURMNDlMZ3NNMWhFQ211aUJsMnpmdGtuZ1VSL1o5Y0FxNXA5aGpWbUpNYTVOOW0vNzV0R3NEeXE5Zy9QdlMrSmNtclZsS2o3bGhQZmF6MWdFeVB3Q21YOWFjb1JNcjY3RWZRNk5ZVU9VQ01HbDl1a2dyclJRajkyci9Zb3hVNEdBVE9WaHppU0Jub2F2MVpkVSt0VFcrQ0xNTFpvendSbEZuNWJYRnZmaXJqRTF4Rkk2NUpOS3dEY0s3Y0RpWHhERFQya0tRcGJuNU54dFlHWFlFM1RXRXJMUWs3b2Y2WTF4eWhTeVFtWmxsR0xEZE1vbTVudk1OR1FvOEd3U3F6amFSdGk0R0NCcUZmajZyQzNUYnhVLysySE9hQktDNXlWL291YUpSOEdZakdyR2VMNFdJaG5ML2NNWUtRNmNWV3RjbVFNL0Vab0tOZzMydTNpN2hPWVY1YmJYU3BpdGlqNG54NitxSTFycE02bHJkb25nRngxd1NYVjVTZkZnc1dyb0pnNHhBQ3dFUHRqUTM2OHVVV3BWY1F3angxREtSOW15U2NVbVkrNEttWWJTa1pmZnNRZFljSERCeHVTdWQwN09CeFM4S0V6bCtDT2FqTFV5WHliU0JaK0xFaWhnS2UzQm5FZjRRckxkMGJVVEVYVjBZZ0JzRmhBenBpdlpETlRXUE5EOEZGb2lmVTN3TTdxSTl0WGtXZk5zYi9Na0pPY21nWDhiaVc4aXJZTXRWTE9EejJWdzYvaGlVRGNWY0VySzVhSGw5QXkydHFrS0ZPMnplY2RtbzVueklkd3VHaG93UW5pRTRPZG1GUW9ienQ2KzhQS3ZsWnV6UXBBcFRJZldVaklHS1dHaDdWeUE5R3loV2ZYOEpMRkQ2YzFuRk5UQlpIdktheXdyTjgyNXJZYzVPUVUzRXdrM05nUVBWTFYzWUx0N1lhT2ZTVWRTSEJpVERua3BPZEFVQ1RKRUpTdEJSc0EzMUxsQ081ZzRlNXRCV0Zzd1k4eC85OFZBMmNhQm0yWUErY09IcEJ1a1dsU3JobUVzaW1USENKdGdmRi9INGR3TlNRaWlNMjZLTHA1cnpsL2V2RkF4ZE9keStJVUJQZHNGdFJKUmIyaVY1VHFQR0FLbmt1bVJmQ2N3WUpXbGF4WVFwTmRLZURSU3J1dk9QQ3J4ZEZVcnY4TEl0U1d6UTR4anNvdlJjRWZUR0JSNEVFU3IxMVNmeG9DdkNZNTA5TGpsdWVVcXpjV0RiOWgrTGhrQ2dKcVdOajVXR1VHK0hNTlQ0aGpHbmVkbU1DZjg4bitDemJmQ00vUFJxcmFuR1hJaVl0U2NmRVN2QnFFdWVNNE15MzNvOVFzWVNmdmhLeDhtWFp6QmRPdVlTVFRYUHNuTnluczJwL3ZpR1FMMWtGMHlUQk1wTngySHZKVW5wcVphNDNiUjNrR29GaU1DNkthQ2g5QVBmQms0ZC91bVZ2M0p3b2FMNXRNRWFtZTU4MmxFRDQxTkpzT21LNVR3OTRtZHR3VDF6RFVGL0VhM3djd3A2clJIdnBmZ0NibFUxb0ttS1NXMVZxditBU0R4MkRBZDJOTHFBa00rNSs2dURJalhCWVFXOXBvME5LTnJBVVpmVVJ5QlpmUTF5Kzl5RlRsZWRaTTFBMDFSejNxdml2R3JBbGd1RmZFTUFuK3lDNll5QitPTHhibFc4bDhsVFhTeVc2eExKTStQWEt3YnZMajhLVVZlaDFyZUJYZVVKTlBmN05pcGNla1FOQ2xKSmVKMjZNTnQxSkZjNExDSlhOY3dkRklNdnJ3R0RUMlJyUzFsYk9OKzlsci93K0xXbE9BUDN0bkdlQURXSWF1aHpDa1BHV0pvQ1RHbjB4M0U4dWphOWozU0VPK05rdmtFWWVmQW5PYWhGa1lXb1MyYnFsSHF5eng5SmlJUjJiYU9vR1hqTUlrWEtHOTFSS2dyVkhMaHR4bjhKUEpmVGFXUWJBdVJrRjVSd2ZhODk4SnM1Yk16dS90QWZDQnkrdGlDMkFaTXRGWGUrOENBOGtyRTdQL1MrVFYyTEFyUHMraUxLWDZiaHhyWUI1Y1lIUjRNdm8xazhSUUhoY0YxQWV5bzNLUEI2bzJMcXdFMVhUUWxIY0NZV1RQQWM0VXY3aTBnM3J5M1cva3ZQczRJZGJYRGx5NjQ5NHp4bExDNSt3Wm8vQmJXaEpsZFJwQ3Q3R3orRm0ydStncWViSDhoZTNyZXpDdVJSM25HMTNWN2NKU2R6UHZuclgyVGlJUm4rb2NyaXArVUpXT2d4aXlVWkEvT2NoUkFGcWptZlFIaGxwdDVWS1NYbmNBd0JUTElMUWpEOWcvVk1Ydktwd1N6MkFWOTcyWDhnYmt0YnJTa0dmd2RXQ0xxWGYwWGxVY3R0SEJ1UUJ2bkhUajlDeWpId0c0Vk1yRCtGYTByZXBzNHRkR1VFK280dU9JdkZsOWtCLzlaZ2xqM0c5blAzWTIwVEtyYVQyZ1E4SFkyaGhOR0E1RU5mR3VsOEVZWW1DM001dTEwTU5jYjlmT0U2dWxxR3lMNU1TZ0V3N3BKODE3ZC9uckUzN0lxcTIyeWYvYmlBZ285WkxQRVkwYXNXUWhTbzVrQkEvTzA1K3p2QzV4Z0NsR1FYU08wQ3JMT0x0Ny95MGx0dXZaaExsOHdtbXNJSHIyMUszcldEMjIrOWRPblc4N2xsZFNxb3h3N09zK3VLbjFNY0d4aG12QjVaOGpLYTRkRlFiWTEvMHhpSDZuYldzTVoyTllzRXpwRDBES2hKcS9pVnUvWi9TL0I5TWIrekFFejFtZmpLT0hHeFkzaXJRZE9CNk5JaXVTMmtyTkRpM0Fmekg5cmxvbWNmUHZpRUFIaEJYdjNVbEVpNFpEYjVudWIrVzM5QlNxdDkvT0xiQ2pENG1FVTFLdTdZZDYxYUNGR3dOQWNHeXIvT0dsTEhFR0JKZHNGdnhjZlUzM25Yd1cyLzRlUExNVis1NitDbmRpblpzWUVtWVVFLzJOS2xKRERaRjE5K3Y4Tm1YUEhQandiTVh2SEtwNDh0S211a1ZrYUhQMTJjM045eW1iQVNyVlBjYWJwYm93UVh4aks0Nk9Mc2Nzb2xiVzVkNG1lejlIbVhKbWdBNXkxYnVxQ0JwT2F1SWZoS251aUNGajVXd0xXQmJteWgvR1UwelVPQit1TjNIZHo5aHhRVGhxMXpQN0QwUWxNOFZMVk5FNkVRd3lodzlxRXBYKy9vaGlEU3dvU1ZEWVVZaitpU3djY3NsdnlGb0NzbE5YY05nVzJiOWR6QWF1TkdGbHdiNkhMNzgzY0FBQVJDU1VSQlZMYW5yM2MwUEVvZ1p4dVd1RVlvRWJJNFpLSHBKd0VodHVQaDdFTlRzUWVvSnZCVUlBbXdheDdOSllPUFdXekJnMkNTalpobnM3a2wxeEI0bitRNWwrZTdVblp0TUc0bGNEaXhnMjMxcG02bjZqOG0xeWRYdXVZNEFIRm9Pa2RlNkt6Nmora0hxZDFOdG0wOWY2eXFmUEF4aTExNXFKNi8ydWlFNXA0aGNQSzBiRXY0THBVOEc0eFpqK0xmTXZEVlNGNVZYVzJxYWxhbkJCL3B2c2EzTS96SnY3cXEycWxidXFOVWtsYlVwbFFoS3QwYjBDY1JOcnJoSkR1aHVXY0l2QUxScWFUU3VKazhHNHk1d1FaUFdPWnB3T2hXVzVBYnpvSS9GajJ4MmwzQitkeVNFVDVWYlRXcmlTYzdwbG9BT3ZQbUFES0pDajVtVWJYcXYvTUdnTTF3TnA3UTNETkVoUzZvZHNkNjkyMHcxdWI0TDA2UnNFdy9RMXFwNkd1OWFwNUxCQjhCeExucUxwNGZiWm1xRlExMXRwcm5Hcm1IZ2J6SExLcnlDcDlCMktCMkZJTGVFNXA3aGhockY2aGlDZGkzUWFMQ2NjbmltVFpmamZSVmJTaHFWYmUrV3U1UkFQRmtXRHo1MTdXclRZVkdPRkpwS2NjQkVEWld3L1Z6L2lZVG52U0VxWEhOUFVPTXN3dGhCY1BZZ0EzQ2pLUEN0bmtPM2QraTRwclhhS2tFUGh0T21FcTRqNG9XVDRobWFBekhQblMxZ3JUZUdJLzAvTWNzVWlIRUU3amtESHMyckdCY2M4OFE0K3hDV01Fd05tQ0RNT09vc0h0SUNlMmZVZUVKU1NjdGZSQTZEazVYT3lUSFBFOEoyOHUwMW1TVmJWV2RXVzVNNng4ZjloK3pTSms0d01OOFdlQ1RQSFRGTlhjTk1kWXVoTlFyd3dWc1VNWTZHdndNNW5VWHJ5NlFxOUxidC9SbmphVHVxTUgrUVRhRjl6N28xYTN3aXBIMXMwWmFlUlN3OTVoRkNlVXV1WWtuMDdzSzRkeWptcnVHR0dzWEhNWGl4WUFONGhXT1NhMDFuK3cvYWRzOGE2YWZHc3pxL3pWMXpQWVQxVzloZDh2WEhUVGpxUXBQamJhdDM2M3BxcU1Cdk1jc1NpeFdkSnlnNXFVQk9xcTVhNGl4ZGtGcFhPa2VzRUdsZWtkbW1uajR6aDJuOHFCMG5tdkdScFhGWFhNZkEvajVpMy92MUs2bk45TzFLb3U3STdaNk1TODcvcXJ4L3pBOFZaN3J4alczRFRIZUxsVHZMT2YwYlhDNCtpUGdubVAyU2g0UTJSZHZoZ1lJTndBMWRGWnl2OGtaK3Q2eVR6NGV4bi9Nb3VVTnIrL1d1c2greTY2MDVycm1XTHVnVzdsNWdIYnF3Y1pVaGNWemJOMmRLTnMvNkJhNzZjeEQ4eDRhOEIremFCRjRnN05wdjdta1NRSklhNjc1eDlvRjNjck5BNXd0WDN5S1RyUWpvV0Q4M2V3bFRxa215bGJXa2FqbVBXWWhVbWNmMm44L0tYcGdTbk5kWWJ4ZDBNM2NSRURQZm9mUzFYd3U1Ykp1aGRHV3o4WWlFWm9hSmx6MmVOcDRqMWtPSVM2bHVSWTEzaTdvWm00aVlDSis2cmczem9XeHdqQzFTemUxdlBMOGVMTUs3ekZMQllVMVMxeHp6VGJtTHVoMmJpWmdHSHRWcnpiTzNVT1ZVWnFMSGdrMHhydjE4aDZ6Vk5GWThjUTFWMXpabUx1ZzI3bVpnSG9zSmFwOStMdmRsVWMzSXhxOE9FYU0xS3RJY2grelZLd20yYUthYTFGajdvSnU1d1I0WG95QSs1amxlZEdwazA3Y3pDUGdQbWE1bWZ0eW92dnpZd1RzeHl6UGp6N2QrRjc4UHdhZ28wQ25tMkRSQUFBQUFFbEZUa1N1UW1DQyIKfQo="/>
    </extobj>
    <extobj name="334E55B0-647D-440b-865C-3EC943EB4CBC-53">
      <extobjdata type="334E55B0-647D-440b-865C-3EC943EB4CBC" data="ewoJIkltZ1NldHRpbmdKc29uIiA6ICJ7XCJkcGlcIjpcIjYwMFwiLFwiZm9ybWF0XCI6XCJQTkdcIixcInRyYW5zcGFyZW50XCI6dHJ1ZSxcImF1dG9cIjpmYWxzZX0iLAoJIkxhdGV4IiA6ICJYRnNnVmw5cEtIZ3BJRnhzWldaMFlYSnliM2NnVmw5cEtIZ3BJQ3NnWEdGc2NHaGhYMmxlTFNCbUtGeGtaV3gwWVY5cEtTQmNjWFZoWkNCY2RHVjRkSHRtYjNJZ2ZTQmNaR1ZzZEdGZmFTQThJREFnSUZ4ZCIsCgkiTGF0ZXhJbWdCYXNlNjQiIDogImlWQk9SdzBLR2dvQUFBQU5TVWhFVWdBQUJTUUFBQUJXQkFNQUFBQWtrNFVqQUFBQU1GQk1WRVgvLy84QUFBQUFBQUFBQUFBQUFBQUFBQUFBQUFBQUFBQUFBQUFBQUFBQUFBQUFBQUFBQUFBQUFBQUFBQUFBQUFBdjNhQjdBQUFBRDNSU1RsTUFFTjN2elhaRW1hdUp1eUptVkRMOFpwcFdBQUFBQ1hCSVdYTUFBQTdFQUFBT3hBR1ZLdzRiQUFBZ0FFbEVRVlI0QWUxZGZZeGtXVlYvMWQvZjNaa1IyVFZycXBnQklZaldzTDFJNU1QWHdQZ1IxTlNBZjZpWVdCV1dyQWFEUFNwbVJLSlZ5Q1ltZ3RaQVNBZ1NVeTBiWEZhUjZpd29rRWlxY2ZtRDRCODFzdnhCeE5pbEdFUDJueDY2QjVpZDNlWDZ1L2ZkajNNLzNuMnZ1L3BqL3VCbE11L2NjODg1OTl4enp6MzMzUHZlcTA2U1ExN0xQeFpoV0h4TnBQSlVxcjdhaWpUejZaMUk1VmxYUlEycmxUdDdDMnRWN2hxZy9lcVlLdld0V08zSjE4MGViRWNhbWJnVHFUenJxcmhodFhabmJXR3R5RjBEekxGUlRKZHp0OVppMVNkZTEvMStySWxLL1hXeDZqT3RLekNzMXUyc0xhd1Z1V3VBL25lanFpeW1MNGpXbjNEbEFtdEZXL2owL3RuT21JaHlqbUVydjNhUnZlcHZSajdER1ZzNFNaNzNaK25CWS8vbEszWldtQ20yRTI5Njcwd0h2ZkZzWExzVmRxWXpSaXQzMzhmMlAyNVBEdGV3UFNhdVQ5cFVYTUI0Rmw1OFMzMy8vVnFQSXdEem1XSjN2bmdFM3BJczU5ajlMN3g4K2ZLRml5bTdvbG1hYlAzQzVjc1gwKzlvakFTNlQ3c1lwN3pNTmh6TVdNVksvUUNLWEg3OWhYVm1kSmxtQjlENTlldEU0YXlST1hhOW9MWGRXd1VFcDFJOXpkaEZabHZTTWV3VWUra2pZdXo5ekgwc0M4LzAyY0ZGOW9veGV0blkvL3VVYXhaTjJzZVFEOVpOMFhQeDMxVXRxUzZSdHpVbUErYlpsb1B4aWoyWHg2TTRER0xHYVBjOXpUZWhrQjJOeW9CZTRmWmxucms4am9oVEtmYXgxdHlYVWsxY3czWi9NVW0reGJzWkNQdmpXTGpOdnJPMlVpK2N1ZmxXbUx1MW5heDB1V1k3K1VSajFreC8rR0hlQUdPZitFT3pTUHhXUTZEZStHNUgrQ1l6TkU2VktrNTRzVXZWSE9uKzYzK1VxWExuejkraytXZmVLYlM3OWVpMlJnbGdobjNiUmdSS2RSTnNBN1duZzFwZzJJUjlqZEdzM0RIc3lqN1g1SzNvSmlXUzJvMWg0WE1NZVZXVnNXZU8zTkc5R2xobmVNaHFIVmxHZ1BHK1A2NC84UEdScVRpUEJ2WmJwZ3lvZ29tdzc2VUxsVFF3YVMyK0pGbms5ajdPcTVKQ1BlY3c5QjZnWHViTmp2TWxadTRnZm1Kd25Jcm55bW9qVkNNbEk4dUphOWk1ek01UHNGQWFkSFFMVityczVVblNaQ1FKeWxVeXA2Szd3eXVXVW5hc0dkQlQ4RGI4RTdLNS9BU3BqVGR2VmxrZzJrMkZMQ1JFa1ArYVlvWVR4TGdnVE1pY2VKZ0VyZG9vWWFacFZodFhuM0g1VnhpN3dmTWxrbVc0aHAzTXBuWGxnNjhNTlhaa0M4K0syTlptVGg0YmFpTVBsNDVFemIwWHIrWlJIQUYvRHc5L2xhK3hXNWx3U09BSjIwMUgwbFJveVJoNnJ1Rnc4ZUxrR0psS1FGeVc3Ym9WamNDNnNlVE5LNWVMbDFON1d4RWlPV0hjRkVQNjA3Zjh3alhzYW1DOU5sb2QyY0o3WWhvTWd4bXFFUitGQW5hUDBwZXBYSlE3NnlkTjVyd0lsM1N6c0ZYTVpQZXFNTFBGY090TWVlbTRWKzRCMUZzejhnWEVubk1RS0ZaWm1aazdQTG1WKzZ0UTFMbCszRmN6MldOWVIrbzBUZlFNVzQzT215TmJ1Qy9NaHQxaExhQldLVlRsdU9NTmIvV2JjalNWYTNJYzdPZ21nTTNBTm1ET2Mxek83RjMxRXV1bnh4UkJyRUs5a1YwL0hjZ3FrcTdudURaVFZwb29rM3lFR0l0eFhjY2ZVUXhZRVhwaVpvTzJveVY2aGwwOTBIVWg0SWdXcm1TTFllVzlMM0ZuZUtpUk1JNWRDdVBId0dLemNDVmozek9SSm1VR3ppb3I2WWJmeUY2cE1KVHNCZ0tzTDZ3OFpoSkRlOE1tUHgvdytwVlNNVHhaZHJ0cVMrYWxKZmVnd1NjSllwNjY0RjN2Q1JBS1k1K2oybnFHTGRoVUg5SEN5Mno4NlhnQ0p4WlRlcXVFVGMxSUdxemhUZWZaVU5iWUx4V0drb2xqbmtuSXZkUTBVZ1BjRHB4aUxKU0w0VWs5SG9IUXhCN1plS2dXaisrT3pKMXIvdzRTcVR6REx2Q2RjZjUxUkF0anhEdjVRc3ZWOUErSTN1VllpcWlhWnR1UzZqbURWY1RKRXZjQ0swN0pNSVFOZklDNVNLOUkvUnhjOHFwVnYrSzZLSy8xUW8zRllnck5FTE9wQnJSNzNHY0dsblFjLzl5MEVJbHYyUG40bnZpSUZzYUcyN2FqclVhcFV1LzRrOG5VcExaTnZZVDFyQk1KcmxxOTVpc29Ubmg5dEllcHNNSTQ1UEhFRVB5cDZwWkZNQkh5bWI0TytoYXRWNmdXQnZIaDhlcnZhSUNndjJXamZNTml3N2x0MDFpbEkxcDRnWTN2VHdNUjRpMXR4aXhnZUs4b0VRUHRPa01jVXlxc3VFK0hocmRxdk5raTlncGROL1h6S0E2RldJSkwxaXlPcHJzWlEyM0Y2WUxGUUF0emVpWlNMSVZQMWlWWFBjY0lHTGJ1OUppcUIvaG9Gb1pMNnNGM0JKWXVUcFExYzFEaXlydDhOTFlLSTRYRllVQXJnemN4NkFvcjdnTm5IUmZJWnRrNXRxa3pBa3ZvVVF2ZXNlbGlhUDJaanE5MXB2RVpuVTBibkEyZHJFc092TTFhd0xDOWVHK09adUhqY0VuRXRPdTJ0UTVSd2tzZi9weUE4MmtSU0MwNldRRldzbmN1L1ZCMlhZOHVKbHBza3F3V0JQZmZKYlFsUU8vWWRDR1VZazhVTkdvYWlpK0tvRHRabDhTU3RHMlU0VkRBc0ZVZExteFNXU3F5Y0pBcE9RNlh4RUZTOUJnLzNIS0dYVzU0c3hFVlhSSWlzQUc3bWRHdXdpVkhHU2orWHc2dHZDdUVsZEFHd0lYNEZKOExUSldBRklPQ2R0Wkt2ZnVjcWRQUVh1blEzQythNXlmcmttMFNGWVQySWNNaVhJU2lndXB0Z1lVVm1YTS9EcGRNMml3VUVKeVdnc1dsT21PdjhXdm93MzRjVXoyYlViZ25mK2REcHlDemNVY2piUzNGODQzUWd5SEM3WU9wZld4YVNiZDhHcGlxN0lJeWpPZHBKeDBsRys3VURoa1dLMFBnNkZWM3U4RENtczRHanNVbEI2ejAzTGRibjhZd0Jqd1NYbWl5UkR6K3Y1MXh1U2QvN2NDeEg1YmpzaEViOWh6WjZsZ2w1MFVzcXk1WVFMeW54MHJCTTFNOGdXb0ZtWDNrd0k2NVBzSEpSa2s2QktMdG9HRzcwUU9iQWd2N1hSS1lZM0ZKSE1rWkY4cHBLSVMrbHpIMkU0RUtKS2ZtNlNuU0FubmE0Wno4QlkvOThPNktYT1lEY2gxVVBibzB0KzNkdmNNYktHSjRxQlZDWjZiODFaRUFaeEExWVRsNGdPUkVYUktCUUs1TnF1V2dZUkdNUXVtSjRvbGJXRkU1OTJOeFNaN1ozM0FFbHloK0Ztdy9GNkpET0NUeEJsUnJnc281K1FzZSt5Vzk4Z0c3NjU2OFdiclVxWDlaTlRtRm5uMXNHam96eGZ1SHNZWE9FanhIWHd1emFtVGhSRjBTUjFwV1lweUVEUXYzaWVWc2NRdUhPZ1hjc2Jna2Y0Y3BsdWFHMi80Y2ZPMVR3YXBWYSs2QnJDWEluSk8vWm5DRmJuakoydWMvdHY5SndmLzUrdjVmMHZhR3NZQTY0dzRKNVF6Q1ErdllkRHE0UWsrUjhKOEpXZnpyK2t0M09MajRRZllTT3EvUjI0d2k3Lzh5TG9rdkNBOWU0cjNqbkNlUjRMRnhjVlliMzdBZ1I0b1ZDd0ZSQzVQV0xOQjF5ZnNlcmovdzJFaVJWUDc1UDMvMUw5NVFTNUtWMzE5L0xBdFZxc3E2NzhiVFhJdFdGWjVDYjk2bkN2WjlZRzNoVTNYR1pKLzhMYXF6SVp2WGk5ZG9KeFZCZDU0ZFpJQmkySXQ1M1Z6UjdrSkowZmROZEVnWGtvRk1nQTJHUTZ2dU9yZUNENSt5bytFZVc3Zk9pTEYwam14bXAxVENKWmNSS3k3bW10bVJwNHZ6c0xpOFNFejNEQXY2K3hxZ0l3dWFGaUdCcUlWZFlsSG1ScFRYS0NQNGtuaVYrK0FEa3B4bmJ3eGpVK25EWHErVlNPOVdBWmRsVFk4aWdIZ2JXTjRkd0hNVTlDS3JSbDBkVFBMODROdWFKWGpzeDVPMWtTYmh3Qko3MlhhbHpaZm8vbXZXa3JmVDQrdFZOMTJpakFPMlE0c2w0QUhVTTlNMmVHYUtucEdPY1puRC9YOUxucytYNklXREx5WXpmWm9zc0FJTmlsMXlPV1d2MkU2ZVZ5VEk3WnYramcwZDBuV2VZVkh6Zk1iNlZxYzF0UVNpRm5hSlJkbHp5YmV5VzNpVis3ZTFmeW1YL09hdGYwYzRIUVdGSkJqd08xRE1PRXVZek1ieTkwaVY0OXMxS0EydEx4cmdrbHNaQ1hqTWlPNDY2WGRHZ253ekE5VC9iVTQyelc0bmMzekdmNGtJd0x0QXdVaVdjWFlQL1FSNUZlcU5NbWErb3Uwb2tONTd6bkk0SzhpYUNQamREVXlmaGhIQWo2WTdsTldEQzExeXNaK0ZrYy9FK3VtSnhldjdINzUycmN2WW85ZXVYZnROWGUwWlZueDU4aWJ1SVIxTjVBSlJDN3ZFb3Z6WmE5ZitnTEZYb3VsclluclBzZjBScjhCSEJ1S2VMSC80dldpeVZrbXZJTHZOU3hxYStNSVJQWWdNTDVkcFgwOGdMYjVpbzBpcDZicGtMYXRNYVk2WmJoQU9EUzQ0aDQzejJZZThLYnZSQXoweXBLYzFhVEtudHZJR3BhRVZkNFhWTmJuQUpFeDFROVZPa2lWUDRYRHZzeG9wWWMvd2FsNmNaTS9OYy9xMlNsRUVUYmZneFl0Q2x4eXlPMkpZSzZsY0c2WTZRbkNaL3piSjlCTDBybUdSL05iWmUvQlpuVFZXanVpWWhSMVNVMFR3MjFLbFNrTTUvTkFjN2owSWwxeDRUcnp5ZmxNUld2ZkgyZTIxWkFETnRpMTByRkQ1RmVzN0w0OFVRL09NUWRhWkdwc0c4YWp3c1I5R0Y0c2d1WVppekRIWVA4bjEyN1ZtRGh5VVVOcmdFZDdxbm9JTnJpc3BiZElCaGNNOU5kYm0yS1Zzd3N5eS9UM1E4NzFDaDZPenErMUVWSVZYOXlLWFJGenJaTFM3Y243dGJTamV3bnZUdFkxcjJDUjVVT1E5YlRJbW50U1loVDFpaGFBdUNlZVNhQmhuUjRMb1dHMElTNmM1Uy9OTXlrblJ0aGtPeVpsN3EvU3dHN3FSVzgyZkoxS1hoQ1BleklpQlZ4b21leVRjRVZHcjF0a2dKbkZMVkRiWkFVL1QrcGI5OEtoeW03QmFZRHU0WWJaSTNBSmR3MVp5ck9HY0xBK3lRd01va2w0VnB4K1VyVW1ONERhR2NwRkx0cld4a0J5dWNRRzk2d0V4WVZUWFdXMndNYU41THBod0l0RENiYUNQalFPQ1loWU9rR2NvNnBMa1ZhT2VEcFB3emhmd1EyTzRReTBrSlF1b1BINWZDbFVIY0l0dGVHUXJVS0ZSOEJ3U1pCcmFKYmtySzZKR1RVSFdmV0J2QUtlazR3NHppYW0xbFVmWFdoYXpLU3k3QTJDcWNpRk1YcDNiVElYUDJXR21LNVMva2ZrSVA5M2E1dXUzcGRDdUhnUEtZdUFDbDhRTTJaREU4QXpSYkwxbHVBdWd1dlpuU2VnWWxxODR6L0lxT0ZDdUZYbmNiMG4rOGpmaWt1Z0Q3SkpkRS9vRUZEdXRGMkhkNXJPaEpTdnBUY1ZUZUZId21KRFNaakQvWFl3N0l4OVBNQkJtdTZUY09zR3gxS1lqZk96SE4rdkNVRXJZOEZJR05iUDhCSUk3cWdvblcyWXRNTWdNT3NwclZkeXhaSE5KTTJ3TUdIT0hOTFVrZXdPWDRla0d4a0l2QWlqdTJWMGhmQmxZNEpJOU01eVlDVnl4RldVOFQ1U0h3Q016NTJ6SE1Tdy8ydWh3TmhpUm5tTFlraUlXdGdscGliZ2tzbUZkQS9OdVpBVkl2Y0Q3cy9qT3Y5SzFCTmlVVnR5em42WVJDZ2VjZ1Z2YzNuYVFUaEVrWlAvZTBLVk5kRitTVnVuZ0VYYVNCWE5zdXBQVnRiTUo5YmdWL0RCUzE3TnE5MzkwdWtCRmx3TmxESkxLTUNyVTh3bXBYT3dVWmxKT0g2UTkzSVd4WDdpcXFuQWZzSEJ1b2tqaUxnbHR6T1JNR1k4cTg4N1Nxd1FGN3VCMkpwVmpXR2duRjRKVXU0b3ZKOS9DUHEzR0dKZkV4T0I2eTBzWCtDeklHVGlRb3MyYTRNQ2lvOWRVS1NKNDR5K2pmVzh0V0dXUXhnazV6cFFHMEVXNlN2allEK2tTKzc2Umt5eXJ1TkNYdnZ3T3laN1JXREdUc0dGUm9sSm9UUVNHTFZSd0Q1K1p3aWtZR3hFSnU1ZXlBZ2JoSm9kbXZrRXFrYjNsVER0SkZIZEoyRXBLQjNsZlRNVkp4OHRvWXc2TXVFMkNBcSswRGN0SFJacW9yU2VpSTRNWGN5MGNvRlVvNDVJd2w3QkxWcVBUVys2U0kwWHQzYkhMekNyNS9zYXI5Ukg4WmJTZlh2UHhOc1k0SWNlajlFeFd2NHBHV2dLMGovMys5NDRXMlZhMGdteEJ4Wm53aE1tYjN6QkYxb3dRVXZvL2FDY0hmZGNFS0N4dGpiOVZJbUNsYlFYajNyK2VGZEN2RFlLVzRHckJKSSs3Skt5Mm8yWDJSTUt6ZVVramlnQWtjUTZ4YlZqK2F6aWRUTWd1OFJ2UzFhd3kyTEdDeG8xTFZpMzJwdW9SWEZLRm1vQ29wcHJKeUNtTlN4SVhzWG1tVTFibVZ3T05FM0oybE9TTVJTaVdkcmFPL1JDZU9xcWRycUlWaUZYcHk2QndVaU5SYmZWWVNVRG9ieWpYTXJneUVEb25YVEhkSVBRRFphTUVKNkhrK1E1aWlQVFBnYlByeVpqSGNrbXN2R1RZbW1JcTlLOFFyZUxnUkpaN0V5TGJzSHhySVpYSGZOSUJsWFExWTgyeE1KSHJnOFlsaDFhYXVxZUV3U1ZOaXVueVk2amxvUE9mb2xpVDFkUkZMQTcrTXRyTExFeTQwRGRpUWREUWZUWW5mejNWTEJlQTJMUEY3L3l5TFRkN1BjTml3b1FXTFpWMVpFVDZmOFFVYVc2TktnVkEwU3dxejZ2aEVteDR1S1hZSFpkOGw4VHZCcVB5cXNyV0ZMZHpqMFpKK0JTWmhLS0JSVDFBanFCQWNkWEwxbXpESWhWUVdRWGloQjRNMHRWTWFJNkZBeTBhbEhGSitNR093VmVWSDhBbDg3TmljSGNrVDZxbmplVWlSbUtTOEpmUmZwa2k4bUNvb250SlhSSWptclZuSC90Qml4MGxxbSttckVMaERxZTlTWW9LVE4zVmlWZFVlZ2gyRDBXdjMxRUM3SHNYR3plQnNjOU0reXAyaWoyMW1yZVV0VTFXR0lPZnBIRXVRMWYraitqVlBpQ0ZoNXhKTkxSTXVNbWZLODNtajZOcFZFSjc1RUZVaHJJTmk2aWpzbTNFQ1IwbFNWY3pycUNGdmRac2hIRkpEUGVPcVZ0Vit4dTRKRTJNREFXSEJrem5tUTBUSmFtTEVIcithNHQvUjhyNVlOK3laMTM3a3o3NW15S0xFdC9xR21NM2dyNkhtTEVSYUM1b3NCN1VMTHBlSGhER2R3QXkrMnRjb3ZXYlpoK040YU0xQ3E0SHM4YUFTNTdQVjR6RVJDNFdScXNwOGVJOWxwMWtRS2E1cVFwRFF4TmdKSUZ0V0FTSG1xekFhT3ZwVHJxYTFRWXRMQm56YnRvbCtSSEdEVU9GY0p6TmVMZ2syWWdiQWdIcFRaQjRNS0lxcVlzb0hPNHBZOEZ6SkVJaXdXNk9TK3FUdjZHOURIL0JoQWpiY2twMDFWdUhSRTNkR0ZOUmluTzIvSUdYTlNwQ2FDNEJZQnpGVkZteU4wZUwzOUJrWVpmRVdjZlRtc1FBbUVlbWtFR2IrWnJwNUVCUUlvclJjNUk5bnF4MnI3cmk4c3R0cjIzYnNGV1QvZElWaUhRMWt4MnljSDZyV1kxMlNUN2NMVU1OZTJTSE9uQkplL3dORGI2VE53a0w3UVJ4RVVNTjRuM2k4NmJDaHlDTERIcGRUMFBvSXB3bzc5Z1BrbXpMS2RHN1Z0OFVGcFBra29ZMThCUWFLYmdPT3BxYUFoaDQ0VVJWbFdiUlNnR0hYVEluMHcxRXliazBWelA3QjRDeElkYnJGMXFHWnRkWHJBVFhVODFHZUIrRE9ZWWRtaWdLbHd4WVVZb0xXdGh1eWl0cGwrU0xZc3RVd3lXem85Q1lTOEtOOVdMUTlqTWZJMDFBNk1iK2pvTUxGNXV1UzlZeU9uaTFhSEF1UDFHM1V4NGx2dTFOZWxHVDZ0VkhFZkw3dDJMckFpVjA0U3JVMndheXEzTXJsd0xXWG5OeHVabnU1QmpiR3d3ZnpXMjRTK29ETVY4QkgrTnZJR3pEa3VVUmEvaVdMMEJpd2hiT0pSY1YyaVhoN0hSZW9VL1pzZ0dYSkJITEZrWXlDbXgxN2FYRHB1UWwvdjVQNUkwMHdnRG5KVzNXVFNJSXBYakkzc3pQYnJzbTF5WUN3OGthb21TTkVHbndmOHlxcEhGbGdGV28xK0twN1U0ZU5Rd1djRW5ZZWlQQU1ZNUxWdTF6a2dGY2NsZ0x0SkdEd3Jydm10ZzJiR3JTZDBUKzZ6bGllTEoyaUZhbEZPMlNzTmFoWFJJSjUxV2xUU09ZRDZuYTdQNEVmUElETmlwWTJyU1NoVlJ1czBFSzcrU21zbzc5YkFtMjVXUmRUcktHZzZzTm0xdVdtc2Jnd2ZvY0pKL0dPM2g3SXY4eFZ0Z2xxK0ZCSGVkY2NvK2tWTkIyd05oSCtXd3BleUdWSURGQmNGbUdoY3ZxRFFhY29KVXJOOC9DdVF5bzBDN0pveVFSallheXlCK0xrdWpwRFNVOHpVODVGVW1TOEhmSmY4OFU4eUFZVlBkWS9QaXVtb1o5c1JHWXAzUEhrZEUycVlTcHlVblc0SkpiaG9oQU02bVphZ1JkQk1LV1BHRDAzTkUwZkREeXRpa3BhTmV5dk1MaWdXSjgzWW1kUzBJazNRRU1HUHZRYlMwWVFPN0RqSXpJZnBJbmNKWmhaMGpHVmcxR2Z0bFlub1ZsZGZDbVhaSW54TnEvK0hkTEpwZk1OZkdtc1RBQ1VXNEdSUnArRzFySitRYU1VS0Z4SGd6bFJSUnJpM09BUVdoL0tvbDcxbEJJSkR3aHBCeDA3a2dLNS9aNGlaRHZzS0RJWjNVSGovM1ZCUElwd2s4cTBhczFuemFwTXN1TFBJcVlTemIxbGxDd1ZmRkNabzBJUUpUcmtLSUh3aXRxRHRJeUxEWVJOMVg5WmlUbHpiZXc0ZzdjdFV2eUhiZnRrdGtjalVYSm9kazFZTjdVQXVJOTFGTm9wdkFvQ09tSk9XWkR0M1JvYVlwekFQdll6MjVpbDhaWFZZVVZ0YVpnY3NmQTVIaFBwVTVYRE1JU0JmbXMza2pzTTFPYkFlR2EyRmpWMWNPRE9zNmJRRzI3eDFWb05sTE40WTdKczBXS0hvZzFzdU1nTGNPaXB6VlYzeU5qcFhEcW5tOWhSUkc0YTVlRTY5RzBISUVxTzMrT3VXVFQyQkx6LzBwQXZJL2lYMjhYSFpoRG1BbUVYREVsWnBlbkUwdjJzTDU5L1dkVk5lN0Jsd3lyT3VkZDZoQmFUS01kVXFUZ09mWU1MWmFENFhBNER4bVNuQU43blVjZUlIWkJYM1k4V1poejZxai95N1RTZlVPUjFuRTRGaVY3ZGhJSEF4aURnaFdqdnNORjVGMmdKMW9MS3N1d2NNa3R4ZHRYSzVEZFZWRWRzYkJpOSsvYUpaUFVpaGtEbFl6RVhWSm5PNUN6bGttM1hjUnZzY1JqUll5dFdiTlEwUHVGUFFiM3RIK2Q2a2ZZWlViK1JrYlZ0bjNXL0s0T1R0V2JSQ0ZJYnBFaUJSZk5aS1BvT013bnowMzcxNmtxL1Z1Ti9XM05CdSs3cmdzS2dCclNpeXQ2N3ZHNjNWQU9vcGh3ajdsazB3NXpDREExd29sREFUVUpLTmJBbTc1bExNTmlTZTBvYXVYOFRsZEZkY1RDaXQyL0c1ZHNFODhYSDA1ZEV0UXhseHdhejlIYlE4ZEYvQmFUZTlPaWx5OHdjdG9MK1d0UWVoV3ZNaXppMXJGZnBkNUo2Si9iOGo0UjRRcTA5WHhwYmhDRklObDRDOEZ6Y0Jqd0hZZkVLMEp0OW94OVpucnVkbUw5U1MwZHJna3pWbEdaNlU2YlhxTytXUkNwWXk0NXRCdUNTMTRsTFNaSjhHR0dvV2hxZzJtY1pWaTRXa2ZXQUx3aFFMZXJIQm16c09UM2I4WWxNVE15SnhSRVBkVm96Q1YzalV1cVZNTjFFYjlGS0pvV3ZhTFdJQWU5R0RHOWlNSzA3Q0ZyVGVFSHdHMnlrazhRWjhaUjZFT2lmWk9zMWE4UWhTQ1psR3pRK3hzdmRuVzRCTzIrdTZubkQ2ZkJHNUd6S2dieWNoM0pwcmwrdU1WaGsrbE9XTHh0czRVd0xBU0t1ZVRBOWtIWTdUcmhMQVM3eFA2UzJESXMyUjdwajJuZHJuSyttSVZ6bFRBdWlUMEYyWlkyVkFTSnVlVEF1S1Q2UU5sMWtXRERoUy95TnNrc3hZaHRLQ21BMlp1dEw2MzRBVEQ5Y2RBRnk1Zzk5ak5nUlJka2dqRmovYWFTdHFZU1QrN2VYOElpZGJsZ0hRRzlYaVBWUzlEVit0M1BQcDMyK0VXWUVZajM5UEswK1hMQ2kyN1ZhTkdEWXk2Si9ja1dZVGlzUzlhVndZd00yN0NwSHBPcW5IRmVWemxyek1KR3RBTVpsMFFxYWlZcHBvSE1ObUl1T2FsREV0YXNMSHk3THVJMEo0dmljNGZ0Y0IzSFZwVTR3RERuRHNmeEM5bzZoN2gxU0VuSnFvU2xZaTJqeGYvWUp2R2xFSE5WZG1iSzlCRDRTWVhXREFUbzVTL3FoTW9HKzF5OUVjRk5JTDViclRUcHRPOWxrNjJ0STFyakN1RzF1a1h4Q282NUpMcGNVM1JZTEJxNkNZT01RYzV1aUpOYWhzWENkRlB5dDZWemVsM2w5VmJmSlVQaHpiZ2tacVY1TElyQmxDRXo1cEltTHM4cTUzUmRKRWVCZ28vQ0lMaWpPRGVKa3dGdkczY0o0US9UWjBjUjg0ZzQwb1VCcUZGQXlKQ3V5Q2VNdWRRRU54Z0NyUkkvSitnbzJFWjcxcjVodU1XZm5KQXpWdnE3VGRCYkRHeXF0cmM4MEpoTHozS0RzcUdZUzBLMjhoa3dmUk10ZFd6bWFBbEdwQWZ0Z3RZeUxEcjEvVXdDdEJ3SnlPc3F4MFl0TE5nQy84RWxOeVFhTCtQdEtJcUJEbE1oOVJRVk9qN0s0S3BVMFhNUlJlcmU0NS9PVW90MmxUOUJCS1lxbVRkQVREd25ZdUcyRVU4NndYOWJpSTl5TTVXT29uNW9RRkx2bVNUVjhDdG9saTZ4Q2xsd2IwSzlTNVNtZmlOSmVyU1ZWZUtmL0NTNGhqNGRxRmsyc1B3QWhpZmRvbElsSEhOSnhCY2piSnA5SkJ2bDl3ZWtoRkRRak9Sd2tvSWFGbDlzeUtrM3F6cmtkWld6UlMwY2FwbmprRUZ1eURyWVFPOGp6Qk5yck9lbWM1SlMzN29xbExTbE4vc3VvbWtkWUxHTlZiWGxJSFd4cDNyS1g0Q3JhVFMyZHd4T2FLNHFQTUQrYVpBK2lRZG9BdUZ4a1gxWnBrYm5uamFjZ0lhMi8xaDE0TElhc2l0elNydFFEMDZvcndwZmRsS2ExUzJ3MjdxV2gvd3JpS0xQeWg4R3JkU3Y2em9BUy9ia28xVVpISFhKOHlZYlhHbjhWR1pFSGk5S1hkQ3M1aEZTd3lhVlZNNlhYV2x1djZ0Y1FOVENYZ3NTZ1VVTm81cGR1L293RHV0MlJ5SXhZOGpDSTVIcWRsNDY4Ykt5dE84aWl0UzdWM3FJWVhRQUtZWDVhUU84cWREU05aZzFkSUNUNUhHTTZhYmxQRDNUbjZRcHFCZHVJK2l1UVFZL0RhQlhWM2VTWWhYY0tEdUFpa0ZzVkN5bXhSZng5NEtvbDJKSG84a1I4amwxdnpQSVloSk9VZWcxcDJ4S2tSU091cVErbTBrV3U1RGI1d00xV1hhU1RaamhOdzFTdzNLamIvQ3FSWld3K1YzbDFYRUxjNHJBaGJWTmYxYU50dzNrb1hPWDZYanlRMWdxV3dGR2dWSi9MMmlRS1JoeWtUelc3R1cxL1oxdy9XS3EzR1dUck5zOFpQcXJXWmVtVGJBVmpDK3ZBWU5QSk4wYWZMTUQ0RUhMWDNqODJnRTI3Mm9hNThramNmRlZzczZvT2t3cEJlSU9COTFXUlJ6SFkwTE43U01kNGM0NGsyNnBHbkdmaklRQ1FSQjF5VVFkdE0vMCtWb2tFdHJ1bHVCTGloNW1XRHZLakFYL1U4UHlHSDZIei9JbjFUQnhNcnVySEJPM01LZHdyK2RmZXdSanpHNTk0bDJ3RGE3SFphTDlOald6bDY0OXpBa09Qbkh0b3k1dlZoNHkvbzN5Y2tvbnVPMGlZYjRNKzY4UW5iWHNVZTNKU1lHNGVKVlU2bzJLd2NGTk82WUVjNXBZTU0yL1B2dnEvaHEyM3JmWEt2L2huTTFCTkxkcTNyVm5uQ2VQeE1XdnFvMEtxWEJlbmxDVzVSUk4vRmJYY3YwRlBOMThUL0tqZlIwRk11NjlRRDVINU1hZjNuQVA1KzhTTEg0bHk0N3c1ejdXUGlOUHdJb2ZadXd4TnJLYTRnVnFXQlFmWks5WXd3ZCtkRGZuZEZXY3ZzVXM3RFVCeElEN203ZzJzdW9uR1B1VC8vN0NteGxNSkM3NHZieHk4c21aOU9CTkNkSkM0amFPaTJTQ2N2N1AvK0hUbFRTVHVXdmlOWmRCZmtsTGlVUm0wVkl3N3RaNjl5UTc0RCtDbUNSUHNQM1UvYW4rYWJYb0VHNENUa1pqS0NFMFlPZ3Y5emsvWEVLWHN1V1UzWSs1Z3BDVDR1ZWIzY1M2cVZZZUk5K0c0bEdTbjREdFg4U3ZoNDRFMTVEdHM5Y0pxTVREREN5ZGRsTzhaQmtXNVI0N3VNanViQk5DcDZ0OE4ybzlqaUtrdWVEZ1lQM0M1Y3NYTHE3cjNzTWIrZlUreVRMSDFpKzg4UExyTDZ6bmJuSFE4ZnRUOWcra0NjZEZTRTBBUkR6T2VZSHlIbmJ3RzBueU5TZHI2UHJUZDRxa1oyaGh4aXArL1EzN2Z5cWEvVXI2cWd3d1NpekVWOGJwOVphaExRZk55WE1IU3QwZ3VTM3dtN1M0L0hENjRoRW5YbnJrNEZFQjhJSzgra1ZUb3NBbGs1bDMxdmQvQVRZVVYrVkQ2NytVUVNVZVpyUkRhYXh0V01qNitoc09mbjZVeWN6K2Q3cktqNUh6dHlHVU1RNy8wOFBwL1krMjRqUldMY3o2Z0RYWWpvdFl4SDdoS2F6ZGRLWVppcmRqbHFmdXdyN3AvekxCd0k2anlGOWFSa2dNcWhhdGpESG1ZTjJNbnhwalozV2QwazdtVG01S0JSaUx6WnFEY29wRkx1bVFxMktKaHhtTm9Dc1ZHZGJ0S2orVzlNK1NsQnFuZVhkZHBLQnR2S3gySlV6eUwzRDJ4MXJoT29LMXp2MkE3MW1wSlNGMHdTWk5OOXpLNHlwakZiRm1ITExhY3FLbnJUUXR4SE5FbHl6eE1DTjBMRmxzV0xlclNKWlB3OEloMHpnNDEwV2NhcTk0NzdvMVpsNTlFU0psV3haSjFkcUFXMVYyb2U0bkFUYkJjWlRzUTFNUi9NcUpuUWdrQVRibjBWeXl4TU1NaExzTnV5bFJLaktzMjFXZStZOENjazRmNWJySUNXdUFZNVViMkZZYnR5NysyK3FaUnZwSTdVUVZGSWVteS9Kc2piZFU5cyttNjNPMVhQV0cxdlBIWERLbm9zVERESnhwWG5HNGVMSElzRjVYVDhmQ0FVMGRsT2NpVHYxeEY3TS9Hc0JYSTNtVk5jUnMyYXhPQ1Q3U3ZjdTNNL3lWQkhVVnUxcEcyUzVNaVRjUHZaM2xrcXZReDQ5blNqdHh4OE9iTlF1UkZZb002M1gxZENUQWVYVUFBQU51U1VSQlZDd2MwTlJCZVM3aTFCOTNzY3B6cmhVYU1Ocmxsb3VxcytBZnQySkNIallwVi9GVXAyYUV6eFl1eUpMUk9kYzNFaFEwOVZvRkhlYnVQKytpM0o5Ymg3cDVmNjBtYmxpL3E2ZGlZYXA5RHV5N1NBN2hNYUYzK1JEUDBjT0drcGJvbGZQYzhkVEVHampDWXIxanBGUllvYTl4NHZseW5tdmtIZ2JLZlppQkpRNFRmSkN6ZnNRTjYzZjFWQ3hjb3QrK2k1UmdHb05FUEhybHE1Ryt5bzFtaGQzV0hDY0hpR2ZhNHBVRTNVYTVnYXFXUFRmUWNzc0QrUTh6Sm5Fa3gxK1dxQVdGeFEzcmRmVjBMQnpVMUViNkxtTFhIM2RKUE9UbzcxQ3g5VExPTm44cVoyYmkrY1VDamVGWUZqdFUyUnk0RjB6bmNvZ1BpYzUvbUxFclhMSlBYeFNoc3FPRzlicDZPaGFtK3VYQUFSZkpvVHdlOUI1U1F2c3pLandoYVJYTEhoUTlIQ2tXVVlKaWhTL1R6UTFLT1pPekxGSWF2R0ZqdWJGVk4zWWgvMkZHai9HMUkvY3hZTlN3WGxkUHg4SWxyQkZ3a1JKY1J5ZFp3SmEyalZjWHlGWHE3VnY2V1NQaFBXNndmNURNNHIwUGVyVkx2R0prZmRaSW1ZOER6bitZQVpkOEJrK21rWjBIcjdoaDNhNmVrb1dEbWxySWdJdFk5Y2RkcU5SdjlXL1pZNTdVNmZzcDRRYVhqdkEzN2NPUzR0aHo3STN5ZFFkTk4xSGltY2JRK201TnN4NFBrUDh3QXk5bmJPT0lhQ2V2bmFoaG5hNmVsb1h6ZERYNGtJdVkyaE9BcGg5NTFRMUg3SUJ2YytOWHRjemlIaGRScnZZdDYvL29FQzdtUmlGTldDbXp1R3Zxd3dJcGNwM3dWZDBmNFJ2ay9GUThibGk3cTZkbTRYQlhLRGJnSXJUNk5PQmxacS9rZ1RiNzFyZUtBWUlUUk8wNks3bmYxRUx3OFlsUGR5Uk01R0hHTXZzVS91NzdWcTdZRW9iVnZHZHBZYTNFM1FNMGl4NXN6SlpZUEUrc085UEJSOGkwdVhaeDVrSEpEd2ZISG1ZOGlkY3FuNDZJS3pTczVqMVRDMnN0N2g1Z3Z1aWdwWW1OOE5sZHZmeWxVU2cxSFFsVTQyc2RmWmp4bGZxTHR5Tk5GQnBXODU2dGhiVWFkdy9RaTAxMS9zZllPMmVwNjd6OURxV255bTZCeTNvTWgwS005VENqd0xCYWtUTzJzTmJqN2dHbTgzZU5YTW05azF3WVMxaWhHVDExWERuWnJHS3NoeGtGaHRWOVAyc0xhMFh1SG1BMzcyeU5xMWc1eWQxREdSc3NSNDhFcWllNzlScnZZVWJVc0xydloyNWhyY25kQXl5K082SkxSWDFiRktFNTJhclB4aEsyZTJLVjQrczEzc09NcUdHMWNtZHZZYTNLRDRDNzN3S24vVERqN3JmSUR6UThZd3VjK3NPTU0rN3ZENXEvK3kxd0Z6ek11UHVOVktqaC93TXBJR3hyZGg1ZkNRQUFBQUJKUlU1RXJrSmdnZz09Igp9Cg=="/>
    </extobj>
    <extobj name="334E55B0-647D-440b-865C-3EC943EB4CBC-54">
      <extobjdata type="334E55B0-647D-440b-865C-3EC943EB4CBC" data="ewoJIkltZ1NldHRpbmdKc29uIiA6ICJ7XCJkcGlcIjpcIjYwMFwiLFwiZm9ybWF0XCI6XCJQTkdcIixcInRyYW5zcGFyZW50XCI6dHJ1ZSxcImF1dG9cIjpmYWxzZX0iLAoJIkxhdGV4IiA6ICJYRnNnWEdGc2NHaGhYMmxlS3lBOUlETXNJRnhoYkhCb1lWOXBYaTA5TVNCY1hRPT0iLAoJIkxhdGV4SW1nQmFzZTY0IiA6ICJpVkJPUncwS0dnb0FBQUFOU1VoRVVnQUFBaVlBQUFCZkJBTUFBQUF1VWhGVkFBQUFNRkJNVkVYLy8vOEFBQUFBQUFBQUFBQUFBQUFBQUFBQUFBQUFBQUFBQUFBQUFBQUFBQUFBQUFBQUFBQUFBQUFBQUFBQUFBQXYzYUI3QUFBQUQzUlNUbE1BRUhhcjNlOW1WTHNpelptSk1rUmxxWFlSQUFBQUNYQklXWE1BQUE3RUFBQU94QUdWS3c0YkFBQUlrMGxFUVZSNEFlMWJYMmdjUlJpZlM5dWtTWHRKRUlvK1dDNGdJdnFTaUNnb2FLSTJVQXR5OVUreHhlckZ0eUpJZ3RRWGZiaDdLU2lvRjBGYkNHaWlna2g5U0VDRVVoL3VIdFRTS2lRdkJmVWxKeWpVbDZhYU8yM1Qxczl2ZG5kbVozWm5iM2VUMlptRDNqemNmdlB0elBmOTVyZno5OXM5UXBLazc2ZVNsTHExeXBRV2JxMzJKbWt0VENRcGRXdVY2WElTZnQ1ZFRycWNoQmtJYTdyOXBNdEptSUd3cHR0UHVweUVHUWhydXYya3kwbVlnYkNtMjArNm5JUVpDR3U2L2FUTFNaaUJzRVp2UDduOTdHUnIvN25oc0J2Ym1vdEhVaURReXNrbGNOSjZJd1VBSTBVSDRkOFVmblJ5TWdjYjUzNzU1RDZBalpVVUNBd1V6ZFZzY2RJTE41eFI4d2JBM3dZYW10eEY3bTVJd0FrV0NxWFdUSEl2eXBLajE5MkpwQjlOTHlsTHhDaVBoekRCVXpGVmt0dytXVVc3OFdPbkdQWU9VRW5pSUxwTUh6QlN5NXZzS09OaFZGdnVjRytkY2RzYXo4bXIrMWlDSnBNT05LTGJtK1RPSG81L083WnRNOForWmxEODYvMUpQTGNyVTBNc1IrZVM5QlBmaXI0NWRoU2VXM0h0N2tZY0ZkK0ZWZW1iZlYrOVJnWnNjWUo5OUQrMytYbms1SnBWSmdMT2JYR1NReUthTGhZcS9oT0FaVFZyaXhQYU9jQmRlQWhLTjZ5U0VIRGVJWnhjRDhDeW1yWEZDZTBjTGJmbGRPeDArd25sb3NaM0pYUVlkZWNUeXNrMmdEcTlFaktJbk54MHhjNzR0VFoyeUtuZlBBWjZrSk9EbmNHR2k4SWVKNXlGbmNoSm5lYzZRT2dBVG9hUUUyOVY3Z0JDRUVLWWs5eGRrNjBuWDRsQXAyOXY3enNvSjFoMjJvTHlUZW1SUXB6MFZRRW1BUjVXbTgrQ0U5emxMNmk5Y1cxN1VMeVlKaUhJU1Y4Sm5wMGx0d0ZNS1Ixa3dBa3VPNjFacFRPdWpBSEZ5MmtTQXB6MFYrRUZhbmtPMXBVT011RGtJNEFqU2w5Y0dRZUtGOVFrQkRpWmhxdk9kSmNyZWJHdmdUSEpVUWFjRktFWjAwM2lRRWtJTldSa1RqQ1U0WEZROXNKdnF3dVNFLzJjL0I0YmVZd0ZKU0hVa0pFNXFmRWhnOEV2cDhNczF5VW43VG5aZXprcS9TbFo0Wm5jeDhjQTN1Tlp0UkFMU2wyTmFWT0RrdGRpM0c4dmVLWndjemxDeFdLRC92TFU5dnRZSEhDUmFZU2JFSVFUdFBnN2drSWx4b05TMWVLNjFLQUMrNU5sQURhME1acCtFTzNtdmJNcmM5SDJPMnA2Y0lsS0ZXWkJ1T1p3RmNiSTBubEJwUkRqUVNrcSthcTBvTENtT0hhd3VuOCtMVGtUeXU1VWdZMEhveGlCWnNOSEtVbDd2d040WDlJRU1oWkFpWnpNaTJleEtsQTZkbmd4MHdCUW5kbFJnSGJoZGd1Z1JFNFd4WjNhc2hQeVdhTURLTnVFNFpQV1NyUUxDNkFFVHJDWENyTUhQajZjVzZvajBXaDEzU256Q0w3Q29nMVFBaWU0L1BMM1VJUWcwZ2JwTjNGZ3BiR0Nob0lPUjJVRGxNREp0UFNhWlEzdzVlV3VWRk5zVkx0aTlEVDIrRXhVR1J1Z0JFNktJTzdJa0pNcE1uOHRDcXRPL1NMQTFTaDdOa0Q1bk5EMyszVWYyaXJkdEkwditZcnNwTkhvd1dNRmxNOEpEWXNLOHo5eVVzL3pMVngyaEtCbGRNWDN6d0ZIVmtENW5PQnNKaXc3RkdoOXA1blhMa1BJU2NRZ3RRTEs1NlFnaitwNTVHUjZJdkRZc3NsaXc0VU50T1REQ2lpZmsxVnBLU2JJeWZub0pWSUN2dFVNWXVEbjhZQXRLNkI4VHNyeTFnazV1U0RGMm41MW8wMEIwSnZONWs4Y2JyQzZkSU95d1RMeTFTd296N2ZQQ2M3K1Z3UkFCWURTaEpESEZXQk15Q3JGZkZUNDVISW9mckltQk9zeEdzQyt1d2lhTlF2SzgrNXpVcE8ySndRNUVaY2hzaXYrWTZKY0NldEVwQkc1dFU1UnRzclJmdUo5aXlLWGN0NHFUd2k2QXBaa3RhaGFMeWpteU9ka1dWNFEwYjIwNmlEd0tWWXA0b3BuazhoVWtldjAwb0oxVDRjWW9qWnRSa0V4aUQ0bjJFM0Z3VEVrZHh0ODB4Mi96MDhlUDZIZnNFSEZBMEhYblFqalJrR0ZPWm1XZzhYSXlSSXI1RnhQelVyWnJXWG9Yb3piMzRGeXhNZVhSa0d4SnZuOVpONEhTVzhpSjNWV1NQKzFqM0l5NDlrdG9IeEY3V1BlSkNnR3dlY0VuMWFGYWZHYUxTZjBITVBQZldYTWVLNEh6endtWU1BNEg3L2pxTE1GeFR6N25PQWNQc0cwaE9RVzVTZmszOUVqRlFYenk4akppbXNXeGJyb3dDd296N1BQQ1Q0Nm9RTmZSSnhqSWpyTjh2VDZCOXhpaVc5ajZjb2x6U3htUWZtY3NGaDlsWDNFaTdkNjRDZDNhWDZJSTljcmJHYzlneEE2dC96bFdxZTdOM2xIYXhTVTEwUmNCMW5BY1k4L3d2T0xMK1BYaUJPRTlQSkJyNWNTa29lWG1FVzZGRGZjREJYbCtJUlJVQjZpSVg5cmdNOXJ4dFgyaitOSnB3cDRmdDhoOVdTdmpwYkxkS3ZoMmFuNXAySzZvM1hmUHpJZlprRTVYdk5WQk1FK1NpcDdnMmV3dW9GNDUrbjVmYnppZ3J0MDZETlgwUGJiQyt2RGpqRzZmZk9lQlhHMnQwdVNENk9neUowL2Z2MTJDUUVCN0gvZzJ4OFF5R0FKSGlXay94aFFTaEJmYzNpdTVlSytBMDVyK2IrUTJOby9ZSjFTZ1IrWHdOTmNqNW5TR005UndTeW9nc09IOStQTUcvakltcE1BTDY0NHFLYWhDWjg2VXE0NFJoYmx1Yy9SYisxbkdlRGRlMTVIRm9SelZjL2lFNFVGMmF4UlVJWFc4d2RPdTJuZklYY3VIVHhiYkg1K3I0Y3BkK0hRRjY1SVk1QTEzc0ZseUp2UDBmL2QwWFRVN1l2TTBOQUNrN3lyVVZBQjM5RlpHb09zeXB1cDZNSXA3cHg4cE5qNmtqMENWcTlRWVZMN2ExYWcybnZsZDR1emhKVDRrWTJyc3hGV2w1TFpOUW9xQklsdVVuQkRPUlc2a1ltaVBKTElyRmxRSVVqYmNaT0NNeDEyRmhPcDFramt4U3lvRUtUQ1FYcEFkV2ZoMEUzdGlsSXlpMlpCaFRCOU9FTEltbncyQzVYUnBzZ25YUE9OZ2xLM2JsdzhOS3VMNk5IdVlrZlNCT2FNZ1ZKaXdSUGhtUEtHZHVXZUs0bE5tZ09saElRSGtZYnloblpsclo3WXBEbFFTa2dEMHZ0MVpSRTl5bjd2aEpYRW1qRlFhakR6NHFGRVhVU1BkaURGZEdJTWxMcHB5elNZWWlMVktzbTlHQU9saGxSaWdYWDFiVzNhM2hSREI0OGJGVzJPMHh2QzJQRU1JY2RuMDlkTVdXUHRadklLeGtDcElXMXpwbGg2NnNvNHZabkNoVEZRNmpZWDREcitIeUhpM2IrNlN2WmF5NkRLZ0gxNlc0b2xJWHRHNkZmTlZrRXQweit1MEZOWEp5WExvRVpoQVNOdFU1M0VDQ0dXUWEzaXF0ZVQ4TUJxakRqTG9IYmkyS2s5YnF5MXlSeFpCcFVyYmxRM2hwTkJOVmJLTnFpZUU0ZG5qRFUycWFQTVFmMFBneGNCRTdKcE0vY0FBQUFBU1VWT1JLNUNZSUk9Igp9Cg=="/>
    </extobj>
    <extobj name="334E55B0-647D-440b-865C-3EC943EB4CBC-55">
      <extobjdata type="334E55B0-647D-440b-865C-3EC943EB4CBC" data="ewoJIkltZ1NldHRpbmdKc29uIiA6ICJ7XCJkcGlcIjpcIjYwMFwiLFwiZm9ybWF0XCI6XCJQTkdcIixcInRyYW5zcGFyZW50XCI6dHJ1ZSxcImF1dG9cIjp0cnVlfSIsCgkiTGF0ZXgiIDogIlhGc2dWbDlwS0hncElGeHNaV1owWVhKeWIzY2dWbDlwS0hncElDc2dNeUJjY1hWaFpDQmNkR1Y0ZEh0bWIzSWdmU0JjWkdWc2RHRmZhU0ErSURBZ0lGeGQiLAoJIkxhdGV4SW1nQmFzZTY0IiA6ICJpVkJPUncwS0dnb0FBQUFOU1VoRVVnQUFCQzBBQUFCVEJBTUFBQUJKeGVDYUFBQUFNRkJNVkVYLy8vOEFBQUFBQUFBQUFBQUFBQUFBQUFBQUFBQUFBQUFBQUFBQUFBQUFBQUFBQUFBQUFBQUFBQUFBQUFBQUFBQXYzYUI3QUFBQUQzUlNUbE1BRU4zdnpYWkVtYXVKdXlKbVZETDhacHBXQUFBQUNYQklXWE1BQUE3RUFBQU94QUdWS3c0YkFBQWNTa2xFUVZSNEFlMWRmWXdreDFYdjJidjluUDNTSFNFMkVNM2FSeUNBWWM0K0c2UjgwQnY3UU1JU3pDWDVBK0UvbUJFQmc0eGdMeEIwUkJiTWhsZ2dZZUk1Z3lBUy9ERkxMTEROMTZ4c2dRa29takdPaEFWL3pNWWdRQVF5QzBISVdFaHoyYjBrZDJjN3hlOTFkMVc5cXE2dXJ2MjZzOFAxSDl1dlhyMzM2dXZWZTY5ZWQ4OUcwUjZ2aFcveE1GVGY3YW04TGxVdnRUek5QRHZ3Vk42c090QU10Ti9sWTY5ditHcVB2bTU2ZDlQVHlNUTFUK1hOcW9QTXdJelk5ckdmdUx6c3F6N3l1czVYZlUxVTZ1LzFWZCtzMi84TTlMN3M1YTNHdDNucmo3aHlUclM4TFR5N2MyUFYxdHU1dlZTKzVWZmkzYWMvdnhlT282VTlMZ2IrQnNZM2RPWWJyL2w3dHlodXFOckt6bFVmcU8vOGhpenM1ejRya3V2YTgvdGhEdU01SWU3NjVyTm56OTUrS2hibkZFZFRuTG45N05sVDhaY1VKZ002VjIyTVZWNFFxeGJtUU1WS2ZSY2RPWHZ2N1dlRTdzdWsyRVdmN3ozRE9wdzJNaU11bHJRMnVseENjRDJxcDNwaTk1UzQ1d0JOTlhiK0tDYk44RVpUQjVBUDFyVkU4NUkvNTVXa2VvYThvakFwTUNzMkxFeXUyTFY1Y2hSN1FVenAzbjFGOFUxSTVMcENwVUMzTks2Y0ZUYVBKZUo2Rk52aVM4dUw5VklkTHU3S3pPWE5hTEZEc3pBb0pqcGd6ZVFuSGttbithbGYwTDczSnhzSjd2NkhMZUZyUXROWVZiSTRrZHZGc21aZjl4LzV4YlFyMTM3dGZZcC82c05KN3k0L3VhbFFDVEFsdm1naUhLVzZOanVPMmtCVTVaL3ZqZTk2K3JPQjFEYlpDUUZmV3hQaVZic2l1RHhlQWVrVWJkNVdNRTg1WWVWdlA3bDcvNDh5dXBOb1lNZHNvUUp0M01sNXIwcGM0cjhodENxOFJ3TFdiQ0JZaWRFOUsybHlDMUIzNUZUMFpNRDI2ZnZQVTBGOWdoOUlybDhOb3JhSktuVnhaeFExQlhPTU5rbFp1VE1naXZsWUhLWlhYTVNvb0dwMzZNWW5NVXBiZVplRVk5OGZEd2tlbWp0YThxRkFtRUpoV1liSU9hdU5nR21hRkNzSDdWUzFJWDdnODMvOUV3MGhmbWcvb3FhVFhkNFdvaXhVS3hZZWJ5ZDF0NTQ2WDB5ejF4cFlBdXkwdHpYWW9NaUpYN0xrSEJlT0Era3d0ejRXRnhXUEhjQnhPc1NsRVpCZDBYQlkwUG1jY3R0Y1ZJNzN2eHladUtGNG5LQ0YyTFYxTWhyUGJTd29DaG9LVVc1N2k2UTRCbDlFR294L05yVmZHTlZBOGxTaEYxK1VoZXkrSkxZc1RCUlZoSTc5Y3BVS01YL1lqcVNQN2kwcjhTa2dYcmNRS05aRXlQWVpIdFNSVElvUHBXMmpYeUh6WVhlMGwvUWRzZk9LWFJOYXJoejJ6a1BEaTNHMjRKbCtKSDNCeE50QlFkTVJuODNrdE1jNWtucUFPWGN5RmlEaDB1eTFuSFE0dWFpVDB4Nlh3SWtRWCtoaWxMaVJWTWtGOU91Y3hBYmZLNmx0cm56c0hiYXVCNHVJeE9sdzJrREtrekxjV1JUYUlzVEMzbitWZURVdmNCeTBJYU9SRnB5WHNRL01NY3ovbHNsMzBxRjZpMkc3ZDhFZXFpbVpTdlAyTVl5VFZHS2xDM1hoY3JhYzJBRkRtMVlkNkQyaER1VlFaYmJZVUwxcWFodUJFTW95RDlPdVNLSVh0Q0dqaVVOVzUrUDVmZG0ydzJRTWNpN01ta1gxWFhORzhxV3hMdzJDcE5wakdVdFhKS0ZDWG9BUGd5Qi8zVmNmVXRmYjNiK3RjY3RIcjFwWnpURjl5dW5rUE9YWTBoUGlDZHlRMGFTdFpGbUQrNzNOUUMvT0c4eUxMdnNkYU0xd1FsUWIzaENxQ3lQZmlZcVNhcTJVZGd4d1U3T0ZRVGlPbUlNSll6T291b2NlWUJ3VGFzeFFrYTJzdGJ6aTExZU1qaVNGT1cxZzhwVU1VeEdsTzVKUmw0UDBNR0RESUp0UWcyRG9uaDJFc0RvTzFrck4yZERYL3hwNnM1TEtJM0RBUllmQWMrTGdpOW9QT25tRjlFYlNkUFZleGlua2RJWWVJb2tsS1pMN3BHdU9hM0krREZKSG9hTVV6bEc1ZDlTOFhvbU11V2xIeWNCWHJDRVV0ak5UR21CNDlZS01SSFo0V3dKNHNiQ2RnZ3JveGJtQ3FtRDBSTkJZcHo0ZUxEQ0syWjZ2cTZocERRTTBaUFJkQjdCbTZDU3NxUmpHRUxyZlFpNjlVblZaNHNuUVBOR1U5cDhGUGRxTFhwd3ZrRkdJUGd5OWdBVU4wTWVsOEVkem1PSkxxc2R0Y1NXRCs5Q0xaWVVIMEx1VGx6SzRIdXBNbDByTTNNODZoSHRRdWZUS25DdnNtaWhwVkRkUUdoUjQ5WUtNeE9sVVdBMWd3UHJvbGdrNkRMM0FXZGVSZFRUYm9RU2p1R3FzcWsyZ3l3amhWbFdwcVl3RWpYVmI0WkhLY3ptQ3hkSjlKaVhNK2JmdXpGNE5LWHBuT0k3UjY3SWxkaCt6a1RHMEEreVZMYVpYTHhBM3l2NlBBUTRjRFhoUmg2RVhVVnU0dG9iVmJyV0g0OFNtaFhRWG9RRHJxbWFrUm1WbkNFNjZEbXJUL3RWV1luSCs5N3MvVnlxVmNlZkIyRXl2Vk9LTlBBMm1LblRyRHN2aUpLOWVJSDBtTStscjBJdHRSMWU4cUVQUml6N2YzNFhOMFpPd0swRWRoQ3FjVjJMR1NrbnNERUhia1I2SWxrSnNWeUljaHQvWG00Q0g5YXFQQ2RBdzB5dk8zQXFlcExWTXJzSlMzN1ErZVRxL1hsVC9TUnJuSmw2TXlYT1hZQTVGTDJEM1hSR2czWFMxZ3d6THRvMTFsTHZjSWRhVW83UXlCTTcwQUY3Z3VlU1E2RVRWcGFWMTFyYk5zNCtUeGtCaWRId1dYTG1WQ0pHVHdlTXBUT2d6bVp2S3J4ZWFwN2VmWjZLSG9oY1VjbTNwamhSQ2xiWVFsd01Jc2ZQT0tTRkw2c0JsWlFpYzZZR29HK3pBWVdvM1ZDdDVvTTRYT1YrZHgwQ2J1V056NVZhaTJlRG9KNW94cE9XYmkwTDFBb3RqUDI1MFNMTlFoNklYRVZUU2RUU3cyc0xwL2JlUWdoamswRGJDVURQb1JSYlZXaG1DcGpQWWJlUWMrS2MrdWZNblNRdWZxdThZWitXaHo3Uk1sWmx4dTlQMFRKcVptRW1ud3ppdXZMNWtyLzV1L2RzSFZLaitwbmdIM3pNWXJhUngzd1AxZ3A2YlhYUkw4R0J0dmZpbVIrcDNQNzB0R1NwLzhXOC8vT3YzclNDNS9ITm5ubDZXMlB4OUJEdVF4N293SDRDejA3YkFSVUh2VW5FdlRPZVlsTTdNRUZSWmJNcms1Q3pYSzBMRWlVbWVGYnNwSUtuSHZxV2ZLUXY3cEJSMVgwTzNWU0hxeTlPMVJnRmFFdFloQlVIWGJtb2R1K0lNTjVQSTUzdkRIN3diRVJZMUlDTWV1RGFxcHpTUzdOcE9rWitCem1QbEhzOUl5S01MVEZDbGgwNi9SL0ZaUUFWY3hwQ3NlcVA0TjB5OFVhRUx0UDdicW9oeFpWTnNaZ2ljNlFGeTRKcVZaTXlMT3piaHZ6YVE3WGozY3ZRUUMyaXhTSzhSaGZ2cTcvbHMxMGUzOWQ1eDVsWVEvUmhIV1N6dXp0OUhieVdQTWJmN2ZEVFY0NzVMbFBRZ1VDK3d5Tzl5RDdFUW05T0xIeE9YbjQ4cVA2VVdXZXJGRnk1L0ZvWmwyeTBJczM0TlV4THF3LzRSdEI5eVM4cXc1QzgyRlFYMFFycHQ0UFcwanB5TGloaEVjU1pBbThnbW9Wb3p0R3Mrd3dUZ2lXcW1jQ1pIV3VxRTdVYkd1b1R1YmN2eWdudFJ1NWJybWs3SW1qQjluVlhvY0VNTGlLSzYyeURLRmdMdFJUWGUrMnY2ejEyNDhQTkNmTThGWEltaXo0aWRaR0MzWlBkbzRSTWZ3MkJYNkdGK3QvQXMyc1Q3NUIyMXFWVzNDNEdISVBMUndscFU0RkdacVJmU2JjYzhReEN2dW1UTWNSOFBndG4wMjRWWWJIVkJqMnpQVmMwMTR6bS9MZG9HWDdNVlFYQjRPdm8rNXJiZFBjczdkWk90ZkV5OFBrdjBiU01TNk1pRVpVR0RZZllDMitvN0NnVDQwREFERzdLKzBwQWFPcFNoWGhSOUVIb3hCNmRZNTdscHlVSDNaOFNWNWFpUE9kRmJuRmM3NEpkQi9HY092RVJScms0THc4RGsxbTJ3WlhXbkI1QlZsY1lsbFRaTUpoNHovbDBrY21Tb0w5cVJUZWJ1KzNoZjZqaTZmVkVLY3VaVzhOcW1ubTJpbkUrMWRscnNqRitsL0sxSzFWQmwyN0l0aE9OWGtGN2dOWDN1bXppL0YrWjZnUlhPYU5IRFFRYkNNSzhNTWR5NHdGTk14VVJLUzZubUpPTXN2ajBINnU4dnJpYnZoVVhNTHBydURPUldhY3cydmlURmZjbWNobXAyS21pS1hacWVIbE9zeEM3cFpwZ01BdHNabzRYMkZhbmI2eG5CWXNGczhJUWRTUHZwa1FvR01qNmZQSlBnYkUwQlhmRmNBWHJ4amYvYkU5ZTJQVElLcTdoZTFMV1I2eXFEQVJXNWpldzQxbVRGSlNVMUxSUVNublpWdTNHM2d2dzczVlhBb2s5dXZlaXkwTHF4NHVUdm05bWc0NW4yRE5OUERHSjE1aVZtREszbEZFSlZlOTlsbEY1WnplUWRsNjdQbEk5cE9zY3hqWXRKS1F1b3lCRzFkUFZJcllIR2NhaFVMK1l3WEhGdGsvTUV3MHd2b085S3hvUjY0b0VBLysxd0krUXBXZzZwMHJKZ0p6clRDUTRXUXIwRlhXYWZocGhVZWIxWVRnbXd1dEtsdU5NRDlMYithMXpZOEhSYWFxYnVFcjFjMTlVNENRNTB5WUQyOHd5ZVZqZHJMbXE2SndPVHlWdWN6MFlEZTBIZUQrT1dCcHM2TXphSFFpampLdFdMRStpUUVOK21GdFhnTGlrd3ZSZ3kxNHd4cnFhY21MemJhYlRWRHovbUVyV1dEV1ZzSm9GZHBBWnVQaGJpbm1VRHBRcWtGN3FLL0VoV1dnT1lVZFg0RENwTyt1REJXSkY0a05hMVU2MSt4akFEMkwwWEdTc0RNZWhOVmd3RHNlZ3lJcWh3OVdQY21OWVdLeDdMZEJoZW1IcGRyZk5UTkhaaVp1d1lCd2RMOVFMRWxmK3BpMnN0emhVSWE3M0EwM0t5QzltbENwaWlvdGtES2FaMkplR0FEWFJINEptODNHMmhEbCt2VjUvWE0wMEFtcFg2NkV1Mlh1NzBRQlIxeFZlWnFBVnBYbUFvRXZUUEdNdHRXQS9HaHZpVVMrRTFIcGg4YVJZUnVITXJPQjBKZmhDTlJxZFRjVmlFU3dSTmZZNkxYektzQjY5SjRSQzlTSUlvbkF2MmZHbTlRSitUenFVaU92SzhSM3F4WFNnV2k1WldVdUJaU09Xc21Hb1VQWGRubWdCT0ttMm1FcFlBdGhMUVRBLzgxelUxOHJaY21vUnNUdTQ0dDlZcW81aUtWMzh4RlMxVkNBZlF1OHhZalRKRGtQQXVObjVmeXNBc1pVTkpNTDJMYVFYR3RTcEo5SDJwWktlRjZRWGNrZmhlTFRRVTBucFJNenJYbEo0UWVpRTNuVU5tVStvMDRneXRGMnlkSER3U1ZmamNuV2tDYUptV1VHQTJTTmlOOUFBMjZucUN4WitPa1Y5Ynl2WXZLQnh2anVPaDk2cms0M2Q4MldrNEkxN25nMlAxMFY2OHl1ajZjbzRpUEF1VExqR3BsMHJTdDhMUmxQbVE5SUpXcHNXNkV3WnF2UmdhWnlobzJXb2lBWHBoWmdTNFhNeDNOdk9ZWXpWa3ZrNmMyb2JwdHhGY3pnOTlrak1HRnFZWEJLWmJyQ3ViSlpuWWhSdDBwOHZVaStsc1EySnVYQ3N0bldES3F2NTI5NTRoVEhnYjhoUTh5N29mUlcwOWdaWmVmQ1JyY3VSY3VTVnBzbFhIVENEUVh0RGgzRFY0VTVoZDBub0I5b0d1cmNsMEJmU2krTWdHN3ZXTUo5WnJ5ZGRKUzNSQTFUYnMrMWF1b2xBdlZJYkFUQStBZmlDRjlBeDdJYkhvMFNVSnMzdXN6ZzhNV2VsaTJ6L292WDZha1RPd0k4OFRabTZsSjVSWFFVK1hHWU1FTVEwU1pQZGplVU5kK1cvV3IvWXVLenk0eVRoTmNBeUw3MnJWcExKSzZPbEdpaEpzZGlrL0pGNVA4TkFMTlN5TE56bThibWZJaGg0eVg2Y2NpNEdnTmRocEdTZ1V3TTgyM0FSS0dZWEtFQnczWE5zVTA5eUdVd0VnWTlWdUJXV25YcUJMcGRlZERtRVU4MllSUWVNMHIxL1Rwd3dZUEY0ajRib3prbkRveGNuaW5ybjhaQ3Fmck95R2JDcjBydlNDVGxsYm1ndXVQRDBKUWk5U0JkRjFHbExSYVpKS2xIaStUaEpYZFArQVF6eVpCYTMrVEM5VWhtQm9Hc1pQYTJxM1h0U2svekc3VVhjb0VjWmJmcmxQSzhNc0ZKczMvWG4xYzZwVnQxN2dKSGhWa1dnQUE5ZUZGRm9yN2xxeHM2ZkhUZVo4MldJZFphVVhOT2N0VFlCT3BlZE96Rk9oVUF4SXFXbWJqWUt0azVib2h2NlNpWkFVc1Byc0NNVDBndGJzRXFpSzBnT29jdXZGeUJpYmJNZHRMMTVCSXlYWDdyb1N3WUV4MktoY1MzY1VyOHBndDE0VVJEOE9lekVURi9iTStxa2UxampOMnQ1eUNHQldla0UydXFXbFlUWFNWSzVQTDZCTEt2NXI1NzJobGxZSXZZeFdQMnJYa29Kdks2VHFDZWxEMnVDTTAwc25ITzc0b3MyVVZna21QN0xDU2hKRW40b3RwQ1J5M1d2b0hsbXVUdUVyQjVqdDVUeG5RZlREUHNiTTh3QVRHbmZTa1lEWlg2ZXNIRkxwaGJsSjhXNUNOcFhRQzdmVmhDZ1kvQlVwc2FPamJva3F2OVBlekQ5WkpkTzFyWmpSRTZYdHFDRGp0VlljOFpqbkVTbkU3Y0FMOUNMNlQrZXhVY29xdmkraGV5MWtwM1FVYk5OaXdoeDZnUkd1MnBRb0g1cGUxTkd2Z2FNQkgwcnBCYnJNRmlOTUx4Q0VuSmZDRzA0ZktXdmQ5eDlIbXcvbnF5alVhU20waW5TQXdRaEpKZUpWVldzRFRyMG9jT0JGK1l1b3lRSlp1d0ZQbWZiU0FPdXAxRGhINjlhTG1qdjZPYVQ4QmZsV2ZXek1kYWtBb2ZTQzdFVkxFMkUxMHBqZlp5LzZMRlNOaThNUUxkV0VYa0tUajV1b3BFUU9jVXZoc1F0VlZOWkw0Rm11d0lvdUJjeDhaMVpaNE1DaEZ4c1dlMXFjaXJXK093bmNTTXdscFZlNmhmYVZNaTJiZWQ2Uk1mT3FmcW5FQW52OXlDdG4vbEFKd3F3NURaSWljQUJLTDhpcDY4V2djNnFLTHdySHVhYUhpUzFaNkZVZHpSTHFCYWplKzV4MTZNcEFWYUFueXQyM2sxTlNYK21KSWxKQTE2V2VXQTVYNTlEbmRjVm9BTTlvVlRUdy9nSnRyWFU4TW9KdUZGenVCRHRHdGV4Z3FJa3JEcXhHK2ZTQ1RLN3FSZ2VGRmMwWEJDbTlJS2R1NmtWNjh2SFppNkVPNTlDUnZUVmR3UWwxZCtEdVk0TTcrQm9MYnB0SnJHR21CMHdSSTYxRXVnSUdma1dYRklTOHJKbzdoVXlBU3AzYlRyT3V1RVJiYXpVeWN5c21OUXdYbTJOWlYzY25OdnNseXVuVEMwcDBxTzNjUTJGRk5oWjRWM3BCeG51Z21aWmttdE9uRjAwOUlPeUVjNXE3SEtwMFlaQWNjNVJ3b2s0djJKamxLa2ZrM2ViTnVYM296UGV4NXB3dkxkUlVIRFMvem1paHl3Tlc1T0FKZmREaWFEK01WVWNDZGFpc0cxRlBQWEUzbXhkTTVpQW5BMlpMWnBSZjVKWFdxeVM4S29GOWVqRkVWNVJWYmFDd2tXUDNJNVJlUkRGZmpLZ3YweFordlZEWkZNaFpUbHN5MTZtZzlXb2JPNzlWVUJtTnVJRkhZVlVTUWtkRVpINnUvQTNpTEgreHRhYW5ReklscjNWbUtsaTdwTEcrOTdXcVd1TVpRd2xJVyt1UytibHlwWGU1c2JPcCtLQUNGMVZCQWxDblRKVXFSaUpyNUhLSmtnbDNuMTUwMFJXMU5uVVV6alBHRUZEclJkdFFxcEY4OThpbkYwUHRBVlh3YksyVHV3L0pFN050ZHgyd05hWUtPQnhvUzRRS3NXbWtCeXIxOVlqL2dLNzFmbWZhUkZzcGJYT1ZOUXE3cjVlTTRRa2NPaGJRSXNrVnNlcmlWVE8zY3VJS252dXRha3JYQXVub1o5STR5VFJMYkpaUEw1cm9palJDdE9OTkU2djdVd2hwdlZpVG1wRFFkdVdXOWVuRlNPdUY5T3YyT2prYm51b2hmaXhja3VRUjZtbkYyR2FydDRRUlBxalZCRFQwaGtXYmpYcENKenRRVzNrd0VhTWRlUDJja3BzOGgyVWxFd3o4RVZDVENiMzc4cHJLQUZNZDNyQ1lsdGFBeW5XdUpOSFh0d2lubzU4Smc3ZnR5TklUdmJ4OGVqRkNWeklqbEdRRERVTWtCZmp1V2krUW8yVkJlME91aGs4ditsb3Y1SWNSOWpxNTJsNkFjTzh2WVdBajY2N3duQlNtVUx6ZmVLVjJ1RUtQWmk2cVp1YU10R3MzZVNVRlE4aHM2cFR4WU5IKzFrUUpBUkQybzhHY0EzQWRTZjM2Q2tQT282L0d6Ni8wK0JOY2ZCaTVEZUt4TXRScmR6SmVER3VGRjNPd1R5LzZtS2lOaklQQ0h1VlRjbElLRUZvdkVJVnBkVVdvbnBraG4xN28zMUNFQ2QxS1dyRFh5ZEhzUEtidjZyS2pRcUVnVFNwN2hDUURwYkxTQzcxbGNUYmg2cHVVemo2ZjFTZXZyV25SQ0liSk1zTlFaNE01cmtjSS9ER0pWdHdNNkJiN0dFWmxnajNxM2piRFRlQXhnZEZLa3lsODFFM2RaVnM1bDhZNXhtc01pK01sN05NTGJDRGxSdWdKaHpxYlNPYXl1OVlMNktkK2VnMVoyWTcxNlFVbVBKTS9MYzIzdlU3NTlpZGp2UEdiUnh1WXRqWkVVRmR0TzlDZ21zU0VZUjRiQVRvOFVOem83cllxOUVHTkFuSjBtVDZRMXVxcnhyUlBZek5vaVNsYnJySUEwVVo3YWptSVpyaEI3eUpvdlladDBDdUVmaWVlSXBZQkZGa1hmYW10cGxFbTVOT0xlZkdvMmg0WWZsR2V4aFRJUzlDTDFheU1NKzlBVnZYbC9xZlBxZ3VmcDJKazJ5bEhMUnR2YnAya1FIVy9GZE5RK0lXQXBFTHpFa1RxV084aXloQm81UVhKQk93S2RIaFRVcE41R2FqQ01FM09OZU5zdGVSWFJobkIyQmZZVFhPTHJ5VDZnU2E2ZDVxVDFMZVEvdVN0TERFbG9ZelJDaXpjcmxUMXZqSFJtSGcyTEM0MWczMTZFZFcxL28zUXpyS0QzNHRDVkxHYUVhQWpNSHZwcFo5MllMOGEzWlVVeWIwak4xVTdXNDM4T2huMFVVUmZGUDJnaGNzWHNkU0RERnZqSjBaeWxkckRnS0tHWlRBL1BleXh2ZEZPREVWVnZKajUxeE5YamFhRzVpSWFkYkJDUmtObVpVRnBoTzVCRTlSVklSMk9sYU5IWVU0YlFuSnZwUEw5MTdMZlo2blVMeXBPQVBQbUR1QlZLZXpWaTNFU3VpU0VjTnZGSzVnWG0ySmdaREMxNlRWU1M0QjFXYytRMEdwbUJ6T2t2SjNNTkdsQkRqZS9UcEkwdmRNWGlEcHhiOWJ4VXZMUGNoSkVodzhLcXN0bkdSL0hZbUxYakJYczZ2SFFFWGNEYTNFRmRtMFp3dWlzeEsrT0dpVEhTcmdCRjdYSGEyd0ZlTlczMDlOVnJpb0lOWlZNR0Q5cW9yZmVUejBsenJUOG1wRnp5cEVjOXVyRnZQanVqSmJVYjhENWdtQ1kycS9Rbk5HRngwWFpwOC82eDl5aXI0UGxiaVhWamoveXgwZjcwdWprMThuZ2VobDlmTXpBRkJTZWxaT0NhY1hTeTRzeUJKdXlJTzhkNHp5M3BvMGVYRHNXSnVxc1FFSFdBWHpRV3VuWU8xOU52WUt5cGJKN2pWbGNTUXMvS0VIY01SelZmK1RPTUxTWm5lUlhHR2oyTnhnaG1jSGkvWmdRZXZVQ0NaanN2WmF1WldLTlJ0eUZ0MTU0QWhNdExqLzFrWFR1bjhrV0FjKy90eEtPK1F1UEVNSHVVeGQrenkxaEtPamJpSVdZcTdxNVRwenZJY2g2bUNNS1lSaUdpMG5sMkF6a1ZBU3BPYUVyNjdxRUIzN2EvaytTeTNwcFp4a2h5SlhseXIreTR5d3hvSTFseG1pRFk3MkNkbFZSZWNsUTRwU3FKalU4TGNxWnBWSVQ3end2MUcrakVPU2owZHQ2cHBORGlLcmo3WlRYK3V2WEMyenlqeFBEWHlIRzJyWTR5NHA5V3ZUa1drMUpYeERpbC83ajArOVg3MUJCMmJPcndFTk54WGdrV20zTE1JT2tXT3VVQ2s3KzBpK2lQTTdLUHZBTHFUNGdvRWoxSTZObG4xWkxiamk2bG9SeE44enZQNGpkZXJKdlhoQTdzZjBKL2FROFF6RnVCaDd6V2hOR3FFSFhEMkpiSDBaeTM3VVFpN3Vnc0FnbFluRktYRzVwUVFRMXBRMDIwYnJrMXdzS3g2Lzk5cjgvZ0RrM1psRHpGMFA5WGZxL3RMZWZPcU82QUpXZzY5R01ad2IvdUJiL0doYi9MclpBTDZqMXUyTHh4NndOYTUxMERWNjNLSGl1cm1rVVZPbUllellqWk1Da20weHJPdklBcEFpUlp6WU0vcFJSL0pmN2RuNDVJZjI3K0owcG9Cbm4vSVo2OGt4TDA0WkJNK3dVS2prYUxONEJibzBYRng2SnYzV2JDT2VmMkgweUFhaVFYYjB5dlN6UmkrVGJjS3lsK2xFc0tYaGY5ejkvSkw3cnlkWWVXREcydTQwWnQ5WkppWUx0MlIyb1VpbEF1ZkpUdVV6SFd2NklheitPamczejRXbW5WbWFvUGJ6dXFxbWRnVjJCa05mWXJzY0tkNWpGQ2JNTFMrSzd5dlFpcXI1NHI3ajdEelo5TXE1am5iMU9zbWw4UHJVbDRaQjc5Y1g3ZHUvL25YSktJejhBOHE0UmJuajRtOXo3ZWVnT1ZBVjdhaXdNSXAwd2VaTm1ZT1ZnS3RVTEI4OE5STm5ySkxzeWM2MGx3VU85Ry9rQlNLNFp4eE5QVS9XOFQvSlE3N1BLVEs0azBWZVlwQW1IVHpJNTMyUjZZYStUT1poREw2WDVnWmYwcGl6L2h5NXBINnIrc1BPUU9wb2tWeGF5NHovSkRQMXZPT3JvWDlpUm9aRTJMeVI3ZzFUazF1bUkrNVgrcUI0OWxzbXUwUFdlRHZYMFV2Qys3aDJLTStueG1ieksxenVsYkplR1NXdjBUUEJOYytYVzZZaDdYaU0vdk1pM1Rqdk1QOVRFeGhGM0RlSVJQWjdIay9RVjNkSjBxWDlJYUN0SkxsU3pPYURqNzNFZzM3Q28vRG9kYlZkSE5NOHpQRFVZdU9EZE1QVTVXTytSZjltRzd4aG9LUUVMVHNTelllcWo1YjdSb2Z3NkhXMlBrK2NoTlJocmRZVk5hU1gwWUtEazdnZElub2Nrajg4VWQ1Zysxa0pQVlVydUd4eklyOVBSZGpoSkMvWUd2Skg2RlY0cWdHY1BQWHZoYWlqSnFjNXhhNGJYOXRaZGxCYXVXNWE5c09qZjhFWEhPaDFwbjhjSUU4ejNaWkZUYkpVMzJTOUxKNWFMQ0tCWXBEQ2h1Y29wcDBMaTNhby9GOHZsdlVsZ3h6b2RhYy9uRVBDMzhleUpYVUd2MVBDWHlCbnZZWU85M1dnYUQrNzQxVGJ5OXJ4R3c4Wkw1QnI5Sm9ZYzYzU2tvNm5VTC9jdW14TWZCZnlyb2Ztd2Y2Uno0SzZmRVBlTDk1cFNKZ0x5ckVQakJXV1QvODFaY3EzVGtZNWs4b2wzYmxrTjlNdVBHclVRWDJPSjNWZnhnVE4vYXZGVnk0OGFsUkJmWTRsOW94Y2Q2M1M5dTd3Z1RNZmlhTCtYdlFuc3FEcHkxTWh5TFBrRzUvakxTUG5xbTVoOXprQ3pMQlU0SFdETDk5bDJPZHVrZXEyaGlMWnR2RlZlUkhVVHY5Y1ptQzA3Q3paeFRMaHhWN2ZrSUQxNVBWS3hOMjc0TjdEbDdsVnY0d3RsZXVQbFBuRGxyUGxPUms3ZXFFUnZjZ3czRVlFek1PblBUb3h2c0oxdUdwa3VlMHlMTjlMSjJaMzVHaXVQOE5TazhLcmM2TEJ1d1h0Z3F0M0FtTGh3enI1R0txb1Bld1pTa2UrdmVtaU90dXE1VFkvOFczeVZIcjcvaDFYL0I0YlhmMmZjamlzdkFBQUFBRWxGVGtTdVFtQ0MiCn0K"/>
    </extobj>
    <extobj name="334E55B0-647D-440b-865C-3EC943EB4CBC-56">
      <extobjdata type="334E55B0-647D-440b-865C-3EC943EB4CBC" data="ewoJIkltZ1NldHRpbmdKc29uIiA6ICJ7XCJkcGlcIjpcIjYwMFwiLFwiZm9ybWF0XCI6XCJQTkdcIixcInRyYW5zcGFyZW50XCI6dHJ1ZSxcImF1dG9cIjp0cnVlfSIsCgkiTGF0ZXgiIDogIlhGc2dWbDlwS0hncElGeHNaV1owWVhKeWIzY2dWbDlwS0hncElDc2dNeUJjY1hWaFpDQmNkR1Y0ZEh0bWIzSWdmU0JjWkdWc2RHRmZhU0ErSURBZ0lGeGQiLAoJIkxhdGV4SW1nQmFzZTY0IiA6ICJpVkJPUncwS0dnb0FBQUFOU1VoRVVnQUFCQzBBQUFCVEJBTUFBQUJKeGVDYUFBQUFNRkJNVkVYLy8vOEFBQUFBQUFBQUFBQUFBQUFBQUFBQUFBQUFBQUFBQUFBQUFBQUFBQUFBQUFBQUFBQUFBQUFBQUFBQUFBQXYzYUI3QUFBQUQzUlNUbE1BRU4zdnpYWkVtYXVKdXlKbVZETDhacHBXQUFBQUNYQklXWE1BQUE3RUFBQU94QUdWS3c0YkFBQWNTa2xFUVZSNEFlMWRmWXdreDFYdjJidjluUDNTSFNFMkVNM2FSeUNBWWM0K0c2UjgwQnY3UU1JU3pDWDVBK0UvbUJFQmc0eGdMeEIwUkJiTWhsZ2dZZUk1Z3lBUy9ERkxMTEROMTZ4c2dRa29takdPaEFWL3pNWWdRQVF5QzBISVdFaHoyYjBrZDJjN3hlOTFkMVc5cXE2dXJ2MjZzOFAxSDl1dlhyMzM2dXZWZTY5ZWQ4OUcwUjZ2aFcveE1GVGY3YW04TGxVdnRUek5QRHZ3Vk42c090QU10Ti9sWTY5ditHcVB2bTU2ZDlQVHlNUTFUK1hOcW9QTXdJelk5ckdmdUx6c3F6N3l1czVYZlUxVTZ1LzFWZCtzMi84TTlMN3M1YTNHdDNucmo3aHlUclM4TFR5N2MyUFYxdHU1dlZTKzVWZmkzYWMvdnhlT282VTlMZ2IrQnNZM2RPWWJyL2w3dHlodXFOckt6bFVmcU8vOGhpenM1ejRya3V2YTgvdGhEdU01SWU3NjVyTm56OTUrS2hibkZFZFRuTG45N05sVDhaY1VKZ002VjIyTVZWNFFxeGJtUU1WS2ZSY2RPWHZ2N1dlRTdzdWsyRVdmN3ozRE9wdzJNaU11bHJRMnVseENjRDJxcDNwaTk1UzQ1d0JOTlhiK0tDYk44RVpUQjVBUDFyVkU4NUkvNTVXa2VvYThvakFwTUNzMkxFeXUyTFY1Y2hSN1FVenAzbjFGOFUxSTVMcENwVUMzTks2Y0ZUYVBKZUo2Rk52aVM4dUw5VklkTHU3S3pPWE5hTEZEc3pBb0pqcGd6ZVFuSGttbithbGYwTDczSnhzSjd2NkhMZUZyUXROWVZiSTRrZHZGc21aZjl4LzV4YlFyMTM3dGZZcC82c05KN3k0L3VhbFFDVEFsdm1naUhLVzZOanVPMmtCVTVaL3ZqZTk2K3JPQjFEYlpDUUZmV3hQaVZic2l1RHhlQWVrVWJkNVdNRTg1WWVWdlA3bDcvNDh5dXBOb1lNZHNvUUp0M01sNXIwcGM0cjhodENxOFJ3TFdiQ0JZaWRFOUsybHlDMUIzNUZUMFpNRDI2ZnZQVTBGOWdoOUlybDhOb3JhSktuVnhaeFExQlhPTU5rbFp1VE1naXZsWUhLWlhYTVNvb0dwMzZNWW5NVXBiZVplRVk5OGZEd2tlbWp0YThxRkFtRUpoV1liSU9hdU5nR21hRkNzSDdWUzFJWDdnODMvOUV3MGhmbWcvb3FhVFhkNFdvaXhVS3hZZWJ5ZDF0NTQ2WDB5ejF4cFlBdXkwdHpYWW9NaUpYN0xrSEJlT0Era3d0ejRXRnhXUEhjQnhPc1NsRVpCZDBYQlkwUG1jY3R0Y1ZJNzN2eHladUtGNG5LQ0YyTFYxTWhyUGJTd29DaG9LVVc1N2k2UTRCbDlFR294L05yVmZHTlZBOGxTaEYxK1VoZXkrSkxZc1RCUlZoSTc5Y3BVS01YL1lqcVNQN2kwcjhTa2dYcmNRS05aRXlQWVpIdFNSVElvUHBXMmpYeUh6WVhlMGwvUWRzZk9LWFJOYXJoejJ6a1BEaTNHMjRKbCtKSDNCeE50QlFkTVJuODNrdE1jNWtucUFPWGN5RmlEaDB1eTFuSFE0dWFpVDB4Nlh3SWtRWCtoaWxMaVJWTWtGOU91Y3hBYmZLNmx0cm56c0hiYXVCNHVJeE9sdzJrREtrekxjV1JUYUlzVEMzbitWZURVdmNCeTBJYU9SRnB5WHNRL01NY3ovbHNsMzBxRjZpMkc3ZDhFZXFpbVpTdlAyTVl5VFZHS2xDM1hoY3JhYzJBRkRtMVlkNkQyaER1VlFaYmJZVUwxcWFodUJFTW95RDlPdVNLSVh0Q0dqaVVOVzUrUDVmZG0ydzJRTWNpN01ta1gxWFhORzhxV3hMdzJDcE5wakdVdFhKS0ZDWG9BUGd5Qi8zVmNmVXRmYjNiK3RjY3RIcjFwWnpURjl5dW5rUE9YWTBoUGlDZHlRMGFTdFpGbUQrNzNOUUMvT0c4eUxMdnNkYU0xd1FsUWIzaENxQ3lQZmlZcVNhcTJVZGd4d1U3T0ZRVGlPbUlNSll6T291b2NlWUJ3VGFzeFFrYTJzdGJ6aTExZU1qaVNGT1cxZzhwVU1VeEdsTzVKUmw0UDBNR0RESUp0UWcyRG9uaDJFc0RvTzFrck4yZERYL3hwNnM1TEtJM0RBUllmQWMrTGdpOW9QT25tRjlFYlNkUFZleGlua2RJWWVJb2tsS1pMN3BHdU9hM0krREZKSG9hTVV6bEc1ZDlTOFhvbU11V2xIeWNCWHJDRVV0ak5UR21CNDlZS01SSFo0V3dKNHNiQ2RnZ3JveGJtQ3FtRDBSTkJZcHo0ZUxEQ0syWjZ2cTZocERRTTBaUFJkQjdCbTZDU3NxUmpHRUxyZlFpNjlVblZaNHNuUVBOR1U5cDhGUGRxTFhwd3ZrRkdJUGd5OWdBVU4wTWVsOEVkem1PSkxxc2R0Y1NXRCs5Q0xaWVVIMEx1VGx6SzRIdXBNbDByTTNNODZoSHRRdWZUS25DdnNtaWhwVkRkUUdoUjQ5WUtNeE9sVVdBMWd3UHJvbGdrNkRMM0FXZGVSZFRUYm9RU2p1R3FzcWsyZ3l3amhWbFdwcVl3RWpYVmI0WkhLY3ptQ3hkSjlKaVhNK2JmdXpGNE5LWHBuT0k3UjY3SWxkaCt6a1RHMEEreVZMYVpYTHhBM3l2NlBBUTRjRFhoUmg2RVhVVnU0dG9iVmJyV0g0OFNtaFhRWG9RRHJxbWFrUm1WbkNFNjZEbXJUL3RWV1luSCs5N3MvVnlxVmNlZkIyRXl2Vk9LTlBBMm1LblRyRHN2aUpLOWVJSDBtTStscjBJdHRSMWU4cUVQUml6N2YzNFhOMFpPd0swRWRoQ3FjVjJMR1NrbnNERUhia1I2SWxrSnNWeUljaHQvWG00Q0g5YXFQQ2RBdzB5dk8zQXFlcExWTXJzSlMzN1ErZVRxL1hsVC9TUnJuSmw2TXlYT1hZQTVGTDJEM1hSR2czWFMxZ3d6THRvMTFsTHZjSWRhVW83UXlCTTcwQUY3Z3VlU1E2RVRWcGFWMTFyYk5zNCtUeGtCaWRId1dYTG1WQ0pHVHdlTXBUT2d6bVp2S3J4ZWFwN2VmWjZLSG9oY1VjbTNwamhSQ2xiWVFsd01Jc2ZQT0tTRkw2c0JsWlFpYzZZR29HK3pBWVdvM1ZDdDVvTTRYT1YrZHgwQ2J1V056NVZhaTJlRG9KNW94cE9XYmkwTDFBb3RqUDI1MFNMTlFoNklYRVZUU2RUU3cyc0xwL2JlUWdoamswRGJDVURQb1JSYlZXaG1DcGpQWWJlUWMrS2MrdWZNblNRdWZxdThZWitXaHo3Uk1sWmx4dTlQMFRKcVptRW1ud3ppdXZMNWtyLzV1L2RzSFZLaitwbmdIM3pNWXJhUngzd1AxZ3A2YlhYUkw4R0J0dmZpbVIrcDNQNzB0R1NwLzhXOC8vT3YzclNDNS9ITm5ubDZXMlB4OUJEdVF4N293SDRDejA3YkFSVUh2VW5FdlRPZVlsTTdNRUZSWmJNcms1Q3pYSzBMRWlVbWVGYnNwSUtuSHZxV2ZLUXY3cEJSMVgwTzNWU0hxeTlPMVJnRmFFdFloQlVIWGJtb2R1K0lNTjVQSTUzdkRIN3diRVJZMUlDTWV1RGFxcHpTUzdOcE9rWitCem1QbEhzOUl5S01MVEZDbGgwNi9SL0ZaUUFWY3hwQ3NlcVA0TjB5OFVhRUx0UDdicW9oeFpWTnNaZ2ljNlFGeTRKcVZaTXlMT3piaHZ6YVE3WGozY3ZRUUMyaXhTSzhSaGZ2cTcvbHMxMGUzOWQ1eDVsWVEvUmhIV1N6dXp0OUhieVdQTWJmN2ZEVFY0NzVMbFBRZ1VDK3d5Tzl5RDdFUW05T0xIeE9YbjQ4cVA2VVdXZXJGRnk1L0ZvWmwyeTBJczM0TlV4THF3LzRSdEI5eVM4cXc1QzgyRlFYMFFycHQ0UFcwanB5TGloaEVjU1pBbThnbW9Wb3p0R3Mrd3dUZ2lXcW1jQ1pIV3VxRTdVYkd1b1R1YmN2eWdudFJ1NWJybWs3SW1qQjluVlhvY0VNTGlLSzYyeURLRmdMdFJUWGUrMnY2ejEyNDhQTkNmTThGWEltaXo0aWRaR0MzWlBkbzRSTWZ3MkJYNkdGK3QvQXMyc1Q3NUIyMXFWVzNDNEdISVBMUndscFU0RkdacVJmU2JjYzhReEN2dW1UTWNSOFBndG4wMjRWWWJIVkJqMnpQVmMwMTR6bS9MZG9HWDdNVlFYQjRPdm8rNXJiZFBjczdkWk90ZkV5OFBrdjBiU01TNk1pRVpVR0RZZllDMitvN0NnVDQwREFERzdLKzBwQWFPcFNoWGhSOUVIb3hCNmRZNTdscHlVSDNaOFNWNWFpUE9kRmJuRmM3NEpkQi9HY092RVJScms0THc4RGsxbTJ3WlhXbkI1QlZsY1lsbFRaTUpoNHovbDBrY21Tb0w5cVJUZWJ1KzNoZjZqaTZmVkVLY3VaVzhOcW1ubTJpbkUrMWRscnNqRitsL0sxSzFWQmwyN0l0aE9OWGtGN2dOWDN1bXppL0YrWjZnUlhPYU5IRFFRYkNNSzhNTWR5NHdGTk14VVJLUzZubUpPTXN2ajBINnU4dnJpYnZoVVhNTHBydURPUldhY3cydmlURmZjbWNobXAyS21pS1hacWVIbE9zeEM3cFpwZ01BdHNabzRYMkZhbmI2eG5CWXNGczhJUWRTUHZwa1FvR01qNmZQSlBnYkUwQlhmRmNBWHJ4amYvYkU5ZTJQVElLcTdoZTFMV1I2eXFEQVJXNWpldzQxbVRGSlNVMUxSUVNublpWdTNHM2d2dzczVlhBb2s5dXZlaXkwTHF4NHVUdm05bWc0NW4yRE5OUERHSjE1aVZtREszbEZFSlZlOTlsbEY1WnplUWRsNjdQbEk5cE9zY3hqWXRKS1F1b3lCRzFkUFZJcllIR2NhaFVMK1l3WEhGdGsvTUV3MHd2b085S3hvUjY0b0VBLysxd0krUXBXZzZwMHJKZ0p6clRDUTRXUXIwRlhXYWZocGhVZWIxWVRnbXd1dEtsdU5NRDlMYithMXpZOEhSYWFxYnVFcjFjMTlVNENRNTB5WUQyOHd5ZVZqZHJMbXE2SndPVHlWdWN6MFlEZTBIZUQrT1dCcHM2TXphSFFpampLdFdMRStpUUVOK21GdFhnTGlrd3ZSZ3kxNHd4cnFhY21MemJhYlRWRHovbUVyV1dEV1ZzSm9GZHBBWnVQaGJpbm1VRHBRcWtGN3FLL0VoV1dnT1lVZFg0RENwTyt1REJXSkY0a05hMVU2MSt4akFEMkwwWEdTc0RNZWhOVmd3RHNlZ3lJcWh3OVdQY21OWVdLeDdMZEJoZW1IcGRyZk5UTkhaaVp1d1lCd2RMOVFMRWxmK3BpMnN0emhVSWE3M0EwM0t5QzltbENwaWlvdGtES2FaMkplR0FEWFJINEptODNHMmhEbCt2VjUvWE0wMEFtcFg2NkV1Mlh1NzBRQlIxeFZlWnFBVnBYbUFvRXZUUEdNdHRXQS9HaHZpVVMrRTFIcGg4YVJZUnVITXJPQjBKZmhDTlJxZFRjVmlFU3dSTmZZNkxYektzQjY5SjRSQzlTSUlvbkF2MmZHbTlRSitUenFVaU92SzhSM3F4WFNnV2k1WldVdUJaU09Xc21Hb1VQWGRubWdCT0ttMm1FcFlBdGhMUVRBLzgxelUxOHJaY21vUnNUdTQ0dDlZcW81aUtWMzh4RlMxVkNBZlF1OHhZalRKRGtQQXVObjVmeXNBc1pVTkpNTDJMYVFYR3RTcEo5SDJwWktlRjZRWGNrZmhlTFRRVTBucFJNenJYbEo0UWVpRTNuVU5tVStvMDRneXRGMnlkSER3U1ZmamNuV2tDYUptV1VHQTJTTmlOOUFBMjZucUN4WitPa1Y5Ynl2WXZLQnh2anVPaDk2cms0M2Q4MldrNEkxN25nMlAxMFY2OHl1ajZjbzRpUEF1VExqR3BsMHJTdDhMUmxQbVE5SUpXcHNXNkV3WnF2UmdhWnlobzJXb2lBWHBoWmdTNFhNeDNOdk9ZWXpWa3ZrNmMyb2JwdHhGY3pnOTlrak1HRnFZWEJLWmJyQ3ViSlpuWWhSdDBwOHZVaStsc1EySnVYQ3N0bldES3F2NTI5NTRoVEhnYjhoUTh5N29mUlcwOWdaWmVmQ1JyY3VSY3VTVnBzbFhIVENEUVh0RGgzRFY0VTVoZDBub0I5b0d1cmNsMEJmU2krTWdHN3ZXTUo5WnJ5ZGRKUzNSQTFUYnMrMWF1b2xBdlZJYkFUQStBZmlDRjlBeDdJYkhvMFNVSnMzdXN6ZzhNV2VsaTJ6L292WDZha1RPd0k4OFRabTZsSjVSWFFVK1hHWU1FTVEwU1pQZGplVU5kK1cvV3IvWXVLenk0eVRoTmNBeUw3MnJWcExKSzZPbEdpaEpzZGlrL0pGNVA4TkFMTlN5TE56bThibWZJaGg0eVg2Y2NpNEdnTmRocEdTZ1V3TTgyM0FSS0dZWEtFQnczWE5zVTA5eUdVd0VnWTlWdUJXV25YcUJMcGRlZERtRVU4MllSUWVNMHIxL1Rwd3dZUEY0ajRib3prbkRveGNuaW5ybjhaQ3Fmck95R2JDcjBydlNDVGxsYm1ndXVQRDBKUWk5U0JkRjFHbExSYVpKS2xIaStUaEpYZFArQVF6eVpCYTMrVEM5VWhtQm9Hc1pQYTJxM1h0U2svekc3VVhjb0VjWmJmcmxQSzhNc0ZKczMvWG4xYzZwVnQxN2dKSGhWa1dnQUE5ZUZGRm9yN2xxeHM2ZkhUZVo4MldJZFphVVhOT2N0VFlCT3BlZE96Rk9oVUF4SXFXbWJqWUt0azVib2h2NlNpWkFVc1Byc0NNVDBndGJzRXFpSzBnT29jdXZGeUJpYmJNZHRMMTVCSXlYWDdyb1N3WUV4MktoY1MzY1VyOHBndDE0VVJEOE9lekVURi9iTStxa2UxampOMnQ1eUNHQldla0UydXFXbFlUWFNWSzVQTDZCTEt2NXI1NzJobGxZSXZZeFdQMnJYa29Kdks2VHFDZWxEMnVDTTAwc25ITzc0b3MyVVZna21QN0xDU2hKRW40b3RwQ1J5M1d2b0hsbXVUdUVyQjVqdDVUeG5RZlREUHNiTTh3QVRHbmZTa1lEWlg2ZXNIRkxwaGJsSjhXNUNOcFhRQzdmVmhDZ1kvQlVwc2FPamJva3F2OVBlekQ5WkpkTzFyWmpSRTZYdHFDRGp0VlljOFpqbkVTbkU3Y0FMOUNMNlQrZXhVY29xdmkraGV5MWtwM1FVYk5OaXdoeDZnUkd1MnBRb0g1cGUxTkd2Z2FNQkgwcnBCYnJNRmlOTUx4Q0VuSmZDRzA0ZktXdmQ5eDlIbXcvbnF5alVhU20waW5TQXdRaEpKZUpWVldzRFRyMG9jT0JGK1l1b3lRSlp1d0ZQbWZiU0FPdXAxRGhINjlhTG1qdjZPYVQ4QmZsV2ZXek1kYWtBb2ZTQzdFVkxFMkUxMHBqZlp5LzZMRlNOaThNUUxkV0VYa0tUajV1b3BFUU9jVXZoc1F0VlZOWkw0Rm11d0lvdUJjeDhaMVpaNE1DaEZ4c1dlMXFjaXJXK093bmNTTXdscFZlNmhmYVZNaTJiZWQ2Uk1mT3FmcW5FQW52OXlDdG4vbEFKd3F3NURaSWljQUJLTDhpcDY4V2djNnFLTHdySHVhYUhpUzFaNkZVZHpSTHFCYWplKzV4MTZNcEFWYUFueXQyM2sxTlNYK21KSWxKQTE2V2VXQTVYNTlEbmRjVm9BTTlvVlRUdy9nSnRyWFU4TW9KdUZGenVCRHRHdGV4Z3FJa3JEcXhHK2ZTQ1RLN3FSZ2VGRmMwWEJDbTlJS2R1NmtWNjh2SFppNkVPNTlDUnZUVmR3UWwxZCtEdVk0TTcrQm9MYnB0SnJHR21CMHdSSTYxRXVnSUdma1dYRklTOHJKbzdoVXlBU3AzYlRyT3V1RVJiYXpVeWN5c21OUXdYbTJOWlYzY25OdnNseXVuVEMwcDBxTzNjUTJGRk5oWjRWM3BCeG51Z21aWmttdE9uRjAwOUlPeUVjNXE3SEtwMFlaQWNjNVJ3b2s0djJKamxLa2ZrM2ViTnVYM296UGV4NXB3dkxkUlVIRFMvem1paHl3Tlc1T0FKZmREaWFEK01WVWNDZGFpc0cxRlBQWEUzbXhkTTVpQW5BMlpMWnBSZjVKWFdxeVM4S29GOWVqRkVWNVJWYmFDd2tXUDNJNVJlUkRGZmpLZ3YweFordlZEWkZNaFpUbHN5MTZtZzlXb2JPNzlWVUJtTnVJRkhZVlVTUWtkRVpINnUvQTNpTEgreHRhYW5ReklscjNWbUtsaTdwTEcrOTdXcVd1TVpRd2xJVyt1UytibHlwWGU1c2JPcCtLQUNGMVZCQWxDblRKVXFSaUpyNUhLSmtnbDNuMTUwMFJXMU5uVVV6alBHRUZEclJkdFFxcEY4OThpbkYwUHRBVlh3YksyVHV3L0pFN050ZHgyd05hWUtPQnhvUzRRS3NXbWtCeXIxOVlqL2dLNzFmbWZhUkZzcGJYT1ZOUXE3cjVlTTRRa2NPaGJRSXNrVnNlcmlWVE8zY3VJS252dXRha3JYQXVub1o5STR5VFJMYkpaUEw1cm9palJDdE9OTkU2djdVd2hwdlZpVG1wRFFkdVdXOWVuRlNPdUY5T3YyT2prYm51b2hmaXhja3VRUjZtbkYyR2FydDRRUlBxalZCRFQwaGtXYmpYcENKenRRVzNrd0VhTWRlUDJja3BzOGgyVWxFd3o4RVZDVENiMzc4cHJLQUZNZDNyQ1lsdGFBeW5XdUpOSFh0d2lubzU4Smc3ZnR5TklUdmJ4OGVqRkNWeklqbEdRRERVTWtCZmp1V2krUW8yVkJlME91aGs4ditsb3Y1SWNSOWpxNTJsNkFjTzh2WVdBajY2N3duQlNtVUx6ZmVLVjJ1RUtQWmk2cVp1YU10R3MzZVNVRlE4aHM2cFR4WU5IKzFrUUpBUkQybzhHY0EzQWRTZjM2Q2tQT282L0d6Ni8wK0JOY2ZCaTVEZUt4TXRScmR6SmVER3VGRjNPd1R5LzZtS2lOaklQQ0h1VlRjbElLRUZvdkVJVnBkVVdvbnBraG4xN28zMUNFQ2QxS1dyRFh5ZEhzUEtidjZyS2pRcUVnVFNwN2hDUURwYkxTQzcxbGNUYmg2cHVVemo2ZjFTZXZyV25SQ0liSk1zTlFaNE01cmtjSS9ER0pWdHdNNkJiN0dFWmxnajNxM2piRFRlQXhnZEZLa3lsODFFM2RaVnM1bDhZNXhtc01pK01sN05NTGJDRGxSdWdKaHpxYlNPYXl1OVlMNktkK2VnMVoyWTcxNlFVbVBKTS9MYzIzdlU3NTlpZGp2UEdiUnh1WXRqWkVVRmR0TzlDZ21zU0VZUjRiQVRvOFVOem83cllxOUVHTkFuSjBtVDZRMXVxcnhyUlBZek5vaVNsYnJySUEwVVo3YWptSVpyaEI3eUpvdlladDBDdUVmaWVlSXBZQkZGa1hmYW10cGxFbTVOT0xlZkdvMmg0WWZsR2V4aFRJUzlDTDFheU1NKzlBVnZYbC9xZlBxZ3VmcDJKazJ5bEhMUnR2YnAya1FIVy9GZE5RK0lXQXBFTHpFa1RxV084aXloQm81UVhKQk93S2RIaFRVcE41R2FqQ01FM09OZU5zdGVSWFJobkIyQmZZVFhPTHJ5VDZnU2E2ZDVxVDFMZVEvdVN0TERFbG9ZelJDaXpjcmxUMXZqSFJtSGcyTEM0MWczMTZFZFcxL28zUXpyS0QzNHRDVkxHYUVhQWpNSHZwcFo5MllMOGEzWlVVeWIwak4xVTdXNDM4T2huMFVVUmZGUDJnaGNzWHNkU0RERnZqSjBaeWxkckRnS0tHWlRBL1BleXh2ZEZPREVWVnZKajUxeE5YamFhRzVpSWFkYkJDUmtObVpVRnBoTzVCRTlSVklSMk9sYU5IWVU0YlFuSnZwUEw5MTdMZlo2blVMeXBPQVBQbUR1QlZLZXpWaTNFU3VpU0VjTnZGSzVnWG0ySmdaREMxNlRWU1M0QjFXYytRMEdwbUJ6T2t2SjNNTkdsQkRqZS9UcEkwdmRNWGlEcHhiOWJ4VXZMUGNoSkVodzhLcXN0bkdSL0hZbUxYakJYczZ2SFFFWGNEYTNFRmRtMFp3dWlzeEsrT0dpVEhTcmdCRjdYSGEyd0ZlTlczMDlOVnJpb0lOWlZNR0Q5cW9yZmVUejBsenJUOG1wRnp5cEVjOXVyRnZQanVqSmJVYjhENWdtQ1kycS9Rbk5HRngwWFpwOC82eDl5aXI0UGxiaVhWamoveXgwZjcwdWprMThuZ2VobDlmTXpBRkJTZWxaT0NhY1hTeTRzeUJKdXlJTzhkNHp5M3BvMGVYRHNXSnVxc1FFSFdBWHpRV3VuWU8xOU52WUt5cGJKN2pWbGNTUXMvS0VIY01SelZmK1RPTUxTWm5lUlhHR2oyTnhnaG1jSGkvWmdRZXZVQ0NaanN2WmF1WldLTlJ0eUZ0MTU0QWhNdExqLzFrWFR1bjhrV0FjKy90eEtPK1F1UEVNSHVVeGQrenkxaEtPamJpSVdZcTdxNVRwenZJY2g2bUNNS1lSaUdpMG5sMkF6a1ZBU3BPYUVyNjdxRUIzN2EvaytTeTNwcFp4a2h5SlhseXIreTR5d3hvSTFseG1pRFk3MkNkbFZSZWNsUTRwU3FKalU4TGNxWnBWSVQ3end2MUcrakVPU2owZHQ2cHBORGlLcmo3WlRYK3V2WEMyenlqeFBEWHlIRzJyWTR5NHA5V3ZUa1drMUpYeERpbC83ajArOVg3MUJCMmJPcndFTk54WGdrV20zTE1JT2tXT3VVQ2s3KzBpK2lQTTdLUHZBTHFUNGdvRWoxSTZObG4xWkxiamk2bG9SeE44enZQNGpkZXJKdlhoQTdzZjBKL2FROFF6RnVCaDd6V2hOR3FFSFhEMkpiSDBaeTM3VVFpN3Vnc0FnbFluRktYRzVwUVFRMXBRMDIwYnJrMXdzS3g2Lzk5cjgvZ0RrM1psRHpGMFA5WGZxL3RMZWZPcU82QUpXZzY5R01ad2IvdUJiL0doYi9MclpBTDZqMXUyTHh4NndOYTUxMERWNjNLSGl1cm1rVVZPbUllellqWk1Da20weHJPdklBcEFpUlp6WU0vcFJSL0pmN2RuNDVJZjI3K0owcG9Cbm4vSVo2OGt4TDA0WkJNK3dVS2prYUxONEJibzBYRng2SnYzV2JDT2VmMkgweUFhaVFYYjB5dlN6UmkrVGJjS3lsK2xFc0tYaGY5ejkvSkw3cnlkWWVXREcydTQwWnQ5WkppWUx0MlIyb1VpbEF1ZkpUdVV6SFd2NklheitPamczejRXbW5WbWFvUGJ6dXFxbWRnVjJCa05mWXJzY0tkNWpGQ2JNTFMrSzd5dlFpcXI1NHI3ajdEelo5TXE1am5iMU9zbWw4UHJVbDRaQjc5Y1g3ZHUvL25YSktJejhBOHE0UmJuajRtOXo3ZWVnT1ZBVjdhaXdNSXAwd2VaTm1ZT1ZnS3RVTEI4OE5STm5ySkxzeWM2MGx3VU85Ry9rQlNLNFp4eE5QVS9XOFQvSlE3N1BLVEs0azBWZVlwQW1IVHpJNTMyUjZZYStUT1poREw2WDVnWmYwcGl6L2h5NXBINnIrc1BPUU9wb2tWeGF5NHovSkRQMXZPT3JvWDlpUm9aRTJMeVI3ZzFUazF1bUkrNVgrcUI0OWxzbXUwUFdlRHZYMFV2Qys3aDJLTStueG1ieksxenVsYkplR1NXdjBUUEJOYytYVzZZaDdYaU0vdk1pM1Rqdk1QOVRFeGhGM0RlSVJQWjdIay9RVjNkSjBxWDlJYUN0SkxsU3pPYURqNzNFZzM3Q28vRG9kYlZkSE5NOHpQRFVZdU9EZE1QVTVXTytSZjltRzd4aG9LUUVMVHNTelllcWo1YjdSb2Z3NkhXMlBrK2NoTlJocmRZVk5hU1gwWUtEazdnZElub2Nrajg4VWQ1Zysxa0pQVlVydUd4eklyOVBSZGpoSkMvWUd2Skg2RlY0cWdHY1BQWHZoYWlqSnFjNXhhNGJYOXRaZGxCYXVXNWE5c09qZjhFWEhPaDFwbjhjSUU4ejNaWkZUYkpVMzJTOUxKNWFMQ0tCWXBEQ2h1Y29wcDBMaTNhby9GOHZsdlVsZ3h6b2RhYy9uRVBDMzhleUpYVUd2MVBDWHlCbnZZWU85M1dnYUQrNzQxVGJ5OXJ4R3c4Wkw1QnI5Sm9ZYzYzU2tvNm5VTC9jdW14TWZCZnlyb2Ztd2Y2Uno0SzZmRVBlTDk1cFNKZ0x5ckVQakJXV1QvODFaY3EzVGtZNWs4b2wzYmxrTjlNdVBHclVRWDJPSjNWZnhnVE4vYXZGVnk0OGFsUkJmWTRsOW94Y2Q2M1M5dTd3Z1RNZmlhTCtYdlFuc3FEcHkxTWh5TFBrRzUvakxTUG5xbTVoOXprQ3pMQlU0SFdETDk5bDJPZHVrZXEyaGlMWnR2RlZlUkhVVHY5Y1ptQzA3Q3paeFRMaHhWN2ZrSUQxNVBWS3hOMjc0TjdEbDdsVnY0d3RsZXVQbFBuRGxyUGxPUms3ZXFFUnZjZ3czRVlFek1PblBUb3h2c0oxdUdwa3VlMHlMTjlMSjJaMzVHaXVQOE5TazhLcmM2TEJ1d1h0Z3F0M0FtTGh3enI1R0txb1Bld1pTa2UrdmVtaU90dXE1VFkvOFczeVZIcjcvaDFYL0I0YlhmMmZjamlzdkFBQUFBRWxGVGtTdVFtQ0MiCn0K"/>
    </extobj>
    <extobj name="334E55B0-647D-440b-865C-3EC943EB4CBC-57">
      <extobjdata type="334E55B0-647D-440b-865C-3EC943EB4CBC" data="ewoJIkltZ1NldHRpbmdKc29uIiA6ICJ7XCJkcGlcIjpcIjYwMFwiLFwiZm9ybWF0XCI6XCJQTkdcIixcInRyYW5zcGFyZW50XCI6dHJ1ZSxcImF1dG9cIjp0cnVlfSIsCgkiTGF0ZXgiIDogIlhGc2dWbDlwS0hncElGeHNaV1owWVhKeWIzY2dWbDlwS0hncElDMGdNU0JjY1hWaFpDQmNkR1Y0ZEh0bWIzSWdmU0JjWkdWc2RHRmZhU0E4SURBZ0lGeGQiLAoJIkxhdGV4SW1nQmFzZTY0IiA6ICJpVkJPUncwS0dnb0FBQUFOU1VoRVVnQUFCQzBBQUFCVEJBTUFBQUJKeGVDYUFBQUFNRkJNVkVYLy8vOEFBQUFBQUFBQUFBQUFBQUFBQUFBQUFBQUFBQUFBQUFBQUFBQUFBQUFBQUFBQUFBQUFBQUFBQUFBQUFBQXYzYUI3QUFBQUQzUlNUbE1BRU4zdnpYWkVtYXVKdXlKbVZETDhacHBXQUFBQUNYQklXWE1BQUE3RUFBQU94QUdWS3c0YkFBQWFaMGxFUVZSNEFlMWRiNHdrMTFIdjJidjlPL3RQZDVqWWlHaldkd1NpWUppTHp3WVJCM29USHlBWndWeVNENGg4WUVZRUdYU0k3RUdDTHNHQ1dZZ2xFQUZtUXlRc0VhUlo0ZysyQTJSV05zU0tSRFJqSnhJV1NNd1NrRUFFTVFOR3dzcVhQWFkyeWZsODl1TlgzZTlQdmRldmUzcG1aMi92elBXSDdYcjFxdXI5cTFkVnI3cDdOZ2hHdkphK080T2grTzZNeXB0UzlkVmFSalBQZFRJcTcxUWRhZ2JxRDJXeGw3ZXphbysrYm5hd2s5SEkxUFdNeWp0Vmg1bUJPZEhQWWo5MXNKcFZmZVIxalRleW1paVUzNU5WZmFkdS9CbG9mVE9UdHhqZW0xbC94SlVMb3BiWnduUDd4NnUybVowYnBmS3UzdzRIei96SEtCeEhTM3RTZExJYjJEdldtYS9jeU83ZHNqaFd0VldkSzM2d3ZQLzdxakRPZlY1RTEvVVh4bUhPeDNOSzNQOWRGeTVjT0hNMkZCYzFSMVdjUDNQaHd0bndHeG9qZ2NhckxzWXBMNGwxQjNPb1lxRThRRWN1dlBmTWVXSDZNaTBHNlBON3o3TU94NDNNaWEwaHJmVU9oaERjak9xWmxoaWNGUThlb3FuSy91ZEMwb3pNYU9vUThzRzZFV2xlOU9leWxsU1d5R3NhRXdQell0dkJKSXBObHlkQk1RcGl4dlR1VzVwdlNpRTNOU29HbWtQanlubmg4amdpYmtheExyNnh1bHdlcXNQcFhaazcyQW1XR3pRTG5YU2lROVpNUC9GNFBNMVAvNXJ4dmI5UWlYQ1BQT1lJM3hDR3hxbFN4YW5FTGxZMVk5MS81bU54VjY3L3p2czAvOHhIbzk0ZFBMV2pVUkV3SS83WFJuaEtaV04yUExVam9GN09QSmRsQ1RvbDRHdExRcnlXUlpSWnQ3ZUc2aG5hdkxWTXV0RXFDMy83MmNFalA4dDRUcU9CZmJ1RkFyUnhQK0c5Q3VFUS93MmhSWkY1SkdETjVnUUxJYnJuSkUzdUJ1cStoSXFlenJGOTJ0bm5xWng5d3FxSTEzUFQyb1NGc25obkVGUUZjNHcyd2ZCU28wTTBpNkdZcEZkY2Jna0JWYnZQTkQrTldYYVZkMFY0OXYzSlBNRkRkZDlJbmdpRUtSU09aUWk4czFySk1VM1RZbTBTblNyVXg5YUwyV2lYMTRVWUZxcWw5elBzUjNYM25MMmNUak5xRFN3QmR0cGJLK0tuTkNjNThhdTZGQU1uaGVkQTJrMnNqOE5GeFJPSGNKd2VjWEVFNUZaVVBCWjBNYUhjTGhlVncvR1h3NGdyZkVDTXJSZDdncUtncmhERGJhOXAwSVk4ZzdjSnhpZzlGOXV2cGRBWTNTTDB3dlhNSzJJM0lid2dUT3lYcU5TSXhVazdramE2dDZyRng0QnZWVW9pei9icFRzQ1IvQTFNcnE4SFRpZjl4VmJFaWRoNXpWOC9IRnVZOU01RGs4dWhYSENwSDFFdk1FbzNLS2g2NHJPNWhQWjR4MURPWWM2OWpDbEl1RFIzTGFjOVRpNW9KTFRISjNBcWp5LzBNU3Jjdi94NkdSMGFXeThLc1cwdWZPTHRycTZyQm9iZnhibmhOQ05TbkZiaHpySXdGaUZNakxJUXJpY0Y3K1hha0VIUENFN0tHQU56QW91d2EvT2Q5cWplY2k1ckZpeU52ZEZsRityb3pnLzlWV0xHN0E2bWw1YkVZUlV6Q0NaMnFETGRyT2hlVlkyTnFDVEN1RmxmSk5IS3RTR0RxUW1yODBrc3hFVXpBb0xxYnBnTTNFSStheGFVQjdhc1VVc2ZPZlBqL3hDZ1Q2K1B5aGpUSThqZkhJL1RjTFVHNDlzYUk0VkQ2RlZObGsrWVUwNUR1SHR0eitOR2NtN0lZRnFaSk43d0llQTU2TVZsaTMvWjFST3F6V25OZ3FxUDJSS2ZvekMrWHVBNFlnOG1SMnN1U1hQaUFjWUpvVStSVUpGZDJXQlRSREV5YTc2OHhnb1NYREFHSmxuSk1BVnh5QjNKWkJGSUR3TzJMZHlVSGdSRHQ5d2doTlZ4c0RRSmN6YStYaXlJd3k5cU85Zkppdzk2R053MGV4bW5rSE9Tdklza2xzVTU3WnZqVXQ0SXVxRVZ6aEk2Ym1FUmVyRm1NVmZkS0JtMUJXY0lGZ012ekkzckFiaVFRK25GUlM1cEhIZ3E3MWk5d3Y5bks0a08yWjR2NnhURkJtYmVvbTM3RHFUVnZJcStvV01ZUytpNGhVUjZwZWl6eE5ONTgwUXp4bitPMjZQZ0VQRUY3TVdoOVFJVzFMTzJPVWR6eVpnR3pZRXB2cW9MZFhGTndtM294YXJHQTJnaFU1dTR5cjVZTkVFRnhNb1FNL2RoSDFNNkxwRmVXZkNGWFZOREdqWHlrOWxUVTVjWE9sNTdnYk91Sit1WXIrLy83SXVZRWNLdGEvYXFOaElyMEl1K3hnYzR5KzJ5a2dTWGMrK3poZXl0T3pmcWhrSHZMTWZSOHgwRjl0aklrcDNubU5ZaE5wdVNjN3g2RWRTRmIydW96bVhkWDhURCtVNkNBQXF3cVpFOW9WS2Vib2JndE85NTlXejJhbXV4ZUtDVDdmNThxVlRHblFSRFc4VUw0WGFTQmxPVjE3UjJuV2pGSTJ3bzZwajFvczMzOTlET01nTGs3ejFxZ1pRVGM4MTdXa2t3U21zUDF6M3BBWGlIdkxZTGhyL1ArdUtDT1I3VzJ5d1ZPNzNpemEzZ1NWck41a290dFczcmswcVhWWEhNZWdHNzc0c0FzM3BNZFlVbURoZ2VWeEFBYjNaVlNSOUluQXlCTnoyQUYzaXVEbXRYMVpjdExWTllkYS9iWngrRlRyODM3Rm53NVZidzNOdU9uTk9sSWUvbVNjNWswUHVxamxrdktPVHlyYSt2cXdaWHJBdHhVRE5sQTJIblhkU2xGZjIwek1rUWVOTUQwS2wxelRvRWFEajVCcHU4UEtxcVE1dTVZL1BsVnBEazhLVEc3WFpWYWM2U3ByQ2ozWTlaTDRLV29KYzRScnVLRGN4ajM4dGpxUm4wUW5vR0owTlE5VHFNQ2pNMXNmQXZmbmIvTHlMb2krWDlQK0R0ZGJOTXk4eklacnhycFZlbXZRN2paQ0w2S2Y1SitSMGQ2bFh4ajhUYitlYkNhSGxueDRJbnB4ZmYrWGo1Z1dmNnFoT0ZML3o3VC8vZXcydDR2dm1yNTU5WlZkamt2WWVkbjhSbVl1aTltMnM3WGhJeVB6VmRnMmhUdm90Z1p3aUtMRGJWeEFFY09KOWNWSHhkaURBeXlmTmlFQU9LZWk5cjZlZEdEdnMyMEcwbE9namE2blJ0VUlCV2hITkl3VFFNWXV2WUZPZTVtUXp3eExCdjhZNVJHRk12YUNUeWtsMzRDblFlc2VDblpCL0lvd3RNVUtHRlR2OXdXc2NLNExLR2xFYkk4RE1WZUdPL1dwQVRabE9DVndEa0ZOc1pBbTk2Z0hqN3JCazZkZHkzVTZpVHgyaTllelc0eEFKYUxOSU5pOVFxdE5VcHlNSm1GZHJvdHRrNzN0d0tvaC9yS0lzWFgvYi9QbmdMZVl5RndRdkJUSXY3TGpGeUR4SzltNVJlL0p3NGVDRW8vS0plWktVWEx4LzhJeEpnL1VTN0VRS3pmaDFUNHI0eTR5ZVcyS1V5cklDWlJKdVcvSVZSR2VpRmN0dkFtMm50ZVJjVk1ZZ3RyRTVrMDFDdE9iSm9YMkVDRU5sSmhiTTU0bEpqNUtjbksraGVYNGxhOGk5cTAzRmRzeEZaRmFhdnNRNGRyaGdCZUV6dE40aXFoVHozTWZYaStTdFhQaUxFRDE3QkZhM1JuTmp2VTNOM3kzdXc5TVFuTU5pMVFuaVJ6Z2pyVkplOHFuaWZ2S0UzZGJMZWcxa01SY2FIQ1hoVVp1dUZPaG1BeTVqaGNOMGpHSSt4RlhGY094OS91eENLM1NibzhaVHdWY00xbC9Ia2JKbTFaRGd5SVRnODQ4Tk8rUDFxeS9GT3pZZEk1QW54K2p6UjEvazVEQy93bk10c0wwZmxtSG9CeVRBRDI2cUJRa1ZwYUZlRmVrSHdJZWpGQWxZREcveXFJclR1ejRwcnEwRWJjMksydUZYdktkd1ZXaS8wdWhSWVBTWU05a0p0M1FwYlZuOTZBRk9zakVzc3RSdE5QR2I4KzBsa3oxSmZ0T00ycmN0anZDK0ZSVEF4cnplM2d0YzJ6V3hUVTR1eDFzNksvYjNYS0grclV6VlVXVStaY0tyTGVVMUdMN0RDc2ozMHNDTkJHT2ExN2hhTnlPOHBaa0lpcGFVRVViN3JIaEQvWkFZcGVTK2paRFRka3BoYnBUMjI4Wm1zRlR1VFVwUUJiRlVNeUhXM21HS1JkMkhOTUJrRTFpV2pnODRxVXJjM0pjRnl5bXp3aEIxSTIvR1JDaDBKTDBkN2xMTlZCWFRsY05kazlLSnNqRnhUR3d5b3lMMWttckVtYTc1T3hxYUZRc0p6dm1vUDdublEvcGdIcjFHd1lXekJtRjQwMmJHbnNxYnBPZEMyczBFbnBmWjA0MDhNUW4zbUpSNE1yY1o1R2J4a3F4ZXJTUWNwdmJJdXEwL2Eza3d4WVpvdUtwanVsYTJvSkFNcWNrUzFDQkg5NmVrMU1MZ1JvWW5vQmZSOVI3VTdwWjk0SU1CL0c5d0llWXFhcW1WM1pWbXdFNzNwQkVZcXdWY3crczhuMFF5VDFJdlZ1QmFycTF5S1B6MUFiK3ZmWUpLQzdybTRWSTNkSlhxNWFhcHhFdXlZa2dXTjh3eWVWbGMyRjFUOWs0SEo1QzB1eXRIQVhwRDN3N2lWd2FiTzdObERJZFNvMTBUMG9zdGNNOGE0SG5jQ2szZUdSbHY4NkIvNmVyVWhoN0puSjRGOXBESHVFbWJ2aytuVlZFTjZJVFVCSmJJWHNyUUJVTEtXK0F4S0hOMVlaRVRGc0VOL280aXVodHV6bGhuQTd0Mml5dVNGUWU4a3NVTXdXSFFWRVJTNCtqRTJUR3VORlU5SUhZWVhKajBxbHZrcEdqdFJHanZHTVNJNENiM0EwM0t5Qy9MU0JVeFIydXlCRkZPN0ZuSEFCdm9qY0NsUDNmQmNYZnlLS3FUY21TYUFncFhhWUpicjVVOFBCRUZUdk1Ha0xpbnpBa01Sb1gvWldtN0xlakEyeEtkY0NxL0pnTW1YeW9qQW4xdUozdlhyTXdtOWMzRUJHK0VxUVROZlk1VklyNlRvUGlmS2hpZWhGM0NQVWVmaWxocnF2RWQ2MFU5dEhRM0hsUlI0cGxLWmloZFowc3hnSFlocEFtcW9KRmR6QldBdElyYlRBLzk5ZlZXSnFLdWxpUkFMYXNmNXRWWWJSY1V0NzVpS21vUEtVMFR2cFB2b1NVTVFjUzFYL2t4eFk1YmtVQ0pNYXl1dXdMaldGWW01citUYmFZWWhDVTFDTDBwVzU2cktFMEl2MUtaTHRodFVsVTRqempCNndkYko1dmtBaEYyMFVaNFMwd1RVTWkyaHdLd1RNVmpwQVd6VXpRaUxQdzNyMUxRaTl5OG9mQThuclJFckNUQ0NGYlcrQnBjSEN2VkhlK0U2bzIrck9Rb0NoSEJhZzBHaGxLVHRoS014OHkyaUYxM3JETFduNWd4NllXY0UySWpKamNpWngzTUpQV1MrVHB5NjBFU1d2Y014ZnBqaUM3T3RtRjRRR0creHBtcVdKR0FYYml0SnRsN014dFIwOHZBRmdzb0pLbVo1YjQ3NVF4NFZkUXFlWjkybjJFWlBvS01YSDVjTjlyejJhVVdaYktkN0l4UXhZU3cyR0lHUjViVmFhaTlHN0NXVnJvQmU4S1M5TFJzcnVDa3hvVmxMdms2TXZsaUhOZDlsaURRd1ZTOHdyWEY3ZG5vQTlCMGxxMlhaQzRWRmo2NHFtTjFEZlg1Z1NOTGVHNDltWHIvRXlCbllVT2NKTzdmU0V0cXJvS2VyakVHQm1CZ0ZzdnNKbjZIK2dyOWpIL2FKald6dG9mVUNjOTR4dlZwUm1nYTkwTU15MVJKcXEvQUNSM0V6Wkw1T2hvVitxK0o2elpUVElWc3ZwdEF4U2FzekJDY3QxemJETkxmaVZRRElXUGUwNTlXTEp0b2JkdmxmS21pcUtLWnlqamUyWVU0WjJMKzhSc0ZsYnlUaDB3dWFETy9sTTRjVDBRczZaZTJxamxMS1hucEY2RVc2eXVub05Fb2xLbTYrVGdvWFMreWJZZ1pFWm1GSDF6TzkwQm1DcmowTlh6TFVmcjBvS2YranBVWkEyYU5FR08vd3kzOWE2Y3BRYk5HT1dvdGYwNjM2OVFJbndWYzFpUUV3Y0ZPUUVMYXIvL0tGVHhQUkM1cnptdWtIT2hXZk96RlA5aUlZR253a1k4SzVPaHNGV3lkRFhSTGkrMHdwQzRMVlowY2dwaGUwWmxmQm1aWWVRSlZmTDNyVzJIVGJYbnZ4ZFRReTVCcHNhaEVjMkFNYmxVdXA1MHUvWHFSRVB6NTdNVi8yZDIzd0U3d2pHcDVBZkVFMnVxWUY0aG0wakhxeTlBSzZwT08vdXM4YkdubjBJa1Rtd3pKR2l2U2ZyUmNxcVF3OWpCcWM4M3JwU0lJL3ZxZ3pwV1VOaFRMNXdsQUFYOG15a0RhcFhTcWhlMlM1R3FtdkhQamppNVRvaDMyTWFiZVR2elFCdmJBM0tlbEZiTVdnRjM2cmlkN0I0SytwVGpaTTFLMVF6cDJlb2o3bzRMeEYwcUMrcnRHV0N4aFVrUEhhU0k5NDdQT0lFdUozNElGZkw0TC84aDRibGF6ME94bjVHdjJtVlNlTkJoTzJtcXpEQ05lVFdMaHl0Ujg4bGZsUUU5QUxjdXA5MDFvdXZVQVFjbG14Vkx3K1V0Vkc5OFVRUDhuZ21SZUxDQVVLZFdvYXFTTWRZR0JGU1NYQ2RWM3JBbDY5U0hIZ1VETy9vQ29MWk4wR01zbzBaeDBFVXVtSlg3OWVsUHpSejYyUnZ5QjdVVE9EeG1yRU1YK1d2V2l6VURWTUQwTzBWSHBMNjF2REZZUENpRjNOaEYyb283SldCTTl6QmRaME1XRG5PMlZsaWdPSFhtdzc3SEZ4SmpUNjdpWHdJK2tjdFlWVWZLcDlwVXpMVHBLM1o4MjhybDhaYW9FMWFSb3dBWHRCVHQwc0JwTHpKcjVJSGVlR0dTYTJaS3BYTmIybXR6cFRYdlkxUkpHNzZPZ3llcUlQUlBYb2xOVFdlcUtKTk5EMHFTZVd3OWM1OUhsVE0xckFzMFlWTFh4MmdiYldKbko5MEkyVXk1OWd4NmhXUFF3bGNjMkRIUWsxQWIwZ3AyN3JSWnlseTdJWFhSUE93ZmF2NWVoeTlCWjRmeGdodE9laXBpbXg0TFlhblpMczlJQW1qSUNlVVNKVEFRTy9aa29hUWw0MlpRa0xaVzQ3TmNNUWdMYldlbURuVm13V0dDNDJ4NnF1N0E4azJtTXBweElhM1NlZ0YyUzhPMFlvZG1tYzVzelNpNm9aRUhhQ1dVb2pKZ0ZGWDQzVUVtZ2IwZVFMdHNkeWxUM3lib3YyM0Y0Ni82T00yL3ZTUWtuSFFZdWJqQmE2M0dGRkRwNHlCeTJPem9heDZraWdkclYxSStxWkp4OWc4NExKN0NSa3dHeXBqUEpMdk5KNWxZUlg1WVVub0JjSXp2bnVhYXUwUmJaZTZNeS9PWUhaNjVRWVFiRStQQnZlNHdZZWhYVWxCVG9pQXZ0ejVlOFFGOFQzcW5ya0RueWJEQ0xrTmkxZE5hUlo3MnNWamNZemhpRWdiYTJyOXVmS2hkWkJaWDlIODBFRnRuUkJBVkFucVVvRks1SFY4N2xFeFpUdlBnbTlxRnRSR0tieVhOUjJsbDUwalFmVXdiT3pUc24rRno0OTlPbFppYWtDSHRrYVM0UUtzV09sQndybHpZRC9nSzd6Zm1mY2ZGMDc4T282NnhEc3Zsa3loaWV3NjFsQWh5UlJ4S3FMMSt6Y3lxbHJlQjY4YmlpMTRUSW9Da1psOUROdG5XU3E0OWdzSmhmZ0pQUmlRMmxDSkxxcHRteVdYdlNNWGlpLzdxNlQzYys0TlBScE80WVRLeVhSWTFIMTZxMWc1aDgxYW9KYWVzT2lycXdCeWxQV280YkNveVFCeDF1VkNTaGZqQkR4SHl3SUs5bGd6aDhCdFpuUXUyOXVXQmxwdkdFeHE2d0IwWmE1a2dUZlhpT2NpWDZtTE42NkowdFA5Q05jazlBTHlHQkJlMFd0UnBaZXRJMWVxQThqM0hYeUR1SkZoQW1mOHRiRVNHeGsweFdlazZJTXdmdlZHa2UwM1RWNk5MT2xoUzFZYWRlbStCSFVZQWpTMzgxWXY5UGhmbXVpaFFESTk2UEJuQU53R2M4Rnltc011WWkrV2orLzBtSUtqNCtZQjMwUTcybER2ZkZPeG90aHJmSGlPUEFrOUFKUm1GRlhoT295RnNyU0MvTWJpakNodTFISDNYWHlqNGJlNW52TVgwVllTSk1lRndYK1BKY3lCT0lOemxpR0xlSFpCcWpVcXE1SE1FeVdHWFpCRHVha0dTSHdKeFJhTXpDZ2Fhd1V3MmFETGVwZW45Rk00VEdCMVVxVktYelFqTjFsWFR1WHlrWEdhdzJMNDBlQUo2RVgwRS96OUJvektuZHNsbDRZUXp5cnpMZTdUaW1EdUlRSi9HUktIZEIxWTRpZ3JzWjJvRUU5aVJIM0lnd0JkTGlqUmFHN2ZWMW9neG9GNU9pa1BwRFdtcXZFdE05Z0piUXlSbXFyanZiVTBTSVMwOTBPZ25hVW9wVlMrYWZTNkhma0tVSVZRSkYxTVpmZWFnWTFNZ1M5b1B6d0dCZDI0THBrTzgzbXQ2MzJQeG5oMU9lcEdGay9aaTdKWFp4WUp5azdjWHNGay9MNUJGWWgwTHdDa1RvMnV3aldnQ2t2U0taZ1Y2RERNQnJxWW9PZ1g4T25xYTZHY3JYVVYwYVNkaThyc0p2bEZsOEpIM0t2b252bk9FMTVGK2xQM3NvS1d5ZktHSzNoNjZhQlV2VzJOZEdZZURZc0xqVS9ETDlyV2NqOG5OQ29kVW1OanNEc3haZDUyb0g5YW5WWFVVVDNodHBVZGJsbGsrdGswYk5DNXRkRldPcU9wQzNwbUJFSXloQVlEd05FQ2N0Z2YzcllRc3BSWGZWb1dvcmlKUmxmbkVLUXlxNnV2WWlzQm1EUmJzaXVUQ24xMEQxb2dyNEtaSUJEc2EwUkNEWk1EcE9NMzBYWWt4dnk5MWtLNVMxRFNNK2ZqZm5tK0ZIZ0ZjZCs1ZWVGamNYVXhsZFBMd0hXWlZNaW9kWHBwdWkwMUtRbE5kemtPa2t4eVJ0OWpaajZRa2IwejNJaW5nWlhTNmd1bjJWOEVJS0ozYkJXc0duR0UxUWo2b1Zyc0d1ckVFWm5KWDQxOUNBNVZzRVZHYXVxY280N0lraUxxZmkyNkNIZ3JtRkZxS2tMTUg1RTNkcHN4NTRTWjFwK3phazU1Y2pSWU1vdWk4Uy9jOG9sQTZaV1A4bkM0eUtaSVdvSXZiTytEWmE3bGlaSy9maG9XeG1kNURxbHNRYkJYV0g2Q3huUHFVbUJ1Y0xTcTRzeUJEdXFvTzRONnp5M1lZd2VYRHNXSm1pc1FVRTJBWHpJV2pUYXlSMWcwNjZxV2NFMEVoZGZZaFpYMWNFUEtoQjNERWYzSDdrekRHMXVQL29WQmxTRjI0eVF6R0Q2ZnJRSS9ZVjdudmpZNXpEQnVON3h1MWYrMUUrVGhuM0xsU2VKOGVEcGo4ZHovNnhjaEo5WDVuRHh5dU5FTUhqNnltZjhNcnFDdm8xWUNybXEyK3ZrNTR1d2krWFVGekpnR0xZaW1qMDdrUFA0UytqS0ptdUUveUxOTkgwZS9WWDgrN1o1Y1cyMThHL3NPRXNNYUdPVk1icmdubGxCdHlxdHZHSXBjVXpsUFAxU00wdVZWYndGdlZTK2wwS1Ezd3JlMnRKYk1XYmNZL0YyakJucGI0a1dUbDNPaGhnbXFLMzQxSGIvc2hDLzhaOWZlcjlBUDZNTHlpNnZsQmhqSmh5OEx5aldWWmhCVE00NnhZTDhmek4rSGVYbFdCOFFVTVQ2SVFXd1Q2dVZTRGk2bW9KeHQ4enZQNGxCT1JyTGw4Vis2SDRzUGEzT1VJeWJnU2N5clFrak5LRHZCN0dkRHlPNTcxb0t4ZjFRV0lRU29UZ3JEbXBHRUVGVnRTZzJPbStwUlArOE5iN09uQjlWTHdiMGYyblBuRDJ2dXdDVm9Fc2RJZWZ3ajJ2eHIySHg3MkpUOUlJT0EvZUg0czlaYjUxMVlqVkprSjY3YXpkbVZlUHQ4UWQzZ3FXSytBRUwzVkFISUlNOXlWdzJzRE5XOFY4ZjN2L05pUFR2d25mRmdHRmN5RGJVMCtkcmhqWWZOR2ZuVmlLbUNvdDNnTmpneGFYSHcrL3BFOVhpazRPbklvQUs4bXFOcnBlSzlRanVmLzE0ZVA5VHRSRUVZMndQV0RQdXJGTzJLSXFNSHZLU3pLRG1iTUxQYkxEL2p5alozTWZSb1dVK3ZMSmpaT2x3aHRvamVXYS80MklSOGxvRzcwVHFEbk00WVhaaFNkNUVsN3RPMlVQRGMvZVVFM2J4cFljSGoveHhOamZWV3ZtQnFMeEo2T0ZYbFh1LzRlVGpVZGpKRlVxMjhGQXNRK2EwSFZobFVONG1WZTQ2RGVsMjRkTitlekdFelZTSFl0c1VBSldzNDRsVlpSZktTWjlrRTB5aVpDZFhvdWdybjlncGowL0t4M21MVXJucmRNVGR4TWx2RjRlT0hkMU0zbi9vVXN3T083Vzh3d0ZSY21WSkh2OUpWTjcvaHFPUC9vZHIvNWJoVHF6VEVmY3MvbEU5ZWl3anI3enJQWnZYMHl2Qlk5MGJGR2ZTNHpOMTVWM3ZldDR3U1FtK3hlK0pkVHJpL3BiSUR5L3pKMDcxZlA2aDVQaWZJK2tub3NmTGVKSytab1RQNXZNUGhTZ1hhdGh1ZXlpNVRrYzdwT2luYmVadXNFWnlMbmd6bi9vd3dXT0F5TC8wNFRzNmhqWG5ncy9uVXg4ajkxYUhrdXQwdEQyT25vZVVZS3oxbFc5S0Mza1BCbHJ1T0VEMFBDUjZmS2E1OCtsanlVcmlhdWJiRjBpdTA5R09KVW9MdGpxOGtmSTFYa3FCNXllZXZmQTFGT1ZVRjdnMXcydDdtejVLQjlkOGsyVXY0dlN0dlU3T2tDZGIzRU9ZWUw4dmk1eGliWGdiN1p1U1RseW1NS0c2enJzemt5ZmVMV2JuWXJtODJ3VDJyTk9SOW53QkFYOGR6NTdZbGV1Vkd2NFNPZU9kTk5nYUJMTjRjTWV2ZW80SHRkWkw1Sno1dG9VOTYzU2tZeW1VRDFvSDlzUUhPZjdWME9Mby8waG5yR0djRW8rSTk5aWNVem55ckYzckJXV2IvL1lzK2RicFNFY3kvZVM3ZHAwRzJzT1BHcVU4dnNZUk8xYnhnK2YvMHVFckRqOXFGUEw0R2tmc3JWNzByTlBON3ZLU3NCMkxwLzFXeWxNWkQrbkVVVDNIc1NRYldPQXZJeVdyNzJER25JR3E5ZUdXUjhoc0RsdnVZWnNNYWxxLzFwQW1yMjY5Vlo1R2RRYy82Z3pNRHpzTFZuRk1PTDZyT2VRZ1BYMHpVckhITi94amJMbnB2QlRuZEdWcG1ONDQ5Qk11enR2dlpDU2s5NGJvVFlMaERpTG5ERXhuWnlmMmp0bE9WNjFNbHp1bTVlTjBjbTVuM21UbDNoc1pBeW9jZDFpM2xIbGdLaDFqVEp3eGEyK0txdUpqR2NNb3FQZFhNMmlPdHVyNW5RejVkMmRWWnZEOVA2ejZQMEVFcG9ZbUl4VFdBQUFBQUVsRlRrU3VRbUNDIgp9Cg=="/>
    </extobj>
    <extobj name="334E55B0-647D-440b-865C-3EC943EB4CBC-58">
      <extobjdata type="334E55B0-647D-440b-865C-3EC943EB4CBC" data="ewoJIkltZ1NldHRpbmdKc29uIiA6ICJ7XCJkcGlcIjpcIjYwMFwiLFwiZm9ybWF0XCI6XCJQTkdcIixcInRyYW5zcGFyZW50XCI6dHJ1ZSxcImF1dG9cIjp0cnVlfSIsCgkiTGF0ZXgiIDogIlhGc2dWbDlwS0hncElGeHNaV1owWVhKeWIzY2dWbDlwS0hncElDMGdNU0JjY1hWaFpDQmNkR1Y0ZEh0bWIzSWdmU0JjWkdWc2RHRmZhU0E4SURBZ0lGeGQiLAoJIkxhdGV4SW1nQmFzZTY0IiA6ICJpVkJPUncwS0dnb0FBQUFOU1VoRVVnQUFCQzBBQUFCVEJBTUFBQUJKeGVDYUFBQUFNRkJNVkVYLy8vOEFBQUFBQUFBQUFBQUFBQUFBQUFBQUFBQUFBQUFBQUFBQUFBQUFBQUFBQUFBQUFBQUFBQUFBQUFBQUFBQXYzYUI3QUFBQUQzUlNUbE1BRU4zdnpYWkVtYXVKdXlKbVZETDhacHBXQUFBQUNYQklXWE1BQUE3RUFBQU94QUdWS3c0YkFBQWFaMGxFUVZSNEFlMWRiNHdrMTFIdjJidjlPL3RQZDVqWWlHaldkd1NpWUppTHp3WVJCM29USHlBWndWeVNENGg4WUVZRUdYU0k3RUdDTHNHQ1dZZ2xFQUZtUXlRc0VhUlo0ZysyQTJSV05zU0tSRFJqSnhJV1NNd1NrRUFFTVFOR3dzcVhQWFkyeWZsODl1TlgzZTlQdmRldmUzcG1aMi92elBXSDdYcjFxdXI5cTFkVnI3cDdOZ2hHdkphK080T2grTzZNeXB0UzlkVmFSalBQZFRJcTcxUWRhZ2JxRDJXeGw3ZXphbysrYm5hd2s5SEkxUFdNeWp0Vmg1bUJPZEhQWWo5MXNKcFZmZVIxalRleW1paVUzNU5WZmFkdS9CbG9mVE9UdHhqZW0xbC94SlVMb3BiWnduUDd4NnUybVowYnBmS3UzdzRIei96SEtCeEhTM3RTZExJYjJEdldtYS9jeU83ZHNqaFd0VldkSzM2d3ZQLzdxakRPZlY1RTEvVVh4bUhPeDNOSzNQOWRGeTVjT0hNMkZCYzFSMVdjUDNQaHd0bndHeG9qZ2NhckxzWXBMNGwxQjNPb1lxRThRRWN1dlBmTWVXSDZNaTBHNlBON3o3TU94NDNNaWEwaHJmVU9oaERjak9xWmxoaWNGUThlb3FuSy91ZEMwb3pNYU9vUThzRzZFV2xlOU9leWxsU1d5R3NhRXdQell0dkJKSXBObHlkQk1RcGl4dlR1VzVwdlNpRTNOU29HbWtQanlubmg4amdpYmtheExyNnh1bHdlcXNQcFhaazcyQW1XR3pRTG5YU2lROVpNUC9GNFBNMVAvNXJ4dmI5UWlYQ1BQT1lJM3hDR3hxbFN4YW5FTGxZMVk5MS81bU54VjY3L3p2czAvOHhIbzk0ZFBMV2pVUkV3SS83WFJuaEtaV04yUExVam9GN09QSmRsQ1RvbDRHdExRcnlXUlpSWnQ3ZUc2aG5hdkxWTXV0RXFDMy83MmNFalA4dDRUcU9CZmJ1RkFyUnhQK0c5Q3VFUS93MmhSWkY1SkdETjVnUUxJYnJuSkUzdUJ1cStoSXFlenJGOTJ0bm5xWng5d3FxSTEzUFQyb1NGc25obkVGUUZjNHcyd2ZCU28wTTBpNkdZcEZkY2Jna0JWYnZQTkQrTldYYVZkMFY0OXYzSlBNRkRkZDlJbmdpRUtSU09aUWk4czFySk1VM1RZbTBTblNyVXg5YUwyV2lYMTRVWUZxcWw5elBzUjNYM25MMmNUak5xRFN3QmR0cGJLK0tuTkNjNThhdTZGQU1uaGVkQTJrMnNqOE5GeFJPSGNKd2VjWEVFNUZaVVBCWjBNYUhjTGhlVncvR1h3NGdyZkVDTXJSZDdncUtncmhERGJhOXAwSVk4ZzdjSnhpZzlGOXV2cGRBWTNTTDB3dlhNSzJJM0lid2dUT3lYcU5TSXhVazdramE2dDZyRng0QnZWVW9pei9icFRzQ1IvQTFNcnE4SFRpZjl4VmJFaWRoNXpWOC9IRnVZOU01RGs4dWhYSENwSDFFdk1FbzNLS2g2NHJPNWhQWjR4MURPWWM2OWpDbEl1RFIzTGFjOVRpNW9KTFRISjNBcWp5LzBNU3Jjdi94NkdSMGFXeThLc1cwdWZPTHRycTZyQm9iZnhibmhOQ05TbkZiaHpySXdGaUZNakxJUXJpY0Y3K1hha0VIUENFN0tHQU56QW91d2EvT2Q5cWplY2k1ckZpeU52ZEZsRityb3pnLzlWV0xHN0E2bWw1YkVZUlV6Q0NaMnFETGRyT2hlVlkyTnFDVEN1RmxmSk5IS3RTR0RxUW1yODBrc3hFVXpBb0xxYnBnTTNFSStheGFVQjdhc1VVc2ZPZlBqL3hDZ1Q2K1B5aGpUSThqZkhJL1RjTFVHNDlzYUk0VkQ2RlZObGsrWVUwNUR1SHR0eitOR2NtN0lZRnFaSk43d0llQTU2TVZsaTMvWjFST3F6V25OZ3FxUDJSS2ZvekMrWHVBNFlnOG1SMnN1U1hQaUFjWUpvVStSVUpGZDJXQlRSREV5YTc2OHhnb1NYREFHSmxuSk1BVnh5QjNKWkJGSUR3TzJMZHlVSGdSRHQ5d2doTlZ4c0RRSmN6YStYaXlJd3k5cU85Zkppdzk2R053MGV4bW5rSE9Tdklza2xzVTU3WnZqVXQ0SXVxRVZ6aEk2Ym1FUmVyRm1NVmZkS0JtMUJXY0lGZ012ekkzckFiaVFRK25GUlM1cEhIZ3E3MWk5d3Y5bks0a08yWjR2NnhURkJtYmVvbTM3RHFUVnZJcStvV01ZUytpNGhVUjZwZWl6eE5ONTgwUXp4bitPMjZQZ0VQRUY3TVdoOVFJVzFMTzJPVWR6eVpnR3pZRXB2cW9MZFhGTndtM294YXJHQTJnaFU1dTR5cjVZTkVFRnhNb1FNL2RoSDFNNkxwRmVXZkNGWFZOREdqWHlrOWxUVTVjWE9sNTdnYk91Sit1WXIrLy83SXVZRWNLdGEvYXFOaElyMEl1K3hnYzR5KzJ5a2dTWGMrK3poZXl0T3pmcWhrSHZMTWZSOHgwRjl0aklrcDNubU5ZaE5wdVNjN3g2RWRTRmIydW96bVhkWDhURCtVNkNBQXF3cVpFOW9WS2Vib2JndE85NTlXejJhbXV4ZUtDVDdmNThxVlRHblFSRFc4VUw0WGFTQmxPVjE3UjJuV2pGSTJ3bzZwajFvczMzOTlET01nTGs3ejFxZ1pRVGM4MTdXa2t3U21zUDF6M3BBWGlIdkxZTGhyL1ArdUtDT1I3VzJ5d1ZPNzNpemEzZ1NWck41a290dFczcmswcVhWWEhNZWdHNzc0c0FzM3BNZFlVbURoZ2VWeEFBYjNaVlNSOUluQXlCTnoyQUYzaXVEbXRYMVpjdExWTllkYS9iWngrRlRyODM3Rm53NVZidzNOdU9uTk9sSWUvbVNjNWswUHVxamxrdktPVHlyYSt2cXdaWHJBdHhVRE5sQTJIblhkU2xGZjIwek1rUWVOTUQwS2wxelRvRWFEajVCcHU4UEtxcVE1dTVZL1BsVnBEazhLVEc3WFpWYWM2U3ByQ2ozWTlaTDRLV29KYzRScnVLRGN4ajM4dGpxUm4wUW5vR0owTlE5VHFNQ2pNMXNmQXZmbmIvTHlMb2krWDlQK0R0ZGJOTXk4eklacnhycFZlbXZRN2paQ0w2S2Y1SitSMGQ2bFh4ajhUYitlYkNhSGxueDRJbnB4ZmYrWGo1Z1dmNnFoT0ZML3o3VC8vZXcydDR2dm1yNTU5WlZkamt2WWVkbjhSbVl1aTltMnM3WGhJeVB6VmRnMmhUdm90Z1p3aUtMRGJWeEFFY09KOWNWSHhkaURBeXlmTmlFQU9LZWk5cjZlZEdEdnMyMEcwbE9namE2blJ0VUlCV2hITkl3VFFNWXV2WUZPZTVtUXp3eExCdjhZNVJHRk12YUNUeWtsMzRDblFlc2VDblpCL0lvd3RNVUtHRlR2OXdXc2NLNExLR2xFYkk4RE1WZUdPL1dwQVRabE9DVndEa0ZOc1pBbTk2Z0hqN3JCazZkZHkzVTZpVHgyaTllelc0eEFKYUxOSU5pOVFxdE5VcHlNSm1GZHJvdHRrNzN0d0tvaC9yS0lzWFgvYi9QbmdMZVl5RndRdkJUSXY3TGpGeUR4SzltNVJlL0p3NGVDRW8vS0plWktVWEx4LzhJeEpnL1VTN0VRS3pmaDFUNHI0eTR5ZVcyS1V5cklDWlJKdVcvSVZSR2VpRmN0dkFtMm50ZVJjVk1ZZ3RyRTVrMDFDdE9iSm9YMkVDRU5sSmhiTTU0bEpqNUtjbksraGVYNGxhOGk5cTAzRmRzeEZaRmFhdnNRNGRyaGdCZUV6dE40aXFoVHozTWZYaStTdFhQaUxFRDE3QkZhM1JuTmp2VTNOM3kzdXc5TVFuTU5pMVFuaVJ6Z2pyVkplOHFuaWZ2S0UzZGJMZWcxa01SY2FIQ1hoVVp1dUZPaG1BeTVqaGNOMGpHSSt4RlhGY094OS91eENLM1NibzhaVHdWY00xbC9Ia2JKbTFaRGd5SVRnODQ4Tk8rUDFxeS9GT3pZZEk1QW54K2p6UjEvazVEQy93bk10c0wwZmxtSG9CeVRBRDI2cUJRa1ZwYUZlRmVrSHdJZWpGQWxZREcveXFJclR1ejRwcnEwRWJjMksydUZYdktkd1ZXaS8wdWhSWVBTWU05a0p0M1FwYlZuOTZBRk9zakVzc3RSdE5QR2I4KzBsa3oxSmZ0T00ycmN0anZDK0ZSVEF4cnplM2d0YzJ6V3hUVTR1eDFzNksvYjNYS0grclV6VlVXVStaY0tyTGVVMUdMN0RDc2ozMHNDTkJHT2ExN2hhTnlPOHBaa0lpcGFVRVViN3JIaEQvWkFZcGVTK2paRFRka3BoYnBUMjI4Wm1zRlR1VFVwUUJiRlVNeUhXM21HS1JkMkhOTUJrRTFpV2pnODRxVXJjM0pjRnl5bXp3aEIxSTIvR1JDaDBKTDBkN2xMTlZCWFRsY05kazlLSnNqRnhUR3d5b3lMMWttckVtYTc1T3hxYUZRc0p6dm1vUDdublEvcGdIcjFHd1lXekJtRjQwMmJHbnNxYnBPZEMyczBFbnBmWjA0MDhNUW4zbUpSNE1yY1o1R2J4a3F4ZXJTUWNwdmJJdXEwL2Eza3d4WVpvdUtwanVsYTJvSkFNcWNrUzFDQkg5NmVrMU1MZ1JvWW5vQmZSOVI3VTdwWjk0SU1CL0c5d0llWXFhcW1WM1pWbXdFNzNwQkVZcXdWY3crczhuMFF5VDFJdlZ1QmFycTF5S1B6MUFiK3ZmWUpLQzdybTRWSTNkSlhxNWFhcHhFdXlZa2dXTjh3eWVWbGMyRjFUOWs0SEo1QzB1eXRIQVhwRDN3N2lWd2FiTzdObERJZFNvMTBUMG9zdGNNOGE0SG5jQ2szZUdSbHY4NkIvNmVyVWhoN0puSjRGOXBESHVFbWJ2aytuVlZFTjZJVFVCSmJJWHNyUUJVTEtXK0F4S0hOMVlaRVRGc0VOL280aXVodHV6bGhuQTd0Mml5dVNGUWU4a3NVTXdXSFFWRVJTNCtqRTJUR3VORlU5SUhZWVhKajBxbHZrcEdqdFJHanZHTVNJNENiM0EwM0t5Qy9MU0JVeFIydXlCRkZPN0ZuSEFCdm9qY0NsUDNmQmNYZnlLS3FUY21TYUFncFhhWUpicjVVOFBCRUZUdk1Ha0xpbnpBa01Sb1gvWldtN0xlakEyeEtkY0NxL0pnTW1YeW9qQW4xdUozdlhyTXdtOWMzRUJHK0VxUVROZlk1VklyNlRvUGlmS2hpZWhGM0NQVWVmaWxocnF2RWQ2MFU5dEhRM0hsUlI0cGxLWmloZFowc3hnSFlocEFtcW9KRmR6QldBdElyYlRBLzk5ZlZXSnFLdWxpUkFMYXNmNXRWWWJSY1V0NzVpS21vUEtVMFR2cFB2b1NVTVFjUzFYL2t4eFk1YmtVQ0pNYXl1dXdMaldGWW01citUYmFZWWhDVTFDTDBwVzU2cktFMEl2MUtaTHRodFVsVTRqempCNndkYko1dmtBaEYyMFVaNFMwd1RVTWkyaHdLd1RNVmpwQVd6VXpRaUxQdzNyMUxRaTl5OG9mQThuclJFckNUQ0NGYlcrQnBjSEN2VkhlK0U2bzIrck9Rb0NoSEJhZzBHaGxLVHRoS014OHkyaUYxM3JETFduNWd4NllXY0UySWpKamNpWngzTUpQV1MrVHB5NjBFU1d2Y014ZnBqaUM3T3RtRjRRR0creHBtcVdKR0FYYml0SnRsN014dFIwOHZBRmdzb0pLbVo1YjQ3NVF4NFZkUXFlWjkybjJFWlBvS01YSDVjTjlyejJhVVdaYktkN0l4UXhZU3cyR0lHUjViVmFhaTlHN0NXVnJvQmU4S1M5TFJzcnVDa3hvVmxMdms2TXZsaUhOZDlsaURRd1ZTOHdyWEY3ZG5vQTlCMGxxMlhaQzRWRmo2NHFtTjFEZlg1Z1NOTGVHNDltWHIvRXlCbllVT2NKTzdmU0V0cXJvS2VyakVHQm1CZ0ZzdnNKbjZIK2dyOWpIL2FKald6dG9mVUNjOTR4dlZwUm1nYTkwTU15MVJKcXEvQUNSM0V6Wkw1T2hvVitxK0o2elpUVElWc3ZwdEF4U2FzekJDY3QxemJETkxmaVZRRElXUGUwNTlXTEp0b2JkdmxmS21pcUtLWnlqamUyWVU0WjJMKzhSc0ZsYnlUaDB3dWFETy9sTTRjVDBRczZaZTJxamxMS1hucEY2RVc2eXVub05Fb2xLbTYrVGdvWFMreWJZZ1pFWm1GSDF6TzkwQm1DcmowTlh6TFVmcjBvS2YranBVWkEyYU5FR08vd3kzOWE2Y3BRYk5HT1dvdGYwNjM2OVFJbndWYzFpUUV3Y0ZPUUVMYXIvL0tGVHhQUkM1cnptdWtIT2hXZk96RlA5aUlZR253a1k4SzVPaHNGV3lkRFhSTGkrMHdwQzRMVlowY2dwaGUwWmxmQm1aWWVRSlZmTDNyVzJIVGJYbnZ4ZFRReTVCcHNhaEVjMkFNYmxVdXA1MHUvWHFSRVB6NTdNVi8yZDIzd0U3d2pHcDVBZkVFMnVxWUY0aG0wakhxeTlBSzZwT08vdXM4YkdubjBJa1Rtd3pKR2l2U2ZyUmNxcVF3OWpCcWM4M3JwU0lJL3ZxZ3pwV1VOaFRMNXdsQUFYOG15a0RhcFhTcWhlMlM1R3FtdkhQamppNVRvaDMyTWFiZVR2elFCdmJBM0tlbEZiTVdnRjM2cmlkN0I0SytwVGpaTTFLMVF6cDJlb2o3bzRMeEYwcUMrcnRHV0N4aFVrUEhhU0k5NDdQT0lFdUozNElGZkw0TC84aDRibGF6ME94bjVHdjJtVlNlTkJoTzJtcXpEQ05lVFdMaHl0Ujg4bGZsUUU5QUxjdXA5MDFvdXZVQVFjbG14Vkx3K1V0Vkc5OFVRUDhuZ21SZUxDQVVLZFdvYXFTTWRZR0JGU1NYQ2RWM3JBbDY5U0hIZ1VETy9vQ29MWk4wR01zbzBaeDBFVXVtSlg3OWVsUHpSejYyUnZ5QjdVVE9EeG1yRU1YK1d2V2l6VURWTUQwTzBWSHBMNjF2REZZUENpRjNOaEYyb283SldCTTl6QmRaME1XRG5PMlZsaWdPSFhtdzc3SEZ4SmpUNjdpWHdJK2tjdFlWVWZLcDlwVXpMVHBLM1o4MjhybDhaYW9FMWFSb3dBWHRCVHQwc0JwTHpKcjVJSGVlR0dTYTJaS3BYTmIybXR6cFRYdlkxUkpHNzZPZ3llcUlQUlBYb2xOVFdlcUtKTk5EMHFTZVd3OWM1OUhsVE0xckFzMFlWTFh4MmdiYldKbko5MEkyVXk1OWd4NmhXUFF3bGNjMkRIUWsxQWIwZ3AyN3JSWnlseTdJWFhSUE93ZmF2NWVoeTlCWjRmeGdodE9laXBpbXg0TFlhblpMczlJQW1qSUNlVVNKVEFRTy9aa29hUWw0MlpRa0xaVzQ3TmNNUWdMYldlbURuVm13V0dDNDJ4NnF1N0E4azJtTXBweElhM1NlZ0YyUzhPMFlvZG1tYzVzelNpNm9aRUhhQ1dVb2pKZ0ZGWDQzVUVtZ2IwZVFMdHNkeWxUM3lib3YyM0Y0Ni82T00yL3ZTUWtuSFFZdWJqQmE2M0dGRkRwNHlCeTJPem9heDZraWdkclYxSStxWkp4OWc4NExKN0NSa3dHeXBqUEpMdk5KNWxZUlg1WVVub0JjSXp2bnVhYXUwUmJaZTZNeS9PWUhaNjVRWVFiRStQQnZlNHdZZWhYVWxCVG9pQXZ0ejVlOFFGOFQzcW5ya0RueWJEQ0xrTmkxZE5hUlo3MnNWamNZemhpRWdiYTJyOXVmS2hkWkJaWDlIODBFRnRuUkJBVkFucVVvRks1SFY4N2xFeFpUdlBnbTlxRnRSR0tieVhOUjJsbDUwalFmVXdiT3pUc24rRno0OTlPbFppYWtDSHRrYVM0UUtzV09sQndybHpZRC9nSzd6Zm1mY2ZGMDc4T282NnhEc3Zsa3loaWV3NjFsQWh5UlJ4S3FMMSt6Y3lxbHJlQjY4YmlpMTRUSW9Da1psOUROdG5XU3E0OWdzSmhmZ0pQUmlRMmxDSkxxcHRteVdYdlNNWGlpLzdxNlQzYys0TlBScE80WVRLeVhSWTFIMTZxMWc1aDgxYW9KYWVzT2lycXdCeWxQV280YkNveVFCeDF1VkNTaGZqQkR4SHl3SUs5bGd6aDhCdFpuUXUyOXVXQmxwdkdFeHE2d0IwWmE1a2dUZlhpT2NpWDZtTE42NkowdFA5Q05jazlBTHlHQkJlMFd0UnBaZXRJMWVxQThqM0hYeUR1SkZoQW1mOHRiRVNHeGsweFdlazZJTXdmdlZHa2UwM1RWNk5MT2xoUzFZYWRlbStCSFVZQWpTMzgxWXY5UGhmbXVpaFFESTk2UEJuQU53R2M4Rnltc011WWkrV2orLzBtSUtqNCtZQjMwUTcybER2ZkZPeG90aHJmSGlPUEFrOUFKUm1GRlhoT295RnNyU0MvTWJpakNodTFISDNYWHlqNGJlNW52TVgwVllTSk1lRndYK1BKY3lCT0lOemxpR0xlSFpCcWpVcXE1SE1FeVdHWFpCRHVha0dTSHdKeFJhTXpDZ2Fhd1V3MmFETGVwZW45Rk00VEdCMVVxVktYelFqTjFsWFR1WHlrWEdhdzJMNDBlQUo2RVgwRS96OUJvektuZHNsbDRZUXp5cnpMZTdUaW1EdUlRSi9HUktIZEIxWTRpZ3JzWjJvRUU5aVJIM0lnd0JkTGlqUmFHN2ZWMW9neG9GNU9pa1BwRFdtcXZFdE05Z0piUXlSbXFyanZiVTBTSVMwOTBPZ25hVW9wVlMrYWZTNkhma0tVSVZRSkYxTVpmZWFnWTFNZ1M5b1B6d0dCZDI0THBrTzgzbXQ2MzJQeG5oMU9lcEdGay9aaTdKWFp4WUp5azdjWHNGay9MNUJGWWgwTHdDa1RvMnV3aldnQ2t2U0taZ1Y2RERNQnJxWW9PZ1g4T25xYTZHY3JYVVYwYVNkaThyc0p2bEZsOEpIM0t2b252bk9FMTVGK2xQM3NvS1d5ZktHSzNoNjZhQlV2VzJOZEdZZURZc0xqVS9ETDlyV2NqOG5OQ29kVW1OanNEc3haZDUyb0g5YW5WWFVVVDNodHBVZGJsbGsrdGswYk5DNXRkRldPcU9wQzNwbUJFSXloQVlEd05FQ2N0Z2YzcllRc3BSWGZWb1dvcmlKUmxmbkVLUXlxNnV2WWlzQm1EUmJzaXVUQ24xMEQxb2dyNEtaSUJEc2EwUkNEWk1EcE9NMzBYWWt4dnk5MWtLNVMxRFNNK2ZqZm5tK0ZIZ0ZjZCs1ZWVGamNYVXhsZFBMd0hXWlZNaW9kWHBwdWkwMUtRbE5kemtPa2t4eVJ0OWpaajZRa2IwejNJaW5nWlhTNmd1bjJWOEVJS0ozYkJXc0duR0UxUWo2b1Zyc0d1ckVFWm5KWDQxOUNBNVZzRVZHYXVxY280N0lraUxxZmkyNkNIZ3JtRkZxS2tMTUg1RTNkcHN4NTRTWjFwK3phazU1Y2pSWU1vdWk4Uy9jOG9sQTZaV1A4bkM0eUtaSVdvSXZiTytEWmE3bGlaSy9maG9XeG1kNURxbHNRYkJYV0g2Q3huUHFVbUJ1Y0xTcTRzeUJEdXFvTzRONnp5M1lZd2VYRHNXSm1pc1FVRTJBWHpJV2pUYXlSMWcwNjZxV2NFMEVoZGZZaFpYMWNFUEtoQjNERWYzSDdrekRHMXVQL29WQmxTRjI0eVF6R0Q2ZnJRSS9ZVjdudmpZNXpEQnVON3h1MWYrMUUrVGhuM0xsU2VKOGVEcGo4ZHovNnhjaEo5WDVuRHh5dU5FTUhqNnltZjhNcnFDdm8xWUNybXEyK3ZrNTR1d2krWFVGekpnR0xZaW1qMDdrUFA0UytqS0ptdUUveUxOTkgwZS9WWDgrN1o1Y1cyMThHL3NPRXNNYUdPVk1icmdubGxCdHlxdHZHSXBjVXpsUFAxU00wdVZWYndGdlZTK2wwS1Ezd3JlMnRKYk1XYmNZL0YyakJucGI0a1dUbDNPaGhnbXFLMzQxSGIvc2hDLzhaOWZlcjlBUDZNTHlpNnZsQmhqSmh5OEx5aldWWmhCVE00NnhZTDhmek4rSGVYbFdCOFFVTVQ2SVFXd1Q2dVZTRGk2bW9KeHQ4enZQNGxCT1JyTGw4Vis2SDRzUGEzT1VJeWJnU2N5clFrak5LRHZCN0dkRHlPNTcxb0t4ZjFRV0lRU29UZ3JEbXBHRUVGVnRTZzJPbStwUlArOE5iN09uQjlWTHdiMGYyblBuRDJ2dXdDVm9Fc2RJZWZ3ajJ2eHIySHg3MkpUOUlJT0EvZUg0czlaYjUxMVlqVkprSjY3YXpkbVZlUHQ4UWQzZ3FXSytBRUwzVkFISUlNOXlWdzJzRE5XOFY4ZjN2L05pUFR2d25mRmdHRmN5RGJVMCtkcmhqWWZOR2ZuVmlLbUNvdDNnTmpneGFYSHcrL3BFOVhpazRPbklvQUs4bXFOcnBlSzlRanVmLzE0ZVA5VHRSRUVZMndQV0RQdXJGTzJLSXFNSHZLU3pLRG1iTUxQYkxEL2p5alozTWZSb1dVK3ZMSmpaT2x3aHRvamVXYS80MklSOGxvRzcwVHFEbk00WVhaaFNkNUVsN3RPMlVQRGMvZVVFM2J4cFljSGoveHhOamZWV3ZtQnFMeEo2T0ZYbFh1LzRlVGpVZGpKRlVxMjhGQXNRK2EwSFZobFVONG1WZTQ2RGVsMjRkTitlekdFelZTSFl0c1VBSldzNDRsVlpSZktTWjlrRTB5aVpDZFhvdWdybjlncGowL0t4M21MVXJucmRNVGR4TWx2RjRlT0hkMU0zbi9vVXN3T083Vzh3d0ZSY21WSkh2OUpWTjcvaHFPUC9vZHIvNWJoVHF6VEVmY3MvbEU5ZWl3anI3enJQWnZYMHl2Qlk5MGJGR2ZTNHpOMTVWM3ZldDR3U1FtK3hlK0pkVHJpL3BiSUR5L3pKMDcxZlA2aDVQaWZJK2tub3NmTGVKSytab1RQNXZNUGhTZ1hhdGh1ZXlpNVRrYzdwT2luYmVadXNFWnlMbmd6bi9vd3dXT0F5TC8wNFRzNmhqWG5ncy9uVXg4ajkxYUhrdXQwdEQyT25vZVVZS3oxbFc5S0Mza1BCbHJ1T0VEMFBDUjZmS2E1OCtsanlVcmlhdWJiRjBpdTA5R09KVW9MdGpxOGtmSTFYa3FCNXllZXZmQTFGT1ZVRjdnMXcydDdtejVLQjlkOGsyVXY0dlN0dlU3T2tDZGIzRU9ZWUw4dmk1eGliWGdiN1p1U1RseW1NS0c2enJzemt5ZmVMV2JuWXJtODJ3VDJyTk9SOW53QkFYOGR6NTdZbGV1Vkd2NFNPZU9kTk5nYUJMTjRjTWV2ZW80SHRkWkw1Sno1dG9VOTYzU2tZeW1VRDFvSDlzUUhPZjdWME9Mby8waG5yR0djRW8rSTk5aWNVem55ckYzckJXV2IvL1lzK2RicFNFY3kvZVM3ZHAwRzJzT1BHcVU4dnNZUk8xYnhnK2YvMHVFckRqOXFGUEw0R2tmc3JWNzByTlBON3ZLU3NCMkxwLzFXeWxNWkQrbkVVVDNIc1NRYldPQXZJeVdyNzJER25JR3E5ZUdXUjhoc0RsdnVZWnNNYWxxLzFwQW1yMjY5Vlo1R2RRYy82Z3pNRHpzTFZuRk1PTDZyT2VRZ1BYMHpVckhITi94amJMbnB2QlRuZEdWcG1ONDQ5Qk11enR2dlpDU2s5NGJvVFlMaERpTG5ERXhuWnlmMmp0bE9WNjFNbHp1bTVlTjBjbTVuM21UbDNoc1pBeW9jZDFpM2xIbGdLaDFqVEp3eGEyK0txdUpqR2NNb3FQZFhNMmlPdHVyNW5RejVkMmRWWnZEOVA2ejZQMEVFcG9ZbUl4VFdBQUFBQUVsRlRrU3VRbUNDIgp9Cg=="/>
    </extobj>
    <extobj name="334E55B0-647D-440b-865C-3EC943EB4CBC-59">
      <extobjdata type="334E55B0-647D-440b-865C-3EC943EB4CBC" data="ewoJIkltZ1NldHRpbmdKc29uIiA6ICJ7XCJkcGlcIjpcIjYwMFwiLFwiZm9ybWF0XCI6XCJQTkdcIixcInRyYW5zcGFyZW50XCI6dHJ1ZSxcImF1dG9cIjp0cnVlfSIsCgkiTGF0ZXgiIDogIlhGc2dWbDlwS0hncElGeHNaV1owWVhKeWIzY2dWbDlwS0hncElDc2dYR0ZzY0doaFgybGVLeUFnWEhGMVlXUWdYSFJsZUhSN1ptOXlJSDBnWEdSbGJIUmhYMmtnUGlBd0lGeGQiLAoJIkxhdGV4SW1nQmFzZTY0IiA6ICJpVkJPUncwS0dnb0FBQUFOU1VoRVVnQUFCSEFBQUFCZkJBTUFBQUJ5N1MwWkFBQUFNRkJNVkVYLy8vOEFBQUFBQUFBQUFBQUFBQUFBQUFBQUFBQUFBQUFBQUFBQUFBQUFBQUFBQUFBQUFBQUFBQUFBQUFBQUFBQXYzYUI3QUFBQUQzUlNUbE1BRU4zdnpYWkVtYXVKdXlKbVZETDhacHBXQUFBQUNYQklXWE1BQUE3RUFBQU94QUdWS3c0YkFBQWRyMGxFUVZSNEFlMWRmWXhrV1ZWLzFkL2QxZDNWbVJGWVBrdzFPNmhrUldyWTRTTXVpNjloUnlVcnBHYjFIOVEvcXVLYTFhekJIaEowZ1Uyc0ppSGhENVZxUG94Ukk5V3lDcHFnMVFITWlwRlU0V0lrK0VkMUZreFFFcXNpUmduLzlOQTE0REQ3Y2YzZCsrN0h1ZmZkOTFGZk16amRsVW0vYzg4OTk5ejd6djNkYzg4OTcxVk5FSng5cG02QmozYW5ydkpNNFdtd1FMaHpHdTd5N0I2bmJnRzJQWFdWWndwUGd3WE9nSE1hWm5rRzkzZ0duQmtZOVRTb1BBUE9hWmpsR2R6akdYQm1ZTlRUb1BJTU9LZGhsbWR3ajJmQThSaDE0MGM5VE1VcTNxK28yM1Y5dXA3UzgyZTdLWlZUckRvRGpzZVlqVGQ2bUpwVk9kRGtiU0dXaDRjcC9jN2RUS21jWXRVWmNPTEdYR0dET05Od3psM2ZNb1hiUURXZlQrdTBVSGx6V3ZYVTZzNkFFemRsKzN0eEh1RVV3NWVUMGkwbjExZzl0Yy9QbnR3U1hQOEFBS2Z3amd2c3ZqOGRwRnJqVmxZdXNHNTZkOGUzWm1vU0JsRjlOcUZDc2pmWkxjSDE1TUQ1MjArd1YzYlQ3eVc5dHNYRTU5T3pXeWpuMkwydnVIejU4dDBYUW5aRmo2WEdMdDE5K2ZLRjhMdWFJNG5tOTEyT1U5NWdPdzVub21LaE1zUkFMci9sN2t2TWpHV1JEVEhtdDF3aUE0NDZXV0g3R2IzMXIyY0lUS1Y2WXVBOHl0aTk0ZERNeDhpaldtRDNQQ0dRa3hxUmpxeVdOdGlOb01uL1h0WDhpbVRlMEp5SVdHVUhEaWRXYkxsdFloS2pNSmJNNlA1WHQ1dFR6RDNOaW9oV1p2Qzd5dHcyam9xcEZDY0Z6akpqRHdYL3liSVdhY3BZbXo4WEJOL2lac3B3d1NrcXNxb1cvL0FEMFR6ODVXOXRhZGxmcXdyZWc0OXJUa1RzTWlQalZLbmlYTXdQcUpxeHJyLzRubWdvTnovNGtHNi85RzR4dXV1Zk90UXNRU3l4NzlnTVQ2bGlISmVuZGtxc0NZRlRxR0JITGVBZW5mdkxQN3JORXk3N0sxQ1JIcExtMXlna1gvYSt5bXYvWW1BYW5VY0hKM1ZUQmxWb2d2VkZpOFc1WVRhQWkreDV0OWxrNVVLSTRUbkpvN3ZBZWxVTXcrZXpBakFNcEpOK0tweHNxS3IxaE1BNXg0WmJ3U0p1OFlwU09PcDFKWnFucDloVUE0ZHZBeFA0MTlXajRXTjhScGNpb3VRYjlrS2VjZFFFMmgxMWt4UnJHSjY3OWhnSmViVHVhbzRBWm5IQ1NkV2RwUkVUOXRIZ2ZnTGJWV2JFbGppRytXanhGajd5aGtTUjBTdnU0cTZrOERWMmZhRGE4a0RpbWlySTY0TFB5ZlZpRStpMDRzWDU4ZS9Yb3cyc1hRelByYW15dXNzSzFtUG9qNG1BRVU0UU9majArWGlUQVdlVDhVaHlIWGZkOVNuUHd5dE5kWWVLZWl6SzA5TlhUZHhVeEJqZDZLREVqbUlqTERBVG9NWXFOV045Mm50VkI4UGIwdW9qZ2ozbk1GQXNrK2crWHFzNHZabnRWYitBY2JxZllkeUthaUNKMXpVbWJGOWg0N3Z1OGd4V3h6ZWx6UldBK1BoeHU1RnZNemRUOHdTUkt6RjRHWGxDVlhMc0dFUThrOFN1NlU3Mm9tLzdiOGJnNVZNOWwyZTc5VFhNNUZWYzFQRHlRV2F6bUVBNWNyQjMzZnYrV0ZWZVJtbVlWekszSEVMTks1SHdzVm0xSVROMFZGa0lkK0lxajNNdDZhRHZjVlp4WmZrNTg3Qy9zM0RQZTdDNW1jc2ZCaHZ1cmNZSHN1NGVKdU1pUHM2WDdsWWZkcUtvVjlSOWt1bThQdlBjWFhvVHQzYktSMXV1ZmtHUENpSHhRSFpZamNXYXk3NW9wcDFyU1FkejdLTFVPNTNMQW9BandhNFVOdHhZSGhWcitmeGhVTWxjamNlWjZTQTFqb1RyWkRGT2pkMUkwSnVidmNaZWsxczJwMkROQkwyaGR0cE41cTdXWTg5T2xYTko0eURwYVp4emVENnhGUURucWxXeDZRS0oxK2IwaDBITjE5aFMzeDgvdUlqMFRBYWNoanNaMXVCeUZWWW5TUjc2ZXdqTlRkVzAwMjR4NWl5eXluYTgrVm9zRUlyTGNFNkJaYTVwZjhNRTdpcUFjMkRWemZsbXRxMGRxQ1ViSzVRekhXSnYwdkViRzhkNno4Rm9UejdyT080YzV1aHBCQkZNZ3ZiNkhUM0JQYVIxTENXTHZra281N1ZIMHcxSkxOMGpGL2pCZE50cVZYdmVLb3BDd2JtRnVJVGtyT2oxa2lSeTI0RXp1Y2V1T0JiejMrcXZIL241SGk0Q3pZRmk0NUZQUGFKM01UV0tLNjRkMzdtN2xqZEJzNnYzUUV2cHVJVlltcW5vN0Z4QzhXTGVkYnFrbzd5a0FkMEJ3R25sc2diTC94d1ZFTkhtUW01eUx5cDBBSnd0elFmUjlzVldsYnp1cjVTUmlmdE4ybFUySFVzenJTRWpIL3ZNWlhScUdtUzY4VHNBT0dYdEZNeDl4Nm1Rc1EvSHVWNU9reXczSEt1dVJVSWxBR2RBNURkOGU4MG1hVXBrUGVSYU90eFh6RzdwYWV4aFlYVFczdFIvemlOMG5Odk50Yk04NXgwQUhEZ0YzOXAzN1BiM3NHek8xQU1qUjcwTi9kRGR6WlNjZDBKbDBkOXlPaHpJbU5iVHd3MWZVcHEwanBOWUdCUXFoZkFnTGhNMHN1Q2cyL1N5OXY4N0FEancwbm1TUVhoc3lUNmtEWk5DQUNzbWVzRXprUnVSckpzcDhhVkpncEk1eUtmMHdLc3c2a0dLU0k1M00reldWVHZONU0weElmdGR0MXNsbGpxMi80ckwzUUhBQ1pwdUNpTittNXp6ZDBETzMvaXJMQzRPVmVZcEJ0NzRrT2RPSjFQaVRaUGdXYVBjMkN5TjNrSWxkVE5xMkNjNHJ3YUxDU01ZdUNOaDR6dDBJSUsyMnFRVTVyTHlUSGNDY0RxMmwwNDB4NHVBbkxjbjF1b0t1QlppZGJTSm9rd25VK0pOa3dTdDNFRUU0SDZndTR3VEZZcUNlSFdjMDdMVFRMNGNVN0NheXpVTDNTdHUwc3J0OFU0QURwNlUrbzRRN3EwR3dZdER2Tm9VWnpzY1JNRWtXZ0J3NmtMQXlaVFV2QS9scTdFZzR2T2ZPUG0wYVAvNXlzbnYwNTU2YWM1cEtXdW5vSm9FM2JQU1RJdmVQV21CdU5KSVFmR1BLL2QwT1ZuOENIdmxVY1FUZjNHM3BPUWg4d0FIM3lJWXZqTDJwcHRVbGhWRWVmb2tyRFpkM01pbmZ2a3R3d2MvcnV0ZitzNS9lcytmMzR2aS8xeTRMK1ZJaEtBazUwSmZCSEplcDlVbkVCM3JYVUswMkJlQ2RxYWtxRTdwdHBMWWswWkVWcUc0eDFVMmpBalY0RGdOR3lzam0zVVhSbENxOFE2ZkRNd01oMU1sdWlJNFk3UE5obEcyczhVdWtiUW5hdEpEc0NESUFaeU5ObU1YR1B0ZDNsUDhNL0lkYWhWOEp1VG4rWWk1WG1Xc3d0aFBSbnREd0lNWHNZNWVBcU1udjdUeE1yU3k4YWU3aUJIclZIMnNObUxzV2dkYk5OZ1RmRHRUNGsyVEJMaWxRYVJFL2wxbnJ6b3NOUGltMUw1L0szaVVKdVZLN0ZsTDFDcDBSbjQvcVFNaktMc2w1SmdRZ1VsRHE3NTZKLzhTdklodlNtdkRMd1pMYmJvOXNvd1JaQU5uSTJTdk93eGVrS1JvaXNCWnFyQzNiUVV2YkdvVU5HRU1uRm8zdzdkdnRkMTdWdmVPRzJkdHkyaTZ4a2RzVkJGRUdnUDdSSHJXTzZJVi9Rd0luUmk3OTcyempqakkxdGpnWW92c1JyRENEMzVmSWdyd2ZOenJGYUwyelpHZkJKVXd2RUhVT01CckVWMUYwbXZMMlIyWGhWZ05LNk81ZzlmcHFrWkJFRlQ4TGxXcnl3Uk9zYzNleEtVL2wzQ2Y0d09uK05oamo0VnNpTCtQdlV1TXA4bGV6YTk0QjF4Y2crRGYzaE55NEp6L0xzSzZwTGdPR2JxSCtJRm5UNmpJL3JQVXhnSDdNRTJ1NWdKbk81TEdXRXpzRSs3NFZLdzV5Wm5WNkZ2YUlUdHFRUjRKcCsrYlZpdnF1R1pZbXRva1BXbG1PbUdsbWViOStZbTJNMW10TjNLZDgreTVWUzdmVUp1eTZLaVo4Wmd6RXpnOWRsTXMwRUlvL2V6Q25sQ3MvamhqVWV5YzF6WUozbjlJUVJPQldWMjJYd294RmUwakxFOTNMVXVCWW9XOW4rZEUyRE01ZXd3Mm16aC9ERktrWVVDaURCN25ZaVJjSmZQdVQ1TmdEdUQyeWFjblpnWlQ4bXIrSktLdmMwSmNCREFpa2pZNXhodDRQTTIwcjdRMHlBMG9IcTZoZlpCYmoyQzl6RTZPSWM4anhUMGozSEM4azZtSnFDemdZS2xMYlgyNUNvNTNMQjFUQXc0Z0lIdUNoZlZHMEdJbjYxaW1mRDBKL0ZwOW8vQ3dFRzJRT1hVbFl1VWlwSy9YWTJ6TkFMQmdSL1VCWEs1Rk5QaDZjemttcmtOSjRscXljaWtBZEYxVTF0aVFodzl0YTVSd2xRQ1QvOVBRSzhkZjcrRlNyN3RwSUdSSk92bXVUblF3eEVEQ3Evd2RMNEs4SUtoUkkxaGFva0lXY0JyYVdGajBZdXBhKzVhYXFRRm56cmg1b0xVdU8rbXprL0oyRU1BczNveVlkRTRkbmFhenhwWlFLTFNnN1NpaFVzeXZGemhvcFhlQUtzYmsrWFIwZUNZcUZ5UzhlaEVVUSt1NGhoVmU5NmpnckEwYmZ3bFNOaHMyWXp1U3RlQzFGWGZNVjJpamFqU1RQTTl3R0szTnVxbnVaK1RBTTRDRENkdVJ5Z0JNMFcyRmFFZFZxT3FsMkdnWHNsVTFDY1FyK3VuVExqdXBIWWtFdlRkdkluMFRYeTMxL0QwWDhLNzlTVGRKSG83QkJzNTNJa2xNdndwWi9Xa1MvaVdWWjZuVzNzV29WSXNDYkNqZU05VTQ4SFpOeWFMR2VlV0NUNy9zTHZEbm1QaVpqL2E0THU4R0U4czNXTmhRTzFRVWorMWJzY2JIQ3huQWFSbC9Dcnp5Z1cwcTQwbFZIKzFLWXF5TEFRNXUvRUNyNk9tMWZjeE9MbkQyazI4ZDZGcER3QlI3dklSSm9DZGRJNUJFUFFVUVBKUlFpZm1WVU9FQ1ZWM2FSU2V5U1ptYW1LanAyY3MwN0VaMWpRalduN0VjQ2V5NVQ1b1NFbmR6U0lyNVNKaEM3YWtGaWsvU1dycG54Wm1YSUVld3hSY2xRb1dycWdyWERnM2tDVitSNmNEQmFNd1NDa1dRczBvUCswckwyRmNEbkRMTm5aVjA0ZGlLQzl4K09tb0RDNDFuZEdYODVhZGg1dy83cXd4VWVMMHBkZEJFVHFqM1ZSd0l0K2g1TzloUWE2d3RFZmRPQ3crVy82RkQ2VnRhYUUwS1RRNEkvaHhUd0krbUE2S2hmekVxd05WYzQ5VFNOMGdsd3JXRXhTR0Ywb0VEVzBudEVHK0xCVFB2M1RKb2w2UFFCamd0dlp6UkhqdmtkcVFHd0hrK1dXRlZWVGIwY2tzV3RtdCtGVEI0M0diSmtvRUtaNkQwVEZSUlFvdTZJTzAweVgvZDNJb0UrSWxXeWdyR21neHg4RkJhQjBkS0V0Y2tySk1JajBobmtoaWRuSnErV2V4d3h0VS9VMDNoV2c0VmpXdDdQeXJndm5ZSVc1SWw3NWlOWERwd1lMV3VsbTJKTFg3WElFblhqRTlvNE9BcE5ERXV0bDE1ODhjVXVtNC9FTnVMZUgwQ0hHSXF0d0V0Znh1Vy9oQmxLQm8zVGFZZkpibHg4Wk5kVndoWmFSSXM5VDNWdEtsa0JhTWsxVUNDUERWVnNrbkFLVllWQUxSa0xpTFVOclBDem83eEhGaU9HdUpRcVZEVWNXTG1xTGVKZ0lPZFNubGJhS3NKd0xhdjVMcU5uRUlhT05oL3lSNklYVjdDQ01BNVNOU0ZXejZNS2t0NmV2bnVuTzVrbGJwdk1jWStxUXJrMms0QWpzbVV0QWl3ZUQ3bVFMVzJnYk84SC9GeGZ2SzVhZTFWVmV2b2l2VXBiOHJtWjVXQThNakRyU3FqaUJZTkVma0swZ0hPZTZYR3ZuS2tWZzhsRlFWWVhGTkk5VGc0Z1pPbElqb29XcUExZXNha05IQ3cwUklIQy84ait3RndyaWJxYm11SXdCdm95U1NtU213cEtwNUVMNTdYTEpLQUE3dEh2c1ZPazJEa1hkVlAyL0k0aWd0b1hWTTB1WVlrRE5Cc25pcDQ5cEhVejI5b1lZdG9xbE9SbldOcUc3dGlwRnRXazZqUW9FR0NycCtuUGlQaUZ2NmJqS3N4SklWSEhLajN5SFNJSDBRNENwYUpYOUNkakU5bzRKUXM0TUNOeXpkNmo4bTB1TjFnQzFEeEQ3eUJQZ2tSVTdrdG5QS0wwWTN6b3pLUWFGdDNYZEd6cmpNbEM4UU5JNllrcnJMcVJRalczNDdUTXk5NmdRUGNaSDVlNDFIR0EzUHBwYXNYYWYydVdYZ3dFcTFSZEVWNWQ4VVFWdzl3emllUGpQZ1gzaHBHMnhaYXhKOWRQb2NkdmJCTnhRU1VCZzZVUDBmMGhISnhJNTNnZXljOGtvUUwySlp0c0pqMG9pYW1JaHE5NUNMNk9YSnJtZ25BMFptU25yM3hmTUVzTno5d3l2NkRkOFVNV1ErQjV4VXlQMnExNkZhQzZNbTRZbDFHOExLMitBMHQ1Z2NPdkh1MHhXazVRUUR0TmlQNktaV0V3ZkZFa1Bud0U5NitLV0lPcndUTnE0WXhCVW9EQjdkTnA2T2lGaWs2clNmMVV6WlJIZDBOaUttU1dpcCtzV2xVS0Y3UU1JNE1QSXprV2xURko1V1RTV2tTVlBtQjAvZmZnOWZqZkJ1ZFpIeUdlOUY0bkwrd2xKanFjbUtFNXdkT1FnVG04VGdyWWVMSWJMK05Rd3M5K0dOays1dFc0T1VNZll5aUJrNHJCcHh0b1E2ZDFwUDA5blJzekNQVWkwbGl5WHordlBQR2xsdGZjNEd6SFVud3dJdjcyeFZ2cENCay9ERk9JNzU0dVhTby9hVm9LLzhnWktldWwxYWwwMlVNN3hBaVRiMW51L0wrR0lldU9kSmlmb0xnR042Szd1WWNPRG8xUWJxWWhOVEFnWEdwQjY2b2RZNU9CMGtkTk0yOVlkYzZTQkpMNU9QOU4zWnpFS3Z1V1VQQlNIYWtDR2FHZThWZEVzVTdqZTFUbGFyMEJ4RUp3TUVQYWRwUGxKU1dyR3NKdzZ2emtLdWJKQWtqeFZaSndGODgyUEcwbUFRNDVlZ2hodExhQVhCNjI2bzBuYXNHVHRPYUxiTkJIS2NBSnpSaEtiencvcWdqV3FvaUJjRFhxUFBadFp4ZnFLSXRzV3R4eklRN1RnTlQ5QUluSVloSXl1TWc3VEhXQVFRQTRKaXhja3htWkp6eUF3ZXo3RFBkSkhrY1RCcU5sZ0djUDBuZU4rd3g1aTFwNERTczJjSnFsRnRQQ25BUWdqMm4rc0Z4dks3b25OZU5DcUpDendyazhialdLMzZJUzltMUxjTEkxV1FYaVBESWMzWklDQ0lBbkFQdlVKZlVtMC9lMmtRbU5pS09nQloxM0xZd05xVkRtOE5MZmIvcFNpYi9FMjhEVGxvZUJ5cHB3TnBoN0dOVzRFVnk3VjdkT1pnYU9EVnJ0dmh4ZkZzMFR3SE9Fam45bEwxZU9HMEE2eUhlVy9maEJrOXBHSGNzOG9PUkhFbXlJVElsSGQ4WlJFcTBMSU5KSnViTEYzYkFFZTFKQ2VmeUdlOHh4eEdLRmRFTkZCYTk3aU1TOWovTHdGMzV6RkJtMWx6SHVrc0RUazBGR2xHck1sNzQyU1lLc09MM1NIRXNVZ09uRndQT2dWQ1lBaHdjajYrcFR2SDJoU0x6WFY4UU1uYS9YeFRibm5HMFBDSStsSEt3Qi9MWmRwckVWdEdudmtwVllRL1pWalM1d256N3BFaklRbVZrOTRuVy9DaXpFOWc1SnFJVUpGemZrYzNocFlyZmRKME05S1lCcDJIZmNSa2pHNUNPQWZFRFVoeUwxTUFCUU1neTV4N25xbENZQWh4WWFsdDEyaUp6clhocFY1NzYrNGtFQVN4TTQxVDRHVnpKOWZsaFlkMDIvcU9YZmxwVjQrcDlpYVdzN2lWWTN5T3ljSmhkVXFUa09kK09Sd1Y4TkdDQjdiMUhkbGxFeWsrODlvcVJ4YjEwVFVsU1dCa3FwUG95cmR5MTVvUFdSSFFhY0ZvY3d1WURBeGlEZ28xTnRXdHF4Nk0wY0JDa0VPVThnMVFYR3RPQmM2QjYxZWRnMjFTcTJyM3lodzAvNHpKVkdUTmd2RFFLK3VFcnhzSUMrN2NHWHNJdXN4OVhEWU9nVEc5Q3NmdDZvWmV2S1I2dTBGd25SVW9XL1U2QWlzUnBrV2F5ZjJ1ZzBMNWVQVG5Vb3NESXZpNG9Bc09RV0N2b0ZjTHIrcjVkVnpYQ05RMDROWHN2S3BFVnpqWFFYRHZST0JLcGdRUDNSYktQdUJ1WkNFZ0JEcmFxUGRXWmdyaGpLbFh0WEpFclNma1dPZXlyc2NJM0FMMXZsZEhzMEVxVEZDcDdBZjJwY3VlZDQ2amJoZzRpYWp0a0lOQnM1cFR3T2RuenpMQWpFaXRpMk93Wk84ZDA3Z1orQjNQSFNHclhaMWc4QXlZanNFVnoxNml2WlhpOU5PRDA3STRBbkt1a3h5RDRRdUtOVzJKcEJRMGNPRzZTTThKdUlSZDlDbkNBcmoycEcrU1JJRjFUZWZ0K0ZDWk8rSHFoa0srU29jQ3V6eWdsTUFCN3hFcXk4TFJXZyt4ZGN3UnlTREUvSWxxYUlLSnlSYW5DRlpwSnlTWnovbGl5M1Fpais5NnVSam12d3hzM3k4cWY4SEtGb2loNFlaM3pUQVEyWjdWdG1BQ1NpOFUrYWNEcDJFaUIzZlpqN1Nka2FPRHdGNmEydERMRXAzSzZVb0JEZ25QOWZTYlhWRm9qSWI0R0N6OU95akd5Um9aQzAyTThVL0x6VmhETzAxcjBKNGpXQ09UNFk4ZWZnbTVzSWRLWExsbmZjTmRqanZYUG4ycW91TU5UbWNTcXdEbFd0a250T3NacS9YNVRtNmJYOFoza0FZUmg0SU9vemE3MThOVDlEbFlrWS82bUFRZHhoOVFwNUVzekJjNHVUWmdheU9LK0JtYTBOaFhxQlZTVzZ5cG1LcnVCS1AwanB2L0RIcjVobFpYL0FnczMzVlUxUEZQQ25sY2xmcTBjOGljSFZ6VUwyNDlCUDl3bWQvN3dMQklGQzlhU25sZHMzWm9RcmVSdGpFalpaSnNQYjBCNGMxaDhWaTgxdFN0eG9WYTB2VGUwZDZoZUlXMnQyNko4UmFjQkI3ZThyZVN3Q3FxNkM4T2NsREllQjdOeVVXdkRUY2tKU0FPTzhhWU5DYUdZcWJSR1RlQUxEbG0vQm9qNzNsUHl1M29rQWdLMkNkYmhTdUQzdWtyWS9xcCtoNG5OQ010UEFzWk91eXV3NjhhVUtCRTBVbjRhRFFqWVdPd2Q4TGZheUdHVi9zNEJQMzljZzdwUUxWaSs2TXdIRWRPUktYbW9OT0JBTjFjdFA5OUVUM3VxTUsxcld3Y0ZoZERjSWpwK1R2WUE0TlNUT3V1bzVZKzdIQWlobUtuY3BvV1BwbjB4UmtyVCt6WmZaSTh5SlNRUVEzeUFVY0t2SEpwZUtJcDY2QW8xdFZCT3AvcDZucFErVnJ1eGFXMm9aYktLRERlZHFtR0NMbEtSQ3FhK1JYc3BHUk9MLzNobEcvYzBWR3VoUTVPOWZBbVEyNkphSlowR0hHemZSdGtpKzZQSXQvMmVSOHZZcktvR0R0OXMxVkFSNHV4TGxWang5U1R0SzJxQkxTdUR4RXpsTkMyMHNIM0FuQm1mbHRLSFlJTTRYWVRnR3RCQ1Eva2kzd3RrQkNNNGJiSzJHc0xWRk5tWHBjUTVrbStBY00rZVpYdElSYnNqdXpLaDFNZnc2TDBWT01oREdtMnNxU01IS3VCV2VaemZlVmIrd0ZPaHNrLzFybHZSR3EyUmRDcHd6aHVqYkZaZkh4bVJ1K2ZwZlVJelBrekx0bFRjTWplSVpkdE42ZzVPNmxEVTllVjB4VTFsTnkxaUxtL1diWjZ2TktkL3FBblBCWTA4ejVRY1VQblB3UEs3MWhTM0NCcHFRbnJ0Qmh6WUZscnhvenY5TkFuR0tEK2lxNk9iR1N2UGFsVDhFWjR5b1ZoQ1BLeDdRampHcGR0N25Tand3WG1VZmxiTUZGQzJvVk9CbzArNVFiRUp2VzN1OXViVkptSjBqRS94bCtyZXBaby96R1N5Q3JPbDBNOERxOWNyZ2RoVmZ1T3hxTnhXM0ZSV0UvSDZ6Y0JpK1F2RlVFM3Fyb3BQdUNCV2puYUt1bUdUYnVlQUVVd2tQeDJHbVF1YTIwaUo3SUY0MkpwVjdndTY0Q1o5YW1hS2swUmNmbGtmUlUwTlRHa0tIRWJSU2dNUFNVYkFmdVVFbVNvT21hWHdnQWh5UjBwaUk2dEdGbEtCRTZqMDRWTDdlbDBHV3MyRHFLV2RhNWZhUnJvVUhudGZpS2xnRDM3d0QwUTdmSlZRUkpGNDNVR0M4NStqLzZUMHZnKytWOSt2MWNNNnU3a0Z4bGZWTlBOSzIxUlVmS21ONE5HdmlJcHgrcGhGMndwOHpGVlNwOE5jd3dPWTlrd0poekN6cmhiNW0vQlA0NzhZWDJVM3Rnci9yaGRESkE3VmZPeEpuMk16eFVraUxyK2t3bHhTNFR5cXBQNm5oajE3by9KeUhnYTlQL2poZG5URHV1a3hQWUJwTGlIU2dZTW4vQjhDT0wvQ09HNFFUNTFzZlU3bUlweGNPOUdZbTRRTGx4K1pzbHhIR1BrZkwvM1hDdXdjS1drcUFiSmZXT29mNWcrNG4xU2hqcWh5VEdYRStVOHFmVDl0cm94b3NCbEdnT2xMQU1rcXo0Ly93MmZXU1VQTHczK1ZEZm1Qc0FUQlUrd2tkQjl4TENvM1NWb1RjajdWSHhGQlE1SmZiZEJNNXp2SmRIdmNDTm05d3RJdys0Vm9nblV6bmpqZUlTVVBtUTRjZm1ZNHVjRFlHd2FpYVEvL3dlbWJCZVhtMmoyYU0xbEZkb24vbCtwM1h3cFZybnV4SXBCeTQxQzJiUTd2eGYvRXp2K2IrSHFDdGhZYlhtQTNsVHdYY2t5bDIvSFhiL3l2VVdnUlF0ekZocjhjQkY5and6cGg0cWZsQnJUSTZRVVNOcUM0WkJXLy9zREo3NGdHWHdudml3aFJFbi9XMHZlQ3hVdDFJNXVQV2xHSFRDSmVKVEVYMkx1MHVQR0I4TWNHWEhiOWllR25CTUVMOHRQT0FtNEdjSUtsZDFkTzNnb2Jpay9oWTVmZUZsRnVybDBLVEhvcHZ1T0I0VDIvUFlxV3J6OHcvTmtCYmVDWVNsZkJlOTJ2QzluRW8xZ3hpTnl2V0pLN3I3S0t2TkN4ZlJJaWwzcE14c3NvWiswRjNsWnB6S1dUcmxzTnA3NVBlZlBrbUV6NU1Sbzc4RmFNYVRHeWdHTUptd0xQWmRGY3U2bTV6WlJyS2oyYzVOY290SWhGL01NSHd0ZitWZDFpK1FwV25nUUNMU3ZrOGJXUXZKb1ZQYVVJVGxKbEo1bDQwc2srT3lYcVhyUzJmNS9ZbU1CeGMrMCsxYmVGNTVwS0Q2TDVTVTFPa3dqWmdhV3ViQjJ5ckNxN1VJbHZlN2JBTkVwMmtrbWNDL09wbmZOc2UzYkw4WUFUeTdYYlNtOWp5VFhWakljUzVVbWVQdFRkWlA4UFlaR29UaUhvbHJNZ1JKSnBnN3d3bFBlL1YrdGt4Y1pCejNwQ2tYZnc4Vng3M3BhemxvdVphcllkUmo4ZHl2MnYvT1FGeEhMZWFFTXBIdXZhNU1Fd2Y0Q25QdG1BaUNRYm1hSGFyanJSS05XNXJtV001eGF2N1Z6ajRyK3A3WmdxWjdzeHhjbzhGdGlraTYrUmJ3c3FPMXZjbVAybk4wT0lleFZKcVcwanRaeTVCUW5aZ3AyRE51ME50ZkFtUStlbjRybjIvRzFuS2hrMzFVeTdDL3A4SWxhZUpaM2tSRVFySDc2STRqRklaUDRIV0V0ZDB6UUhJcmp3YWo1OEdiMmpVSGF1ZlpTV001U05tMnFHblVHMWVEYkYvYS8rNUxONUllL3hSdXNkaHhEUHBzUURQTjA2SDJETGVjK0dXbTkrQW10N0w3LzByWkwwbUdxbVhZc0VhN3RMKzZqY29LVUVlblhxV1J4ZlJ5STd2VWI5WVRDWGE5WmFXVmtjWDI4NWVVNnVQV2VyV1l0NVREWFRMbzhScXRndmVTTTdXOC91c3BPVm1NMVdrVU5pazRjcXRSMHF1WlFuS0MrbVo3V3B2dEZwSjljK3VvS1p0UENZYWliOUtLVnJpTVViZUZCSVBybmV3YUpmalNCdHAwMjJoOEV5bnJMU1R5UEhZM2ZycXhHMDhUUm9OOWMrRFoxVDBPRXgxUlMwSnFvb1ZLNjNyOXN6RStUNHorM1c5UStBSjJxZVNzVTU5cUI4dUtqVnplWElXUGVzdCtwMTAra1FicTU5T2xvbjF1SXgxY1E2MHhRc1BuSGZrVlBmeVQ0d2xmTnNaNDdhc1lxL2RPbXZuWGJGN0FOVEljOTI1cWpOWHd4dlJTSWkvM0MwWk54VXV1b1dFUnZNM3JzODNiYXQ3enQ0QkdiSTZqdDdWN3lyTmV1N1kvSDZpVGl4WFB0RTJ1NnN4cldzcE9weWp1MWlaaVpaekh5YTBKQmY1NW5KRUdLNTlwbjA4djlUNldyV2tiZUd3ODd0KzdReThnV0xNOTFMNHJuMjIyZUpIN2llVzg1N21NNEFON0tBNWNoUHViaHF2Nk1UMDk3UEFGYXN3VWlNZUs1OXBPWjN0dkJpZXBibWVKWmJRUTdMMXF5VW9OdGdjN2I3YUR6WDdnN2dOSmY3ZUlLVitDbk1NdlpNN0pWVWJLUWUrOHF6RGR3OXVYWXl0Tk5PRmg5UHNVQWg3WmN5VXRwTnIrckp3eFJkZDZWVnByVExXZVhKdGVkc2VTWjJxaTNneWJXZmFudWMzWHhPQy9oeTdUbWJub21kYWd0NGN1MTNyRDMrRHlIVThpTmczRjYwQUFBQUFFbEZUa1N1UW1DQyIKfQo="/>
    </extobj>
    <extobj name="334E55B0-647D-440b-865C-3EC943EB4CBC-60">
      <extobjdata type="334E55B0-647D-440b-865C-3EC943EB4CBC" data="ewoJIkltZ1NldHRpbmdKc29uIiA6ICJ7XCJkcGlcIjpcIjYwMFwiLFwiZm9ybWF0XCI6XCJQTkdcIixcInRyYW5zcGFyZW50XCI6dHJ1ZSxcImF1dG9cIjp0cnVlfSIsCgkiTGF0ZXgiIDogIlhGc2dWbDlwS0hncElGeHNaV1owWVhKeWIzY2dWbDlwS0hncElDMGdYR0ZzY0doaFgybGVMU0FnWEhGMVlXUWdYSFJsZUhSN1ptOXlJSDBnWEdSbGJIUmhYMmtnUENBd0lGeGQiLAoJIkxhdGV4SW1nQmFzZTY0IiA6ICJpVkJPUncwS0dnb0FBQUFOU1VoRVVnQUFCSEVBQUFCV0JBTUFBQUM2SUJmdkFBQUFNRkJNVkVYLy8vOEFBQUFBQUFBQUFBQUFBQUFBQUFBQUFBQUFBQUFBQUFBQUFBQUFBQUFBQUFBQUFBQUFBQUFBQUFBQUFBQXYzYUI3QUFBQUQzUlNUbE1BRU4zdnpYWkVtYXVKdXlKbVZETDhacHBXQUFBQUNYQklXWE1BQUE3RUFBQU94QUdWS3c0YkFBQWMyMGxFUVZSNEFlMWRlNHhzU1ZrL1BYUG4yZlBLdllJOFFuclk2NFBBU2wvdVpURXM2Qm5nYXNnSzlxeitnNXJZblpCZ3NnWm1TTkJkSkxFSFE4SWZxRDBJYXRURUhzRUUzejNaUlRmOFFicFpNV3p3ajU2c21xZ2s5RVJNSVB3emwra0wzTDI3Uy9tcmMrcnhWWjA2ZGFvZk0zZE05dnd4NTZ2dlZYV3F2dnJxcSsvVTZZbWlFYS9WSC9NSWxOL3FJWjRMNlptR3A1b25laDdpaTZRejdvSG1XM3dWVkE5ODFMT25MUXdQUFpYTTNQVVFYeVNkYlE4c3NtTmZCWmR2Yi9qSVowNXIvY0JYUmFuNk5oLzVSZHBaOWtEbmUxN3Q1ZmpWWHZvWkU1ZFp3MXZERTZmMzFyQzlqWnN1OFNXL0V3Ly8rdXZUMVRtSnRrdXM1eGMvdWFkalUzdmUzN28xZGs4TjI5ODRTdjNIejdEWDlDaGlWSGlKSmRmZEw0MHFHTTUvbVYzL2taczNiOTUzTldiYlNxck9idHgzOCtiVitMc0tJNERXc3piR0txK3lMUXN6VWJGVUhhSWhOOTkrM3cybTJ6TEhobWp6MjIrUUJxZVZMTEw5Z3RvR3R3c1lMZ2I1RWNhdXgwTTlIcU8zcW5iNk56RzNIVy9jTjdwYUtyR1QyR2J5WjFmaHF3SjVSMkZTWUlrZFdKaE1zVzNMWkRoR1FjenIxbjFmeWMxSTVKNUNwVUM3TUFKZVlyYU1wZUpDRkJjWWV6ajZIMVkwU3oxdFhieDlHSzIxZUQvMVBGeVRrZWIrK0dQcFFQelZiMndvVGI5V1MzQVBmVVJoVW1DSGFSNkxKSXN6R1U4Z0tXUGRmK214dENsM1AvNndrcC8vVU5LNjI1ODdWS2dFbUdmZk1SR09VbFc3TGdmMVlxQktWU3lxSlR5ajlYd2p0TzVrRTh6ejNBRTBScEFxWWkxOTVUUERoMzZWY0YxQkJhZG1EU1hZNjJsbWpTekZCWEVFbEphWmQzdERxZzBFU3pHYVp5V1JYZ2JVL1JranZoSXd3YnIrdldGZ204Nlc3VEliYmtSemVNVHRzZXRwOWJqb1NzeW11VHF2ZFJpRE1kNnZXOFViK1p3dUp0QzZxOTJYUW9LWStxbWxhdEppSGMyelp4OGpZWS9TWHd2b3BqbTJxZmd2S3RCazJNQml4U3FNMnZJZklENU9hQysvdXB2UE15b0YzZ1N6OVZVMTl2TktrZ2NUdDFRcEJTN3gxdHRYUHpPQ05nZktzeE04c0VOZEZPMmdlVGFoNXZEQ0t4bnp0NlY0T1o0Z2VuRHBtejV1amZGb2NnVlAzUnRidWFON3h0WWxCWjlJWit0cXJOdFZSaVB0Q0dHZEhVa0pkUzh4SGFVcVpBWlltZlp5MVVYek5xeHEyQXNXQXNVS0M1bGcvYk5icnA1QlE2M3JkZGxtRm1LV1dkTDNWVGErOHk1TmUvYWkwV3V4TUFsaFFjbHo0SEh0NEtUdWlDUVhNL2JsN0lWcXdLTGhGTXhCWXVHMFIzdk9GUUswTXZibFVqZ1RzdUs2Qkl0eExjdHNVSFQwWXFHZVN1cGlYM2I5bzRXc3VRenNXaTVwWE1JVitURHdpY3FyeE15ZXc2VjRLMXZEU2RDa2pnWmFjVmJIR0poWmpJQnFhaXAveFdHY2EwRWVNVnExSDNXTUZ1V0lmUHUrekRYTzRBK21FTmFld1JheXBxWmNYZnVaV21aeUxMZ2ltazdRcEk1bXBtendsMkE1MitaZ05lMkFIdVRsTUk4WVZZZW1yZ3RYcXJNN0U3ZXBnOTNaZEM5c294cEM0NncyYmJoWks0STVjYmpad0VtTi9hUkRlSUxIV0lUbDdCcnlhN1lsY1dxZ1I0enFMbUZEL1QwdU5PM0JHS005N2FrSE9yTTY3SUlSeVRXZ3paaVZmYTF1WnB1N3JKMVVsa2d3SlRiZFdjMWZ3UndRL1ZFMDQ0b2RPM1l3Wklqb1FtWEtMbEZybmhMVVlaTnYvN3BCKzh4Ukd0elcvZ0E3cW10Q3RJKzBuNkZsempVS2xkQlVTRXVacEtGMDNBTGZuMjRhd25VN25nZTFaRDJDSVVBTGkyY1g2TkJxeG9jN2VvekdWaklUMmh2T0dyNjVuMFhIeEc5VVZjcG1CMk5qOEhhdHhTc2gxa005NEk2S3BReWw0eFl5NmFheXRYZ2xpdWRDWitxOFhxWEhiZEhaeWszRGN1Q25IYU1mMk81SEhLYUxRYmlseEpzcUV1dkNjallVSGtEbkRiUWs0S29yYW5id1Jlc0ZydklETHFGOFhDYmR0T3dLLzJZS0t0WDZzeGxwVGJzSTBEUXNCMis5SEpuY3NLZjc5OHhPRzNJSU5yZVVlRjA1bW5WWXpySENSOWk1SHBHU0FOZUM1K3F5Zi9vdmpocWlvblhHOGpSNElkczZCTWhiRHF3TDFabGdPcnIwVFJzM0RjdUptdnpkMTFqWFV6aWEwY3RJd2tUMkZITEFaQnJaenBoY3NlTGxSR1RCYnc5S0xVK2NtMUVUSVhIUWxaNjJXTXhpYkU2Q1VueGcwcE5TTTlnZStsYlU1RkIyVDFGVHNad3U5UkdqUE00dk9nMEhTVG9TSXB3b003SXpKazFIdWdRREh1ci9zTHdjZXhvYmNGVERsSzZaNlNabnJpblM2UVpUT0Z2cW1oNHN5M0NQTVZPeEhLd3VybGkxNk5GS2JXeVdIQXRPQlB5K0VxNm96WldWTVhHbVMvRGk4WllTTFFDcTN2V282ZlZJRHRVdHN4ZGN1YVlJRVp4RDBvbWFjUVNBVHNaN2hKeUs1ZkRnMEdVQi9tY3FOeG03M1hEeFlQWnVLL3k2ZXM5cFpVeWM2UkpZM1pZU0xRQmFWdjdGWksrT09obGc3M1Q1ZE9XYW9xWGdLQXpCSHRWbXR1MGlsS1ppT1ZHSE1kYzJ4L3VBNVJaNit0akpZaGdpTEVlc1AxYkdwTzVjbG1yRVhhWEt2L0NaMDc5TG9DOVVUMytQMXRmM3VhZjVrUmVMdnBGdW1sTlpjRnJscFV3VVZ2N1Q2bXQ3bktYOEIrdzFkUHJoYWFua2VIRHBQVmVIcjhrY2ZSdFBseVZsV1U3cDZiY1BIL3B6eGZQSzkvL0xZMzk1SGNWdlhuM3drd3FiQlFid0hsbXNGOE5QYnQwNWRMSndGOVpRRk1URklsbHBaa3pLSklwV3pCRUNDZHI5SUh5YnNUaHgvRXRzbUFLUys4Um5ISXNqQjZnN2FMWlVIVVhkT3hyVzBEcXpObHpvaG1IcVlkdnNCblcxRWQ3MUhtdkI4YUJWZFBKVnhqNHhublMrRkI4SmNZbnQ1RW90T1lqMzVnMGgxT0prclBldlFLY1ByUkhSZWt0ZjVtemJHaEVBemFPbTd4KzZHWG03amhVSkI4SEZJSmdaRTJlNmhBY1NXcFRyV0dIM0g1YWFmRjNxdkhVamVvU0UzZ2ltbitjYzdxc3JkM1J1c2dQYlJiTmx4K1hrbWhDRmlaNlc4djNUZjQxK21LOUx5OE12UmZNZHVrS3lrVnNnbGNyN2Fzd2VPSXhlTXJraXFWRGVNNWFEczhUdjJvaGUybEt4bWJDY3RmamRHeDM3bWFXV0NPTnlGNTFtSDdwU2RCZXdXb1VuMGQxc3N2QlZTUnNWTEVjdStNRHJqaDg0aHgyeGtLbXN5ZG5tWUh5TDNDdCttU2pBMjNKaGtxWkVXbXFOL0ZackhjMDdscXBXM2NQZXRoYkloWVN0RHZmWjJvS1YxN1NDS0txNm5hcXNvZmhlN3JDZjRseWY5ejFuc1JvSFIvblJSeCtOMlJCL0gvMWdRbTZ4MS9NN1RuSW05eWo2cjhkaTduT3VmQmVoWGU1NlZHZmYzWUNKZVVZaFV6Zk9MTE1ITWxpSndFdE8wM0xrTGdkUzJ0bkhXNUtmM3BldEpNMVMraVZQekk3YTRNZXAyV2MxOTZMbm5lY2FxVWxMZUNFc3EzcWxuSFd2M2gxckRXeS9oYXVjWlM4c2NmNG0zVk5HTGZYQ3psdHRQckhQN2lhVEU0ZnJkeE91UzN2NXpDTlRPbXBDUjlFUHlkSEhwRzhJVGZNeGhxSnpoUGxwVDJaWjFlUHN6a2JVQlZtN0NVbkt1NzhrTm82bTIyejhWTFJXaHBybDlLK1JnWGVuU3pBSTBrR2xXdnZKMEdCTVhzOVZEZ3dEUnoxMjFhbzh4cGs4bm03YWx3cWN1U1ljTCtiTHByNVdVcnRlWUtjbnovR2N1RXBkY1phbTVaKzBXQmlFeWI2WGNnN0VORGpaQ3BNTTRpS1dVOWJ1Y2FBamdEWTdYY0U4NVJOcXc2VVJwdFViOFFqOHk2SHIzUzVkQXNmek50cHkrSUFJQXZWc0o4UjVFRjNyWm1hcExLWkFuUTE1Q05FaHBzZlhNRklOMGNIQnBwbzdGaUcveUp1OUo4aHIyb1lNQVpyaUJLR2JiZy9Sa0hpWEgvb2lwaGRGZFFacm11QnFTa2ZBcDMweWR1MzlDZFRab3NSeXlDdHZtR3REY0E3WWFXVXplWlVrMXd4VFJUL1pNL1BnOVpwSnlDMDlDZDZmemFXQ3dIdndVREVReTJtVEpiTzJxVGdvMEZVeFdvSzlKT3lybjM1d0U2c2RQcWRpampjU3J1eWZWZE1Bc3d3T0REcU5iUW44Slhkbm9adTJxV1F0SFVvUjJQSFoyZERrZ2N4R2FOUW9FQXg1Uy9ERE1wTnFxNDFSRkJUd0VzdHBFUnV2cXZ6TURqdXRIL0V2Mjl6UGdkN3Y4U293bTUzcGxXejEzMEwvL0VNV1RUQlp5OWxJcVJoL3VYQzUweVg4MjVYbmlhYW9meTB0MVZteVRLQ1ZlNXFNZlc5UGx3eG9uQk1ZZlB4RmRWSGQzUm5ZazlBYVY4VFRZR1Q1R292bnBzSGlpZmtvUnZzQ0NtMDkvVEI0dkdGcnN2TUNwSXRadE9YZ3dROFVmMS9Gd3lmczlDcEhQL25PWTBVbHdJNTQyQk16OVU0NExQQVI5RzlCZm9GYmpyQVZDSE9mSTBvN0FJVzZDdTFqVWtYcUFoVWk3cVZnTTUzTmp4dXVCQjI2cnpnTkFEWjFhQ0JDQ255cmVpdGxMRkVESmJJa2dPVFlXV0hsQ0xpNHBTRmMyQ1hNWGZZc0tZMEtvalY2RHNWSm9MTkU5L3lqNnN2d2E4dXBrSjBCVWgxeW13Q1Q4RHdBT244ejBRbFA2OTVOV0RYaVZBVkxOM0lXZ1JTSnJRQkxTbDBJaXhGMUhzMEJkNXR1dTZOVk9jczZ3dVRlYnhpRTRZRklBeEJKNjkwL3hYdGg5SVgwMnU1Y1U4UjNxTWRFeCtCYVdzQlV1Y1doK2E4UklzWWdaM1pRcGx3WWZTVzBnNldUekpoWnR5UE1WZUVuYU10cHEva01DU3lTbTZrZ0xNZlRpeGpXNDRTUDc0ZFNBZS9mcDdEZStKTFJpVEN4RlpSNVNZdzM3RmtFQW1hNjVIL3Zic2hhbTNMd0VzU3lOSHEzWGV0SVFJcW5keExtbVFSL0NhMFRZelBRMHgyTFJPMHZwQng2U1R4S2d1bnNwd1E4MTVaazBmZjFzTG1vQlF5b1JoZkdkckxLNzF3ek9DWXNLTXZCOFN6aU5MRHlpb2VINVhncXJNdDV3WGVVcWlsa0pCVXVBZmlwaW0wVDVTZ1JXd0dWMkJFUElYdUpnSkV1d1dUZlM3RDQwekl5a3V2UHBYaHd1RDUwY0E0WVZvMmF0QUNwTmV3ZXEwNkx0NGhFVi9aUk1pRTNDRVdhVWRjS25GT1dpU3dIaTVYMHQ5QldUeXkyVTl6MXBIRkZvTEljTE1Ga0djUkNMK3dJbG5PUXF3UWpJc1lHNzR0a05NS2o2VDJYU0ttTnRHTFBSVEZ4UE00NVZDaGlPUnpjVHdodFdTMHZZU1lmSkZqOE1TMW5JZVhtdXlpWHAxYU9WVXFuZDh4UVhiMUo4cFl3elZNZnQwU2FIMFZJc1VzeHVQSU5DZVArWVFFUHBDc2xOSDYwekwxQk01anlDdGlJazdtU1ZGQTI2czRURE1Zcnk4RndFUmNMRHlUcWdlWHM1bXFEMEo0Z3hucTA2VWdTMFhJVDVuaEVFSGxncnVXZzQ5UDZ6SFFKK0h0U1Y4ZndPUktMRnQyU01MbkhMbmZLN2Z2NTkzbXZYeWM2Q05pU2V5TXoxOVRSSFl1V1VzdVJzdWdZQ1pMN0xQVWFFdjlQN29aOXdGYmIxM01hb2pzOGJGMGdua0dxbStDdUxHZmRzQnp1UXRKQlBpSERrcW1uSzhPY0tLcnBUcUVqcVVYd1RvUGRiZWh5UG1SYURtYVA3RmVWTWJsRVBERUNTK0l0YTA0VGdZNHRSMzFPeTJtanZxTHJEUTVsUERvWGpycDJqZEozOU5TRDA2UVVDVmVsZzVlSTVPNnlITjRaenN0MnFWWERuKzd3UWV4U1AyM1VORlpCV1E2VXYwQTB4TktibkVnVElrUUZ0clJEN2VoT29TT3BXSGtXK3M2eExub2c3bG9PRloxWWpzcVk5TTJPK3FMbWRsdE9SYTV5U21zQ1ZCMW1oblc2K0hMdkdmb2l0bGdSWWJ5b3JQdzFWYXZiY3VEZ24xVXNHc0NENjRLQTF2UGFScFltem9xQWdXWWNNSWpiVVdzM28yNFNoTEljUERZZGpxcWNwYWkwa1ZjQkhsbTF1RW1lazR5a0ZxMHc5aE82NUlPd3RwRE5LN0VjUHFxM0lKbVhMZ0hKYlRrRDkwTTRmYzYzVVVuQk5keHpOaDlkbFl4MUpYYzM3YmFjbkNqTTVYT1dNQzZ1YS9oelpvdXd3eUZkaUM4dTJQNGFtWTBtODNnbFpUbnRqT1ZzSmhwOWxnTWZvRHhnMDdVcTB6WnhoMEYrZ1l1U0xOaDhiRmlPakJSNTlNVXJYSFJHQzRrV2Q1elRKR1pOS290bDZvSGdvdWhicHZjMWFONUNCYzNqM3EvMW5UdzJkNXlURTRXUlQ2VHo5T1hpMFdsMFFlZVdveklVdVVLakVaVGxvSE9wRDRadDg5bk52NkNueG1zcXg3S3lLVEV0dllPUUtPdk8zNUEvWU9HY1JXNWp4NHFDVGxEcEFoQzRZOXdoc2J6aVN3RnpieVdKN2tBaWNsc09mbTdUZkxza3RSVGQxOUc4QmcrN2VubWM2TENOTEExUHVKWEZZbm1YTThaQkxFQlY5S0VtenRtRjVmUTNDMlJHSkN2TGFZMWhPUWhkZG1WOU5lZGFMYW5KZlNWbTdNMk9uak9ZVU9CcC9JWkM4dmhJRm1EUDNHaU1kSW1rcFhlbjVlUUVFdGdHYkpuU29sUW5JYmVUd1kyRUJYQ2pNWEpOSnFmYmNpcEdUS0lrSnNubllMNnJPQUlLdTR6OUdlbFNWY1VrZ0xLY3BybGF4VElCaURZYzUxV0FCaDFKV215RVNSSnIzdmxKd084WG13NFBaNVJlL2lKRXhZK2RCRjdLYnhHU0oycjkxSFhuQkJLd25BUE5SS0I1ZVJTSzRBSkF2aWZjeHhhTCttNVRET3ZTb1luaHBRR2RLSnE4WHVqRk5hOE5RU1dOV3J1TWZWcE5QODZibTZ1MUZlV1hsZVhVemRXZHlZWElaems3dWlNd3JYTlhkMTA3UDMxOHg5RjNtaU9CVUhsUG9kWkp3NXFKLytrcVMxSk1DbWdiUFNiUUdEQlg0OURtUFNWb0FJOXJZelh3L2dLUDdQZXdyWUgxNUZ6dTF4cDRxZzJIUUVYN1dnZlZqNnJMWUNObHErQUEwQ2FSeU12VkVwWkNVRmxPbnd3UXBOQUpCNG53aWNmblFFWldnQlZtVThLZWUvTEZ3N0dISVNIVmFLQ0JwMVp1QkIyQ21NZE1sNWpLQmtadVFkQ3dqR3lhYkVrSi9aY3p5S1hxT0w2ZFIvWmJrWmxyTXF1Rjh6c3lNYnhVZFFjMDNiSE1OMVhmTko4WWZXajRhZGo0UWNvNC9sOWxPYkFRSGtMSUMxWHRKckRQY3VyNmtUR2J0cVdzNzU1OFpkWHdjWURXcGtPS0J0eVMvQU8rWlZneGUvK1JHejhqeWJnN0Q3VlU1TU5FSzN1RUY5YmVJMFVLWHRiV1N0RitHSGFCcEhUL0JjbzEvOWsza243Qk90eWoxQVNHNjVQWjNhY3AwVHBxUkVtRk1IcHdpekNoQXd3L2pYVzFSOGhqZ2NweUVJZ1M1VHlUMUVnVStpMUh2WkhSKzAxekpET05LamVMMzBFTTZES0N3cGJVZ3Nhd3lQd2hnbGV3bSt4MWtzNS9NNVk4aFVSRHhWRUtWNVFSb295UmJrZ1c2MTdXYzhLaWVJcEp1c244SVlKUzUzYnQ5RkRKd0VqMlZVRUNhSVl3dHBKeTRadzJjQzI4VXFqZ1hxYzl5RitCbVU3WG5hc3QwR21SbGVYQWdTa3pTRHBWNUFOOGx0UFhLN0hhQ0ZnamFWV0hZdWxUaGU4OUs4UlkrSHZlYmFrRkJIWm9wRXRLMWIySS9xaTVkUTQ1Rld5cVFLSytKVlhoanRWRkR5ckJjN0R2R0dLTEpWT0VYYkRuekZ6VDVUdDQxNytsT1pYejB5ait3bFpFWVhNcS9jREo5WEg4bnREYk55dUM1ZXlTR3FQb2k3a1BickQ1Q3NweTRMcEo3Z2lMajRqRmZaWXprRXg4Z3FUenhoNUpWOTJGWnkyUWFyMm1CREhzNmpIUkEreDkycERBdy9OYlRlbFJVSjdSeVIrVVN1OUwxT2hBb3JxZElOSS9HREpTTXNIQUgxVTJoZEM2NyszUTNYQ0VFemdMMHFOdzNpbzFvK2lsRFk3VFVkaU1JZHZVcXpSbkcrbnFtcWFDZnRzZlNUNkFXVmtPZldXWkhJb1JZYW5QY3JyYWN1U0hSUFpJT3B2d0ZLejBrMDVLaW9RejBIc2htc1ZESjdOZk1QSmpQTDlGZjZOb21kby9BcWFmaGthc0lzS2R6aHUvODJOL20wVmJGUFpEN2xRQ2NCVlpsT29tUWE2Z3JjWVBQSFhJbE1BSndlRXhtTkhEQjZuTXpodlNlL3BYZGluRmhjS0lQUTRJNzlsYXpnNVpGU0p0czNpdVk5SUdBOVMvT0F0SGZaU1E3SkUwK0ZXQm55bjlpQ3BsQUdoTFBSaW4wTWlkWjB6WUR5aC9GZjRvSnE0WVJyZWg2UENjM1AvRHQ0Z1E5Skl4cVdjbFdna1FvSzA5SGNINndRNXYzakhobWNIME0ycXBreW5CTndKYllHNHEvMURiSnJMR1kxRjhDSXhIM3RSOHBacXFRaU1uaGJUUHdhaGNVOXJ3VUdJQWZKYWozZjJDWENUc2tWUWFUZUFSZFBFblRCUXROYlV6d3lxcS9ROHFOUHRnQmM0RTBYeFBDY08vSEt0Q0Y5d29ZQUlLaXpFejhCVmluMHBHQXV2RUhDV3U2TjVFZlhLYmxQRDJEM2orbHV4WjZZOGc4RjNJTGJERmNzcHlENlV2TlJrMUtoeUNicTVhWE45QVRYdXlNSzE3Unc1NVZJcjFJNkppT2VsaE9ZMjh5c0Iybk5JcXdoTmtSakpQRks4VlBkL09kSFVFZ29UOXRsSUNqMktzUnRFTW1nblBjcWc0NEtKNnF0QlBYNWJXWXpHZThyczl3WERpQzBFWHlEeFNDZ3VBT3BwM2pmSlVqM2lLUWF6N25MQ3Uremo1TnkyYmlOT0hjakowYWRxWHI3SGtzYWpXRUxoRE5tWno3RTlTNy9hN0laS2hQRFZsT1h5OWxVMUZpTG92Tk94NExBZG5OM2RUdHFZWXIreEk1alhFKzcwZWpLRW5CQ3QwZjh3ekp0S2tFM3JsR25jcElvcEpNQjB5dTVxSnN5bXpwd1hINVdlRjB2VFdONGZab01HVEdSV1p4SnpTQU0wN0lyUVMzM1BFTk9KWTFzNlVMNko4VW5TZkY3OEFWYXJ1RTFrWUZ0bXhVRUlRZkVWM3lscnRUZkJmbS9qQkE5cFBRVnA4VExGdUg0WUY2cE9yclI4UTg3WW5zTm5iRlRHZlZpVi9kaVN6UWdMRHZ4SE9QYkNqdnhSc2tjbkQ1eUVkaHloNkhGMi9ZNHh4bTVoRFBlRmV2Z1BmdUlGYStiNlBYaTFpWkJTZndyWFIreGx6enhBcS8yankrdlpJSzBkUXJBcHdvSnk3czlkTjEyUHM0T20xS1B1VUlvTmhES2FvdHR5QzNnNGZxTm5SNTBKK2ZmeEF3d2NsK2IxTUpLMndRdXdMSkErdTNpUVpNbmY1Yzg5ZHRwWFNzaU9aa1ZFSWZ1b2k3OERPRTdMYkVPWnNLd2tjNmRKK1VXRmJkRW1ISGVuRm9jc3dkRkZyTTZvbk52SmVZMWk1TitncEpWbWdyc2M0UzNSakt1UkZpZVJBWDBvUWR6ek9vU3dpMjRoSFd6eEZYb25iekh4OElDbkpmWllzYkFZaHJDRHppUE9kMncwUmJMVU9VdEdDWEcyQS90S2p2NFhCWSt5aGovOWh3bzF2REpOSUV1OGxoWFYrSmYzSHBnOSsvTVBxZVUyOWZjYS9KVnFONlhReFI5TGtOMG9yMWR3RE8zQXUrd252aVJseXFsaFhLNEkxN2VrU0lnazlzK2I0RHg4OGczOU52c1R1YkpUK1cwMkhsQjExYkJCQkd6elJZMnlUOHNycmhwbW5YQlU1QjlLaWNnVW8xbkdlZjdYNmFoNEtmVFI2VmNkY1NoRTg2SjFCWG9VZVBONzMvejUyRDE5bDNIQ3c5SjF1ZkY2a0pBcHp0UjZ0Z2dRbkxpNlJ1MXhCS1BuMVYvNUhGZjJjc3JRa1ExNlVQQjhQSDQ3S1RSbnVjQ2xySkVWZHpwdm45NWUra1ZvTW5HNXFRVUsrcWhaVXBSQnVzNkVLL0x3Z3NlSi9ZOE1xUmlXSy9wbWR4dmJQSU16cEVJL0lLM0RXNjVFVUd3WEliem9vdFBXNU1sMGhWMk4yUGVscTlQdlZkSVNWR0U4aGI1SFM2Q0JpeGRPcmpQM2tjU0xhWjZmc2JRa1VrcXN0cXEzTWJ2Qi94WDdmalZobXZlZmdCWERkT1JTaXJlRjEvQWQzL3UvbEd6bkswTDdyTWZ0YlFyVkdrbEN5SUQ5MTRUNndneThsOEVObHF6VnJxV3l4WTF2TEpSSTZnRFp2RlAvekhhZS9uUWg4Tlg0d0JiVDRzbjg1bUx2UjBMeGgwS0xZWVZMdUdvbTdnTitoeGRXUHhUOSt6SmxYUGp2OFhBTHdncmc2bzF1dUZFM3Y4eCtxbnI3elZ3U3U5T2tiNzByQm9GeXRxU21rVkg3UE80YXYvYzBRVHNtRHAzK2pNU2JXU0VvKzk1MmZ1bmlMa3pRUENxYk1BeVp4SnhzWTJZY1I4cTNjVkJWVkpsc09MRzI4T0gvYXM3SHc2NGJUbktVQnY4MU15M0RkRzdROE5UZ3NWenUxNmtaUVpJK2tYeFNuTGtTV3p1WXJQLzJPNFVOL1pHT3paU05mQW5MYkNIdXkvQXBUcDJ1c3drNFpNSk5OUFBsRUZsTmZYWE5tZ09kakhZMFdtS3NkVGVsVXVPMlJMRkJhK3BUYjV4U0lhWExNRG5RQlVNWFlhaGtrczFETnJud213elJLWnJJcGlRTEQxTTQ0VnI0d1NUOVhjSzdXcitZc3FQWklua1VkUkNmMnVVZllRQjBxVk9pL0ZDdjdBMlNsYnpJZ1NUYXR2azRyQ2YxL2JDclJvVVduQW9YbmFxZFMzUWhLTWlNNWd1dzRyT2tQakhJWExLNVFpMWdJalRpazRySHVMUjRSOHhlZjhncTFpR2J1cGtScUd1OWVRWHRzUnppZXBtbExaVVp5MmhWWStpbzhIbGlqN3dxYllhdFF4VnJsTEwzVEtTTE8zY1U1aWsydGJTRnNGU29sK1dVdE5qVm9sRnp0MUNvTlVwUWR5U0N4c1prR2ZDUVdueWZ5Z1NiUkRqTXdvbmdNRVBtb1kyU3hlMW8wMENTV3dneE02eDBGQ3M3VmpxSjBZdDdzU0U2czBxc2dlVS9GWGJDNndqcTlGTHJKVVhySEFaTDNWTW1MVHlVZFpyR1YwQjJpMGhzT2pKQ3JEVmM2T1dkMkpDZlg2ZE9RcEZvN1BjcFN2VU5MT2ZEUzFMTTVyb3FTUFBVeTlZZzRQTHJuNHJSdzdUUEs1dkJxUnNuVldzMDZ5NkpqSk0reU9yemVPWWpNazkvSTB6YUtxK3hPbXFJdHJnSWNhenhjcVc5UjN2bVF5THpzejI5VGZhUERJK1ZxUjFjL3JvUmpKTWRWRlNTM2pNMUxFMjhOeVJWMEtJdCtNRUZrcHcxMmh0RUNYcm5TcXhud0V0NzRZSUlLVHdNZUxWYzdqUnFEZERoR01raHVYS1pTOVhibnRqazBVY0MvdzF0UlB4VStic1ZoY3BmWlErSk5vK0tmQ2NoZDk0Mmo5a3AwT3NDSXVkcnBWRnFzeFRXU3hWSVRjTXg5OXNFalM3eGJ2RzJxaEt4b2x0cXhpcjk4NCs4dHVYTHh0cWtVc3FKWmFzT0w4WG5rSThLYm96Z2RJNmxvNXdTc01uUDVjbFRieVhsYjVtQ2RPbXBnTFYvWkNwYnBjYllzZVRMTWVlZHFKMnZ0T1V2WDViR1J2SG9YQWxhTVBObUo4WE9GSjIrYXhoY1VFMWRvS2pqdlhLMVord1V2TFJYdGZPdlk4dHk3cTEyUU5wZzcwK1hrdkhPMTk2NmZ4Nm01YlIzTnRIU3NGbG1XeFQvbDRwSjVaaWVqZlZCZ1dSbUJrUkRubmFzZHFYSDNuSG5PbjYwNU9jdlZJT0RoNjBadTBCWllPOXVsOUx4enRmYmpYZkR5QUcremNxL1NXUWFndWJVU3dxcDM4MWM1MitqOXZITzE1TG4vUDREbGozaGFXZko4bU93Um15THB5VU9Qc3BmNWlCNjVRTko1NTJvRG0vVWkyNFh2Z2ZQTzFWNzREbm14Z1lFOWNPNjUyc0IydmNoMjRYdmdBdVJxejYrUC9nOXVDMkJpVmc4SUFnQUFBQUJKUlU1RXJrSmdnZz09Igp9Cg=="/>
    </extobj>
    <extobj name="334E55B0-647D-440b-865C-3EC943EB4CBC-61">
      <extobjdata type="334E55B0-647D-440b-865C-3EC943EB4CBC" data="ewoJIkltZ1NldHRpbmdKc29uIiA6ICJ7XCJkcGlcIjpcIjYwMFwiLFwiZm9ybWF0XCI6XCJQTkdcIixcInRyYW5zcGFyZW50XCI6dHJ1ZSxcImF1dG9cIjp0cnVlfSIsCgkiTGF0ZXgiIDogIlhGc2dYSFJoZFY5cElEMGdYR1p5WVdON1hHRnNjR2hoWDJsZUszMTdYR0ZzY0doaFgybGVLeUFySUZ4aGJIQm9ZVjlwWGkxOUlDQmNYUT09IiwKCSJMYXRleEltZ0Jhc2U2NCIgOiAiaVZCT1J3MEtHZ29BQUFBTlNVaEVVZ0FBQWZjQUFBRFdCQU1BQUFBKzNOWXpBQUFBTUZCTVZFWC8vLzhBQUFBQUFBQUFBQUFBQUFBQUFBQUFBQUFBQUFBQUFBQUFBQUFBQUFBQUFBQUFBQUFBQUFBQUFBQUFBQUF2M2FCN0FBQUFEM1JTVGxNQUlvbk43NWtRTWtUZHUyYXJkbFNuOGwydUFBQUFDWEJJV1hNQUFBN0VBQUFPeEFHVkt3NGJBQUFMbWtsRVFWUjRBZTJkUzRna1NSbUFvN3A3cXZvOURidVhWYkZheDNzTnpLTHVRNnBoWmtVRnJSRVBIcXZVQVZsaDZZSDFJRjZxaEYwWTl0SWp1NndPS05XSHhZdGdOUWdldkZRSm9zZ2kxUXVlUktnV3ZLeVhIcnZMUjgxamYvK0lyTXlJcU1wM1JVWmxSbVljcWlJakkrUC92NGpJeUlqSVB5SUp5YWI3ekVrMjlWYWlkZU82a21TeW1RamN6NmJlU3JRdTRKVmtZd1lUS1VvK2c0V21ST1dpNUpWa1l3WVRLVW8rZzRXbVJPV2k1SlZrWXdZVEtVbytnNFdtUk9XaTVKVmtZd1lUS1VvK2c0V21ST1VjbHZ4ZllONk56NVRrWnZvVDZjNnpBeHluWDI4bEd2NzZnZTFnWXZ2ZTdpaEpPa3VKNVBDZTU4VlR3UE84eUpldktQbDhsVGVuTFVxZTUwVytmRVhKNTZ1OE9XMVI4and2alBPOTlxZkdsOTl2ZVdBWlh2TC9CSmcwNE1tZU83M1o4UCtBOFFla1BJTEhPWVQvR0xCSmlsSWRCcTcwSnBmOEZzQXZHUFFkK0xjRi83S2NCeWJEMStDSkJic0xjRVo5bFV2cjJQNDFHUDRLT0xXOUMvK2h3Q3NYTnJiMWJ6RDhFSnlDSHNGVGlydnhQeG5lWER1OEZZQi8yYXhWR0ZOdis4QU9zUDdOdGNBOEFuQ3NTOWVzbTc1Mlc0WTM5cWdFVm1rendFMEF5dDNvR0lzcmc2MkMwTFhCVytDQWtIVlc5K1ZvWmg1aHJVZmVxZHRoOS84bWEvWHNNSlAvOGIzTXFjT0hEM3BzNkt2c2VlY0VtdXZCM2gzc09YanJBQjhSMHN4TGU3ZUJ3em1IblNEOFkxSVNjb09mTXRGWEJSQzZjeFhBWHM3MnRJTnZJcTdNTkFMNEx3OUIrQXZTZHZvOC9JU1pQbXp2RGpnWmcrL3Q4d0NqZldWczc0NDVJZlo0THJhRU5vQ2ZNZEdIUlMwODZiQ3RnNHZxektqR1JHeUxDUi9zME9GNEZMNCs0TWVrVXJlbU9ZUWdjN3pZcFFPQkJ1K0NzVlRycS9ZOGh4REpHQzlPWklpd3RBa1FHbi9zNzhBalkxam5RSEFrNDh4azRFa0t2eTlHNmdtakhqSGNDRDlXKytuOG5ZVWpWd1JDanRnUTF3alVlUWpzMmt2OXVabERVdnI3L0RYR2hHRHpQZ012ZEhhTm9mUUNhY2d0R3UzZTVzYzFwZGIrT3pNVndmQjhxSXJQK1VwanB2MHpIQjZuTERzTzR1aWl4cDU4MnlkT2tOR2Vjb01QYkY0ZmR3N1pYZEEvTnBxWnc1M1RpU3ZtUGdFRGdoVUJKN1VhWjlNZzAvOXdhTk5oakcvQjV3a2QxcDJRN1dtWGR2MjltNmVHNDc4QlQrNFM4dkVlWlNla0QrK1c2bDlreU9YZVpYMkM5Y0JvVndONDBJRHhOeGtrZHZtNmx5M21mZlVKV1lYclJxTWozSnN2d050L3RvdjQyOC9mUExHQWNUcnJpdE1nbUo0SE0zeDBPbXN6VngwK0lRTTJjQkozVGU3NUMyY045OUtIZmRYazRieGYrWFhQQ0tseHV3Vy9xTWFkSzlQMzFFTDN6emhBUDZEU3ovRkYvZFE2eXkrZXNlZTJ4U0dmc1pRZVlJZnlCSjlITEVPRCs5UlVJYSt1THI3RXpGa200QkJ2UDJmSUhCZmZhTmc5Zmg2WUY5K2FQTE9iRjJ5TDg0aU82WFovbkM5b20zWkkyenM2dnNtaHc3ZVd0OUVJK1g0TzBiSENBOXdsWkhpU1MvZ1ZhcEhNeGpjNXhOK2hMekEyUFJaY3hjeVAwalY4S2NUZEt6R1RTZjZ5Q24zU2phNnJGRlJ1Y25EbXcvc3FwYTQzSmxjbUxaWEtQVHZETHJ3cVV5bEdSVnF2d292d1dSVUoyV25nL0lEc1JIc2dPMUphL3Y5NjYxZEtWV21qc2RlREd6ZGVnSnMzbUh0eFgybnlxVTRNWDRyK3NvVWFWdWdqTk1COTk1NlgrMUhBbFNrOXZRby9ZWnF0aUtaLzdycGlQbm02VS9kTFVoNWFtNzRBM1FpKzFlZGFCeUVyamxPTzZhcGVCYVpxVnlYck45ZTQ1UGNDcmV5ZGROeXZTSGZvcG0zdU9IcWFia1dUME83SUhoL1c1Wm5CMXgrMWtoQ1hyalNIWjVZK1pXdTFzcTBjVHBZTmJMKzUvOSthb3UzSzA2Sm8rM3hzTHZRczJiWmMwbWdHZERJYkplcnhWYmxOVE4zUlF3Zm9xcmkyZzc0VGt3eGduV2hSUE5tQlA1b1p6bnh5THdxbmE5enN3RGVoNVVxd1FHQjI0THU1V2FROVg1eWxQTDhOMk1tcmtST3RCNnQ1TlcrajhJZWg3SHdxWHNQNWV4a2R6MU4wYXVCNndQNTlmOHdiejF1NFE2azMrOWF0TDdqbGduSGorU21rOU5ML2UzQURYTitFbWphZXQrQWxDNjl5ZDBEcTlqRGZyUVlZRm9hRE9ONmQzY1MxWEUwNE13elJHd2MzWWVJbisvY0o2ZW16ZlZuNk5sZHRjZkZ1Rnl0QlE5K0sxYVZ2Y0ZZVFJyQmJPSjNMRnJid3VwQ29iK2xiMjlVRlErNE5OSHZSYWZXMGJIZzA5N0RuTWJHemQwQk4rckg0TmJsbHcrTWFub2NPNm5PbmRKRTZGcjhtdDJ4NHRHVytMcUVPaGN5UVRpUndzR3g0Zk5MdGkxaDRHd3pFNDBUOXk0Ykh2Ymp3OGNZZDNnWWRmcFN3Yjlud2xmcm5KTUpWWVI5RzZVUVNCOHVHbjJXcTZwelhTUnU4MWlWTWFZUFh1b1FwWmZEV0FQZERxUTJjdlRQVUhhY01mcHUxZDNSOG84T2xEUDZRRG5NcUV4M2tLQ05sOE9kMEs2N3R4L21FcjlHcFhEcSswZUpTVnZJajJ0UHZuV2hCVDEyMWIrTTg5bzYyR2N5VWxmd21WdnZtdThrV3ZMNFBqWDQ0YnhMaU9pOC81UzEzTDN1WHJXVGh1L01xSldRR05KeVg5TlNQYmVlOXI1ejVuVmR3VHQrSFJuOW9mOGVVLy85QkFZQ2FKTUxlODF0ZlZ5TXZWYW1FaFcvcm0xYlVsejloNGM5MWRUbjFvWWQvenZkTnRCb0tXL0lGdk00cXFVTldVZkloY3JtbzlpRXlLVk5SaW1vZm9yaUthaDhpazlJV3BmeTNkOFkvKzQySFZpcXJ2YThnRC9rSkIrLzJBTjRCK0oyN0dJWHcvb0xjeFNjY3V0dUFyKzZSMTd3V3JxaUREeENVTUtacjhxVWVmSTJlZU1aalR5OWw4RUdDWExWTE9MQVBqMXBVQkZydTNtYWlWZ2Zzei81UkJoOGt5QmFvOFI5dG13YVdPSHNiNXpiT0RRdE9GWHlnSUVHbUxtL1RxZTFvQXRHaVVtdjc5TmR4WWUzd2dwN3pnWUljaWRvOGdya1BmcXJqbE1ydGRpVHBZUzB3QStDREJVbFN0UnpVdU1VTFdqWWVvTXhLekVtSkFIaDFncFRsQzc3dDV1LzhHc3pBYlNYbWNrVi9lSVdDbE1GWHJkSzIwdXN4STljMWVibDJhRkgrOEFvRmhkWW9LR0pkN05yVWdOYjRvNE9naTl6UCs4TXJGT1F1UG5vb1ZrYmhEaCt4KzcvSFdyM29hZm5DcXhRVVhUWDNLL0RwSnJ3YU9xZm1mYVc0NjFaOTRWVUtja2VKSHRvWExaclJvaGZYYjF5SjBONlZmeUNzWld1T2hZTjdlN0l5Q3dxU0UxTjAxQVd4LzRid0o2VEs3YnNEaGR3QlR5ZFVLSnJNZ29JQ05Za1JBWi9zb2xGdm0vWnlocmZESjRTNTVlWGtkMWVMQ2dxdlV2aVk5S3VEZDNuME5tWkZSYmJ5NVNmZGZOc05MM2I0cVJSL1VVRlNZb29Pc0JrU0dudEM0ZW5TclhqT3I4RlRLaWllZW5OWEhZSzBZcU9LOFAzN2M3RkNCdmpCS3hVVVVwK2dhRmpVWXNPRThKL0NoMTFNNXdldlZGQk0vV1l2TzJmZlQzZENFZjZhdEFsVnBKMkkvT0NWQ25MMFhjd3pFdGZ1MEhYcTBCQnJQYmJSZy9BQy9PQ1ZDZ3F2a20vTXB2U1lwL0JpNDQ4ZjVFR2J0OURPRDE2cG9OQWErVWVzeVF1WEVGNXE2NlB0Uk9RSHIxU1FQMVBvczFnYkIwTGtxM0pGaUxnVGtSKzhVa0dDeG90NCsyeHZhaWNGaEplN2Q1RjJJdktEVnlySTBYY3hUMVdtUmZqOStBbjZ3U3NWRkY5RjZVcGNyM2NzQkNRSHIxU1FvUEVpWG16T2hVZGJ1UzVYaElncCs1VzhVa0VSOWZLS2pnL3loL3pjOTBGdS8vaVpVRDQvZUtXQ1Fta1RJbEpQK096TURuemFldks5SCtKQ2x5aCs4TGpUQTU4V1hWU1FpK3hZUVhmNHdLWlMveEl1MGNXN2dHNU9FTWY1d3FzVUZFYzV0MnZ3VXdSblZuaHBpTDM2SGwybXZ4WnpkYm92dkVwQmJpQ3h3czZuMVhHOWQ5bVpmbWx2ZUd5bDVMRVRrYWNZWDNpaVVKQ25CbEZQckRmZ2o3Z0Z4MitCc3BNdG1MU2VHYmRZSXA0N0ViR3pMai8rOEFvRnVjaU9HWVF2amlkb2t2TEtYWFo5SHliVC9lbWo3MFRrRDArMytWQWtLQ2FwMjJYcjMraE9YdjVnZXFaODdkWkxsamY2VGtRQjhFU1pJRGNLdFdGME9pdmFUa1JCOEI3NlJSZmtrWkRDWUxwUzE3WlRDWmRzVFBqb2dzS3BzMENzR0RzUnhZT1BJV2dCckhDWHh0aUpxRDhKbDdRY0s0WWdPWUVFam1Mc1JIUVVhNDFuREVFSjRNcEpQbmNhZVNlaVZXYk5KeWNUZkJSRFVIQ2lDbUpvMjRsSW02RHdtYUp0SnlKdGdzS3pZMTgzL3R1YkNHSm9wMXFUb0FoYWFkdUpTSnVnQ1BEYWRpTFNKaWdDdkxhZGlMUUppZ0N2YlNjaWJZTEN3NlB4MkJraEduWWkwaVlvUER2UnRoT1JOa0VSNExYdFJLUk5VQVI0YlRzUmFSTVVBVjdiVGtUYUJFV0ExN1lUa1RaQkVlRGIrQTVUeTA1RTJnUkZnTmV4RXhGVFI1dWdDUEE2ZGlKaTZtZ1RGQUdlYU5pSnlGTEhVOUQvQWR4VTFxSFFHYk51QUFBQUFFbEZUa1N1UW1DQyIKfQo="/>
    </extobj>
    <extobj name="334E55B0-647D-440b-865C-3EC943EB4CBC-62">
      <extobjdata type="334E55B0-647D-440b-865C-3EC943EB4CBC" data="ewoJIkltZ1NldHRpbmdKc29uIiA6ICJ7XCJkcGlcIjpcIjYwMFwiLFwiZm9ybWF0XCI6XCJQTkdcIixcInRyYW5zcGFyZW50XCI6dHJ1ZSxcImF1dG9cIjpmYWxzZX0iLAoJIkxhdGV4IiA6ICJYRnNnWEdGc2NHaGhJRDBnTVNCY1hRPT0iLAoJIkxhdGV4SW1nQmFzZTY0IiA6ICJpVkJPUncwS0dnb0FBQUFOU1VoRVVnQUFBTVFBQUFBNEJBTUFBQUJRMkVvNkFBQUFNRkJNVkVYLy8vOEFBQUFBQUFBQUFBQUFBQUFBQUFBQUFBQUFBQUFBQUFBQUFBQUFBQUFBQUFBQUFBQUFBQUFBQUFBQUFBQXYzYUI3QUFBQUQzUlNUbE1BRUhhcjNlOW1WTHNpelptSk1rUmxxWFlSQUFBQUNYQklXWE1BQUE3RUFBQU94QUdWS3c0YkFBQURDMGxFUVZSWUNlMllQMmdUVVJ6SDMxWFRtTGFKUVhCVEVoQUhweFpFd1VFU3NBVnhpWWhGUlBIcTVpSnhkMGhIdCt2VUlVc3Fnb01PS1lnZ09pU1RZQlhTcFhPenVyU2lpZFkvK1BYMzd0LzczYVdwTDNlOUxXKzQvdTY5MysvN3VmdTlQNzlMaFVpdWJkMU9UdHRSenVGSHdnaWpsVFRDT0l1RUVhc1dFa1U4ZmxNaFFLS0lGc25mclNlS2VEMy84cUdZU2hSaHI5VXhRblBMamhNMVRwUm1CalRkQmxlVWNXYWhmK1crWnJpTzJ3QWlUWWZ2QW5CSkoxalBKNHhJbTdpeElrNEFTM3J4R2w0aFJNYkNMUmxWeHplTllEMlhFS0tLdmJ3TU5FeXMyd0pUYzNvNkIzZ0ZFVE9BSzFsejYrMzIyZ0hCZWtOQlJNdlB6MUhBZnAxT082UnplbWRZK3h6eTlHNERpQ1BBbWpzd0FSU2xXZW5LcTJxVXdhR3RxTnk0RlVCMGdCVjNNQU5jSnpQYjU4NWs1NFlDZ09XUXIzdkxFUlQrM2ZjeTdjbVkrZTEzdU1hRm9ZeGVOK3pyM0hORXczbHlaOENDVkUvOTNUOXNsRjZPYVBJTjE0SE0wYTdNVnN6R0VKUW5sdmxaZTE2c1lreDlDbWNJV3FkZmxXQU42SXFNczNKVmJ4U0xJYXJBVHlXeEN6d1Mwd096clJ5MExZYW9BR1VWUjRnbDBXQk1OVFNpcFJDMEU5QlcwZHR5NzVYV1ZVZGtTeUZvUDJOVDZSQ2luZlYzb3VvZjNWSUltbTIyb0lSRUhQc3p1dUJnaEVJVWdEMDIzaUJFdGN3Nklwc0tRWS9OMXF3Z3hBZGF0b2ZRRktJRzhOT0NFQnVIVS9rVVloYjR3cDY1QUpobGR1K1oyV0hsWXVmLzlhSVYyQmFDRUh5QmVZUlk5YUtqNnBIVUk4Uis2eWxXdmFCRXpYblBTbitQQjEvS0g0bFRMNnB3UHpvY05VSWN4dFltTVRYZGphQW1JZHIrbzhjeUZDSVZMTDVKSUtZRHlUZWF3WmVLOFI3cUxlaWtaZnRpaTlZc24vMTRDTytydzJLN2V3S2ZuRFY4TVlhMkc4cXE2VWwxREdhYjl3dzdiNVA4Wkl4SW8xbjFpbWRhbGxLN1pVcDBPbG1na3BlSy8vK3dyRVU1OTM0UzFkeE01YXhmWFVGSExXV3d0T3hBSTE1UGZYejF4Q1FDY1BYOHUvY2trak54V1lqTUEwaUNtRVF2WCsvbkk0bzdZUVZiM3IzWU9hZHYveDc5Q0x1emFUdFUwY1BUV0FSUjZOKzg5c0pwODR2T3RPYmVWbnJQenJteXhzYmk4M2lFVVBRL0NDK1JxQis5bWw0QUFBQUFTVVZPUks1Q1lJST0iCn0K"/>
    </extobj>
    <extobj name="334E55B0-647D-440b-865C-3EC943EB4CBC-63">
      <extobjdata type="334E55B0-647D-440b-865C-3EC943EB4CBC" data="ewoJIkltZ1NldHRpbmdKc29uIiA6ICJ7XCJkcGlcIjpcIjYwMFwiLFwiZm9ybWF0XCI6XCJQTkdcIixcInRyYW5zcGFyZW50XCI6dHJ1ZSxcImF1dG9cIjp0cnVlfSIsCgkiTGF0ZXgiIDogIlhGdG9YMXh0ZFNoU0tTQTlJR2hmTUZ0R0tGSXBJQzBnUmloY2JYVXBYV2NvWEcxMUtWeGQiLAoJIkxhdGV4SW1nQmFzZTY0IiA6ICJpVkJPUncwS0dnb0FBQUFOU1VoRVVnQUFCRGtBQUFCWkJBTUFBQURHRytKdUFBQUFNRkJNVkVYLy8vOEFBQUFBQUFBQUFBQUFBQUFBQUFBQUFBQUFBQUFBQUFBQUFBQUFBQUFBQUFBQUFBQUFBQUFBQUFBQUFBQXYzYUI3QUFBQUQzUlNUbE1BRURKRVpuYUpxN3ZONzVraVZOMlRCb1ArQUFBQUNYQklXWE1BQUE3RUFBQU94QUdWS3c0YkFBQWEvRWxFUVZSNEFlMWRhNGhzMlZVKzFhL2JmZnRSSFRVTTVsVXRZWkJSUWpjK2ZnbFdJZVNuMWhWa0JJVjBvemlqRHFRNkVwalJ5TlNOb0diOGtXcC9hSndScHRyWFpISXh0eTRJSm1RaVZRWW1oREhRL1VOSWNDRFZnMHJpa055Nm10RzV0eWZUMjIrZnM5ZmFheitxNnB4emUyNDFrM3QrOU5uUHRkZGErOXRycmIzUE9kVko4cmE3S2orcHI1MjNuVndUQlpwUGhaN1k1RjVXcnY5N250RmVhdVJwZGI1dDVwUyt2bGVJNkVXVTVoc1RBYjcydDQ2QVI2blFBNmRzYktZUTViRlVKbFgwLzM1U0xkVnQzS2JVdmJ1WFFjY0ZsR2IxZERCUlo2T3Jzcm9JT29wUmxxUGtUVjlTVzNtYVZrWi9tcWZadWJZcGdZNkxLRTM3ZnlacjVYMTNOa1dESXVnb1Jsa01ranZaK1c2K3BpK2RTUm55OWJuTFZuUHF2NHRTdUlEU0xLdUpqaVZKMW5xdmVHSWVxWUZYRXMwV3Bmd0RQL1h3RTgrOEVTVTFwbkJGTmNiVWVNVnp5cGZCYTVBN1czbi9CeDk5cW5kamV2dmk2SmlCTkZQRjZMNDJyY20ydi9CeW9xTWc1VXRwUlBQNk5HNWtmZnYvWk81U0w2VmcvbHoveTU4VGxjTTdJbk0zeVhaS2ZuODZDUjhkajM0aWR1MEpRdmRjbXFVbllpejlrV0Rwa3BJTWlncWJYRmNITnFOVCtkQlJsUExsVk85VHNTcFlXVkpYUlM2cEdsenc3WFZyRlpkVWpnbVZ4TWFsTXdRMnhsWGJjZzhkODh5Vms3aGxPOXg3YWVvT0s1eXhMQ1d0SE9GOHkxdlErZEJSbFBMOHc0OUM5VVcyZ0hXMUtTUkpGaDU3b3F0Ri9QVEhYbmpoOFUrTWtEbzc1dnJSLzNMeXJoSS8vY2p2Z2ZCZ09nMFBIV3RQdmFwNVUrcjBabnFabkVESHZaZm1LODltV0ZmWE01NU16c28ybnlkMjJsQlhiQStrY3FHakRHV1lqME5ucEltWlNpODBOSDJvMzBEbXdhNVNkd1pFNFNqZjdvYWFUN3IzMU9ta2FsUG5vVU9YMWdFT0cwWi80QXZJSHByV1NUSWJhVktUdGtOTXpMME1nQWpoM3BVbnJsdFQ3clltRnpyS1VBWTY5b25UNmZjVjMrT2h5NjVTSEl2TWRjVmtMS3FUNlJUenRlZ3B6NVpHdTBYUXNRdzQzQkNOd2V3QloyY2tUVWNwdVJGWXhJcGlscEt1U050U1A3Vjc1cFRrUWtjWnlqV1ZCNnpFU3pOaTROdEtJRm5IdWNmVXVzZW9vWktTOTRwU29jMEthVVhRc1FGK2RrUkxISW5zYzNaRzBvekVDdEs4YkF2b0wrVHo4NWZkMERVUE9rcFJIcW9DOXIvaWdONW9HWmJ4MENSeDY0bzRwbG1BdEtVUVNhMUxBRWJxVFZFRUhUV2d3K213YTAzSmpLUUIxTlV0eWRPaTBHck5zaWViK09rRnNTQlJsd2NkcFNqM1BlMzVmRGo1UzVHUWFRM0MydVdJaFdEdDVJYXc0ZzZkb3BsVlQ1OWora2ZRTVZUSzNRTlViVUEzSTJrQWRYZmpseWdidnJmZHFIK01vRWt5Y2h4UUhuU1Vvanp5dERlV0gxMnhIVUgyQW9SdDJGN1NsSytyTjIzRjNhUkE5R3FPL2hGMDlKVlF2U2F4YkIzZmpLUUIxQzFDVTZrNnJLWTVZVVltQ2p5MFlxQmREblNVb2d3elo0RTdrUjlkMllrZ1cwY2FXN2Fuemw2bDdFZ0U0MVJXNWw3ejlSa25Fa0VIZkx3YjNpOVpabWNralY0L1c0NEFMV1p4T1dLY25hYVUyWkRlUEE4NlNsSE82ZEV6cHFMNHc2WkhldllsWk5tcjducUxoR1FyZWgvNitvd1RDTkVSK1Boa2tRRStLMmxxcnNJZ3lpNC9Ib3FaczZpc2k4Nml6bUU3U2xITzZkRXpEcGU5ZFppV0hybWVIZnN6aS8rYWcvQ29tTGtLK3c0QXgzWUowUkg2K0FXRzhxeWtHYm9LZ3pSTlhrNGR6NnFNRmJVaXowankySTVTbEhONjlJekxXdXdBbytuNkp1MVYyVkJlT3FmQUkyZHdGS0lqOVBFTDdPeG1KUTJnN2puejVxRkJRVVdkamNXRFY5R1dnY2QwMjFHT2NpMmZSODlZMjNWMzJWbGhXNkFCSmZyNGlZL201KzMreFJPdVVEWnZjQlNpSS9UeGl4enN6MHFhSUJSS2RnK01PaGJ0dWVJMEJkWGxmbkE2T3NwUkh1Yno2Qm12bzhoWldBSmgyVENpbVE1RGJGN0Zla3dUUEtqUEd4eUY2S2lCRzVmY0VoKzZ6a2lhTUJSS1d2dUd4dzI3c0Z5dXcxeFZOcDJPam5LVSs3NzJRajY0WkM1bUNiU3dWN21KM2x3cDRYODZNV3NqV3VkTDVnMk9RblRVeGVsTE50WXFuZC9PU2hyOW1JVnNoUkcvdjJjUzIzNk5LWS9jbHFXWm1ZNk9jcFJIc1JtUE1LT0xWaVZEMUViSGZWY29nenZDRUlHSXBrQ0thRlF3Q2YvZzZUTk9JRVJIU3p3RHl2cXMwcEg4cktUUm03bzlsLzkrdytUN2ZvM2JUdVlXWklneUhSMmxLR1BsMDFxU1E4ZlRWZkcwazF2b3VHK0hjK2xKT3U4WnRTWGhDRlcwS1pxc0JmcU1Vd2pSMGJXUE5Db1psOHYweEhaVzBxd0loZjFnSmtlSEZPaXFNaTZrS2NVUjlSWTNtSTZPVXBSaDVraGJQTlRZUkYwRUZOeEl4MzJjU1JMOTRpOTc5aVRaOE1OejBUUi9zcDVUdGdBZDBzY3ZaemhkcGJPRldVbFRFd3JyYktWSzZHOW11c0JzNUZmS1NKanNxZWdvUnhsbTdsWnVobG94K3c1aGVSY0FTdnFvOUs4c3hVdEZ6dWx0Tnk4Ri8rQ1Z4TE1CT3FTUHJ4SXNUTjlaU1ZNWENoTldWbk8xNUtneUxpT1h0a1c0TnhVZDVTakR6QjBreWZyblI5Yy95c09PVFhSalhuSG8raVlkbEc1WkNuZ0lZek9sVTkxVWF5OS84dlNiallrMEFuUklIejg4Y2Z2T1Nob1JDcTE3cHhzcm9adGZ1bmJGWlp0elRiR3VBM1NzL1ZidmVkbXhIT1dhOXVoZjdxbnJTdjBkanpzdUlkN2NzRTM2cm0vcXVHOWl3TkZzMmJZbFUybHd0UGJiNm5Ta1RxWElBYmtBSGRMSGQyNjQ3V2NsVGRjcWJQa05sNlZxZUhqWXQ0SGJXdmV6c3ZtMnJRbk9TdWM3NnJSM2Vwd2tQMkY2bEtOY2gwZGZVTTl0SmVzOStSaGVjc0ZwbU9rdHpuQmk1UGdtdlZqQmxMMmM1N2UydUZBS0EzODNhWjcrV3BMOG00eHBRaG9CT3FwZ3h6U3J1SHdsTTVNR0xOMHlQTlg0Mld4V1VCY1RucFZnWVhBYm5DU1pmdW10S2w2SThtekhXbGQ5SjZtMFhrdGVJdTlUam5KTHFVbzcvUzV6TzdScWtoZWtNZk5lQ2JJNjdqdXd4YUQzTnphSDFHZ3E2SnptMFl3T2poNDRiYUFPcG1ndjJpUXJETkJSdHo3ZVBuM0wyczVLR2hrSzJhZHZHVTh0eGcwSmlhZFdIQzROWGYxdmlKWGlvYU9aenVXY091NFIzTXBSaGtkZnViMnBlWUVSSGhCUDhmdXk4dHlrYnFhUE8vYTRQV0xTMTFOcVhOSStoK2R3T2pqcWZqd2wyVlhmWTlKaElrQUh3RW9iOWlPUCtWbEpvNjNyWHNiNm1uOFkxUEVMOUhPSkU1S3o3ZXIva25nTzU2SURuWFowcC9wbitTRkhLY3BZK1c5MDl0UGhFVC9lSUQ3aTk4dXgvWWR6M0xIWVUyZkhidWQrc0J6YytqeTVtbEtmTjd2azVzUzNZd0owZE5uSFYwYWVqNStWTkNJVWVwK3Y4UjQ1QXRhS2ZDZTg1OG9PelhNekZ4MGQ0NDMwSTY5YldadFNsR0htVG8zZWtUemgwYUtKcXN0ZDFrWWZkMnlhNWcvaXU0S0cxM1UzdHRncjcwOS9jeUwyWitEMTE5bTZVcjM5ckx6dXJoK3ZjWUFPVnMvYXJ2WGZXYWZ6azhaallrcTJDcDZ5Smk5NklWcVNoQXQwVzZtR0lZampMenJtVFV2Z2RBYW15bzFLQVlwR1dpR2NXQ25LMnN5ZFpFUEFwUnVjWmZudzcxSHNaS3VHNzV2U3BsLzZWM3dyY3Z2WTd6YU1uYmE5QzhPT3VieG4yeWs1K0FkeUM5Q1dQNExJKytqUTZubnVrVWNlK2R4VFBlRy9zdzduSjQxZ0lFZXlqZ1VKbGg1NzRoa3dSK3NxNjRmNXYrSlJhRm9Jd0xnN1hoVStmWWRhTzdhand6WitSRTZzSEdWdDVnYlpFTkFreHo4MHFIdXZ1OWpOS29lZ1FOZnBSMTFwZFl2dFdLYzY5UWp2dDkweDAxelg2Z1U5d3pHNGk0OE9EWDYrVHJoWm1qZy9hVnk2MDNJdFpzaGkzdlRCRkRTODdtMGJYQ0NtTzVTMVdNN2NXcUlETm9WUTFDY0FsYU5jdFMraUFKcFQwTkdNbVFFd2NKWis4d2VoYjI5SjdyUDBFWWVGb3M3OU5sdW9TNm5ZN3dxaEFhMHByS1VDNk5EZzUrdUdZQURKODVQR3BUc3QxMldHM0crZTBBOVRzT04xNzdFZDBLOUdYSlcxc0FkN2xKZm8yTGJhNnBPbExVZTV6bzVGNzFjUGFiRDR2VVhiSTFrOVlvZjBNNEJIT0hOVnNlK1MvUXFrQVh4eUxFbkxycVVJQmQ5MkFQeXBJNnA4NlVPQmo1K1ZOR0RwbG1iOVBRK08xSnV1REppQ0xiY0VDR0JYZTJSblBXc2tQaFNSNk1DTTBEUmtaOHhvWFk1eXk2SVZodXZBWmMzUDlkbGkyUnA1M1BHQWY5YWhtMVhWSGR1NlhBcWk4WlBDdGlUM1EwLzJ2dlVQa3FhUERvQ2ZQRldmVldZNnpFZ2FRSjFNd0twdnJMRUxHVWh4VW12Q3o3aWJQbmJFaEFsMHdMSHdVMURlejVlanpPRFNUMU9ublZ1MWZXa2dpWFBjMFE0VzZMbWdBLzZCY1R1eW9pZnZWcWVmNmpvUEFIeDBBUHgwM0ZGajgyUDBQeU5wQUhWeUNCWGFFQkFpc0VCcDFac2lsTnlpV21pWGt0bGRxRVdnQXc2STFoS1FhSkxsS0Z2dEpUWGZjTG1zSUJmVHAzUGNBWUJSUE1TZHE5WXJjRm5CUkpYMXFVOW0yZExPOSs0Y0o4azMxTGN0T1I4ZFhWWlBVdldPTzJZbGpRNkZkZ3pIL25GSE9JY3kxaEFoU05iZlJnVnlSN3RyaTRGRWc2MVNsQzI0MG5lNnRxeWVZNmxPeEhibzR3NXVpOWduY0NPWEp3WUszSFZTb203MWlSSFkwdGF6TmRnV3Z0cEhCNWlqcFZmMWZEdyszQXFEOEZMU3JNV09iVkQySTFHWkFIVldtUGZrUngrTWJycWRqdXlTbFNGSTFxaG5BMFZoTzNyMmFNTWEzVktVTGJpMFpXQ3VYUTQ1MTJWVmM1RzJPQllRRU1CM25JaTBUMjNyY3FtVzVReHJnS1o3elp6TlhWTDJCekk5ZEdnZmYyREdyUGxZT0RkcFJoZ2xldTNFeEsxYmhWVjhMR0EydlM1TkcydkloWkcxaXFKRHUzb2F1TXBHdHhSbEM2NGtDUXlYeDZoK0o1Qm14bFpCV1BMc0tBUm5lN1l1VFdFNWVpV0ZzeUk0RXBaMnhieGtWQkh3OU5BaGZIeFNQL0hHUFRkcElIVDh1dUtObUdZQmRWTFl2QjhLaFhQWXR0b1RDOFBRSGRuNXNMWUR6VmpoZFFaS0tjb1dYUHJwcDNOT0c1RXNwazhJU3pFUWV2VEN5UFljYklmVnAvN0F2MkU0TTQ0bHdTYVgxZ3FFY0N3RWRNSjF1emM4aWM1Tm1nOWpsTmoxbVlFM1lwcnRXb1V0K3FGUU9JZGl5WXFGWWVoR2JRZW1sTFpwMEF3QnBSVGx1dFVlMWxrUVVYclN4VHcxaExVR1JXNXZxZS9sdTQ1S1pYQUVlUWVHY3BkUzRsMThEeDNRRktrbjRSZDdpYkVaU1FPV1NHSDgvak94RkVRSE10WTRzaUdJYWQremV4NXJPekNsdk1xdDBTMUYyWUpMbjhTZEVKZGo3ckU5QzRROTRPYXdQeUtYRmQ4OU9tUndoR2ZBWmpSZ3hxVEV1K1VlT3FBcERvcGVaaTVOWWpiU3lGQm8zVGRuOEFxYkRwc3kxbWphaFdIYVJOR0JLZVc0M1JyZFVwUXR1TFROdnVKd0ZtWWkrdFRDN25GTENCT2NtZHo5YVJpc0lnRVE4S01ON1NwUC9JcDlkT3loQTVvaUg4ODhjbUkyMHNoUWlGbWhSRENIS0xoRmxlS0ppeW15ZWhFNzJyN3RJb3h1S2NwQ2U2QTZJRWJHM0NPbmkxcllIVzRPSHZ3dFBNNUsyUTF5dTJLSnFnVWdUbGZJL2RrM295NnhQZkhqam83MThlR1FzNUVHSmw0b3pPTXFPTkdVc1ViNHUzcDg2Q3AvM1FVeTAxckM1RkFZVm9heUFCY0NTamJDSHMrY2Jja0FOQ3ZWY1IvWHA1L1E3dGxzbXFxSncwMWJWZVQ5anJyVko3UkZvdHVuZTBKeXozYUFPVjU2ZG15VE9rZHBBdHJqQ3dCMW9UQ3ZIYWJUTGpWZGQyUU5Pa0lRamlleWJvank5b21BalR0R2RpMEpvMXVHTXZxUTlnQVVzdGswWW5BZitrK045RG01QkJXRTRTMEY5YmF6U0NXNEYzcS9vMlgxQ2FCY01XU0d6QzhlTEJ5YlFoY2RzVERJTW5GKzBsaWEwMVBianNLODlqaXJJRW15bXFhRkM3dzJtVTNUQzNqWkl3SVdIVDFMbzJvYmxLRXN3SVVGcUszUStrZk1lQitpZDRmZnUwVWN4RjdWd0hRSnp3NWhQUERyOTdvOHlHdHk2RGJ1Q3YyUUNJNzZXZGoydFUyOWp5VzZRQWRCeGtVSEtxeitXQXBLUkY0OHFaZVRoaWptdWU4NlEzZzlBT2VHVTlTMkN3TmUreEIxUHpyZ0JsalFEY280Nk5neXBSQm54eVRMVUJiZ01oNXV3K0J6bms0NDU0VTNxVWtrWk1PMkhNL2VWMkh3TWhRRURLdjRZSzZIbHZFcmZMOUQ2Tk5zLzBjRGZiUkw2TUNxMm1jbGtLUFZCUk45ZkhKKzBwakJjOTA2anNLOEx2QVZlMDdSeUlaVVpvTGF4OXdBOW9BbVgwU2xJenNGbUp4TjA3b001YnExUWtnMlFHbjdNQ1BIa2Q2RzNSREFqZmpITjBuWCtpWjBCR2ZNVDBaSC94Q3lBUndWRkwxamlieHAraUNwSVRHbnorYTdYQXAwSEpnR3J1Mm9naDFURWJuTlJocXdkQ3ZDakNueWduck1LWnZTbzh4QzltaStFL3dBbXQxSFdOdlJzVExMbjFjb1FibGxKN09kSmZzM01qNVpkVFZlb3ZvWmZ4QzRRbGlhR1hSRUxwaU8vaVJ0ak5lVHJVRndSQVlCMWxVblZ6Vkk3YXN6UU1lSmFlNmlZM3VTajUrTk5KTkRJUWdsdEptK0hzR3ZhalJUU3pGSHh6MWFEVUxaRmgyWVUxYUdzUFVsS0hldDRUSW83VzFscExkcFpRN0YwbDhtZDJPR1QvVDNaTUlXNm9kdzJTTzNoUUUzQ1QrazRLcDhDUVJISjZabE5kdkRYZGJIUFJZZHNMRFV3RVhIcnZCSmhvSzR6VVNheWFFUW5oc2ZDZzcxL0hOVTEwMW5mVWxZYi9sQmprVkhuZEVCeDJvZmNwU2diRjlzeE1ScTg4M1BoZGdmeUtVUDBheGRTNlhBdXJhK0w4VktodTNtSGd2WkMwNUF1Q3BmQXBBd0JrMXY4STdScVg2Q1B6MFdIZWc0UklHK1hIUjBwSHF5QnVMdlRLU1pIQW9sdTJ3bVUwYnhCSlBRQUNIMXdsc2hKNHYwWmE2VTV4MVExeUR0akJkbkJiWGlsRjJQZmtzUFRwRWVRMjJrcm1aajRTL000aFpuMG9SNzNBRUpqTy9wNmtsTUw3aE9UbE5ac1RzV0ExRXc2NkxiQUFVNzgyUFJBWGEwVUdPdW1VaUR1U1BESDJOTGZqaU4rcHFOTzQ2eTVKRVFxRWIySFMydDdjQ0N6ZFNsWitPRUJ5bE9XWGgwa05LVWhvZUdISDF5amNtOVlvcHdVNnBoTXpvRjlrVW9vajNMYlYwOFp6V0FPUmpvb3ZKWHkxcXNZZW9KMS9VaXlvRU83ZlpPSm93N0MybnE0Z1hxQ0d2eXcybFVEMjNyVVdaRytPZm5VTHN0bkw1RkIyWnNQNldNem14MDljRVVMWHlxcEFobUhHWGgwYUhKcStnMjJrbjdhaXZSU0ZOQXpWWldwUDkyZU90b3lwclc5T2tTOEpPaVk5a2VyQzBFc1lycG12c21ncU42U240ajlhWTlYam5qYkFkaVdKOWZaOUJaU05NV3J3UTd6R1NaWmZkZ3VROEpOdE9hUzNkMjB4Q2taeVpJRnpiWm9VcmJnZUkwaUY5UUdPczRJNHUveFNsWEJialM1Q3BGeU5nR0RGTENNaTdXSjFDSGFTbjlXZXU1d25hTUtXRVRwSDhLaUdoU3A2SjNBY0JzSjlYZjF5UWNkSndZb2pMdXFPeEN0K0tkVTlQRTNtWWd6VHZCMHRuQXN1Q25sdHkxTkVMenZiUk41NVgwZUdhQkZyd3ViQXZzVzlzQmplc1ZXbW0vMlNKbzZjYkZLVzhMY0xXMDdXaTlvZ25oNHMrN056SmprSlVtZFdITGtnOTg4RmMxOStyUGYrbm50MHc5Q0dxcnZ5WXdlOW0xYUtaaGdSdk1HRWRpUzVxYnBiTjBPZGs5QzZCOFlBZ3lPbDU4N1BHdVprNDkvL2dMdjVHMkQ0ZTh4OUtzUGZ5NTMwMVpPdjNqai8zakw0YnM2QktZOElHdGdaTXcwZFhQM3RsTW4wbS9aRGNoZW4wMHVLMUFSOUpYZjVETTljOEd3dWlXb2R3VTROSS9kdnBRcG5jTXlkK24xL2hwaG1ha2FpZEtuOFh3UmVkZENHUzBJL294Q3JUUlpWdkV6WnBFNFF0elQ4Y2RlaHM3bU90bUVKNThHdFpsM3BBNGpnOTZqNlhSRVR4ZkRIaVBOWWRadU16YlNuMHhxWHhkQnhBZDFaaVQvNU1YeThiQ1hxSUR2OU56WFowMTRPZkZQQ0FuMUpDSGNsMVkvVXBYamRSSGlGZitBdG45eVJqcEpqUVM2RHFrZmkxdHk5OHRnaUhzMFE2b3N0d2R5Mm1mZS82d09xUGZCK213VVFKK3FBWGJqcjY2ZHYzbTAwOC9lL01hM2hjYWNIOG5jWStsV1ZXbjEyNysxOU5QMzN6MTJuaVBKNzJGUHU2NDlaQlMxM3ZwNTZNUDRMZWU1SFF2eWcyQlJFZXkvcVQ2NXJHMlF4S0RoU2t2WHR1ejZsci9rOVBmNFZ5VDNpOXlmektHbjc3b2hsLzk1M2VrN2QveG5xOXl2N21PVXRkNDJuUXhFTSsxNVJLLzhwem85L1hlcDdleWJJdUhnUlhiTTAwWUhTWS84VFlUYVNaeXBCOVBIdG9XT082NG1yejRTZlVaL0NRV3JoL3ZQcjlqS3hGbmlsMklnNDZzRVphdk5icmxLWXNSS2RtbWc0S3V1L1I3NHV5TDJqcjN0VjkrOWZRUFJRbGM1NmJJbm1NeSsvRWpUUkJxT0RhRUM2RURqbHRxTzhMYnZaT0dCci9NWjN3b3FUbkhDZFNFN2pVNStSRjBpQjJwN2xLV01nMG43ajBDaFYyV2FXMkxiYmhvUENrcC94L2VwSGJGNjdiWnE4SUFEMHovWXVpNFFOS1EvRXZDMmV2amppMnFDTys3MG9GSDBGRVZPMUwwTGtzNUhKamZLNEh2Y3BaWGpXeEsyQ2Rlc2tFdUtsNTlGNlVjT01QRTZvMVNlaFZEeHdXU2hnU0FyYVZrZ3MySHlOaGlreHBKNkVUUVViY21WZmNvU3prWU4wR2NsNEVDUm5zem1mc090eWo4ejNpT3lBZ3hpZk5LOERzRzhubERNWFJjSUdsWUsyMzJrbnFIcGs4dXhseHJNaWdWSituY0hEdUVUYzRnVVpLeUpKR2xjY280U0ZNcit1aDZ5WWErTGt0aHg2Q2s3OXFlb0w1OEFUWmxwdlA0THhhbVVMOUEwakNuWWpsaHRkc3paMjVBaVZVWm9jVFE0Ungzb0ZkSnlqU2V2ZlBYalRYdDNEZEU2TnVYNXN4MkdKZXFURUwvdUU0NXkwY0V2TG82b1M3RmJBZE05eGIxekhOL0s2V2g4VmV0SzRaYjV5OVRxTnJlYTlqUDJDdjBMSWdPWEd5VnBHekhvQlNDNVN5WnZwNTNkRURsT295K2FqUFRVMHVUNUp2ZWZXS0xKa1Zsd21RV1JNY0Zrb1pFRlFpRVd6K2s0dkRlY3BCTjZKanYvS2RwaWxoZHJHb1VscVFjam94Z2VhQkxFWC9nNkhhM29kUFpWWEM2YTBYM09EUk9qdnVHa1g1TmV6OXpGVVRIQlpLR0pNQ3pyQzJUeHBaMG40djlSRVZ1YnV4VHVGM2VCQjk1MjAzOWxLd01aWC9nTkZodTZGS2dCSWZrSTlsZ1ZPaWhXc3NOakNTaHUwN1BHYSsxSXV4VFFYUWtGMGNhVnNjR1F3SmIwZ1lYKzRrbDF6SVkyNEhUZGRvRytHR0hmdkdUd0ZhRXNqK3dEcFpUVjc2Z0hvTG0xeEY2Mkt0TzN0NFdqVSt0eWVPODhjMUsxZ3d6YVlWandac0hyaldkUnZrQ1NVT3MybzhBNnJRM29DcDVQM0tSWTlDaEgzNWxjUUJTOVBTTHVwV2pUTDM1am1CWjNjWk90dnZ0ZVVTbDI0N0NWeWY1UXFaZ0Vpc0VaTC9pWFBMcnZiUGpKUGtGK2F2OVJkRnhnYVJobGZUcDlHYml6eXQyNzNBSG5URG8wQzhtWGtrcmhuUW9JWnFWb2l6NlowbHNGcitnN2p6UlE4dzdWSC9oR1l1UlkwcUN2azVCODNUVHlaOXpCcytsUHZVTVBaVkxhUmRGUjNLQnBDSGxiRkMwM1hWREM2cFA3d3Z5LzJlaHhLQURSeEZaRUlhSThhK2REanBUaW5KQVJiL3k4N1ZuVHY4TVUxdjU4T252dS9WSEhOdTQ1WkZjeGRtU1J4cmNiZEU3bit4ZGQzNWV1VEE2THBJMFJodHJGRWRsSCsvRWRWVHoxcXhCQjBEeGNkMmgwdEhHMzc5S1VmYUp4TDcwc0czV0ZiMGlaTXZHcEpibE82bGoycHh2Y1dGMFhFUnBobWZweE9LNHc0OGNyTEk2N2xrRzJZNmtlL3JyNlB4ZS9HZW5ZOXVZVTJVb2MyZEtwQytwVVNhNDc3b2VMNmkzQmYwQ1RzajJ1cHRVWVhRa0YxQ2F4U3hhUTF4NU9FNFhxK1I5cUlHeEhmcDV0YnFPVGNXZEdEand4dGFCN2xDSU1vM0E5K0ZFajdERUd5UHVFRThzRmpzNWl4TXBWbG9jSFJkUm1sWjZhb0RvNzhvNDZYZjlCekNFam1UOU41L3RuWDdybnpialBVdFFEZ2k1ci95RTFmeDlWbERsRkF3TEhZMDRYY3RtNXRScitLSFFuU0xkV3hkUG1pVzFweVhvLzhjNE9kYWRCVG9Qa1p2bXdkaTRIcWE4SU9Vb05lK1ZINy9Ob3J2Vjlxc3BQK2RiUDZwNEMrLzZOR2lTdTQ0TWZSR2wyUlZ2ZlVWWVRyWWRsMzJVQ2oySU5RektpbEVPdXV1QzRBeldheldjOEhESU5xMTVnWk90ZWV0U0pkQ1JYRUJwMWlmdkN5dXV5eW1Dam1LVVl4UGx2L0lUdEZuN1lsQVVLWGhnRUNsOGk0dktvT01pU3ZNdkUzVlhjUThaaXFBaktVUTVObHVJZTJQRjk4dnVhd0FhV0ZHNTk2ejM5ZlY5cDRHcTk5ckk5NTBDN2dzOFFRUFZnZzg2SjVDNlgvVzIwOERDemVPM25VejNCU3FxZ2Y4SFp2aFQxV2pYQ3E4QUFBQUFTVVZPUks1Q1lJST0iCn0K"/>
    </extobj>
    <extobj name="334E55B0-647D-440b-865C-3EC943EB4CBC-64">
      <extobjdata type="334E55B0-647D-440b-865C-3EC943EB4CBC" data="ewoJIkltZ1NldHRpbmdKc29uIiA6ICJ7XCJkcGlcIjpcIjYwMFwiLFwiZm9ybWF0XCI6XCJQTkdcIixcInRyYW5zcGFyZW50XCI6dHJ1ZSxcImF1dG9cIjpmYWxzZX0iLAoJIkxhdGV4IiA6ICJYRnNnYUY4d0lGeGQiLAoJIkxhdGV4SW1nQmFzZTY0IiA6ICJpVkJPUncwS0dnb0FBQUFOU1VoRVVnQUFBRW9BQUFCSUJBTUFBQUNqTm41SkFBQUFNRkJNVkVYLy8vOEFBQUFBQUFBQUFBQUFBQUFBQUFBQUFBQUFBQUFBQUFBQUFBQUFBQUFBQUFBQUFBQUFBQUFBQUFBQUFBQXYzYUI3QUFBQUQzUlNUbE1BRURKRVpuYUpxN3ZONzVraVZOMlRCb1ArQUFBQUNYQklXWE1BQUE3RUFBQU94QUdWS3c0YkFBQURDVWxFUVZSSURhMVdPM1BUUUJBK3hTYkdCQmtQZjhCdXFleUNpc2Ftb25TcVVOb2RaUUpEQVpWZFF4SFh6REJ5QWN4QUVibWtVeXJhcEtheHFaakpES1B3anBYZzVkdDc2SUV0WFFxdXNFNjczKzNqMjcyVmhjQzZlWHZueVl0ejNoV3NDdkg2WFlCZzFUV0orbUZCbFhZZStFUVhGcFF5TjdrVWFzK09haEIxN2FnWlVkT09Db2pzSUJIU21SM2xFUDIwbzF5aWIzYlVGdEdwSFZVakd0bFJvR3ZianZxL2RDM3NEa0hYTHp1cVJQVGRqdHE4RkYxVm9yRVE3dnZ3NEhHQlNkQTFFQjk4T2lCNm5RL3JFTFhMOUtZcFhKL3lXM2FYeUJtK1lpdXRnbVE5V2xUUDZveENoSWY4WExOQTEvbSs4bFFtbXE1QnNBaDBSZnBtWXp2UFFZRXVvOXZJWnc3Qm1HaGc2MnVPclJ0SjF5T3VQQlRvTXNIQStTVEhGdWhxYXhXRzFEaEdPZmRPbHMrTlJvQXVvOEVGMkRON0o2QzNUeW5hMXUrcDdtcWtMc0FkZW9rV0NKZUhFb2E4NHU3cUpmT2lwSXBWMFRjMTNWM0RaRjRjNlNvTUkybE1kWmZ5N2lmendvdnFVdFpRK1lDdWdjSUlVRy9HcTNZb3hLYUtCM1NaZE9IY2pOZXEyVzBvQmtDWE5zWFRlcTczblhoeUtDTXB1bG9KRVVGTXJ5ZlRTTkVWeEdYSDNEUDBEdGwrbWk0L3JzTDFKS1dBSTB6UmhRTm1KR0x1bWRMMDZZOXM5YkdPR01PTys4WjlLTTkydGJUUFIxTjBJY1VSVkRWNFFITVlWSTgvWktEcldKL0NsbFd0aWZSZ3BEME9GblRWTldxb3RzRVU5cEt6UFZvSzRmR1BXcVNxNkRjenFCa0RjQmsxQ05rakcxSGlVd2l4cmNVemlwZ3VWdkhDOWhTUEtoY2NPYVZSb012Y0duQTBCMkEyV1VXaHUxakZDN1pHZUlSc0JCNlA4ZURGSG1GNnF0NDRSR3kzNURESW9KYVlSZkVoa0RJQ001LzRVSWFKaGVnbGRFRjFJVzR0NjR4Q0lNWWpzOXBKL1pGd1BBb0pSY1M2bXEzUWxYY0RLWlkvN3JQb2tYcEQ2bDB0NytmUFI0eVZnVWJ0eG9ScVFmTEFiVEtweXk1TU5KbWRMN2xqMFg3dUdCSkNkcnM4NThkV00yYmt5K3lmbTdhS1lFbk5qSmhTMGxtcnlMSnBxRXAraWpnVjZoWStpcnRoMVJSL2JFWlM3RkZ6blZyTFhGVzZZb2RDZktRdlFwVERxRjFnU2dobmlPbnI2K3JuSTUzN0o5SG51NnovQzlTdjM3WkQ4MFh0QUFBQUFFbEZUa1N1UW1DQyIKfQo="/>
    </extobj>
    <extobj name="334E55B0-647D-440b-865C-3EC943EB4CBC-65">
      <extobjdata type="334E55B0-647D-440b-865C-3EC943EB4CBC" data="ewoJIkltZ1NldHRpbmdKc29uIiA6ICJ7XCJkcGlcIjpcIjYwMFwiLFwiZm9ybWF0XCI6XCJQTkdcIixcInRyYW5zcGFyZW50XCI6dHJ1ZSxcImF1dG9cIjp0cnVlfSIsCgkiTGF0ZXgiIDogIlhGc2dSam9nVWlCY2NtbG5hSFJoY25KdmR5QmJNQ3dnTVYwZ1hGMD0iLAoJIkxhdGV4SW1nQmFzZTY0IiA6ICJpVkJPUncwS0dnb0FBQUFOU1VoRVVnQUFBZUVBQUFCVUJBTUFBQUJIRkpKUEFBQUFNRkJNVkVYLy8vOEFBQUFBQUFBQUFBQUFBQUFBQUFBQUFBQUFBQUFBQUFBQUFBQUFBQUFBQUFBQUFBQUFBQUFBQUFBQUFBQXYzYUI3QUFBQUQzUlNUbE1BaWF1N1JDTE4zZTh5VkpsMkVHWU5aTFJNQUFBQUNYQklXWE1BQUE3RUFBQU94QUdWS3c0YkFBQUt3MGxFUVZSNEFlMWJUV3drUnhWdXgvWW1ZMi92N0hKTnhGakw3d1hOUXNRaUNHaEdnaHNIK3hJRVVwVHhKY3NoaDdHRWlGRXVzeUVpV1JEUUs0RlFTQTdlVXdTS2hLMk5FSkZXWW53aGNBQ05DUmN1WWN3QkpJU0NUWUQxRUxJcFhuVjMxWHV2dXVwMTk5aU90S08wVnU1NnI5NTc5YjVYUDYrcWVqYUs3b29uL29KK3VzZnlkU0cxY1N3VDc2SnlRK25uUDhkcXNaZmFXRHVXalhkUCtUM0UwOFQ2YnV2ak85T0FMT2owMU4wenFrOGM4ZnNlOUQzbkMwRVNHQjlOVjRiOHorU0pYMTRYWk90V05kUkpJMTZnM21MNXNJNW5xSmFYUGxoSFc1WTllY1NMbDcrUnVUblpUSitjcW9YNHp6Y3ZheHVUaTdkdTNmekFwM1R4U1JsR2pWb0g4WjllSGp6ejJVcGo2TGx2c1ZiNFBGNEZILzl0NjU5L0JjaXJscXhXV0FhZDcyV2lqVmVoL0ZnMXRYSXBqdmdIU2gzQnYvMXl2UVgxRmhQaWlPZkJ4UjFTUDFKcW5aQlZpbWZCeEhraitDTWd1b1k0NXBzaGZrMGR2UkhGTDZyYnBiMGNEMFhFOXpvZVF0WmZxZW5vUFdBQzNXZ3JwNzJhMW9nNFJieVlxRjFkOVJQMURwSHdGZVBmdUI3d1BoNkR1MHh2eExxY1ZRV0krMkFhWTlVWk1MaUc1SEZLRlBGemVSd044cURkUnp2Z2dEU3F0NVg2RjlOdVpyRmtQSm5vS2ZVbVN1aXQ0VHFTeHlrUnhISGV4VkcwNWNCaERiejA4Z0NhbHhFUGxYcWJLYzJyRzR3dUp3NFVHMmtEdWhTV2F3c1NCUEVaZFRzWGhGVURwNUNyREdqVVUxK1NFWU4vLzJWNmM0SkJKbWdKbUxuVUJKQjgxRmpCdWdXQ2VJUUpKUkdHMEN1YmovOHRnbmtsak9vWWduTElQRG1yOWhoZFRpVGNSQXRNbGl0VmtTQ0lFN1ZoTkVZT0hzTzNieG54RXJoM3ljcnF3cm02N2k0NkprWkExdzBhODhBU2lIaE80ZXJTbyt1a2xTVUZHYkhlUGV3U2FVQk0xbDFXRVNMT09TYUdRRjhQQ2RmaUkySklCOVlrNU5PdWFFWkdyTk94dFpYYU9XdVdDTkVxcWVUcE9JbzZZSEtOMUU5ZlJNU3JaS0pBSjYySU5tWEVZM0NQcTgrUlRNTnJBcFFPR3EyQ2FjMW9XbGNzLzdqSXNoeEUzTFpMZFJUQlluMW9SWHdGR1RFRXorblQ1WC82ckFnOENCcGRtL1cwUGhMRWVkVXk3azk1aGFZUU1jMzRzUFRJMnk0WmNVc3BCK0d5Yks3bzF6YlA2SHBhT3lhTE9wWXpoMnV3NWRtQ1JRd2cvMGU0ZE1OajJWaVFFZmR4dXhCM1U2VjVQRW1oRWFrMFJCTmFETnFyY1pCZmtLNHFMV0pZcWpHSWtGRGx4VlZFVE5QeGZMYU5XSzU3N3pEZzgyb0xFSzlJRWVKMXpvNlBWVnJFZ0lGc0RLR0JQU2JuRUNKaWZRdXluaXMwNjBMTjlIVFFqQW5OYVVNWGlBNWxhdVp2MzFsR0RGKy9MZUltMjBWQmcxMHE1cFpGeERCYzdOS3h2ZUdxVnFMMUh1WThTdXFGS3hzc3lKTktCMEovV2NROU5uRVMxbURSdUlnWUttMjhPanRGNVp6ejE5dTd3VHE5aCtsaXJiNWgyRWV5dE5TazRYS2tMZUpWRnNWQnliUVJFY053TWJrekRwK1pZSTlCOHcvM3kwbkhMVFlBdWFpUHVrZFk1aXppQS9ZdEJoQmY4cGt5UEJFeEJNL01JK0VFc1ExeDJUZjIzUGNZVFVBVlRKTkoxeFdSNkVXeUNydHlGdkhJUmJ6aGlsSmFSQXc5WXBiOVhuamIwQUhFd2FoQ09Jd0phTGF0MU1kbzYrWGxZWGdpVzhSREYvRlZ5YTZJdUcrWGhIaUFPZDQxTndERXdhaUNONWpCNFlycFNWZTdoQjZIZzJrUlF4ekpGMFp3K2xBeUtpSUdLSm55b25UcWhBYkRiZzF3dzlFQXdOK1hmUEhWemRGVXl3VXM0czZKSWRicCtLa0xGeTdjdkp5ZzM3eFZUYTJDV0xmSVRqazZIYWY5di9qODM4SElad0ppQXJ2dkhONVFOSXo0RGdvVlMxSWY2M1JzbitDNDFhY1ZNbFY1RXpvZDIrZWJiL0RLU3RRZkZmK0NnRW9VTWNIWWwzb0h0Q1hFVUlmUERqYmxsbDU0cU91eURLM1RjZm9KWndDRlR4dHVuZmVDbXF6NTVTMWlqcEZUUlZVSmNSTzgxQnJ4VjM2dHd1bTRhSk53TUIwdkRKWDZIS21wWEJ5cGIvdGx3NGpKT2xaVWxSQ3Y0dFpDU0JKRm00UXp4blFjdDJ2bTR0d01USnA5WWhHTEZESEJlSncrYnVFRUhZZlRNYnJnS1cyamlRajJabTk1UkVwWkkvWG1uay9JSXU2NGF6V1oxVVZGcVk4aFdpYVhOc1BwdUdpVGNHQW9HeE5STkpqdWhpdDBxM0VLaUpWSngxSFVuS3AzVXBDSE5nQUgvT0JvK2ZFUDAxOVZCZiswbFBxdXA1Y0RpQ0d1MktSdEF3dENIOVBUOFZnY0tHak9LZkhUY1krTlBoUUZmdW5qeVg4V2NadlpIVXlQbUo2T1Z6ZlF3Um9sSGJUelZyNUpKclZsUWdINnZ2d3BkckpGUEhSUGk5UDJNWFMvNnVhZWpYYW9pNVhMT21qR1JCVEJSYnIzN3ZjUFNUbmdEeFhidEloSEx1S05vakJ5aEZFTlhXSk94MUVIL1ViZDhwSU9Ha3FOTVZVaHMwSUp4c0RQUFdJV01kU1RlNVZCWUxVd0ZnVEVxOFRCbDR4OHZUY0V6Unl3UVhHTFVaVXR3Yjd0a3o1aGl4Z2N4WVFRSmRQZmdiUUMwODdYZW9BSHZwQWw1eUF3cWdQS2h0MVIzekZGOXJhSUlaSWtsU2k2ZERDRmpCRDZ1TU5DNTlFdFowSFFTUFRiOUNhOVhEbVhtRmRIeFZWTDExbkVUZllaQWhEZnlGVzlMd0V4cUlxTG50Y2VaL2FaaVlUMU9KY01VKzNRNGRzaUJneDRYNjBUNGxyWW1uUjJPb2xmYkVEcjY3WjFmWE5iOXh1Ty9uTG1YZC9CcWtVTUdRSG5qbmJiTnVrcmhQc1lkdkFrbC9wMFMzazhIZXRQVG1TTWwycG5BbHVoTGtiRXNBM0ZxQUJCRmt0UEkySEUrbXE1NjlHb3dlTHBXSitWeVJtbm1wMDRDWjVoYkIvRFFFYVEwRkU0eEgxdGhCSERlaUFQRDU4NXpnUGp4SVErSzkvaEF1WFVNazIxWE53aWp2cms0eHJFVlE1ckdQRVdqUnh2cXlvRlFjUGdSenFFdFpmQ250b050WWFJUitUakdzUjFQYVNSOHNPSXdReXVCNktORng2NjdxOWZaU1o2Z1BocUt2Z1h2N2lQMndrT2FwekgwWmdrSklqcmZtN29pNS9vZWt5R0VYZXFyalBobTcwV013SDRzM3ZOY3hVakNlNDI2TjdDY1IvN0dFYnlpcW1FVnZheU1sdkNUYldVbmNDL2FtTlFJK21pUlZMcU14UGJJTGV1YTgrUUhSS1I5aFhuaFNHS2lDSHZXVmZiZHVIU2Z0MG9Hb1UrNWpteWwrZHZuVmsyaXZJZVRoc2tMM240RVQ4ZFJ6MGp0MlhkODJreDN0Z09VY1pPQ1VRY3RTd0lhTk40cmYxYUw2ckJSSCtiY1ExaS9hdWtGVllUSWdZZ2FWcGhNam9CN3lDbkNlUWxUWFoya1ZsU0drM0NBZ1R4dldxeWx3bUMyOTFjUmZ2bFdiYkJEWDZGbFNPT1J5RC85WEJ6cEtZRGtpa1N3a3VMWDRhS0ZXVHFCTDhPNUpLQUFxV3prdkM1aTZ4Y0VmekllQ1ZUV01VTzFIN3gzdFFpRGMxbW53bzA0a2Z1djlnSHZsSlBYN3oxUUI2OHpLRHY3d0VJN3JzVmpaLzk5aGZhd3UwSC92SFR2RTd2LzY1Q3VWZDlHc2ZTSm8zME1SeEVzOVVRMnRneHJtaS9lRy8rL3Y2YkR5YmFLL1cxaTdmZWIrUTA0Z3h1V3VXZC9FWTJlM3UvbUk5eWJmMWF5K1ZiNmNtOWtWaWZ1QjBQdFlRclVyR1dJbTRrR2RKdGtsRmhURTF3OTZuMXg5b2I4OWl2L0JyeFVGMTdkdlBLbGE5dVhrdlVrZkczMktUaCtINFYwVEtHeVkrTklGMGNyY1ZESG5kanhQdGU5aytYVEpZaWpsNVRrMTlGMFl0cTBrVkRyeDc5am15QWdEK2VQUHZFbGV6WnZNWVFvOUxVcGNXSFg5L1R5dkhyRDJQSTRQK3JUSkxpREFnM2N0WXVReDRaaGpqNlBJUXpVWk5kTHNnUjh6cEQ2VDQrdGVlUmp5UlA3NTZVZFk0NGV2VER5VE1mNzNManNlMUl6bWZVcVNKbUxSMlhjQkQ3ekRXcXpLQ1pRcnhVekU3RndNd1U0dVVxTnhBemhmaSt3MktYRmpnemhYaHJ2WUN2eUpncHhNUDlJc0FDWjVZUXgwa0Jub2N4UzRpci9SZUhXVUxjeS8vZnM2ZGpDV3VXRVBmM0NiQmdjWVlRTDFmWlk4THA5VFQzMWNFNFQxTlJ1c3M4cURTb1p3anhRdkFYblR5K3M5UEhTNDl4WkNGcWRoQ0hFTHI4dXdueE8vQVRzSzRMb0JhOUFCWU83cUtWUzk4c2VlNW5hMkR1cFpkVHAzZ0hVc09YY2xGOU4vb2U0dkk0Y1lsZUdyVzEvd085NnREVWlNeGgyUUFBQUFCSlJVNUVya0pnZ2c9PSIKfQo="/>
    </extobj>
    <extobj name="334E55B0-647D-440b-865C-3EC943EB4CBC-66">
      <extobjdata type="334E55B0-647D-440b-865C-3EC943EB4CBC" data="ewoJIkltZ1NldHRpbmdKc29uIiA6ICJ7XCJkcGlcIjpcIjYwMFwiLFwiZm9ybWF0XCI6XCJQTkdcIixcInRyYW5zcGFyZW50XCI6dHJ1ZSxcImF1dG9cIjpmYWxzZX0iLAoJIkxhdGV4IiA6ICJYRnNnWnlCY1hRPT0iLAoJIkxhdGV4SW1nQmFzZTY0IiA6ICJpVkJPUncwS0dnb0FBQUFOU1VoRVVnQUFBQ2NBQUFBMkJBTUFBQUMyQjUwNEFBQUFNRkJNVkVYLy8vOEFBQUFBQUFBQUFBQUFBQUFBQUFBQUFBQUFBQUFBQUFBQUFBQUFBQUFBQUFBQUFBQUFBQUFBQUFBQUFBQXYzYUI3QUFBQUQzUlNUbE1BSW9uTjc3dDJSRlF5M1JCbW1hc2NaYVB6QUFBQUNYQklXWE1BQUE3RUFBQU94QUdWS3c0YkFBQUJ4MGxFUVZRNEVWV1V2VTRDVVJDRkIvL3dqMEQwQWZRTm9MQ3dJekVXeGdZU0V4dGoxamZBaHNvQ1FyUXlFVjdBcUltVk1jR1kyQ3B2Z0crZ3BSMm9pK0txSE9mdW5UdDMzWUtjL2ViTzNUTm43MEtrMThKS3VLMDNJcXJBT2phSTBpMWZXVVJVcDF0MFVxV0J3bmxnbVcvT2hoT0FMZzN3YVJha3c2YUhrMERkUUFvQXhDTFdQMWJXZ0hlQnZMQnM1U3p3SnJBQzVLek13RzVPTkFOOFNKbGhYM3UrQlk0REJTdTUrMWxnMXZybHV4S3dMNUNmYnVVVUVBbWp2TFBKay8wNldIUTJtMnFEU0czMjFBYWx0YzdqbHFWOXpOVzVpbzVBdGNsVmpURHJiUEprbWxiTjJlU0lYRnJHNWsyOFV5SXRVcHZzZlNqUDhUWVpmZ24wTnJuOVZTQWJrUXo1UVgyQlhDOVlxVlB3YTNjMnpieHVaZUJzbW1Sa1R6NG1ZcFBZc1ZqaUREWHRCNHppM2FkNW9hYk5YZkZzM1ZGaURPckZlZDZqb1RhNU00TkJpMDV4d1dtZVc1dm05eEJoRzlmRWFUNTZTQ2Z0NklXbzVnNWtvdUxUVE1LaXQrbHh3cVpDRGtIVFZ1alRWRVQwMzZZVWxvQTlrZFhJcVNjTmpnK25uUGVVbmpqekJ1UW9KTGFzS0dTVmt5MEQxODRSeDUrbjRUMFhWeGRoU3haU0Y0TTQ5anRneHpGMnZIWkFOSGNFODYrZ1Z4NElyd0NzS2pHaXNYV0p6ZDNqQlBzRFBLWW5uMXlVTmNBQUFBQUFTVVZPUks1Q1lJST0iCn0K"/>
    </extobj>
    <extobj name="334E55B0-647D-440b-865C-3EC943EB4CBC-67">
      <extobjdata type="334E55B0-647D-440b-865C-3EC943EB4CBC" data="ewoJIkltZ1NldHRpbmdKc29uIiA6ICJ7XCJkcGlcIjpcIjYwMFwiLFwiZm9ybWF0XCI6XCJQTkdcIixcInRyYW5zcGFyZW50XCI6dHJ1ZSxcImF1dG9cIjpmYWxzZX0iLAoJIkxhdGV4IiA6ICJYRnNnVWlCY1hRPT0iLAoJIkxhdGV4SW1nQmFzZTY0IiA6ICJpVkJPUncwS0dnb0FBQUFOU1VoRVVnQUFBRHdBQUFBN0JBTUFBQURWMS9UNUFBQUFNRkJNVkVYLy8vOEFBQUFBQUFBQUFBQUFBQUFBQUFBQUFBQUFBQUFBQUFBQUFBQUFBQUFBQUFBQUFBQUFBQUFBQUFBQUFBQXYzYUI3QUFBQUQzUlNUbE1BcSsvZHpabG1Na1NKdTFRUWRpTEl3SllKQUFBQUNYQklXWE1BQUE3RUFBQU94QUdWS3c0YkFBQUNiRWxFUVZRNEVXVlZQVzhUUVJBZElPUUNNWGFBQmlFa2g0WUNJUmtKdWhTK1gwQ0lVR2hOQXhJU3doUlVVTmovSVBrRDZDS0JSQUZTdWxEYVB5QVNFYUpGT2RFVEJ5ZDhmd3h2ZHU5dVpvNHRmUHZtemU3TzI1bFpFOFZ4aHMyWVhyLzlxTEFYSDBQRzZUbkgzMTk1SWVicDZkWFZsZlBQWmJya2VLTGpzRjJKdHVROTVqYzhmd3FtOWRMMEdHQllndkE5QW90RzFHYis1ZWlqT0ZvTk0zRE9GUkpObUQ4clRrQ25Db242ekY4TjdqSi9ONUJ3MmplREFYOGFTQjNtZllNelpqYXdDYmhoOEM3d1dQRXM0STVDNmdHclR2S3lpVFpCNStwK0RGQVJTU2dXdi9XUlNpZ0h4bjNFL01kQUNlV0h3VDEvRFhLcHZ3M2Q5YklIb0JlVWJnQ21DdVVPcDJQRjg2RFhGVXBrOW9xbFZvWktud1M4bzVCcXNyTmFOVUQyb1hxZndNbERoVVFqSjdQTmZNR3lrZ0hOL3J2LzZyaXJ0NUNBdmVUV2tzaStLcWJtMDd0SXhpdlBrc2l1eHNVSE5UYTB5RFVaWFRpOXJMTkc5bHlQK1hXZE43SWI3WnBtK0k2TWJKU1Y3eC95c25GKzdyZUhaYit5OUgxdUtjaE9LM3JDL0xjQ01wbGptKzJXQ1NTNElVTW0yMmhsMDZ0d2tNSUxmdUhIcUl4R2JHZXlQWEFJSG12dXRINTk4OHhtVzZyMGl4NkYyYktWTGUxbEc0UUlrYVdWdnhTeGZVWnFzcVc5dExDd3lzdVdrbmUzNW1WTHlkdnVvNVlUQ21UeWc4M1hYS2dUMElzaDBJZmhseklYQzV4ajFjNFc4cGJkYmlQUXFheWJpVVZUNjIzWmZFUG9RYXdRRVhwVGNCeXRrdDdjQ1lhUHdBc2xTU1M5blFMTzQvMU90ajdjQXVURFovZmVGQjd5Vmk5aVBzSFJ1OElWSXkvNExEd2NTUWNIWWxxTzZyOEFkM3lRTjNxUzFPYmU5bGdXTmJiM2N2bUc4UVNQUThlOUxTVVR2NS9PZGk1TDJQOEE3djNXUHFqUEhIY0FBQUFBU1VWT1JLNUNZSUk9Igp9Cg=="/>
    </extobj>
    <extobj name="334E55B0-647D-440b-865C-3EC943EB4CBC-68">
      <extobjdata type="334E55B0-647D-440b-865C-3EC943EB4CBC" data="ewoJIkltZ1NldHRpbmdKc29uIiA6ICJ7XCJkcGlcIjpcIjYwMFwiLFwiZm9ybWF0XCI6XCJQTkdcIixcInRyYW5zcGFyZW50XCI6dHJ1ZSxcImF1dG9cIjpmYWxzZX0iLAoJIkxhdGV4IiA6ICJYRnNnY0NoU0tTQmNYUT09IiwKCSJMYXRleEltZ0Jhc2U2NCIgOiAiaVZCT1J3MEtHZ29BQUFBTlNVaEVVZ0FBQUtVQUFBQlRCQU1BQUFBTXp0cnRBQUFBTUZCTVZFWC8vLzhBQUFBQUFBQUFBQUFBQUFBQUFBQUFBQUFBQUFBQUFBQUFBQUFBQUFBQUFBQUFBQUFBQUFBQUFBQUFBQUF2M2FCN0FBQUFEM1JTVGxNQU1ydnYzYXRtellraUVIWkVWSmtWcEtPUEFBQUFDWEJJV1hNQUFBN0VBQUFPeEFHVkt3NGJBQUFIUEVsRVFWUllDWlZZdlc5Y1JSRGZzNTJMNy93cEdpcDBSa0ZDUXFDTFFrQUNpcGNpVWlRazlNSlhBUUtkS3dRVW5LbUF5dTRSdWhOVUVSSitVbElseFZtaW9LQzQrdzlzUGtSckY0UXlGemdIT3dTeS9QWmpabWZmN1oyZExkN08xODYrbWYzTnZMMVQ2dVR4NitCa0cxVjc4UlJHYkxJODZqSTloY2pYcGlqTHF0YWZaVW1TdjNGVUpPVXA0WXdlcE1SanNscjI2cGhza21EejcwbWFrcnh4V0pRa2s5Z3pla3VxM3RSaWpLNzhzUnFVUzNvak1GT3B6bCtSV25oMDVIdEIzYmtYNkduVW92NG5Vbjk0KzJuamEvVDJuVHUzMzNqS2tLK3hmazd2TUQyTnVLN1h5K3BsT0hyWkNTcy9nUDZDREdyNmRBalpQS0lWUEMvQXp4WnhqNE1aRU5NL0pHcmFYTlgzeDlSbjRDWWNUVXZyLzhoa051eEZvc1RjMHdkajBsbWtNd2pQWW9ldVo2dW5DcjZsaTdEY1U5dGFpd091d0NkaktCL1AxTmp5aW40NEpsTnRyV1VaNUZyL1MwYjdlby9JaWZOTUNVbldFQm1VNXd1V0lUeW56MC8wUllwR0lwMHEwL291R1dEdUlIaGlGL1FESWlmT1RYSEFaRlNEanpWaU1QZkJGNTZ2eTlNVE5vS3M2d1RncXZDeEk0eUc0RmVKYjUyWTBBVjlUTVpoanVHcFZCTSt1NlRlRFJnZ1VXbWVTeUJlemNHSHRNc2t2NUphSWExVkk3VnJUNXd6ckUxNlE0Wm1VcEZGUG9lcFd0dlgwZUdhOUlZTVZZWC95QlV6b2oyd1RPRk1HT09RbXRvTTdSQnZ6ZWNWbGdocU1VNmMxK1F4UEJ2d2VUVXN5aU5NQkRsUjh6cFJ2blg0MkNBTHpDMTBsQ0x3TGNadTVkemg2MVplUFRmNm5JRnhWaVNLVnkzQjV4Wno5b2hrcGJhNXhqcWpURDhEdzF2WktOZjNDcjlrSlhURzRNUjArVUZnWjhDdUJ4WlE4VHNzakFaTCtyQlFsZXk0cTM0aHFkcGxTaXdxd2JNaldyS3hXcUdlMVVBemJ5TFQvWWVGQmR5cTg5SGhPQnh2bjRDbnlQSThzamtRV2xTRTc2M05IZE5lN3MrN1l1M1FGNnlwTDBselIrOUxPSm9UZWpleU9lTzdTTTNVV2xzZmQxd3FlclJWeG1jb2xrWHcvRjUraXEwUjB1MW0wOHo3U0xhTEdXbnZXcmxPZFUvQWt5QmVnY3Z5RFJFZlZidDR4Yndma3UzTEExc2RHSitvQ2VTa05BdzhMeGxaN1lsUE1xMmZLNmtWb0RZd3N0M3plTFFZZHRqS0NCVEthTjNNMFREdzVQSEN4NUhPTVBqa3JadDVlSUJIeGkwYVhjRisxREVQb0lpSGdlZGxNNUFEL1dTc014eUMyekp6dnFjVVlucGdhQXo0c3JjQTRHVFZTY1F6d0hNUnAyWHFwRFJjOWRmTjV3UXgyWmVEQlh4WjkzaWxibW1CVXIwQXozcXJoRTFyN0xyQmt2bVV3b0ZOSWtoOEhHeER4RnhZTS9uWUYvQ0VBVjlyMk1iNXJEd0xBV0s2NnVYQWtnR1g4VjE0VVpnUXNJY0haSGtpRWc4THN3SXhyWnNaQSs3dGU4SjNZUVh5QVRkM21XL0hiYy9LTTQ1WElTWktIdHpidXdzNk9LOG1JdTZlMitFUXlBRDRvUnppaThCM3RWMGZYc29uTU91d1luMnNpT1NTMHp6RWdiWkowbzYvRDZWOEFoTUN0TGcxOGlwYUhkNFRNZkZkcmVsVGxzb245aEVKNlFWZ2tVdkVmc25UZ0tmdnowcGgyWm9ScDg0ZDBZcnUyWWc0NXlyNEZQQTBsOVQxU1Q1M293eTJFN0VIS0FBL2EyNGZVMFlPQXFrNjZraDRxcFpIc2w5cHArQ29GL29hM0x1N0Nwd1BwTFdoTnlVOGtUdUhaR0dGZzZIYTJRLzlBdTVkeFNISGU4TGFranFFWm50UU9GbHZTWDBKN0RBY1o1K3FpMXFoOEJ2REV3MU1GS296RTAwM0QzZnluS29VWVd3SmY0YU00WW1FY3pNalF3UTNjRFNXVS9mRTI5SFZ6MzlEeUJ4ekRFOWtucjlOWkVUZkk5czlDWjdZbk1nOHVoaVpWU3NSSU1HRlF2Uk9zZHhUZ1BkZFQyNkhpSnVoSFhqbGJuVFFNUFVXSDNtOVVqTWNKUXFYdXZ4bUtKVCtXR1NkNkZDd2d5dkVxdTJOMXUrczY3MmdzYU12ZCtUNEpkcVU3MU1rS01Gekh6NDNqTzVzYVBjOUQwUnpDYUczdTY3RFB6OThueUtmT0VxWllyeUpxNzRHSlU2cEJnZmNnclpyVnRaelBpR1RtMUluTTRBOG9BM3NpVG1mNXI3bFI1dlBJTk5ISFJ2RkRUMWFKVFhReUgzYXliNkJ6NnVzeHA3dXRaZUVXWXNNVUZESGN3OWh2SmpMVHpacW9zc2VLci85K0R0ODZLTXZQL2pKQzAwSE93OTZPNlFUTFdEZGFSSFR2N1hzVTFWcDBWRTV1U3o0dm5Ib0IrMEVHQURMbGV6QW1lT0piUXJIV0hoK3JRKzFmc1ZMbkp3REFZdjFORGhVbE9waHR6NDBFZnF4UUdldEFNOE5wWDdPTHI1UE9qZnZjc0xSaEs3ZExJeTBmdk1hdmFaU2orR2F6TkVhN1F3SHVoMjZwMUh3bUIxck82enl4TGR2WlJkMmhMREhaUUo0cmdvRmsvTmxNTEZtRXRGbnJMVzQ4R05iWUR3V25NamwvSEpaNko3eHFwTi80c2YyTlQ0aXdKTzZaMnlDUG9DemU0U3h6QWRnNEpsZXVDd3FOVzBSUzN1dVZpRVUzVE0yd2UyWi8rWXBhZEpzaDlQcDRKbTBDa1pKZFVsWUR6Z0JQTGRLV21MbnFDV1FZT284eitnMDNYTnZndTNpcEV3bjdiZXBnU2h6UlNtU05oQU91YmduV1FqNUp0L1B6RVdnRUpxSW5PUENpTVJKcGtvL2ZtL2Qzb1RQQzNlK1NwcmhOeFI5bWRONktlM1JkV0VJajNaSXJhRDNEd3ZCVFNXYlZEbnQwY1VybjExK1BxQ2d0R3poMUtXMGZQbzBuZlpmZDlVL2ZYM01Ud1J2SE5IU28wQzV6NzhlWWljbHJpRStJU1hWT0x2RVJUeXVDNUo2NGcrRW9CMmp2dXVPaWNZRjlYZFk5ajh2MGtsSWNiTDBCQUFBQUFCSlJVNUVya0pnZ2c9PSIKfQo="/>
    </extobj>
    <extobj name="334E55B0-647D-440b-865C-3EC943EB4CBC-69">
      <extobjdata type="334E55B0-647D-440b-865C-3EC943EB4CBC" data="ewoJIkltZ1NldHRpbmdKc29uIiA6ICJ7XCJkcGlcIjpcIjYwMFwiLFwiZm9ybWF0XCI6XCJQTkdcIixcInRyYW5zcGFyZW50XCI6dHJ1ZSxcImF1dG9cIjpmYWxzZX0iLAoJIkxhdGV4IiA6ICJYRnNnWmloU0tTQTlJSEFvVWlrZ1hGMD0iLAoJIkxhdGV4SW1nQmFzZTY0IiA6ICJpVkJPUncwS0dnb0FBQUFOU1VoRVVnQUFBYjRBQUFCVEJBTUFBQUFTRG44eUFBQUFNRkJNVkVYLy8vOEFBQUFBQUFBQUFBQUFBQUFBQUFBQUFBQUFBQUFBQUFBQUFBQUFBQUFBQUFBQUFBQUFBQUFBQUFBQUFBQXYzYUI3QUFBQUQzUlNUbE1BRUdhNzNYYnZpYXN5Vk0xRW1TSTd3cXhRQUFBQUNYQklXWE1BQUE3RUFBQU94QUdWS3c0YkFBQU9RVWxFUVZSNEFiVmNUV3drUnhYdVdkdHJqOWZyOFVaSkZBNWhEQWdoa0dBV2tVVGlUN05JVVE0RW1CVVNDSVRRR0xLc2NrRDBYcmdnUldNSWlnSUNqU1VVRHVGZ0s2QklpTU9ZVTRRUWpNOG80QlZDYUM5bUJpRWlPTEEyeE13dTJaL2llOVZkcjE3OTlMaDc3ZTJEKzFYVmU2KytxbnAvMVd0dmtoejlMSDdxYUo0a2VXTzFETmV4ZVg2MlUwSkZOU3lqYjVSUW1jeStXWWJydUR4bkorTVNLaXBoV1ZBYkpWUW10YzR2eTdBZGs2Zi92eklLS21GcDN5NmpFZ1o2dUZLTzhSaGNNMnFubEhRaGxnY2VPM3pjaFhsR3JaWlNtZFRWSjhveEhvTnIrSjl5d2tWWTVwUjZTdDF3ZFBTZDVrS3F4SFBwTis4VnZJTmJvbkZmeUFWMVJlcDlRVUJSazZmL0tQeW9BRXNiaC9WQXVpNlV6S3Z6b3BVMHBFcWliKzd3OEx4YVovcitFRDAzaHZsWTFBOTQyamlXR1FYMy9ZV1NEcmVySEhNOTlkenpRMUw3N0EvMzlsNzhVQWZVNFJZcjdmeVh5ZnRDTEtsL08zcmZjKzJqaEdYeTR0N2V0ZWNmSS9LVFBCN0ZNc0lKek9OTW1DdXBwYUhGajZBeVgvUkxRNlZ1alEzN2ZybElhOWdydng4T1E4RlpMT29ybWFMNmwwRC8xaWlOWWFrcnRaWHNLaVdzNEl6YU5oTDg3aXJyb25Vc2tJOTdUbDFncHZ0QkRFTUhSOEN3UHZrVE5IYnlpV05ZemlnWVkxdWdUNUtXR2dkSSs0ck1PSDhXb0hQTE5GSW5GcG5lazNxZlVuY0RWVFQ5QnZjQzJWdW1FY0d5cVE2VEJEN0ZCNUxVMUIzRGI5K3BVbXUyTlZSMjJwYVl5M0tjRk5WVVZ3TlZwK0VydGhNSHhPY1J3ZEtuMVdBUDFsbGl3Zk5vR2xpR0VzdVJiTUlERGY5c3hKck4yUEhmZlRmVWFZWDdUclNBZ3pHQ0NCWjl1Zy9LSTl1TWJOa3BLRm0xYUdmUjNNbWJpOVk4TE1OSlVYVUp6Q2h0S1NVRFlNY2FYNGhsS2JPMDMrV3hrVlMwSTF2bW1ueEN6Zk5tdW80d0Z0TjNVdStaaUMyUnRkbFlvSTJQZzJPQUJabmh3QVVUM1RLWXZCSnNrTEppWFhWUkRKMHNHYk9sSkJXVFk3cWV3QlpnZ1hmeVFXVFFkTDczVWU0N0NTU2hDTTFwdHlramp5OTR6SFk3RXJ3b0Zrak1YYlJYOG5rQ0xBMlJTaktlWml5aHRaU1NkUXBsV0RhUmhmdm5nRFVLN3Y1RHNVQmF6QWp0alp3cHdJS0QyWElWZEczdXRBTjlzUjcwemtBbDU2VWxHMHV0d01sUWM3YW9zQXE5V0VESm14TkVnQVVITTdhaVJIWDhqcXpUK2h2YTVJNEgxSytmUUlVWk9QWjcxdTZpMVVYQjI3WVNja2ZiOXJHTXhKZ1dxc2RPb3dZVjU0Vk9uTHF3NG5ic3hBWDN2Wk9ibk5tRWpxWWJDOGdkclJYN1dJYitjczdHVEdJUk9xVEo0OVRGbWxwaXJRTEhDWkFqTVF1ckc3aXhnTnpSbG9nK0Z1VW4wSWFvMUZnbHhaTWRiaVhKRU8wVmJ1L2JXTU45SjBPNHMrWTZSemFmVXcvVlp4ekxFdzhMaWh0WkNvQjlWemhXcmpCSlBKT25rdWdtRDJKVXhsYmJmMndLeFVkRVIwZjZma0sxb2lnZFBTdzRYSTd6bWFwZWdjbHp2UWsyaW1ENUJZeUVGdVRsS3ROeU1qL25mZWNodFJRTHRvWCt2cjJab3RmREFzTTdFTHdnaHdVbWIwMDhnUkhZakFNUmJKS3JvM3FyL3NUaDk3VFVxU2NtcjQyTi9CbmhXS1l2b1Zod2hWdTY4aGRISkxETXArRE1IbkU0UVQ0a1ZTUFg1TnV1VmNOY04reUU5MFQxSnFuNklDUWZTaWNkZFhNbDE5R0lWUTVlTEtCVXZHcm5GRmpJcWN6RERERDVDRmJYNUtuNjNHSUpFTTRNY3FBc1BUZlpXVlQ0bEZwUGI0eVRWOWxsZHBrU2lyeFkwQlBYVytLeVdKYWUyOXVEOFg1OGIyL3ZpeXdQN0V3ejRaazhWSDZkeDRqb0NBZDNCc28yTmxFTXRhR2tld2RIaDRTV2IzSFBkeDdTMXhSM3o0UytIRTEyNURRdWxsM1dsZlBNaUZ6SllxN0pJN3F3QldVcy9lTlcyTzJMZEEyNE81K1pSYzhFcjNZc3NRNWt1cU83MHJjWkp4RXVscTUvWEtkanNkQXgrYmxVSFc0NUt1R2VCMjVIeGRZeTJVeEwzZWhsZ2FKcGtrL3FGRTI1MHBHTUJaK1hud2MxZzR1bDd4OVh3OC8zSkVRbXY1S3JmeWxWazlXY05xK3U0bUxiZENYSjIxNHZldjVnbVRMcTdCMjhzZFc1WFNKa2pQV0FpbnhKb0c5RkpwM1hzYnl2WmlyNHA0c0Z3WXBITkxFZnk5Vk5VK0g5ODVVL28vamJja1dTWkJDcGVXb3A4Qlk4c0VibmFkQzU5ZmhjWUM1WGFSeU82SE5tNmUrQ0huMzUvWmppSTBUS3g4R0N3T0dWSHJ0K1BVT3lBNEZ6OGgxemtsYnJaa1FJZ2Jqd09XOUZOYlc3aGxlZjB4cHV6OVNSUU1VcXZaMkhZZ0Uvejc3REdhT0dnd1VhYnJzY0xiK0Roa2M0dnlmcGdlSTNOMXdCYXUzSDh2QUxqTUluRG5jOEZhT3I2SURkNTkzSTBkcmU4Zlk1azRSaWdjYlNBZkZoVHhHYURoYnNsTEhsbkxNWFN6bFFkWkNOL3g0TFhBbVVObndyRHppbWQzUzJ0TjBaVThLNjNpSUJ4UDV3TXlrV1pOcVdSa3JYQkZuTC9IU3dJTlN2bVlIc1BZcUVDcG4rSHZGekg0azFZbldpcTNkYXEwYkJDM1puZ2hUV3BaZUtveG9IY2syYi9tcDlML2NSczRNRm0zSGUxZEQzRHhURFR2cURtMnk1SXA1T2YvRG85aUo5M3NOaTFuSlc3THF1ZHZFT2JXVWcwaDhZOUVITEtaejFOZGluRFV0c2ZaamFPZ0syeE95emtjR2UyUXMwZDVZbjZoOERML1N1NXlMSUQ1UXc2Sm9Tcmc5R2FVTUdIR2VjQzVtWGcyVXpPSXgyNVB5c3lVTUpuRU5VNDVuVzB4d2F6Q3pWMzdDNzFWd0s4K256d3pyRDlXRkpCNnk5NVY2VnFOL0JndkV4TTJ0aUtLVE5DS2EyUzZMUEhaNk1xOU5JVlh3UHJGck1weS9kdUprSFNtUXMwQmMxMzVpYzlZMENEYkgxN1FxVHB3SmRYcjgwQUd4NEFLUnF4OGphQU9iVEpoaGJINlhWSzZ5NzRTQUxzUXpGd1dSQ3NmWDFwTW5UNTdoMW5pQWpuRDN6eHNvMlJTV0YrYWlnb1M4cmdUUmlxNDBGOUozeXBzZmlZQW0rTHVHVzRpVkVpQStseWJzR2tpay9mYno0UWtxZ2xqOEV0ZlA1WXY1SFg1T3lTZWxuVTNwTzFpMnh3SmRZYVM0VWk1OVF1WjBQSi9pTkY5a0tkVEpqTlFJNVNKOFpTV0dHOC9TT3hVOVlwSTBGS01aa2kyUndwRGFXUzZWNmtLckE0UHhjazBmOERPelR5VG01b29vdmtmNW9CMWRKUExZKytLYjRFdFFLN1ZOaWdUSGJXSnNCaXRRdnJzbGowdURXMG9oZEdqTjlaWDhpUk9rekF6L05OeWE1V1AzU2MySkJQM1F3aVFVR2ZvRVVpYWNuc21mZTdabzhYRm9Fc0l5Rkw2UkNVVkl2dXY2OUh0ei9JTmEwZHlFc05UTXhMSFJIYWlSNjZCeEo2cHltNXBWWWdIVmRkOW9mZzFqRkk0MThIK3RidGZ5YWNtcjJmS3pLL1E4aUExdExZNmxaMVFYMzJjcTE4UXV6MjFoQXVkZ1BJQklMTkYxa3lZellEQVRvbDJOY2t3OTJOWFpwSks4dGVvd2xpcmxITml4MmpWWEJFVmNGQzVGaExMREZXc1lxc1FENVR0YkxQNXR5TFZsdnp6RjVBQW5xRitmT2JGUzlBTWI0YzdoamVPeTdZMTI0WTVhRm5ISEZjbWpLalFWVUdQdjFpOFRTRFF1OHlQZVhvV1B5bUQyb0NydkJMQjZzSTV0WWlybjk0ZFJNaEE4am1Sc0w0S2xCdUpkWWNIL3laNTZWdnBZTlFvazFlVXBPSXNGbUhLTWdEUHRxajJxTFRJVkRNWm13SXlmV0tocE93a01ybUZsaUVVWmhBTXdFUzNaTm5sdzYyNVJUWXlPRG91Y0MwL2RHSU9zYzVKTDcxaXJiYXMxVHQrdkVBckRtSEI5Z1BvbkZZYzQ0OE1WaWhYazE0Wm84clRZem41YjFqVFRJaUs2S28xdUk1TWFSaHRhQ3VvSDE5WnhZZ05WbU8zdktCa0NCQlpidVJ4OHF2elpjT0s3Snc1RHkrWWRiaGcvT3c3VHBxL2pHU2VTQkhoUHdyKzV2c3FVYWRVTjd6dWdhQU13MkRaM0pFZ29vaVFXbFZsQ01pWCtmSUVFOFRiTWczU0w3MUw4dFZMZGVpRDBaNjhGNy85SGlTUjVXRTFiV01JczJpb0ZldWlSMkphdDZOZzhNaDhRQ1Q3NWcrdm5kOWxNK3ByN0RvN3I0MWV1Yk1mR09ydlJCbUJJQ3BjZytrSTZKczlZUlp6YWpicnJTVlB4ZXRWME5zejc2OTR2c2tWZ1FYdGROUDc5N25rOHZwMjROMjg1M2VyREdJZ3MrREI0cFRhVHFWazliMm9OcXNzRlM4LzdHdllFRnJmT3cvalVja2xxMCt5dXhZUG1ybGptbmR0blIwZkh5dTcvY2dVcjEybWZmWjJiZHpPTG5zbkM1MDc0WkJVcVA2b0RWMzVnbEsxbnF5RSthQ0daakZxMi84cmsvRVpaYjMzem56L05PR0tNK2pYMTJQMXlQYk1FR3FBWTFhOEczTU11TVlNcVBDVzhVVGlIMVkyR3pteEUzdGdyTFVMQzcyOHZwcjVKNlg4Q0RvQXhjWFlaaVY5M1R1YktlWHVWSkpKWldtS25wMG1WdG50Wmlualdqb3FmVVo1SkhwUnQwcGM4YnRrcHZuZjcrcGc2Vit0cUtGT3dMYThTODVtRnpCTUREY1cwazlscGlHWW1sc05ZbGFmUFgvM3BPRDV4NyszVm1xTGVWdXV4c2N6dGk1c3hlaWtENjIwNlNuNmFYdnUreTc0cGdzSHo5bkY1NzdkejFNWFA5Q042U3l1a2xscUdEMHNpa1FjMXRSdkwzOGhlZW1qd3UraEMwblUwWFEyWEovZkFpbzBWUGh3bmFVL24zNzZiUFhMUjlEcFpZK3FOL2gxdTMvR1dvT1NkL2xKRUllT0FwRzBFbk91WmpGaFpqTkgwU0M0TFd0dWtYN3laWGdxSnpHamtyTXRZMHZpbGovVmdrQUQrT1k0cFVaRWhpUVNVa1RwYVpnMThSNVpFQ1lqKzZUUVhNOGU3VTN2NWNocjVJUSs1SXZDV3hvSHhaaVhBdHExdVIzaWxkbzZNY2RvcHNOZ1JMc3RXUXd5M3hPZ01GalJ6TFB5NWZwWCt4c1psQXNvL2l2aUJaSkYwcjJudkpOSjJtOUJmbk9Gdk45bk1zcUF1UU12WUxsRGI1UzExOFRxOTN2aG9FVDFvM3hlM1BHNjY0ZVRrV3BCdWtTUDlYUVkzcWlvQ2JWZU90bWNlK3MvUm4yNExxVlRLbUhNdEFyNjlkNUx1ZHVOMktXU1haaTNxeDVEaVNSdnE3VXNBMFcybjNjaXc5ZlNVb2pDTzdWUUxHY3JSSUtFQmIwSTMwdDFVd3RGVGdSRkYyZ3dYcnU0dS8wVENmY1h6ZXM2SXE4c2VDZHV5UEJRT21JenFRL21LUlhFdU51Tmc4UWdtR0RaWVdxbExjSkZhTEpEcWlZQzNpTWYwdDgyZWRwcVA2bTc3cEZLNXZWbGJ5UitnMldKcUhHL2lsbldJdmkvMmRaNEhxV2hYN2llcDQ2Tm9RNjN0bTcxdlJVZnlTVnBHWkJmeU1aUkcvK1BQb2xDeXdXUDZ2Mm1laU5WQXc5WlNPRVZhbm53S2VRZW4vUXNCaWVSVlhMZnRKTFZUY0xWM0N5THRYcUtkTVQydHk2ZWxmUDNtNW9OaElFQ2UyeTZnQmo4RHlyczZueDFPazRuOUpIaEdZbTJJRkVmWjc2dW9WTzVLanJ3cVczclRURlZvSEplY1dJcFhKK2NMazZLcXFnbVd1T0xoS3BmVUt3VTNLVmFPNzlwUFJGTUZxV0FhbG9sYXpvT3lmQXVNZWhoWkwxV2pWc0N6L3BReVFSOFpsdUk3Tjg2OHkwMWdzL3dkTjcweU5UK2l6eXdBQUFBQkpSVTVFcmtKZ2dnPT0iCn0K"/>
    </extobj>
    <extobj name="334E55B0-647D-440b-865C-3EC943EB4CBC-70">
      <extobjdata type="334E55B0-647D-440b-865C-3EC943EB4CBC" data="ewoJIkltZ1NldHRpbmdKc29uIiA6ICJ7XCJkcGlcIjpcIjYwMFwiLFwiZm9ybWF0XCI6XCJQTkdcIixcInRyYW5zcGFyZW50XCI6dHJ1ZSxcImF1dG9cIjp0cnVlfSIsCgkiTGF0ZXgiIDogIlhGdGtLRklwSUZ4d2NtOXdkRzhnWEdaeVlXTjdjQ2hTS1gxN1d6RWdMU0JRS0ZJcFhWNTdNUzFjWVd4d2FHRjlmU0JjWFE9PSIsCgkiTGF0ZXhJbWdCYXNlNjQiIDogImlWQk9SdzBLR2dvQUFBQU5TVWhFVWdBQUF5UUFBQURFQkFNQUFBQ2NpUGdvQUFBQU1GQk1WRVgvLy84QUFBQUFBQUFBQUFBQUFBQUFBQUFBQUFBQUFBQUFBQUFBQUFBQUFBQUFBQUFBQUFBQUFBQUFBQUFBQUFBdjNhQjdBQUFBRDNSU1RsTUFFREpFVkhhSnE3dk43NWxtSXQzdDlvcFBBQUFBQ1hCSVdYTUFBQTdFQUFBT3hBR1ZLdzRiQUFBY05VbEVRVlI0QWUxZGZZd2t4MVh2MmR1dnU5M1pYUnVabUNUT1RFUXNHZjVnVnhEQkh6R1pKVUlpQ2xGbVFTS0lBSnI5QTRORWhPYVNJR3hqWU1aSlVJS1JQQXQvR09Jb21RVUVzVTdoNWlRUVZyaUUyUkRpZ1BpWUlRZ1JqS3k1S0FoakN6d0h3ZmJkK0x6TjczVjNWYjNxcnA3cDZaN2VuV1NycGQxKzllclZSNy9YVmUranFtc2N4MTRlQjk2MWs0QVJ4VThuSUxJa3MrSEEycWlmcEtKaE13bVZwWmtGQnhyL202aVdOOXpjU2tSbmlUSnpZTlZOTW04NVRySHoxY3h0MlFvU2NhQjlLeEdaNDJ3ZjIyR1NrRlhaeUZiY2ZWN0JMN3ZzR2ozMzJiTEtYSFFQVk1KQytYR2dma09ybXduRUJ6K2dzdXN2SzloQ3VYSGduUHMvV3QxUFBma2JKSXJSL1ZldlB2bkFvd1QrdTh6ZmNQY2tiSUhjT1BCYTl5aGM5eHJrOEhzK2N1RW5BSDlDRUJUZFpMYVpvTGYzVkJ4bzM0d1VXNElZOWdYMk81Q1FGbG50V0tEdFBUY09yTHV2UnVwZWdSVEtFdHR3M2Y4VGlRdEtWQUpsNzdQbVFNbTlFcW55QWxTSlFwNkhnUHBCY3QzT1hJb3hlVUVOZHl0UzljQjFtV20xQUpFY0NKcGhkSm9UV2ZZK0d3NHN1SzlFSytxNUx2Y2VoNjc3ZFVGVWRYY0ZhTy81Y0dBMVpBSjdyVUI3Y01zS1NlbTZiTGlIK1hURTFpbzRzRzFRSlU3SGRhOExBdHpybUxsRWNzbDlVWUQybmc4SFdzeTBFaTBVSVlLbVNPQmVRMW9vbkFKWC9JekdnclBpUU1FMU9CcnJFTUVlYTZHTGRGbWtHMWFaQ0Zia2MxOXlYNHBXckxzbGp0T0NTUHFDcktLc0w0R3k5MWx5WU1QZ0tEb2JFQUZ2QktwRnBUZE5KVGkxaGJOeFlOdjB6cGVZaFlYcVNiV282VzNWTks2eWRjS1c1aHpvbWdJa1ZWY3pxMGkxcU9sdG5ZbUgxMlRoR1hHQVJSUlZqVjNtR2dKTEFSVVZ2OGVZS1N0U0M4MmFBK2VZa2xCMUQzVzNaQnNpdWNoenVUV204QmFhQ1FlV1hVUElxZ0FSSExEcUd3aENicWwwUS9OWkZONUNVM0pnNFpIajkzdEYxaDhaUGRZWGhjOHpKU0Z3emlKRXNpOVRubmJuNFpXZTV0a3JPZ3ROeVlINnFPTStqREozZEVaRDkyWHgwbStxbFJCVkg2MHA3cWprS3BKSEt1bHNhL0V2bG1IQnFUaXdOTnBaZExIbFo2SHpVdDk1aDJScVJVS3N0cEJiVW1jcldFUzFxVVdKV1RrTFRzV0JiU3dkdHFDa2E2OWdnQ2lqcVc2YWhFb3UxekRMMENSc3pEaHdKTmxheWxTZHNNU2NBNjA5Q3VpK3V1d0hxT3BpczBQTHZjYXBmQmh1aVhKRG5JYnJ2aytqV2JHQlI0MGZLUk5GQ29qMDNKZnF2cDR1aVJlOVk3S2V1dHd0ZVEvZk0rUzFEbFdUc2hlMkdPUEFHaTBkMWx6aDVVRmo5NzFjMTdSYUFyZEVlSVlMa0VqNEV3WnNYL0VMcy9vdE9EVUhObWwwUUU4SDY3VjQwYTlRSFZBcW1OQkNGN2tsMXdoWGZOUGZkbHozdzZGc3NwRjN3amlibnBvRGxVTVVhVWgzQXk4NklSdzQ3MGQwMXk1eVMrVDFxYzlyZVpUQTdvaWpDTklpcHVWQWx3WkZSK3BsQkJKaGdUa083dEVYbnR5U0YrakNCT1orTU5vU2h0WitGR3N4VTNKZ3VPczRtSkRFc2psRTRXMldnNEZianRTazNKSnpYZGR6TDBNa1dzUXJsR2VUQ1RsUW9LVnpURWplMEVBWmlNS1REZ1pFUDFKRlNia2xoVWJJSi9HSTlRaFlwTHhGSk9IQUl1MzVBZjhQQTJLczVIcWVCKzZRVmVpcU1yY0VCSEx2cVNTeklwR3NTQThzZkFobE1TRmRES3FBRVV4V3NXTVVDV1lydVpIT2dUNkpqS1BBSUF2cXNyZjBITUNFZEJTVWhuUzhVUUxSUkVjSnBIQmR0dEl6REltT0hHMlN6QUtwT0lBSlNiendrSTYzd1JUcmhaR3E5TldTZ1ZKQWt0S0tSTElpSTlDVk5yQlRDZVltazBqZ3F6QWpkNU1wRnRIK2tJMGlnYlAzTkJ6QU1va29WZy8yL0pwRUFtdU1PU3Y0ckVHV0VxWHRLQkdjeUhqSGhPUk5WbFJOSzFBWEpsMUNteDlVVXlWbEVVdGt4eFErbHJrV1NNd0J1Q1Z5dVJaY2IxSkJrOFdGcWVxbXFuUmJTL2w0S3hMRm4wd1FjMHZvRzU0anFzd2trb3FtUFhxR2ljdGdoR1hxMlprdERNTzNHVHc4cVF2UCtESjU3M1h1bGxDbzB2TmdPTnRVUlJ4cjRhazVVRktCZUVqSDMxQUsyZXlFSzJwenQ0UytOR0VyakI0dGxOTEZjQ0diVHNPQnFnb3hRanArbUFUNlpUZGNsOHZuSlVSOWxWRVFVTnBJY0pobGFkTmRaVWpWUkVqRXNQU2h1eVcwSFZoRlYveW1qWXNzYVh0MXBzc04xZmVHUXhGYXdSeTBIMktLN3BaQTJjandzU0RFMElyTWRpTFAzcWZnQUxndlZrc3dOc1MzQ2RHMWQ5MHRnZGFSNi9DaU1idjJMamlSOGM3Y0VyejZ3a01aYXB0L3FZbE56UkZCS2hJOVFmR01mYkhGUFE3QUJia2VzR0tncHF0V0pLaGIwVXdza0FZVWZ5LzV1Q3JIbUVSWklBMEhFS3dTYTRwdDVaN1hJdE5TWGRQbkVKQWZQVmxYcHZDRnFLZVNwa08yRE43M0lNU0ZLZXlQQlQraVc2N2JhalNCcUFxUkhCRHhlYlc0V0RJc05JcjZUdUMrK0xVa2pUeDlsSVRxZEdsNlVrZTgxaDMxUlY4aVc2NWhCWEQxQWtINlB2KzJtUFZ3d0tNY2JxS1dFNzEzNWZzMHJ0a05XdHFlODZzQjVucVNLQXlsY25lYzFYRG9uUnlSSytwUlNMMDNLVWw3aW9PckY5RS9JdWNrN2l1R1BUV0dkZ3ZEM3pKZzV3dlZjVy9XRDZoTGIzQkhaZG0xWmJXczVlT2VoZ3d1eW15SXpCODBpeU9GYTNBQ2hUNGhxQlgyWEdQYWZmcDRLeVpuWHRDSWdyeTBRUUhFYzBPK05RdWVlRjkyY2VHZFAvWVhFSUY3ODc2L2UxdUFwSmp4SWVDQlVpVUlleDBGdVNkd3UvM043MzdnY2VwM2NKMVAydmlDTys5bkdtTkMrbnF4ODl2T1FrTm9lZjhaZVpDclJ2SUlMaUVvR0dEd1lSWTZWd1JQYVAvcHliMS9GRDNRbGdjYXl2SkRqMVk2UVhlOTIrV1AvNlhzSlN3VHR1ckQwUE1EZW03SlY5eGoxLzFEamFGOEZnTDd4U1huS2NSWGp2dUZMbnRQbDVRSm5mL2p3WFRISlZkRHNTZXd5UnNsVmFkZEwrL0k3T1ZUblY5bE4rSUJQTnVCNDd5OWMva1hkWm9LMDlYRloyN3p4Rlc0N1ptK3BMb0hIMkZwVTlVcTQ1Q2t5Z3M0OSs2ZncwQVFEcFhqVlBRUnV2N2VCOW9ra2s4OWRQWHEvUjhkQWpyZWxWMFppZ0NTeE13WE1GQ3JKVnJITGtRQ3ZWbzJFdi84YTUwbjloaXlGUEV1V1dZT0lGNm1RMUZ0b2FNR2pNQjE4YzU0YjVMajNOMkdJcFJ2MHlDWmJTYnFPZkY3VDYyV2FHMHZoNjFnTGRlVXFIRWoyVVF3WXh4RWNsRlVlWjc3VEFHeXhpSkFDNUNKdE1pVzVuelhSaU1tVmdqWFVEeHZ3dnZ3aEYrK2tsaEpRUDk2ekQ0VTNjV1RpU0NxdDVsQUxjcDFORk5BME0vTnZhTldTL1ErTmRRajZCa3hxZUpKYW5mcVExWFo2UVdYbVJtaWY5QTFod0oySEF3VHFYbDZKL3p5cUY0a2dlQ1d4Q2k3Z1dFdUdGZmptcG9aeHBITkxvOXQwbHd4cURGYWlwWVRHMFY3MUN1ek1lV2p6YTdQU1dvaXQ4Uk10OGFHdlpsQ3g1WjBNMVRQekNQRk5tbWFqZ2FsQ05DUmFwZlczSGFDNU9McHhrZFZwNHdRV3kwSjVSZmlaclFRblVqV1QzZzJnTEtUVmxaTE40RzlMdUhKZUk4bzJSUjlIVXIzU21EbTZPNjdKY1lPVGNmand0UVdtckhSNUVnc0pRamxZRHhsR2svR0RSUzR0bktwenFrWnZsZE8zbkxPbEFQWDNZOXBZb05QeFRFMENyMXNtTTVWYmc0UVFpcUhRYldycGprV1Q4Ymo4TmdZb0hwWWtrVno2RmpXS3VHVzdNYlVjUzVPeXhqcEIzemlObExNR0FubElMUjN5ZVJvNE1tNDRVSkJNV2tUcjh5ek1tbU1pUlYycDVseDJ5Y2R6Q3NwN1YwempYUThtUlFCM2daYVRSQVRIVDdyUCtuZUpuOGZhYi9jVmh6NXhoVHUrTG80RHlldXNwbmpxOG90R1JvY1JmcVk4anBybEZTTFNxdXlqR1Fld0R1ZWJLT2pUMXo5R1hObnB2a3hwWkswTU0xMXpSNnIzSklGMHp0UEM5Tk4xdW9BNldzeTNUS05LNWw3aWtBWDNmU3VtRDVVa3kvQXRmaThIVlBkYk5IS0xWbUxiQmhIU3pESU5MTUtxb1dKb2NmRU05dHVaYXl0TjdyODNNZGV1QlJydmk0bDluTFhwcGpqTW5ZNktJNVJJTjZDVFpNZFF1cDhoelhWUmxwTjBRTk56ekN5dVFjVC8xcGlqZHViSi9KWWJKTm1oU2tKMlRaNTZ6TGhIYm5EMzd3TktVOUc4dzBCTHJPeFBxN0RpOUllSFVjMTB6eU1BcUd0NjZiQlhHSXhMVFJNem52dzY0UFVqUlhOWjVscHgvS3VySFlyVVF2YmhrQnNvb0pwaUg3bytac2Y4STYwYUFhbDI2WVhCd1laRDhFUElKS3lhZzBCTUpVSVFjVTNmMzhJNDl6K2cyOE1vMDR0dmNpZkk3WVhCVTJSeHBMTkpLUHdIaGVINXo3c1lCVHNCUlVhdmQydUhrOXRzWWdZaW1IclJqbW1PLzhBNGQzWTVabm5HdnFJNDNtbkFQOWJQMEdqaFY5TlFEUWprcHI3U3Q5NTYvRVdSa0hacnhLK1ZRRHhKb1pxWWdPYUlseTdQRnY1bVJ3THVBZEtyQkQvaUVJdmRZQTRWbWtMNlJ5NDB6MHVBOU02Nk1xcEIreldhU2hGYnNtQlF0ZGQ5dzlVQ3RBd1J2dmRpWEowalhZRU9mYTMzZmhDLzNhUnRQY1FCODUxZkVadjNGTGZqaG0vb1NDM1pGOFdobktYNTRUN3lFWk00SEhvZnZpTmQ3MGRoYVVpcW9kMlU4bEtMZUJ4b0JJNDZoUUlFbTdKQlpQMXBMa2xtSHFPZDNVT2RxVzlwdUZYL1IrQ2ZnMnFEN1lPd3piYjBraHNRdU1BdEhLd2V4U3FRZ1FWTjAwTDcrU1dDRmJlamJNcmo3UjY2QnhlR1lQa09kM0FkS3hnNnVwN0dlMlRqbkR6N253RHdOdlNJNjhwN1QyUTQ0VTlRVWxvNUMrLzg4L0RGaFNSVlUwZVB3eXhLMzRkUmFoMDc5dUlWU01kYStpc2d5cXVCZUUwQTI1VTNGdFJ2bFF4U3NRMStoVXhYaFRkdHFtUWMxNEdJZkNoZ0JmZzY1cXNPVlhObVllZ0lJUUhYbEp1U2MvMEluZkJVdThBWGNqbFJqbkt1WUhTM3l5ekltY3oraktnU2NGTDltVUFJN1Jnd0lHS0s2MG9nT1VBVzVkYWhURnFLQ2UydDBBbTBWR3l5U05lc2x4alg0SVlaaGg4QSttUHlnd0xjQTUwMU1wVFhUa2pYWU9tNW00SnpDZmRKNkVxTndQVGpWY1BaMGJKanRicSswNUx6bVFhb1UwRUhBQ1hKSWZhQ215b2JRNlNWWnBiMGdoNTdrUmxGTWs2UDRldkRWL3puS0ZxMllZRkhBZHJ0WEptVjI2Sll4S0o1cGJBSUpZNlF2QngweFFpV2VPN0RBZG9Zc05hd0lKaDVudFA2Z2Y2bVFMaGx1RHdRL0VMSHFxWXRscUNzRzlrOThNRjE3RFhZNE5YUkxzbHUrTkNXNXNnT05zWHhhVmsyQXB4cmV0Q0FHMEZDaFRGaVpVVWFIZHdYMmI1Z0ZFa205YzRWUnZGNUtqa0dRRnNSVUlCZFduLzRJeWRwdUNTU1NRVkZxUnlIQlRjRjlUQkhjTW9oRUZ5Y0pIakJpaDJqU05Dc0JXSjQ5dEFQbC9Bam4zQklaTkk2dHBxU1VmdHdoT0ZqS05rKzRySXBqdTF0OHNSSWRpS2hINFJXTTcvRlJsWm9ZTjB1UXJ3K2RabUUxczRVTzlSWERDcDk4cSt4blZVMHRRUU5oSGlRSWw5VkkxUklITk5GcGVyMUk2L0ZlSkFrdnVBVVNUVlBZMXFlN3d1MFdqUFpxTEMxbXJiVEhzYlJFS3grMzNKSmJLZE5DMkJIS05mRWhvbHNDRkdXN0lXQzBRNTBGT0dMNXh6dWNUa0dMeDNXdGZka1RWZ0FVdEVlQ1Z1VTdtYUV1Zm91b1IrMXlVaVNrVnNJZStuQnE4SGZNQW9VRjVkbmNGQnZuN29JVzBIM2c5eHNHU0tjZWtXRjFuUzBhcEQ5Wnp0WkZmcEIrNldZT2tqNGozQUdGSnVDV0tIYnNRTE4wYUNkYjhFdzQ4WkZHZWI5ekZQMzFEVEQwYkJBYWkrejV2cERVc2ZGVDZ4ZVp0TzFEVG0xMjVjWkRtdm1XN1lwZDVSVGNaMDZteWo4ZEx1QlJ3bytUTlJ1MHpwRXRNclFYNWRtM0ZRTU9LOUcxY1ZsN1hodHVwZXFXajFCSlhibStRQStId1VKS3FlOWk3NGhyQmg3YjNOM1JJS3hMQ291MStGY2UzOUhJOEVPOVhSRmhTOHRibWtBS0pBVFZsUlhjOHQ4WDd1anJhaU1yM2hGNE1NYUdJTExxU1VGeFBndW9iQUdIN3pVeFRCM1R1V0JkSnNNcHdGZFE1c3E0VkVuTFNIdkJWLzI5Q3FjdXFEQXJwYlFsRkgzKzFmNzhzYVc4YndWVjNNaktBN1Q4SkFtNi9JTWhZSWMyQlRocHd3bnhDakx2aXJJSWhGYmVtMHVsdENBdktEN0wxOVNkZUplQ3FVTlRpVUJFNkRwaXlxaVlsSjVWcUlPQUNQNzhqblJNOWZ3S29jZWtsRWlNcytYdnpYM1JKYVlmU250dmF1b0lDdktXR0J3MzFOT2FEQjRSZ05HMVJoL0FtRFlQMUZEMGM4dmdXb3NlK1RTRkg1U2JMQkFobDRDSnE0dkFYaUJhVlJVRmRmVUxON1FmbjhEUitrRDRISERaTnYrUjY2V0JWekRucmQzZUdkTExTMUpNK2FESXNvZk9WV2w3ekRndUJxS3h6MndDamlHa0NJWkZWc1dhVmY2cFpCWmEzZDZ1OEh5WDhWL21janNwMVlLd0JsZzhza1hvMHNqMFNhbzZycDlRd3RlNzkxN0NzM29lTURuMDNyN3A3bkhTNkx2UkYxOTFBclNWc1Z1VG5iQ2daTlZaR3RhQVNxOUhJd24wRmt3YnREcXliNnFaZUtHdEFwaWlUTlVkVlJrV0JMK3A3MlJGTWxGbjBub1hITFAxaDYyOWZ1ZEs2amdGRGRtNzc0azBONkV4NzdxYjhxQjdXRGJUUW1pa3g5WFBCbXZpQ2YzN292bDVHOG8rUCt0OEIrRnlxN2NkOFhSVEowUHoyUnBEcXFPaVNTdSs3Rjd0d3NJa0UwNjJ0TzhlZVBkNXpDME4xWjdBanBib3BKQnV5aWwxcGNRbEJrTnBVZDV6dlpaTFp0V1BieW1MM3VIdi9TVXcreS9TK09GK29LVExhUVBKRGNEbHQ3VVpLY01LbVBxaTdLTnhnR2svdHNOcEVVMjNSNExrbmlUcHkrS2pVRG40V0kvZUk2Rk15b3UzanBYOGZOM2hwM0pRV1pkLzhYci9RZmJTbGtFY1huVHlUcGo2cG1Jcm4wN0kvQzBCR3Z0bnJrS2FDRnozU2UrTHhILzViMnMyVlI4QnpYMWMvODQyMGUvcmE3bmhINXprTExkUzlwVTFWTDJOT1NSZ0ozUERyNnp6K1JLUS80NGNkSHorb1ltY3BwbER3aVhpdi9mdm5qUHlCYkRJQ0dzdGVCV2Vud0F1T1BxbFlpb2FxeWlpVG9UdmpXVWJack9NdFBGMy84K2RHdnN5eTRKV3dZc0l5cHdYeEVndjZGci8vU3U1YmhxT29URVVrOWJBWHIzWSttbGpRak9acWZIQk1SeWNLbGZ2TFNzWlJQUGZsUjc3My96YXQwUFVqd3B6WGlpdjVPVFhOVTlZbUlwR1NNSVdxUG9DYzIxRjVKUFdQcVZFUWtGV2JYVFYwYkwwREx6T0xUamVMZklQRXd5ODF5VlBXSmlHVHFFODhHc2RxZFBYWWlNQ3lTMTVrak5ZbnEwb25JZGxTSzl4MndNTmhjbStXbzZoTVJ5ZFJIRkhjbktSK2RPMk5TSVpIQW9ablZLQ0VMVmMyQjVQNStWZlVqeTFIVkp5SVN1QTVsMWQzSjBMU0h1NDZwVVJOSjhhL0J4bG1KQkpzNGVOQ255b05FbVk2cVBobVJsTnptR0xaRnNwWm5wa3FZcTdoNDlWRVN5TXhFTXRDalFoVGRMb3NueVhSVWRXcVJGTDcwK09neDJRZlJsNWo3bER3dVRXdWh4VFFMdEJvbHBJNUh2OUNlbVVoNmJDY2hHaUxWY2xIMEk5TlIxV2xGQXUvdWlRZmRtMlhSaVFuM0lROHpUcUIxbkxwdVFVNmtIMFBBUkhMNXVjK1duZG1KcEtGSGJHbEY0cnJvU012d0FLUjd5b0xBVzExU1U0ZDJWSFZLa1JRYjd2c2Q1eXZCRiszTTFGQnRhbEJsR24xZDFCeDVyWjZwRTBva2Z0SFppUVQ2L0pCMUIxNjIzT2VYN2FqcWxDS2hBQ091aG1jR3Jyekt1bVlHMTdUdW0ya2sxbVJCeXN3cGdkeEVRakhiSnVzTUxWZlR1aDFkMlk2cVRpZVNwY0FJOTM5cWFGTU9XTDlIcHY5REZ1WTE1WE5jYjRZYmdYSVRDZTB0MzJPOXBvbExCRnBMcHIwYzBEMGluNHFSYXBQZkRtcU9XenFSMUFNYjNQOTF4K29CNjFvTU9PRHphQXhOZ0M3SUNXQThYYUxjM0VRU1VnMmVlaGNzcjBXMk9LT3ZEU1lDSkdtRldzNHUybEhWcVVTQ042VHZNUVRodHlNMGhyOUoxeUozcE1ZVHIycHYzM2phaWJtNWlZVDJsdlBXU1VSaU0yYTJvNnBUaVdSYlJnWGJGUGt3bUJlOHN6NWM4emVoUkRNaW1PNFVjMXlrY0JpUm0wZ0c3Q04vYXBSRUZMejFHWStxVGlXU29Weno2d0phU21UZ0p2NjF4Q1ZOYTRaWlBHMDZONUdFVklNREVRa05rdkdvNmpRaWdWY2tGQnNkV1hOQmFxbXgvS3ByYXpyeHBOVkVFbzR2citma0pwS0dyaHE4N2Y4QlZ6Wk55cERVK1E3cld4dnBMWmtlS0ZXUFBRaFN4eUJmVzhKNkZ3cUZMbjhQQXNhb3FJeStPZWcxWmMzamdLWDRoVUplVEI2NXhaSHA0ZHhFTW1TZUlYV3ZEVllGM2F3b24xRjFmRVBsRTVMY0dQYnU4YU9xeDRpa2dWS2h5emNwcW1wajNEWU11MDVmTlR3T3FpWWFUU1ZodG95cktubGVYaUtoZGNVbTZ3YTVLV0lheUhoVTlSaVIzT09kbDZYOWU1L1hpWll5c0FmdWk4dE0yS3lQVWJENHVTZ3VpbmxOUWdGSFN4b3hlWW1FM0pBOTFpTE5TOWVDZE50a0ExZVZ5SWhzQVBweVFJOGJiRmlaR0NNU1NSTUdwR25oZmM0anQydUZ5ZVlpblpkSXdxcWhCQmFMbDhrWTJleXFlQXN4cHFWOGZVcGlIaXZUbmE0VUlzRVl2ZTRYcG0raFh4N3lsMFhnNSthZWwwaENxc0VCeDBVNEJhR1ZjdlQ1ZGQxRGU2ZDJPWkhuNFBtSUZDSkJrd2VpdGsxdHc3WEF6dEU5TDVHVTlBZW5lZXdvZUd5d084b0EwajJTYXhUckRoMEx4NDZxVGlFU3pIdFhSSnN3dnNTV0FJR2FyM3RlSXFucXFxR2lYSGVFU282alBDQ1o3VXMwWFAzNG82cFRpQVMxeThvaGtySnNhQjZCdkVUUzFWUURCc1pvUnp4KzFxT3FVNGdFcXVoSU5HLzREbEZremNjOUw1Rm9xZ0hIM3F1SkEvclZFQkVpM2JNVnNPVHU4VWRWcHhBSmpzL2FGL3crcjIwSkVOZzV1dWNrRWswMXZCNFM4WmFQL09lR1l4QmxRRWxzVzU1OFZIVWFrYkJQZUhvbVZSYnQwT2xoY2hJSnFZYlBQVVBYbCsvOURPQVBzU2VraUVia3FvSklYQk9PcXRaRkFtTnFMMUpiQkxFdG5TS0tTRWV5NXdxUmswaklMVkhYc2VZRVU5d3ZjblV4U2hJZVZhMkxCQUhGaTVIYUlvZ1Y4Um9zZGo1SUR0TGFRWVJrYmhBNWlZUlVRM0NOZnZkUGhaTHduenJyVWRWTUpMZmQ5ZTExR0dkdkM3NDJHTVBWb2I4U3V6NThFUzdTa1ZNNUhFTjd5bGs1aWFRRWVjUTlXVmVMNVBwVVhQZE1PcXBhaVFTVGxyZ21UVjdmNW1tejcrMjh0SVZZVGJQWU9ZcnIzZW5qY3hJSlZNT051SWN6SEFubmFHNUpJK1M1VTBYc1NEZ3VrdEdsRjU3NzVBdVhPcFAxU2QxOTRvRzIreDhZc0F1ZEd5Zi93Nlp4ekREZ2N4SkpWOS9ib0RWc0Vva1dFc09zeDFkRXZNTHNxR29sRXEzYUNZbkNsNTQvL3AyZjlvaStkYWcrdDVwUTZqU3lFNHZrbjd3dnppUC92bHZYRStJUmhxRUZMSUdudStsNFVTMGtodkRIVFY2QVlIYmlhenFSaEN1YzMzUlNrVEI5TGFadi8yNndudndmVjdzZTk5QnRGWldWSkNVdUJWcGI2Y3NzSDdBaUNUR0U1dktZeStEMitiLzUzSXpVRVNCTUlxbG9JVEUwdFI4cWpWZENZT3dvOFRteGpLbklkSTArSVRqRjc2UWE5amlDd3lhUjFMV1FXQ2ZxYTloUndsbVlBcVpwcmh4WHpxUkwybXlOYWRKUjFYYVV4SEYySEw0RWtjVG1teXd1MEIvSUFvamJzcFNQWmtkVlc1RklUazBCVk1lNEpZNUJKT1R6N2N2NllYRkZnaVJHdjBTVytLWUNrbHBjMHoxMGQ0eGJnb0JHeE91Z2RkMGQyUVJGQnEvSWxBK3dvNnJ0S0FueEpsRVN0a0Q4RHFoNk5PeW9ud2xIZTFYM1ErMlUxSzR1SzVJUWI1SWtLV0oxUFpZdzYxSFZWaVN4ckkzUG9JaFZNelk3NjFIVlZpU3hySTNQR091V09DVzU3VkhXb0xzbFhVaTBML044b0twbU95dVNFRytTSk1lNkpRZ0VSTmJlMjlwRUIwMGsxK0ZGY3pWbEUxaVJDS1pNY1MrQnAvSGtoaTBpb0Q5UUJaQ0tGTzhxNVdSRm9saVZHQnJybG1BZkZ6ODFnaXJWM1JLS092b1U1cU9xclVnU0MwSVJRalVZbzVFK0JWYkx0eFF0UWJwYlFnTHlOOStaajZvK2d5STUwdm1WSWdWbEVPK1dhRnV1L2NwMXQ0VHNOWCs5cEwwckdvZFpMZUd6SmhKd2MwL3dJZTE5dkZ0Q1B4TjVwRmRkRWpMdzBEUnhlYXZFTVVkVm56V1JnQjFYZEg1Tm42TGpVcTZOS2NiMnVmbFVQWDRLa2ZmTG5wNUlZbzZxUG1NaXVRZmN2QldhNmNjdzE1eFZSU1hqTnFkblBLcjY3SWlrOExOWEgzZ0V6SVJ1L2NoRGYzWms1dlpFN092ZmUzL0xxK1FqRDkwWEo5cUs4akhTSEZWOWhrVGljVkw4YTA1a3ZwbWdLeXJBL2NoTUFsOVJuRW1RNnFqcXN5U1NTeTk4ekw4KytYeW5HY1BPU2VpYWUra3lxcUc5VmNkeG95VGpVZFZuUnlTVG1EMjcvSXhIVlZ1UnpFNFVzcVpzUjFWYmtVaEd6ZzdJZGxTMUZjbnNKQ0ZyS3FrWW9zU05CYlNqcXExSXh2SXFYYVoyNGxtU0tnWThVR3hGa29SbFU5SmtPNnJhaW1SS2RpY2k3OFp2dkRPVjE0K3F0aUl4OFNncnJqUm1hZDVRdDM2TXNoV0pnVVdaVVRxUEoxWlgwbmJhV1pGTVpGZ2FnaXhIVlZ1UnBPSDR4REpaanFxMklwbkkzalFFV1k2cXRpSkp3L0hKWlRJY1ZXMUZNcG05YVNnR3ljM2c4RkhWVmlScEdENjVUSWFqcXExSUpyTTNGVVV0OHRGdVhEWGQwT1pJSzVJNFRtWEVweitxK3B0ZkpGL0F0K3daMlp1cWVMcWpxdEhaZS9uU2ZhcW01N3ZRdHJkVzNqK0ZUcVk2cXByMmVCbk9qamlGN3VmWDVPbUp4RWx6VkxVVlNYNnZBbXBPYzFUMWJFWHkvN3l3QWNCMDVnUTBBQUFBQUVsRlRrU3VRbUNDIgp9Cg=="/>
    </extobj>
    <extobj name="334E55B0-647D-440b-865C-3EC943EB4CBC-71">
      <extobjdata type="334E55B0-647D-440b-865C-3EC943EB4CBC" data="ewoJIkltZ1NldHRpbmdKc29uIiA6ICJ7XCJkcGlcIjpcIjYwMFwiLFwiZm9ybWF0XCI6XCJQTkdcIixcInRyYW5zcGFyZW50XCI6dHJ1ZSxcImF1dG9cIjpmYWxzZX0iLAoJIkxhdGV4IiA6ICJYRnRuS0ZJcElGeHdjbTl3ZEc4Z1hHWnlZV043TVgxN1d6RWdMU0JRS0ZJcFhWNTdYR0ZzY0doaGZYMGdYRjA9IiwKCSJMYXRleEltZ0Jhc2U2NCIgOiAiaVZCT1J3MEtHZ29BQUFBTlNVaEVVZ0FBQXRFQUFBQzlCQU1BQUFDSFRqdzhBQUFBTUZCTVZFWC8vLzhBQUFBQUFBQUFBQUFBQUFBQUFBQUFBQUFBQUFBQUFBQUFBQUFBQUFBQUFBQUFBQUFBQUFBQUFBQUFBQUF2M2FCN0FBQUFEM1JTVGxNQUlvbk43N3QyUkZReTNSQm1tYXNjWmFQekFBQUFDWEJJV1hNQUFBN0VBQUFPeEFHVkt3NGJBQUFXVjBsRVFWUjRBZTFkYVl3a3lWWE82dW03K2hwN3dWaUFxczBQLzhGTHRROGtaR1Jxc0dZQmpaR3I1UU44c0s1R0xQekIwQTJTaFRpN1pSbWhCVU8zeEdMdEgxUmp2QlpvYkxtYU5ZZkUyRnVORVpjTXJqRTJFa0xNVmlPejR0eXQ4VTZ0V2ZmdVR2QmVacjRqTXFPcXNvYXVuT3JxU0drbVg3eDRjWDM1OHNXTEYxSFpRWENlcjBlKzl6eVBQc2V4ejVubmMyenRIRGRWYkh1a2Mzbjh4WWVNUnpvUHBMK2xaanpTb3dmNk4vK3hBVGg3cEVlUGRCdFFmdlBMUGRLalIvckwxOTcwdDhFRmovVG9rUTViOEVqbkJMVFg2YnlBOWtoN3BITkRJSytHdkozMlNPZUZRRjd0ZUozMlNPZUZRRjd0ZUozMlNPZUZRRjd0ZUozMlNPZUZRRjd0ZUozMlNPZUZRRjd0ZUozMlNPZUZRRjd0ZUozMlNPZUZRRjd0ZUozMlNPZUZRRjd0ZUozMlNPZUZRRjd0ZUozMlNPZUZRRjd0ZUozMlNPZUZRRjd0ZUozMlNPZUZRRjd0ZUozMlNPZUZRRjd0ZUozMlNPZUZRRjd0ZUozMlNPZUZRRjd0ZUozMlNPZUZRRjd0ZUozMlNPZUZRRjd0ZUozMlNPZUZRRjd0Z0U2L21GZGJXZHFaLy8wc1V2Y2RaWkVhTDVsRlk3NDJUajFxWi9xdXkrSno0OVRuYkgxWk5lYWxiSks1U0syWWd5enRGQnZmblVWc25HUVdhdkF6L2MrUFQ0OXEvNXV0TC9lZEhHWVRIQXVweCs5LzhwMVZBTnFZano5ejh6VmowYVVMNWloYlB4Yk1KN0lKam9WVU0wUTUvbTg4REYvbldZM01TcVFIY1ErdndKY2I1TnEvTGZUWVU4M3VsWSs5UHJxdVhSNExwS2ZNcGtZTjVoRDd1clBEMlZQbW1HbFBESTNBcnJHczc5TDlUMVVRNnJjK2ZmUG1NKzlzQUhXeXgzVTJ4c3BsNG02ZERhSllUYnYyYldPNk1md2ZxUmh6ZTQyR1Vzcm1wWkM0djJzRUxwZ05uUXpwYldQWWRpOEExT3liekpxcktXSFB5SWhBeTdER2NvbU9NVi9ueEFvWWtEMUtWZmtKRU1mZk15SlFkSzJocXNaY2t2S2cxRitsVk11YkQ0SmkyUHVLZVNGVnBBQmFmQ3pjT2xocVNpMDZiQTNsK1h0ZkJPcm1SaXAvQ1pBK0VpNUVhY3hPbkp6M0g2OFVZSWFqYXJhUEZ4Wkd5M3dnMVdCeWs1S05MbEgrUGhRQ0N5NHpQUTNRcWxxbUlIbUwwdHRtaTBoL0h3YUJHZVZrY0xtU01YcjFPZ3RJc3pGdjZybVNTM2hpSUFKTmw0UGNzc1BueTRBME8zMHIzbEFQQk5VcHNHM1cwM3pMblE2Q0dVQ2EzYnc1OFVQU0JUMm5Od0lOeDdvbGFDaTdERVhSYkxPZERveXJSTzhHZkU2RXdJSkxRNHVBTFBzYUlGZUM5RlZHck9aNkN6alhFejBRV0piNGhrak1BN0pia2d6QWJDdDBXd3AxSmVUSi9naXNTdkJJQkhFRzNKRmtVSUgwSWFkTE1qc3l6eE1ERWRoVkJwaUZjVTNJaVNCWWdPUWRTUytPMTdhK2RHeThxYklyak5GVWNRN29QaTRSM3lMRFdMRjhiZUY3eWtMZ1pXL28vcEJtVkpRQlp2NitpazREc3dSSUgzQm1BRUVSU1NTb1YvemFXb0pUZlBSaE1UeUp2RWxPZnNDWXkrWUhnbUNPa0ZPUlp4bDNXNFgrZ1Z1ekQxeUJNYUhTVWlTa2xzQTdOTyt5bUw4Q25BMkxjejRTTHpjbmU4SGo1cWhRalJmYmMwN1ViSGNhb3g1N0doOHJ6cWN5TUFJSTEvY3BIWWEvVzZNZFJDVTgyU1JBc1E0anJEOFBTNUZJTFFIRjlKRFJuVlo2V0RibSt5MmhobzVkUzA2eGhyRENKZEsvWU15UC9Fd3hha29FendGVmkxeTZ1UzRZNG1qNE0rWWtQVzUwcDllWkRmUGhuVU5PSWRGeHg1Z1d6WE1QWC8rbW1pbzhaYm8vYVpVOEx3a0lYK3lGWTBVMG9rRlB1L3dJeTUyZXJhTEZzYTYyeXpNRWN4N3VvQmM3NExqRVQ2WmozbXNWUERlSkdwMGszbVV2YnRVVm5VWjNtclQ0STFYVFBVb2d0QzNoSnBXekhPL2RnT2szMGNuVkM5U2Vram9YSktqMFpqUlFnRExlNFM2NVZpRk5PRXNUQ3I3eXcxK0dRUFZlRXAxOTE3b3lxTlBoMmZ2Z3JNZ2FscWxaQzgxa0xST2MzdVlnSEppSCtBREhya3Z0d0lyejFmMGYwbTVCcHU0cUZGVGl4eGdVcWlZOEtMbDhYbGZ0NEFiVFNTOUErbFlFWElzZ0Z4eURvQTA2ZlEwdndQdTVBNTBUMFNWNkkzVFduTVJTNjlHT3piN3RHMnJoeWFiQlpMd1FqeEIrKzdFUmtXV1gzalg0UWZ3eVlIYVlnbVhWM0VueGdoVTVjWU8reTFGUTRBZWJGcDVzRGhpUDQzaUVxK3pGdFIyVG0zYW5uOURlTWVHejZvcHBOK2t4Z2hRMDlWWFlxTm1rQXVmc1hwVkk2QzZUSGRaelFjTnlwenZrR1VwKzRFUzZkU3dTOE03Y0RoSW5XQ1YzMGluWTMrWkZTcG5jYVZpRUtGV01JYkRjYWJBNXZJTklFSzFLVGNRQzQ3NGpOQjZCMm1xa1Q3Q0t4Q1JUc0FBbk53d2krM1Q0cStaQUdzQ1ZKVG9zNEVtVzBaazJqc00xRFczUFc5QlkzNTJaVldoakFxOWJpTkUrZTNZQjdMblM5RlVoSjRSaERJS21CaGZWYzAxbEl1bEVtbDhZbEFEejRiQTZtQk5mazR4MGh4MktBRlp4ZEI3YWhmU3VQQWpBQlNCYkozemlPeWg5Z2hNRUJjc2R3ZWRqUVorVW4yU2tZZXliOFhnaGdCZXFPU1JkU0pmbFFZQkVWVndXZ3N1bDB3dHNta0twN1FGL1BYYUNrY1pveEZFTWxialRzR0JPejRnVmVSQkJvRjArUVRxdHIzTmtqeUloYUVJZk42T1M1K0dPNGZ5RGVLQ2dVT3N4NmZJOVFIS0RJY0hkV2tsRjdHbUhaWmluOVdja2dzWDJ1Skp6UmFEclJnUGVaWGZhNWVXaDlxK1RLRzRhOG9LSG1DNS9PcUhUUWRuYTVLV1M1K0VPZ1R6MjFnQ0Z3M2pNampVaWF2OE9RNEw3NGpjNEZSR3JEc3VRc05NWU83SG15RVFWRTV3RWY0RXRxYmpUb0hya2hmRFkwVVBqUkhna2IxMlNJZFYwZ0dqN0hxRjVWODhyVWNGRUoySGg4andOVUlHK0wxektCU3ZPMmgrZFFEaWlyUGhla29jbU9mWWtpY2JLdlFjbUpTYVVBcVRwQkxSeXB3TkhxSGxYUFlnZ1BKSW50aVFDeHhuVXJwQkJDbVZLNWhHMUpwMVFUTjNEVXZFTE1NVHMyalhUNmdsV1hGbVVOdWptV3FKSzU1NUxlVTlMMVY3Q2lUWDVpTFRFeE5Jd0k5NktCd2VnYjlBNEhmdUlGWkVFcVFZQWRralM4ZDI1ajdoN3JLVG00WFJaKzV4NkgycGRXRmRlM0tLMnlSRlVBQzAvaUhBeHJ1YkhTS0xORDAyQk8wMFBFbmwvQktza2VLRG5jdkVDTHpOQlVWT3Y5VXdxTEdlNzB4akFpQUozUzJzTWE4MWNaWnFKS2IxMHFRREd1SGk1d2RubmlPQTRNNjVGRG1uZ0VMVm1PdUxaN2pUaUhua1ZyWFVxQTZFUUI0SUZGVWxkQ1krbWdzSFg2SFB4U1NmSzVNL3RFM1k0WWxDOEEzdmt0anVOK3krUnoxZlpJemtJaFRCTlBMaTMxem5SRGl2RlJjOGU4ODRQUWNzTnhFN0YzU1R1RkVQUkpHakRORnFQME5vdWlMV0dwN1Btd0szSkhzdEs3THpVQmlqMW4vNGNYbzZxeHBNMWw3RzdZRFJDTzlHNm85WXdlUHJsMkI1WHkzb1FHSjRPa1o0UlE3Q1VzdTFoRGZQZCtPMG9WR0pWUnFYK2I3dDJLMVdIZlBkVHM4UkdrZmoxblF5MUZuN1FFaXBsN1c0bmpFOC9ZVDZvM09rQWx1T1hyT3J3V0l3T1dOUmlGZDhYc1JWTFFFcVg0MFZvaXcrYmJzTjAydWNJWkQxcjE2V05VNktXbzBOV2cycHJiR3FKVXRidUx1TXBtZDgxSHdWRGZGVXEyTlVic28vKzFVODFzTHJYdmY5dll2MkVSV1Nvd1FWbGNhZWRSNWlDWU5uOEo5UmJmTWljck1YMUwyQnRiM3YvbGpSblVWQTNYQ1JzWlkwNDBhSDFjdjkyL295T2NvWmlwY3pkL1pEcE5zd240UXlCZGgxV2FhS0V5c0FSNFlzMnhORVZBZFFmVWFhOUxrdE11Nk10ODZuWGZFY0Z0c1daSFlZLzlJUGxIQ1RxU2IvSHloMWhZaWJqNnJWUS9VU2lGNlZzaXZGYmpaUC9DT0FjaHRKUCtMV1EyQXBFbGE1TDFFVFptSThHbjlVUFoxdXZiRWdNNzRVT2x1NSt1K0s5RERsWEZVT1Q5d3pwU3RZREV2V1RROTFoRExnTjhRb0NkS3I0bko3ZUxuN3o5YkRpNjM5NGtSdFlxT0ZQWTNUWGFyeE54a0l4VWZ6eHhwVUhkeXp1L0plcVY0NHRqaVJHaFBRNzhPbktkZVZOdnlGTmh0U0tXZGVjZnhOWjBKT1AvY3VCWk00bmxXb29wQ3Z4VWlTdXJ6cm9UU3I4OUdQV3o3M0FuVlpQU25vMVBEVWFwSEhuTTNGOTB1NWIyWTRTSklTTitYY1JMOHNiSHpLSFF0cjI0c0Q1T0phS3MxQ3oyaDNQVXFDblRBcnBoY3RyUFlXelozd3UvbTdzZ3pmeCtrb1ZrTFRjdGJuRVBQTzVKOStPWUhlZnVYbnp5YWZlZytRZmNHT0xhdEpCNWpCSXcvbzY5c2FpNnBvY0QrSHEreE9MSE9qdUx6YzRONFgwcnA1QkJwZnZMWUV6OFZ2aTdNSmZRT0s5U2hiRFg0bEx5Uy84R0lpL2x2SUxpY0VPZ3pSTWV5OVFQWGdmK3NNb3BhVHQwclVOUlNlUi9xdzFWdzlWVlVJWXZhZ3Q1bjBJNGcvSzRGWFVsbElzZy9MckpQL2JrTmloeEhZVTlhSGtNRWhmU1BnQ2hYVGNsS3AxMzl2U0RiZEFabTRDNlQrQjkzd3ZjK0crZ3JnNkZVTkVQMUtJaWl6cEZVUmNDOG9mY0kzZ1F2RnJQeTFQQVBPSFFicWtuellXanNKQlNHVzZpcWNYZGJhUUx2d2xqUGEwa0lhOVBCVmF4RE9Kc2g1b2FvODFIckl0RDhySXoybkpOaCtEa2Y3QXlWWmNhZHNrWEljbW55TExoUFNVM1hTbU1qMkVCT241bStGTWRHcElsK3lRQWtMSEt0dEpqQjg3Wjh0alpIMkQrdHl3YkkyTmRQRUxiK2kramlzT1M0QWRpaU5FRUp6ajB3aFJaVU5DMXh6V1Y2RXVwKytDTk01STNWZFZUZzNwbHJGV0FHaUdqK1AyblYrdFM4ZzMxRmFxL1dzZEMybFlhanp3RlhQYmdyck9vZENrbVliMkd3bWZNUTJKNXBRZEtxSHpoNkFWMGxkd3dYQjZTSGQ0M3lQc0RrYUtiOFVkbXpHV1F4QnhRVjVIUWlESkx2ZWlGWUxUU01PU0dBSTkzeERyOEdGVTB6WWpEZFJhM0NiZGRvZVo0Z3FXc2xBVmQzY1hwS1B5cDRkMDFUNXNndWFBb3VkMWg1bkdBN1gwSkxBclpaQ25JYzJTTlFnWkd1bDlFLzRSbkU3bzVhekVnYUlhV1E5NHV0UWtWUVV4dUV0TUR5UmNINnNlV0tpSHdNaVF4djJMVGRVb3JDRllRV3Bpc1ZraUtRL3F5Rzl1MFpwYkZkS3pKbklkcDBORVYrTW4xU0hYcm1Vb1hzL05nUG1RaVZseDNXU0xQclh1emg2S096S2tjYXQwUzNVRnJVYzhUeFh0V0VRa2xKUnZnL3dCbGU5b2gwZ2hYWTcvRGdoOGhnQkU5emNpK1ZiOHM4SS90bGRMY1dVbHFaYXE3M1V2cGwrSlhxS0QrU05EMm5hUG8zQndqUFJzMGlIQWJpYmxhNEQwR3ZWL1Yvd1E3VS9EMDRsRUlNNXlCTitIZ0g5NFhUQnYva1VJMHYrcXdlL1ZwSzc1N0grbFpjYlNsVlJOd3pGR2hqUzR4Mnhuc1V1SVpMd1dXWFNzVy9Cb2lpVVBabHZTcTdxRTZIU2RYZlFLUGdxMk5tRGp1OWVnL0hjNXNkaTJmRWFuU014c0QyRm8rdFVUNW8wTTZaTHlIYkFsUkQ2ZXNlcGFRNm1IVFZzZXpiWXN3bWYwV3lCSU45aUhhUU0xSy83YkI5LyttTG55WURKU0d6ZVYrYSswekZvVERYWDBidThqUTdyRlpqbnFHaUJQMnhGdGUzVWQ1ZS9iOG1pMlpkR3hwRkNYMVRpNDZGdnh1UEczOTlQYVNZejV6bHRaS25ibUUzTmZIaDJ4L2gvM2tTSGRzZDNqOE1Ec1Z0UlJGVHlTbnJkdGp3eVhsT0owZzRZZnNDanJOTHdtaHpFWGo5NjJObG1rUHpHTFJuM3d0ZUR5UlFjWDZ5VXhNcVFidG51TVM2TFk3b0svNStoTlFyNE80c2NpMW1EdFZUUGl2Z1RtNnVEWFZOZEV2aisxbjBuN20zTG9vMzkxMlhKSGhUVHV1bWdkUTdzYnY3UlRBcEQwRWVVM0pBay8vdUUvRzRUYzZQaEdsTTg2WFNPM0VkSC8ybFQyZDczd1JkVlNUL0tKekUrdVp4VTZZMVJJby91OHBSckNxTXJWS0gyQklGZlpBY3F2Q3dNZmpGYThsbG8vTXRJOHhlSnZrcCt0eC9PdFZESmUxS2lRUm1SMzFGQ2JrSTUxUkIrNllJbUVQQncxdDR4cFhlRk9TTVBUdUVYbDRYTW5qUzFLak9kOVZFZ24zZU8yck1WM0ZXb01Ta0srek01M0pMRUtNeDVkaERUWSt3M2lyWEpRaVRoamR4OFYwcUREZW9HQXh1RW9IbnhaVkZIZ3NPVmgrNityM3doWTE0Z1ZKcVRCRWJ4QkZZQWJRbnVXeEJxMys2aVEzdWNKTUJ6eHJ0TFJHaGxzallVdDMwa2UyMXhSTVNaQ0dwN2VPbFVCU0I4UVBhYjNVU0hkdHR4alMwZXJsbE1TNDJMSlA2UVBJWVFDWU1ZWlFFSWE0ckJIeEhUOGdvV3l4dVUrS3FRYmFyb0s1aURGTHpvY1VoYWFZUUFKV3Fnc0FORFc0UkFRZ3VYZ0dza1MwbERST3ZFdUtKMG4zcGpkUjRTMDVSNS9CbUFNQS9iaDJNRmwyRXFCZ1BKWGtWdDQ5TytyeWE4NkF4c3N4UTVtNDhWSTEyUnQwMUk2SDBtTjNmOGpRaHBud0M5ZXhPdVZ2L1Fsb0g5WUJnNHV3NUdrWWdybCtYcnI1MVA1MmxJdzBuVTIrQmdvVEpVWk04YUlrRWIzV0s0VHZTWURsNEhWazhGQStmQkRqS0QrNXQzTVpnSmVoSFZLTU5JcjVQck5WOTl0d0xvc2I1RElPTjVIaERTNngvSFYvYzUvT3RRamg5bnhRS2REV3R6cHViWnpwMFJGUVJqcG9CRnRQaTNCbjFCdXc0dXlleWxWN3hneFJvUjBFMkR1TVVwUTM3VlVGc2lUK3cyZmRMWjk2VkJZclZJRTZVK0g1djlucTg4ZWd2SGVMRlNQVXZXT0VXTkVTTy9iY1gwOVlMQ3BsbzZIZVNEUFFXTVFpRGRuVkRFbjByQ0Ivc0JURmZON1VOOUM5Ym5hNmNiZVZPT25RbzRJYVRBQnZjYnRSQnJrNWJ3QTJPcVUxbk44U3ZrZXNGZjRoY2RPdnVkSFF5QWViM3pxNEZRUUdWVWxtWkYrUmZoTHdOUi9QNS9XVCt3cWdQWDFIbDJHNEZHNkRNamZZdm1XVW1CaVZ1V1lobGdQeWp3VDk2eElxeWtPVExDNlJCWFZlTkU5RnVSVUJwQ3dtMkl6SUdXNTMyQnphY2RSQk04UDBxc0tYSXQwR2dsMGp6Y0ZKb3R5SVEwK3RuaHgrTXMyTnRwVXRDRlBic0oxZWdyZWI5ZlZmUzFob2Uvb0htOXBocUpkU0lQbnA1eHNDQmZkVVFWQzh2em9kSExrL2ROb2F3NTZpTGpzTktDdlRFcFRYRDZ1bzhyclFUQXVhOHcrUTBSV096M2NrQUFyaFp4ZDF1VjdnTDBnZHhxRTYxWXFLdTJSdGxHazFINXZkeG9QTXgyU0hOMTNMY3ZjY2xnUDVZNTRuU2JZNE43dTdVN0RzZHIwMjEvVzdqVHVpNmVPYWFrWjFpT3RrRzcwZHFjRG1QMTJsR2hJVml5bnNHcHBlQ2dBYnVBeEZmSklFeEtSZTN4TGtqWUZIdUNlelFtLzZiWEJQSWpiVVpCTzg5WXA0WkVtSk1LNGZVOTNHaitHZENTaUlXVzcwM2drTDdrZUFna3U1SkVXK1BxNTA3Z2VYQmZSa0xMZGFTeWRQQ1VETHdLYkhJKzB3TmZQblVaVGNVTkVROHAycDdFMDdTbVNvSE1ma1RMUHhuMGsvblFUc09vOS9JWWNpSW1GVmkwSEdsS3k5STRsUU0rNVFxL1REQVgrbnBaLzRTWmNvbW9TbG90WnU1YXpVUUtrTDRVNWYwNUY0STh0blREdGtXWW84QmR1enNCVEpMR2RzZzBncjZaQXdEMWFlaTlKbkdsYWVkaVRnL1NSUUhhWFZLT1BPNDJMN1dUb3VtS1pDM2dqSXZ0eVFiWmVtbW9iWmtLUUJwQzI3aEpmTHRZdk9nMUMralJqV01hT1RrTUVLVjRRMXNVbnJ5dHZaRUtRaGxFbVBRTkdNQ3NCam9KRTN0S0ZacEl4VVhTZ1ZhT3JoSFJ0aXd1M2xHMmZES1IvQjBiNTRpRVA4TzRJZlAzN25QeU1mcWFwcW9ZL0JTdHI3UUJtdjhoNnpLdVBWblNVd0psSHV2aHRONStLUGdsMjhyNm4vK0ZJSVRFTStabjduNmtCVXNhODcrbFg5M2hpc041YjR5b1hQdndULzR6aXQxLzlkdy9IVFB5RitTV2dTMkttNFVmbFIzR3V0V1BMdkROQWlEK04xbEt1emJ2c2UxdXFVT0RZbGVuQXg3YVNKL3pMNFlTNlVMM0J4UUQ4UTA2Y2ZaMDJsNis5UHJyZStGajFicEhlTnBldlFEVnZ2SGE1ZWlMZ01Fb2hvVTBCb0VvWEd3dFluSitzRmRzdlNhbFp2VkZ3NXBHV2NZMmEybFhUVytIaTlmQ0JGSzlmWE9OMlliYm9hbnNCcHZ0RnpnVGZSQ1NGTy9hVVdJLzh1aHA5STZKZmU5LzRYOVVIdHBSQVV5OTJQTklLbWY3a1ZOTE42eThPdWR2YUMvUklEOFNMQkdEdUpUTGp2YUYzMmozU0dWRURNZXZES0JtSzJkOFQ5RWhuZ0N3V0thWGlwdjNMTHVzQWxKOFIrNE5sNVM2bllreFdkaXJSdFBiS3ZFNm5BT3JKR1BZYmxtVnRwcjFPOThUVmtXRkQ1eEN3V0VYYlYvRTZiYUhUUDdHb0FrYjlKVEYzU252VEV4RDNHRHppMDVPWXM2YTRRZldXN0FpSzErbEJnT244TmdjNU5MY0hYVkduSTBIRUk5MERKeWQ3VVMvNm5CTENYRW9FdXozU2dzMWdLdmxGK240bG1uS29KaFR6U1BkREs1VzMzek9tbWhKTi92ck5JNTJDcUI5ak52TXljVGxwYUR6Uy9ZQk41eVgvU2t0YUl1WnNKdy9wbkZtay94cCtZOWh6bUtQTG1FcWRnM1MzTlcrNTN2ajNFVnRuZFNjQU41ZnV4U2JHdHRwR2NZTWNjdXRxa3dzOXZIdlYzVDVkekpaVnYyZGRuN2VDR2IxNlc3UVArcFR1V1hkN2RUQXovOTRoSFh4cmxqZXArSy9XVUxJZy9YOFF0QXIzclR0emtRQUFBQUJKUlU1RXJrSmdnZz09Igp9Cg=="/>
    </extobj>
    <extobj name="334E55B0-647D-440b-865C-3EC943EB4CBC-72">
      <extobjdata type="334E55B0-647D-440b-865C-3EC943EB4CBC" data="ewoJIkltZ1NldHRpbmdKc29uIiA6ICJ7XCJkcGlcIjpcIjYwMFwiLFwiZm9ybWF0XCI6XCJQTkdcIixcInRyYW5zcGFyZW50XCI6dHJ1ZSxcImF1dG9cIjpmYWxzZX0iLAoJIkxhdGV4IiA6ICJYRnNnWEdGc2NHaGhJRnhkIiwKCSJMYXRleEltZ0Jhc2U2NCIgOiAiaVZCT1J3MEtHZ29BQUFBTlNVaEVVZ0FBQUM4QUFBQW1CQU1BQUFDbUJ0OVhBQUFBTUZCTVZFWC8vLzhBQUFBQUFBQUFBQUFBQUFBQUFBQUFBQUFBQUFBQUFBQUFBQUFBQUFBQUFBQUFBQUFBQUFBQUFBQUFBQUF2M2FCN0FBQUFEM1JTVGxNQUVIYXIzZTltVkxzaXpabUpNa1JscVhZUkFBQUFDWEJJV1hNQUFBN0VBQUFPeEFHVkt3NGJBQUFCeUVsRVFWUW9GV1ZUdTA0YlFSU2RKUmpIZ0kyRmxCb2tLaXFvSWxFZ1c0cW9qU0pGRkVnc2RPazJmMkQrWUtscFRJUkVhMm9hdGdWRk1nMDEvZ05RWXZOS2xNTTVkOWI3RUxlWSt6aDN6cHc3cyt0Y2FzSEsxdmpMd1NUTGZUVUd0b0NOdk9LamFvaXZSMjRSMkM4anRSZzdxaHpqVHhtSThOeFVKUWh4YnNqc3VybDV3QWV1aXllcjNKMll1OHdZcGdIYk9rZ0VmQUJPNUdsVHdMSjhaNmgxQUJ6SjAyckFObDE5cktRQlBNcWJoWGJJL0Y4bFBkL2xnUmlxVmY0cjZ4ZkhHa0FzOStJamt6R3F4N2sxT3k5ZVpraUZ2MVh5MWdXR2xDRE5FZkF5S1pNRStPSG03T3dPMEM0Qis2Nm5UaXBIa2dOM21yQjF6Z0pueFUwSlNPbzJMODh1aUhMY2tYejhwOFlsNERuZm9HbVRxSzBDV3dwcUJWeFJNSzBMMlB5S2FRU3UvU3R5MUFkZnMzVUpDTnNXWFpiRzBKR3B5RUgrU21va1lKcnMxdFp0cTE4V01vSUk2WWVSQVJxYjFuc0hKRlozRmVEUVI3YVNLdkhwWEVhcVBPaG5CTHpkd2h5M1ZEdlJFaGNtbjhJdnIvNHpkMy9LTDdIZTN3dU1lVWIzV3RWam10VmF2S1VZZkw2S2ZjSGRsS3NSdnc0bG4xOWY2MUNkalJDYmZPTHZVTjNOWU5ROEhqY0ZPUDRGSS81bXV6ZVdSUmpocDBYY2M5RVpuYTZtU1hEOTdZemhHMXZ6K2dFak9UUHlBQUFBQUVsRlRrU3VRbUNDIgp9Cg=="/>
    </extobj>
    <extobj name="334E55B0-647D-440b-865C-3EC943EB4CBC-73">
      <extobjdata type="334E55B0-647D-440b-865C-3EC943EB4CBC" data="ewoJIkltZ1NldHRpbmdKc29uIiA6ICJ7XCJkcGlcIjpcIjYwMFwiLFwiZm9ybWF0XCI6XCJQTkdcIixcInRyYW5zcGFyZW50XCI6dHJ1ZSxcImF1dG9cIjpmYWxzZX0iLAoJIkxhdGV4IiA6ICJYRnNnWEdGc2NHaGhJRnhwYmlCYk1Dd2dNVjBnWEYwPSIsCgkiTGF0ZXhJbWdCYXNlNjQiIDogImlWQk9SdzBLR2dvQUFBQU5TVWhFVWdBQUFUVUFBQUJVQkFNQUFBQVI3cjE4QUFBQU1GQk1WRVgvLy84QUFBQUFBQUFBQUFBQUFBQUFBQUFBQUFBQUFBQUFBQUFBQUFBQUFBQUFBQUFBQUFBQUFBQUFBQUFBQUFBdjNhQjdBQUFBRDNSU1RsTUFFSGFyM2U5bVZMc2l6Wm1KTWtSbHFYWVJBQUFBQ1hCSVdYTUFBQTdFQUFBT3hBR1ZLdzRiQUFBSGxrbEVRVlJvQmUyWlRXaGNWUlNBNzdSTjAwa3lrOUJTUVJBU0VSZTZTVUVRRkdRR2JFSGRqRldMV01VM1hka3VaQUlpUWwyazZrSVh3bVRWUlRjVEVRUjFrWUFJUllYSnlwOHFwSnVDcmpvYlVaQ2FxRE8xdHRYanVlKzllKzY1NzU3MzVuVW15U0QyRVhMUFBmZWNjNzkzLzk4ZHBiYjRLZnlxbjg1UVVjdGhqS0ZDaU00bDBNOWZZbGxlWlN1TXNaVFhQTGZkYmJiY1RlVVlsdUEzSno5b3BnWGIwYWUzMlFicGovOVFuOTV4dm5iOHpZdDVYdkxTYzQ3VjlvKzM3d0c2K0ZkM3FoVXpaZmpUMFc4NzJ3SG9ubENGMDNDOWI4c1YyanZNVmd4Z1RqZkdxM0RWYVJNL1U3Z1hkcGp0VWx5ZllmU1pZczNaSnU1U085cW5oYmpabExxY3FOaUJmUDE4TGR3L2Q1UnRBcTdIRUxzQTBrZGNHOGxlT0xmRDdUWVAvNWdHQ21EWmlGNzY2ZUdQWDFZVE84d1dRTldBekdkMXFqYmFZYllwaUdhcHJyb0ZQWjJrUDF2RFZ2NzZTRGgwQVhxSGhMcnNualhHQnRrZWdJNWdiRlZid1ZZNEdZUHBoSWFUclVOWnRnMEEwazhDU0M5QzVWdlJwOFVLUTRPak5qWkpscTFDMDFRcG5LaWJaQ0lKdzdjYjdpd0FUMy94MG12aGMyVkdxTVd5QWZ4QjVlUFFaMnNZbnEwQmNPMFVWU2dLeElZNE44Z0N2eUlzS0dtWk1EUWJqcG9iU3l5Z0pCSWJUdE9iWkZEQW1VTVpTUmlXcmJBQ042UnVkT29pTnF6dGQxdUNZeUhUZFZpMmc5RHIyTnBTSkdLYmRsWjZaTXYweldRcjNIT2s5K2lKbEFvamRRM2V5Q3dQQzRtdDVhd3hBY0JhbG5NVzIzZ1RBTmZVaHpMODkvVVp6cEVyc1cwQS9HMmoxZm9zY0JsczR3RTh0YVQyQTlSdHVLVFVoak5KbFpBbnRvWno4NEJzbWQ3cGJNVW1QS3ZyT1pmUk5DVzJsQXBNUmtWczgwbTJxakdSMG5TMkJsd0xaeEdlQmxkRHo0bERYb0NKZkJjd3hOWk9zajNwaFdTS1ZEWmNpbUtXeGZnc2MzbVorVVhpWWxaL1cydGlxemhzSzMwMnJWUzJOblVsbmhkbWREM3JhN2EyV0FyTUlkWXJjUlRFMXR3U3R0MUFwMUxjaytkMFZiV08vcytmY2ZIVXdTMGlPWjB0ODU0a3JkM1dnZTVzaWdCNldKVDhEV1ozV09DekpEV2NqZEZnbjdKYzBpbjEzRnZtWjRRZ0hIQlRkcGMyWWFidElkYW94SlRZWEJvMzUzdW10QnN1NEhZS05jUER3NWgvYWx6TTNnK3B0blMyekh2V0ZEWjhwVHFGWGcvUEN4c1cxcFMwdTBiS1Rqa2JveG1zM2JCTDJlaWFEOGRlYzg0RFdNaytmNUU5c1RXVDgzU0E4WWJMQmp2TExPcnpRbEhvUDI1RUlJS3dwV3dONS8wMkFCYlVwRDhWRk53TUwvMzV2eXNDbXYyV2NkdXROdERhaTE1Vld3bXkxVldMRFpTNENBK3UvblBVK3BGRTdWWngzbmtnTmx6UllJMGk0NjBLcmhXVlZhdUlKWkhObjgyNE5KcDFySjA4STIxNlFabENuS2U0RS9CN0ZHUmJLOUZTYkowbHR1eHY1L2trVzlWRzh5V1JEYWNDbTZhNjNkYjIzZlI5VmI4TERlTkM3ZFpJc2kwYkV5a1YyV2J4czQ0WnQ1Q3RVV1VLSXdZU3NDbGtLYkhoeUdWOUh0QlJoOWt5VVdURGhtSkxDRjZxd0RmaVYwZVR2d0VMbWhTSkRRT3oyejV3Um5YU0tXVS9YWFJlVDdOZEVGZlpkZDd6Zm16U0VOczAzNllWc2kyUWpTQ0k3WVpEbGsrZ1dZQ2dLdmdpOUVWSjdlbUlEV3V6SGFLbjBwSm55eFFpVzl0WjNoU3l5UkI3ek5HWUJaUkVZbk8rNi9Vdmw1STE2VVMyZFh1dzFJYklKZy82S2JOdVVUaFpJRGE4RDdHREF6UFp4MmFSRGZ2MEVLc0ZSMG1WWmExWVlqMWt0YjVFYk5pTkZnZFhVZHZCdmxQS1hHaEEvR2tWZVNEYnF1U3JWQ1Y3d0JnbllsTXJiT0hFV3g1L0h6UXVPaFhicmVYQ0lOc2E5N0Z5Sy92ajF4aGF0bmwyUFlNci9MS3hFRk9SRFc5bHp6RHJkTGFwUHJkN2NSRExoa04zd1VUR3NQVlkvdVd0anRHeVZHVEQxcTVhRzd6R1N1dFRGWWhyc3ZXTkpNdkc3M2czcUEyZDZXdWRSVFk4aDJ4YWswczQxL25Vc0NYNmh4KzJCL0VDUjdac1BIS0ZwZ0pTMnVhMG5zam0vaDdYMHNPN3lhcmNCZDlGQStOQjYwVVNIdDQ3bEVrVkxKdGFwK3B3emxaamp3cXlMZnZlN3VrYnkwTzJnM2F2TDYyOEdFWFpLMjZlalpTbHo2bUpzZTJCM2t4VXR0dStWZzNaaENrN3pXK0h0VlBJaHN2aVFoU2hXTUhGc3FrOXg5Z3VIWlhwLzdoSVBXNXpLUkpqS3dabWZHeFFsMko4YWFrcmFiVnpNeG15cWNXNFU4dk42eDNOaS8xZU9TUFcvQ1BBSTJJQlV6STJIS0hSSG9NNzFxb3hhU0NFK3pseTE3ZWZ2Qk9nRnVDeEJ6Ny8wdGhGYk9WQTExZzhDUnBON1lYdXpEblRGOFl3VHZVc2ZqdnVwa1FSWlRsYktZaVlGdGxnMklkbldidVhhYmZaa0N2K1I0TXBZbE00cmJ0NG4vcjh4YkNDQnY3Ni94NVY1UXE3QXR5SXZ2b2hDNCt6cVFQUXUwK3AwOURyMkRqM2QrKzJlNWxXei9hZWVlS2o2RGw4TE1tbXlwL1Z1dTlqa1BBcFhEajJRU3o2aVlhakovdDdJWFQrR1Y4N2dONmNHOGxsYzh0TUxtNDNrODJUN3NkdXBVZGE3NXgyVStyc3c4SHhkenR1NUFJMWpxdDNjZ093cWNJck5XTEwvRDUxYW5JeUpYY3VPR1dVR1lRTm5lLzhLZGR2YlZSTlVoalBQaTVGNWdPeUpldHk4b2srZGNyaXpLUTBGcEtHSTJJYjIweUNDUGtSc1YxZUZsaVNxaEd4dGV0SkVDRS9HclpDSUtCNHF0R3dUY29mY2dtNjBiQzFwR1V4UVJhZmtUenRjSXIrYThoS1BVOE5JMm0zeVR3NzFvamFyWkdyUzZOemI1NEd2Z1diZm4xYWxxOWJ2QnBHMGFmakgzb1lvbUlVYkNLSW9Od2V0cXY0RzBSSHFDMi9xb3dSR3ZtdVgvSUhSVXQ5MHlaKzVkMUNsRllZWStrV1BQS1ovay9ZL2dVZHU4clJVcG1IRUFBQUFBQkpSVTVFcmtKZ2dnPT0iCn0K"/>
    </extobj>
    <extobj name="334E55B0-647D-440b-865C-3EC943EB4CBC-74">
      <extobjdata type="334E55B0-647D-440b-865C-3EC943EB4CBC" data="ewoJIkltZ1NldHRpbmdKc29uIiA6ICJ7XCJkcGlcIjpcIjYwMFwiLFwiZm9ybWF0XCI6XCJQTkdcIixcInRyYW5zcGFyZW50XCI6dHJ1ZSxcImF1dG9cIjpmYWxzZX0iLAoJIkxhdGV4IiA6ICJYRnNnY0NoU0tTQmNYUT09IiwKCSJMYXRleEltZ0Jhc2U2NCIgOiAiaVZCT1J3MEtHZ29BQUFBTlNVaEVVZ0FBQUtVQUFBQlRCQU1BQUFBTXp0cnRBQUFBTUZCTVZFWC8vLzhBQUFBQUFBQUFBQUFBQUFBQUFBQUFBQUFBQUFBQUFBQUFBQUFBQUFBQUFBQUFBQUFBQUFBQUFBQUFBQUF2M2FCN0FBQUFEM1JTVGxNQU1ydnYzYXRtellraUVIWkVWSmtWcEtPUEFBQUFDWEJJV1hNQUFBN0VBQUFPeEFHVkt3NGJBQUFIUEVsRVFWUllDWlZZdlc5Y1JSRGZzNTJMNy93cEdpcDBSa0ZDUXFDTFFrQUNpcGNpVWlRazlNSlhBUUtkS3dRVW5LbUF5dTRSdWhOVUVSSitVbElseFZtaW9LQzQrdzlzUGtSckY0UXlGemdIT3dTeS9QWmpabWZmN1oyZExkN08xODYrbWYzTnZMMVQ2dVR4NitCa0cxVjc4UlJHYkxJODZqSTloY2pYcGlqTHF0YWZaVW1TdjNGVUpPVXA0WXdlcE1SanNscjI2cGhza21EejcwbWFrcnh4V0pRa2s5Z3pla3VxM3RSaWpLNzhzUnFVUzNvak1GT3B6bCtSV25oMDVIdEIzYmtYNkduVW92NG5Vbjk0KzJuamEvVDJuVHUzMzNqS2tLK3hmazd2TUQyTnVLN1h5K3BsT0hyWkNTcy9nUDZDREdyNmRBalpQS0lWUEMvQXp4WnhqNE1aRU5NL0pHcmFYTlgzeDlSbjRDWWNUVXZyLzhoa051eEZvc1RjMHdkajBsbWtNd2pQWW9ldVo2dW5DcjZsaTdEY1U5dGFpd091d0NkaktCL1AxTmp5aW40NEpsTnRyV1VaNUZyL1MwYjdlby9JaWZOTUNVbldFQm1VNXd1V0lUeW56MC8wUllwR0lwMHEwL291R1dEdUlIaGlGL1FESWlmT1RYSEFaRlNEanpWaU1QZkJGNTZ2eTlNVE5vS3M2d1RncXZDeEk0eUc0RmVKYjUyWTBBVjlUTVpoanVHcFZCTSt1NlRlRFJnZ1VXbWVTeUJlemNHSHRNc2t2NUphSWExVkk3VnJUNXd6ckUxNlE0Wm1VcEZGUG9lcFd0dlgwZUdhOUlZTVZZWC95QlV6b2oyd1RPRk1HT09RbXRvTTdSQnZ6ZWNWbGdocU1VNmMxK1F4UEJ2d2VUVXN5aU5NQkRsUjh6cFJ2blg0MkNBTHpDMTBsQ0x3TGNadTVkemg2MVplUFRmNm5JRnhWaVNLVnkzQjV4Wno5b2hrcGJhNXhqcWpURDhEdzF2WktOZjNDcjlrSlhURzRNUjArVUZnWjhDdUJ4WlE4VHNzakFaTCtyQlFsZXk0cTM0aHFkcGxTaXdxd2JNaldyS3hXcUdlMVVBemJ5TFQvWWVGQmR5cTg5SGhPQnh2bjRDbnlQSThzamtRV2xTRTc2M05IZE5lN3MrN1l1M1FGNnlwTDBselIrOUxPSm9UZWpleU9lTzdTTTNVV2xzZmQxd3FlclJWeG1jb2xrWHcvRjUraXEwUjB1MW0wOHo3U0xhTEdXbnZXcmxPZFUvQWt5QmVnY3Z5RFJFZlZidDR4Yndma3UzTEExc2RHSitvQ2VTa05BdzhMeGxaN1lsUE1xMmZLNmtWb0RZd3N0M3plTFFZZHRqS0NCVEthTjNNMFREdzVQSEN4NUhPTVBqa3JadDVlSUJIeGkwYVhjRisxREVQb0lpSGdlZGxNNUFEL1dTc014eUMyekp6dnFjVVlucGdhQXo0c3JjQTRHVFZTY1F6d0hNUnAyWHFwRFJjOWRmTjV3UXgyWmVEQlh4WjkzaWxibW1CVXIwQXozcXJoRTFyN0xyQmt2bVV3b0ZOSWtoOEhHeER4RnhZTS9uWUYvQ0VBVjlyMk1iNXJEd0xBV0s2NnVYQWtnR1g4VjE0VVpnUXNJY0haSGtpRWc4THN3SXhyWnNaQSs3dGU4SjNZUVh5QVRkM21XL0hiYy9LTTQ1WElTWktIdHpidXdzNk9LOG1JdTZlMitFUXlBRDRvUnppaThCM3RWMGZYc29uTU91d1luMnNpT1NTMHp6RWdiWkowbzYvRDZWOEFoTUN0TGcxOGlwYUhkNFRNZkZkcmVsVGxzb245aEVKNlFWZ2tVdkVmc25UZ0tmdnowcGgyWm9ScDg0ZDBZcnUyWWc0NXlyNEZQQTBsOVQxU1Q1M293eTJFN0VIS0FBL2EyNGZVMFlPQXFrNjZraDRxcFpIc2w5cHArQ29GL29hM0x1N0Nwd1BwTFdoTnlVOGtUdUhaR0dGZzZIYTJRLzlBdTVkeFNISGU4TGFranFFWm50UU9GbHZTWDBKN0RBY1o1K3FpMXFoOEJ2REV3MU1GS296RTAwM0QzZnluS29VWVd3SmY0YU00WW1FY3pNalF3UTNjRFNXVS9mRTI5SFZ6MzlEeUJ4ekRFOWtucjlOWkVUZkk5czlDWjdZbk1nOHVoaVpWU3NSSU1HRlF2Uk9zZHhUZ1BkZFQyNkhpSnVoSFhqbGJuVFFNUFVXSDNtOVVqTWNKUXFYdXZ4bUtKVCtXR1NkNkZDd2d5dkVxdTJOMXUrczY3MmdzYU12ZCtUNEpkcVU3MU1rS01Gekh6NDNqTzVzYVBjOUQwUnpDYUczdTY3RFB6OThueUtmT0VxWllyeUpxNzRHSlU2cEJnZmNnclpyVnRaelBpR1RtMUluTTRBOG9BM3NpVG1mNXI3bFI1dlBJTk5ISFJ2RkRUMWFKVFhReUgzYXliNkJ6NnVzeHA3dXRaZUVXWXNNVUZESGN3OWh2SmpMVHpacW9zc2VLci85K0R0ODZLTXZQL2pKQzAwSE93OTZPNlFUTFdEZGFSSFR2N1hzVTFWcDBWRTV1U3o0dm5Ib0IrMEVHQURMbGV6QW1lT0piUXJIV0hoK3JRKzFmc1ZMbkp3REFZdjFORGhVbE9waHR6NDBFZnF4UUdldEFNOE5wWDdPTHI1UE9qZnZjc0xSaEs3ZExJeTBmdk1hdmFaU2orR2F6TkVhN1F3SHVoMjZwMUh3bUIxck82enl4TGR2WlJkMmhMREhaUUo0cmdvRmsvTmxNTEZtRXRGbnJMVzQ4R05iWUR3V25NamwvSEpaNko3eHFwTi80c2YyTlQ0aXdKTzZaMnlDUG9DemU0U3h6QWRnNEpsZXVDd3FOVzBSUzN1dVZpRVUzVE0yd2UyWi8rWXBhZEpzaDlQcDRKbTBDa1pKZFVsWUR6Z0JQTGRLV21MbnFDV1FZT284eitnMDNYTnZndTNpcEV3bjdiZXBnU2h6UlNtU05oQU91YmduV1FqNUp0L1B6RVdnRUpxSW5PUENpTVJKcGtvL2ZtL2Qzb1RQQzNlK1NwcmhOeFI5bWRONktlM1JkV0VJajNaSXJhRDNEd3ZCVFNXYlZEbnQwY1VybjExK1BxQ2d0R3poMUtXMGZQbzBuZlpmZDlVL2ZYM01Ud1J2SE5IU28wQzV6NzhlWWljbHJpRStJU1hWT0x2RVJUeXVDNUo2NGcrRW9CMmp2dXVPaWNZRjlYZFk5ajh2MGtsSWNiTDBCQUFBQUFCSlJVNUVya0pnZ2c9PSIKfQo="/>
    </extobj>
    <extobj name="334E55B0-647D-440b-865C-3EC943EB4CBC-75">
      <extobjdata type="334E55B0-647D-440b-865C-3EC943EB4CBC" data="ewoJIkltZ1NldHRpbmdKc29uIiA6ICJ7XCJkcGlcIjpcIjYwMFwiLFwiZm9ybWF0XCI6XCJQTkdcIixcInRyYW5zcGFyZW50XCI6dHJ1ZSxcImF1dG9cIjpmYWxzZX0iLAoJIkxhdGV4IiA6ICJYRnNnY0NoU0tTQmNYUT09IiwKCSJMYXRleEltZ0Jhc2U2NCIgOiAiaVZCT1J3MEtHZ29BQUFBTlNVaEVVZ0FBQUtVQUFBQlRCQU1BQUFBTXp0cnRBQUFBTUZCTVZFWC8vLzhBQUFBQUFBQUFBQUFBQUFBQUFBQUFBQUFBQUFBQUFBQUFBQUFBQUFBQUFBQUFBQUFBQUFBQUFBQUFBQUF2M2FCN0FBQUFEM1JTVGxNQU1ydnYzYXRtellraUVIWkVWSmtWcEtPUEFBQUFDWEJJV1hNQUFBN0VBQUFPeEFHVkt3NGJBQUFIUEVsRVFWUllDWlZZdlc5Y1JSRGZzNTJMNy93cEdpcDBSa0ZDUXFDTFFrQUNpcGNpVWlRazlNSlhBUUtkS3dRVW5LbUF5dTRSdWhOVUVSSitVbElseFZtaW9LQzQrdzlzUGtSckY0UXlGemdIT3dTeS9QWmpabWZmN1oyZExkN08xODYrbWYzTnZMMVQ2dVR4NitCa0cxVjc4UlJHYkxJODZqSTloY2pYcGlqTHF0YWZaVW1TdjNGVUpPVXA0WXdlcE1SanNscjI2cGhza21EejcwbWFrcnh4V0pRa2s5Z3pla3VxM3RSaWpLNzhzUnFVUzNvak1GT3B6bCtSV25oMDVIdEIzYmtYNkduVW92NG5Vbjk0KzJuamEvVDJuVHUzMzNqS2tLK3hmazd2TUQyTnVLN1h5K3BsT0hyWkNTcy9nUDZDREdyNmRBalpQS0lWUEMvQXp4WnhqNE1aRU5NL0pHcmFYTlgzeDlSbjRDWWNUVXZyLzhoa051eEZvc1RjMHdkajBsbWtNd2pQWW9ldVo2dW5DcjZsaTdEY1U5dGFpd091d0NkaktCL1AxTmp5aW40NEpsTnRyV1VaNUZyL1MwYjdlby9JaWZOTUNVbldFQm1VNXd1V0lUeW56MC8wUllwR0lwMHEwL291R1dEdUlIaGlGL1FESWlmT1RYSEFaRlNEanpWaU1QZkJGNTZ2eTlNVE5vS3M2d1RncXZDeEk0eUc0RmVKYjUyWTBBVjlUTVpoanVHcFZCTSt1NlRlRFJnZ1VXbWVTeUJlemNHSHRNc2t2NUphSWExVkk3VnJUNXd6ckUxNlE0Wm1VcEZGUG9lcFd0dlgwZUdhOUlZTVZZWC95QlV6b2oyd1RPRk1HT09RbXRvTTdSQnZ6ZWNWbGdocU1VNmMxK1F4UEJ2d2VUVXN5aU5NQkRsUjh6cFJ2blg0MkNBTHpDMTBsQ0x3TGNadTVkemg2MVplUFRmNm5JRnhWaVNLVnkzQjV4Wno5b2hrcGJhNXhqcWpURDhEdzF2WktOZjNDcjlrSlhURzRNUjArVUZnWjhDdUJ4WlE4VHNzakFaTCtyQlFsZXk0cTM0aHFkcGxTaXdxd2JNaldyS3hXcUdlMVVBemJ5TFQvWWVGQmR5cTg5SGhPQnh2bjRDbnlQSThzamtRV2xTRTc2M05IZE5lN3MrN1l1M1FGNnlwTDBselIrOUxPSm9UZWpleU9lTzdTTTNVV2xzZmQxd3FlclJWeG1jb2xrWHcvRjUraXEwUjB1MW0wOHo3U0xhTEdXbnZXcmxPZFUvQWt5QmVnY3Z5RFJFZlZidDR4Yndma3UzTEExc2RHSitvQ2VTa05BdzhMeGxaN1lsUE1xMmZLNmtWb0RZd3N0M3plTFFZZHRqS0NCVEthTjNNMFREdzVQSEN4NUhPTVBqa3JadDVlSUJIeGkwYVhjRisxREVQb0lpSGdlZGxNNUFEL1dTc014eUMyekp6dnFjVVlucGdhQXo0c3JjQTRHVFZTY1F6d0hNUnAyWHFwRFJjOWRmTjV3UXgyWmVEQlh4WjkzaWxibW1CVXIwQXozcXJoRTFyN0xyQmt2bVV3b0ZOSWtoOEhHeER4RnhZTS9uWUYvQ0VBVjlyMk1iNXJEd0xBV0s2NnVYQWtnR1g4VjE0VVpnUXNJY0haSGtpRWc4THN3SXhyWnNaQSs3dGU4SjNZUVh5QVRkM21XL0hiYy9LTTQ1WElTWktIdHpidXdzNk9LOG1JdTZlMitFUXlBRDRvUnppaThCM3RWMGZYc29uTU91d1luMnNpT1NTMHp6RWdiWkowbzYvRDZWOEFoTUN0TGcxOGlwYUhkNFRNZkZkcmVsVGxzb245aEVKNlFWZ2tVdkVmc25UZ0tmdnowcGgyWm9ScDg0ZDBZcnUyWWc0NXlyNEZQQTBsOVQxU1Q1M293eTJFN0VIS0FBL2EyNGZVMFlPQXFrNjZraDRxcFpIc2w5cHArQ29GL29hM0x1N0Nwd1BwTFdoTnlVOGtUdUhaR0dGZzZIYTJRLzlBdTVkeFNISGU4TGFranFFWm50UU9GbHZTWDBKN0RBY1o1K3FpMXFoOEJ2REV3MU1GS296RTAwM0QzZnluS29VWVd3SmY0YU00WW1FY3pNalF3UTNjRFNXVS9mRTI5SFZ6MzlEeUJ4ekRFOWtucjlOWkVUZkk5czlDWjdZbk1nOHVoaVpWU3NSSU1HRlF2Uk9zZHhUZ1BkZFQyNkhpSnVoSFhqbGJuVFFNUFVXSDNtOVVqTWNKUXFYdXZ4bUtKVCtXR1NkNkZDd2d5dkVxdTJOMXUrczY3MmdzYU12ZCtUNEpkcVU3MU1rS01Gekh6NDNqTzVzYVBjOUQwUnpDYUczdTY3RFB6OThueUtmT0VxWllyeUpxNzRHSlU2cEJnZmNnclpyVnRaelBpR1RtMUluTTRBOG9BM3NpVG1mNXI3bFI1dlBJTk5ISFJ2RkRUMWFKVFhReUgzYXliNkJ6NnVzeHA3dXRaZUVXWXNNVUZESGN3OWh2SmpMVHpacW9zc2VLci85K0R0ODZLTXZQL2pKQzAwSE93OTZPNlFUTFdEZGFSSFR2N1hzVTFWcDBWRTV1U3o0dm5Ib0IrMEVHQURMbGV6QW1lT0piUXJIV0hoK3JRKzFmc1ZMbkp3REFZdjFORGhVbE9waHR6NDBFZnF4UUdldEFNOE5wWDdPTHI1UE9qZnZjc0xSaEs3ZExJeTBmdk1hdmFaU2orR2F6TkVhN1F3SHVoMjZwMUh3bUIxck82enl4TGR2WlJkMmhMREhaUUo0cmdvRmsvTmxNTEZtRXRGbnJMVzQ4R05iWUR3V25NamwvSEpaNko3eHFwTi80c2YyTlQ0aXdKTzZaMnlDUG9DemU0U3h6QWRnNEpsZXVDd3FOVzBSUzN1dVZpRVUzVE0yd2UyWi8rWXBhZEpzaDlQcDRKbTBDa1pKZFVsWUR6Z0JQTGRLV21MbnFDV1FZT284eitnMDNYTnZndTNpcEV3bjdiZXBnU2h6UlNtU05oQU91YmduV1FqNUp0L1B6RVdnRUpxSW5PUENpTVJKcGtvL2ZtL2Qzb1RQQzNlK1NwcmhOeFI5bWRONktlM1JkV0VJajNaSXJhRDNEd3ZCVFNXYlZEbnQwY1VybjExK1BxQ2d0R3poMUtXMGZQbzBuZlpmZDlVL2ZYM01Ud1J2SE5IU28wQzV6NzhlWWljbHJpRStJU1hWT0x2RVJUeXVDNUo2NGcrRW9CMmp2dXVPaWNZRjlYZFk5ajh2MGtsSWNiTDBCQUFBQUFCSlJVNUVya0pnZ2c9PSIKfQo="/>
    </extobj>
  </extobjs>
</s:customData>
</file>

<file path=customXml/itemProps126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9309</Words>
  <Application>WPS Presentation</Application>
  <PresentationFormat>宽屏</PresentationFormat>
  <Paragraphs>613</Paragraphs>
  <Slides>68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91" baseType="lpstr">
      <vt:lpstr>Arial</vt:lpstr>
      <vt:lpstr>宋体</vt:lpstr>
      <vt:lpstr>Wingdings</vt:lpstr>
      <vt:lpstr>Georgia Regular</vt:lpstr>
      <vt:lpstr>Rockwell Regular</vt:lpstr>
      <vt:lpstr>Wingdings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Comic Sans MS Regular</vt:lpstr>
      <vt:lpstr>Chalkboard Regular</vt:lpstr>
      <vt:lpstr>Georgia Bold Italic</vt:lpstr>
      <vt:lpstr>Cochin Regular</vt:lpstr>
      <vt:lpstr>DejaVu Math TeX Gyre</vt:lpstr>
      <vt:lpstr>Georgia Bold</vt:lpstr>
      <vt:lpstr>Georgia</vt:lpstr>
      <vt:lpstr>Apple Symbols</vt:lpstr>
      <vt:lpstr>竹影瘦金体</vt:lpstr>
      <vt:lpstr>WPS</vt:lpstr>
      <vt:lpstr> </vt:lpstr>
      <vt:lpstr>Efficient Coding</vt:lpstr>
      <vt:lpstr>Efficient Coding</vt:lpstr>
      <vt:lpstr>Overview</vt:lpstr>
      <vt:lpstr>Overview</vt:lpstr>
      <vt:lpstr>Overview</vt:lpstr>
      <vt:lpstr>Efficient Code computation</vt:lpstr>
      <vt:lpstr>Efficient Code computation</vt:lpstr>
      <vt:lpstr>Efficient Code computation</vt:lpstr>
      <vt:lpstr>Efficient Code computation</vt:lpstr>
      <vt:lpstr>Efficient Code computation</vt:lpstr>
      <vt:lpstr>Efficient Code computation</vt:lpstr>
      <vt:lpstr>Efficient Code computation</vt:lpstr>
      <vt:lpstr>Efficient Code computation</vt:lpstr>
      <vt:lpstr>Efficient Code computation</vt:lpstr>
      <vt:lpstr>Efficient Code computation</vt:lpstr>
      <vt:lpstr>Cumulative Distribution Function of Beta Distribution</vt:lpstr>
      <vt:lpstr>Efficient Code computation</vt:lpstr>
      <vt:lpstr>What’s new?</vt:lpstr>
      <vt:lpstr>Overview</vt:lpstr>
      <vt:lpstr>Application 1: variable-reward task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Application 1: variable-reward task</vt:lpstr>
      <vt:lpstr>Application 1: variable-reward task</vt:lpstr>
      <vt:lpstr>Application 1: variable-reward task</vt:lpstr>
      <vt:lpstr>Application 1: variable-reward task</vt:lpstr>
      <vt:lpstr>Application 1: variable-reward task</vt:lpstr>
      <vt:lpstr>Application 1: variable-reward task</vt:lpstr>
      <vt:lpstr>Application 1: variable-reward task</vt:lpstr>
      <vt:lpstr>Application 1: variable-reward task</vt:lpstr>
      <vt:lpstr>Application 1: variable-reward task</vt:lpstr>
      <vt:lpstr>Application 2: variable-distribution task</vt:lpstr>
      <vt:lpstr>Application 2: variable-distribution task</vt:lpstr>
      <vt:lpstr>Application 2: variable-distribution task</vt:lpstr>
      <vt:lpstr>Overview</vt:lpstr>
      <vt:lpstr>                           Reinforcement Learning</vt:lpstr>
      <vt:lpstr>Distributional Reinforcement Learning</vt:lpstr>
      <vt:lpstr>Distributional Reinforcement Learning</vt:lpstr>
      <vt:lpstr>Distributional Reinforcement Learning</vt:lpstr>
      <vt:lpstr>Distributional Reinforcement Learning</vt:lpstr>
      <vt:lpstr>Distributional Reinforcement Learning</vt:lpstr>
      <vt:lpstr>Distributional Reinforcement Learning</vt:lpstr>
      <vt:lpstr>DRL in dopamine neurons</vt:lpstr>
      <vt:lpstr>DRL in dopamine neurons</vt:lpstr>
      <vt:lpstr>DRL in dopamine neurons</vt:lpstr>
      <vt:lpstr>DRL in dopamine neurons</vt:lpstr>
      <vt:lpstr>DRL in dopamine neurons</vt:lpstr>
      <vt:lpstr>DRL in dopamine neurons</vt:lpstr>
      <vt:lpstr>DRL in dopamine neurons</vt:lpstr>
      <vt:lpstr>Application 1: variable-reward task</vt:lpstr>
      <vt:lpstr>Learning rules for the efficient code</vt:lpstr>
      <vt:lpstr>Learning rules for the efficient code</vt:lpstr>
      <vt:lpstr>Learning rules for the efficient code</vt:lpstr>
      <vt:lpstr>Learning rules for the efficient code</vt:lpstr>
      <vt:lpstr>Learning rules for the efficient code</vt:lpstr>
      <vt:lpstr>Learning rules for the efficient code</vt:lpstr>
      <vt:lpstr>Learning rules for the efficient code</vt:lpstr>
      <vt:lpstr>Efficient Code computation Details</vt:lpstr>
      <vt:lpstr>Efficient Code computation</vt:lpstr>
      <vt:lpstr>Efficient Code computation</vt:lpstr>
      <vt:lpstr>Discussion</vt:lpstr>
      <vt:lpstr>Discussion</vt:lpstr>
      <vt:lpstr>Discussion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张博涛</cp:lastModifiedBy>
  <cp:revision>30</cp:revision>
  <dcterms:created xsi:type="dcterms:W3CDTF">2025-03-31T13:19:24Z</dcterms:created>
  <dcterms:modified xsi:type="dcterms:W3CDTF">2025-03-31T13:19:24Z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1033-6.5.2.8766</vt:lpwstr>
  </property>
  <property fmtid="{D5CDD505-2E9C-101B-9397-08002B2CF9AE}" pid="3" name="ICV">
    <vt:lpwstr>C6E3BF0F011C116970FCE9675D41BEA1_43</vt:lpwstr>
  </property>
</Properties>
</file>