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  <p:sldId id="262" r:id="rId11"/>
    <p:sldId id="266" r:id="rId12"/>
    <p:sldId id="267" r:id="rId13"/>
    <p:sldId id="268" r:id="rId14"/>
    <p:sldId id="273" r:id="rId15"/>
    <p:sldId id="270" r:id="rId16"/>
    <p:sldId id="277" r:id="rId17"/>
    <p:sldId id="276" r:id="rId18"/>
    <p:sldId id="279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delta p_m --&gt; -1</a:t>
            </a:r>
            <a:r>
              <a:rPr lang="zh-CN" altLang="en-US"/>
              <a:t>的时候，即强抑制的情况，这些关系不再成立，而有另一套等价关系</a:t>
            </a:r>
            <a:r>
              <a:rPr lang="en-US" altLang="zh-CN"/>
              <a:t>       weak dependence ---&gt; small delta p_m</a:t>
            </a:r>
            <a:endParaRPr lang="zh-CN" altLang="en-US"/>
          </a:p>
          <a:p>
            <a:r>
              <a:rPr lang="zh-CN" altLang="en-US"/>
              <a:t>｜｜</a:t>
            </a:r>
            <a:r>
              <a:rPr lang="en-US" altLang="zh-CN"/>
              <a:t>x_(n+1)^(k+1)</a:t>
            </a:r>
            <a:r>
              <a:rPr lang="zh-CN" altLang="en-US"/>
              <a:t>｜｜</a:t>
            </a:r>
            <a:r>
              <a:rPr lang="en-US" altLang="zh-CN"/>
              <a:t>_0 &lt;= 1, y...  </a:t>
            </a:r>
            <a:r>
              <a:rPr lang="zh-CN" altLang="en-US"/>
              <a:t>这些关系才成立，但是如果不符合这个条件，他们的这些关系仍然近似地成立</a:t>
            </a:r>
            <a:r>
              <a:rPr lang="en-US" altLang="zh-CN"/>
              <a:t>;</a:t>
            </a:r>
            <a:r>
              <a:rPr lang="zh-CN" altLang="en-US"/>
              <a:t>且模拟的时候这个条件一般可以实现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in simulation data |delta_p| is very small, &lt; 0.01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Fig D: based on quadratic relation, it’s poosible to not only establish 0 or 1 relationships, but also estimate coupling strength; requires further study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3 neuron HH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TE proportional to S^2, S log-normal distribution, so TE for d-conn pairs follows log-normal distribution. We also assume it’s the case for id-conn pairs.</a:t>
            </a:r>
            <a:endParaRPr lang="en-US"/>
          </a:p>
          <a:p>
            <a:r>
              <a:rPr lang="zh-CN" altLang="en-US"/>
              <a:t>这里和前面的</a:t>
            </a:r>
            <a:r>
              <a:rPr lang="en-US" altLang="zh-CN"/>
              <a:t>bimodal</a:t>
            </a:r>
            <a:r>
              <a:rPr lang="zh-CN" altLang="en-US"/>
              <a:t>图像，</a:t>
            </a:r>
            <a:r>
              <a:rPr lang="en-US" altLang="zh-CN"/>
              <a:t>id-conn</a:t>
            </a:r>
            <a:r>
              <a:rPr lang="zh-CN" altLang="en-US"/>
              <a:t>和</a:t>
            </a:r>
            <a:r>
              <a:rPr lang="en-US" altLang="zh-CN"/>
              <a:t>d-conn</a:t>
            </a:r>
            <a:r>
              <a:rPr lang="zh-CN" altLang="en-US"/>
              <a:t>的概率密度变化这么大是</a:t>
            </a:r>
            <a:r>
              <a:rPr lang="en-US" altLang="zh-CN"/>
              <a:t>S</a:t>
            </a:r>
            <a:r>
              <a:rPr lang="zh-CN" altLang="en-US"/>
              <a:t>取了</a:t>
            </a:r>
            <a:r>
              <a:rPr lang="en-US" altLang="zh-CN"/>
              <a:t>log-normal distribution</a:t>
            </a:r>
            <a:r>
              <a:rPr lang="zh-CN" altLang="en-US"/>
              <a:t>导致的？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i) does not retain memory of its past values for long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7.png"/><Relationship Id="rId7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openxmlformats.org/officeDocument/2006/relationships/tags" Target="../tags/tag7.xml"/><Relationship Id="rId4" Type="http://schemas.openxmlformats.org/officeDocument/2006/relationships/image" Target="../media/image5.png"/><Relationship Id="rId3" Type="http://schemas.openxmlformats.org/officeDocument/2006/relationships/tags" Target="../tags/tag6.xml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image" Target="../media/image11.png"/><Relationship Id="rId7" Type="http://schemas.openxmlformats.org/officeDocument/2006/relationships/tags" Target="../tags/tag13.xml"/><Relationship Id="rId6" Type="http://schemas.openxmlformats.org/officeDocument/2006/relationships/image" Target="../media/image10.png"/><Relationship Id="rId5" Type="http://schemas.openxmlformats.org/officeDocument/2006/relationships/tags" Target="../tags/tag12.xml"/><Relationship Id="rId4" Type="http://schemas.openxmlformats.org/officeDocument/2006/relationships/image" Target="../media/image9.png"/><Relationship Id="rId3" Type="http://schemas.openxmlformats.org/officeDocument/2006/relationships/tags" Target="../tags/tag11.xml"/><Relationship Id="rId2" Type="http://schemas.openxmlformats.org/officeDocument/2006/relationships/image" Target="../media/image8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5.xml"/><Relationship Id="rId10" Type="http://schemas.openxmlformats.org/officeDocument/2006/relationships/image" Target="../media/image12.png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tags" Target="../tags/tag18.xml"/><Relationship Id="rId2" Type="http://schemas.openxmlformats.org/officeDocument/2006/relationships/image" Target="../media/image14.png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tags" Target="../tags/tag22.xml"/><Relationship Id="rId4" Type="http://schemas.openxmlformats.org/officeDocument/2006/relationships/image" Target="../media/image17.png"/><Relationship Id="rId3" Type="http://schemas.openxmlformats.org/officeDocument/2006/relationships/tags" Target="../tags/tag21.xml"/><Relationship Id="rId2" Type="http://schemas.openxmlformats.org/officeDocument/2006/relationships/image" Target="../media/image10.png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tags" Target="../tags/tag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tags" Target="../tags/tag2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662305"/>
            <a:ext cx="9144000" cy="1167130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effectLst/>
                <a:latin typeface="Georgia Regular" panose="02040502050405090303" charset="0"/>
                <a:cs typeface="Georgia Regular" panose="02040502050405090303" charset="0"/>
              </a:rPr>
              <a:t>Causal connectivity measures for pulse-output network reconstruction</a:t>
            </a:r>
            <a:endParaRPr lang="en-US" altLang="zh-CN" sz="2000" dirty="0">
              <a:effectLst/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</a:rPr>
              <a:t> </a:t>
            </a:r>
            <a:endParaRPr lang="en-US" altLang="zh-CN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29030" y="1908175"/>
            <a:ext cx="10462895" cy="28568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401435" y="5083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presented by</a:t>
            </a:r>
            <a:r>
              <a:rPr lang="en-US"/>
              <a:t> </a:t>
            </a:r>
            <a:r>
              <a:rPr lang="zh-CN" altLang="en-US"/>
              <a:t>张博涛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057910"/>
            <a:ext cx="10515600" cy="5119370"/>
          </a:xfrm>
        </p:spPr>
        <p:txBody>
          <a:bodyPr/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1.Background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2.Relations between Causality Measures(mathematical)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3.Verification in HH models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4.Application: reconstruction from physiological data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5.Discussion</a:t>
            </a:r>
            <a:endParaRPr lang="en-US" altLang="zh-CN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905" y="0"/>
            <a:ext cx="10515600" cy="1325563"/>
          </a:xfrm>
        </p:spPr>
        <p:txBody>
          <a:bodyPr/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Background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1140" y="4732020"/>
            <a:ext cx="3312160" cy="1445260"/>
          </a:xfrm>
        </p:spPr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778000" y="1416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network connectivity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77495" y="2357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causal connectivity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510280" y="2344420"/>
            <a:ext cx="347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structural connectivity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730375" y="1775460"/>
            <a:ext cx="302260" cy="5810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6" idx="2"/>
          </p:cNvCxnSpPr>
          <p:nvPr/>
        </p:nvCxnSpPr>
        <p:spPr>
          <a:xfrm flipH="1" flipV="1">
            <a:off x="3810000" y="1784985"/>
            <a:ext cx="680720" cy="535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8" idx="1"/>
          </p:cNvCxnSpPr>
          <p:nvPr/>
        </p:nvCxnSpPr>
        <p:spPr>
          <a:xfrm flipV="1">
            <a:off x="2311400" y="2528570"/>
            <a:ext cx="1198880" cy="215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2638425" y="2199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?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505710" y="2567940"/>
            <a:ext cx="0" cy="18764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529840" y="4427220"/>
            <a:ext cx="10769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Left Brace 16"/>
          <p:cNvSpPr/>
          <p:nvPr/>
        </p:nvSpPr>
        <p:spPr>
          <a:xfrm>
            <a:off x="3607435" y="3046730"/>
            <a:ext cx="302895" cy="27609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3810000" y="3046730"/>
            <a:ext cx="5031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different causality measures may produce differnt results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3787140" y="52749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computation relying on the whole network is costly 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8607425" y="30467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in pulse-output networks they are related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8196580" y="3282315"/>
            <a:ext cx="39941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7372985" y="5412740"/>
            <a:ext cx="43624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7993380" y="5253990"/>
            <a:ext cx="376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pairwise reconstruction 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6" name="Smiley Face 25"/>
          <p:cNvSpPr/>
          <p:nvPr/>
        </p:nvSpPr>
        <p:spPr>
          <a:xfrm>
            <a:off x="10617835" y="5328285"/>
            <a:ext cx="375285" cy="327025"/>
          </a:xfrm>
          <a:prstGeom prst="smileyFace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Smiley Face 26"/>
          <p:cNvSpPr/>
          <p:nvPr>
            <p:custDataLst>
              <p:tags r:id="rId1"/>
            </p:custDataLst>
          </p:nvPr>
        </p:nvSpPr>
        <p:spPr>
          <a:xfrm>
            <a:off x="9582150" y="3429000"/>
            <a:ext cx="375285" cy="327025"/>
          </a:xfrm>
          <a:prstGeom prst="smileyFace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Text Box 27"/>
          <p:cNvSpPr txBox="1"/>
          <p:nvPr/>
        </p:nvSpPr>
        <p:spPr>
          <a:xfrm>
            <a:off x="3910330" y="4213860"/>
            <a:ext cx="6837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different nature of ‘causal’ and ‘structural’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X-&gt;Y-&gt;Z, then there’s causal relations from X-&gt;Z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905" y="0"/>
            <a:ext cx="10515600" cy="1325563"/>
          </a:xfrm>
        </p:spPr>
        <p:txBody>
          <a:bodyPr/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Background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82905" y="1019810"/>
            <a:ext cx="5759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Four measures for Causal Interactions(connectivity):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40715" y="1642110"/>
            <a:ext cx="100844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TDCC: time-delayed correlation coefficient     </a:t>
            </a:r>
            <a:r>
              <a:rPr lang="en-US" sz="2000">
                <a:solidFill>
                  <a:schemeClr val="accent4"/>
                </a:solidFill>
                <a:latin typeface="Georgia Regular" panose="02040502050405090303" charset="0"/>
                <a:cs typeface="Georgia Regular" panose="02040502050405090303" charset="0"/>
              </a:rPr>
              <a:t>linear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TDMI: time-delayed mutual information     </a:t>
            </a:r>
            <a:r>
              <a:rPr lang="en-US" sz="2000">
                <a:solidFill>
                  <a:schemeClr val="accent4"/>
                </a:solidFill>
                <a:latin typeface="Georgia Regular" panose="02040502050405090303" charset="0"/>
                <a:cs typeface="Georgia Regular" panose="02040502050405090303" charset="0"/>
              </a:rPr>
              <a:t>non-linear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GC: Granger causality  </a:t>
            </a:r>
            <a:r>
              <a:rPr lang="en-US" sz="2000">
                <a:solidFill>
                  <a:schemeClr val="accent4"/>
                </a:solidFill>
                <a:latin typeface="Georgia Regular" panose="02040502050405090303" charset="0"/>
                <a:cs typeface="Georgia Regular" panose="02040502050405090303" charset="0"/>
              </a:rPr>
              <a:t> linear</a:t>
            </a:r>
            <a:endParaRPr lang="en-US" sz="2000">
              <a:solidFill>
                <a:schemeClr val="accent4"/>
              </a:solidFill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TE: transfer entropy   </a:t>
            </a:r>
            <a:r>
              <a:rPr lang="en-US" sz="2000">
                <a:solidFill>
                  <a:schemeClr val="accent4"/>
                </a:solidFill>
                <a:latin typeface="Georgia Regular" panose="02040502050405090303" charset="0"/>
                <a:cs typeface="Georgia Regular" panose="02040502050405090303" charset="0"/>
              </a:rPr>
              <a:t>non-linear</a:t>
            </a: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              but incur curse of dimensionality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6788150" y="1678940"/>
            <a:ext cx="75565" cy="58102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514850" y="2780665"/>
            <a:ext cx="59309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6863715" y="1825625"/>
            <a:ext cx="5328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overlook historical effects       over-estimation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9563735" y="1993265"/>
            <a:ext cx="27876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905" y="0"/>
            <a:ext cx="10515600" cy="1325563"/>
          </a:xfrm>
        </p:spPr>
        <p:txBody>
          <a:bodyPr/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Background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42365" y="874395"/>
            <a:ext cx="10020935" cy="5983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905" y="0"/>
            <a:ext cx="10515600" cy="1325563"/>
          </a:xfrm>
        </p:spPr>
        <p:txBody>
          <a:bodyPr/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 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220980"/>
            <a:ext cx="12192000" cy="6637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0" y="161290"/>
            <a:ext cx="10515600" cy="599440"/>
          </a:xfrm>
        </p:spPr>
        <p:txBody>
          <a:bodyPr>
            <a:norm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  <a:sym typeface="+mn-ea"/>
              </a:rPr>
              <a:t>Relations between Causality Measures(mathematical)</a:t>
            </a:r>
            <a:endParaRPr 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0350" y="818515"/>
            <a:ext cx="5371465" cy="9499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2306" r="348" b="12288"/>
          <a:stretch>
            <a:fillRect/>
          </a:stretch>
        </p:blipFill>
        <p:spPr>
          <a:xfrm>
            <a:off x="5631815" y="1104265"/>
            <a:ext cx="3378200" cy="5257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1663065"/>
            <a:ext cx="6435090" cy="11010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4465" y="2743835"/>
            <a:ext cx="6270625" cy="115697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701155" y="3138170"/>
            <a:ext cx="5055870" cy="600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Georgia Regular" panose="02040502050405090303" charset="0"/>
                <a:cs typeface="Georgia Regular" panose="02040502050405090303" charset="0"/>
              </a:rPr>
              <a:t>with the assumption that length of historical information used is shorter than consecutive spikes’ time interval</a:t>
            </a:r>
            <a:endParaRPr lang="en-US" altLang="zh-CN" sz="1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86410" y="4121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proof: Taylor expand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7" name="Smiley Face 26"/>
          <p:cNvSpPr/>
          <p:nvPr>
            <p:custDataLst>
              <p:tags r:id="rId9"/>
            </p:custDataLst>
          </p:nvPr>
        </p:nvSpPr>
        <p:spPr>
          <a:xfrm>
            <a:off x="2758440" y="4163060"/>
            <a:ext cx="375285" cy="327025"/>
          </a:xfrm>
          <a:prstGeom prst="smileyFace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0" y="161290"/>
            <a:ext cx="10515600" cy="599440"/>
          </a:xfrm>
        </p:spPr>
        <p:txBody>
          <a:bodyPr>
            <a:norm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  <a:sym typeface="+mn-ea"/>
              </a:rPr>
              <a:t>Relations between Causality Measures---Mechanism</a:t>
            </a:r>
            <a:endParaRPr 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16560" y="9074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Y→W→X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36725" y="760730"/>
            <a:ext cx="618490" cy="5886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474595" y="760730"/>
            <a:ext cx="6327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id-connected pair (Y,X) might be mis-inferred as d-conn pair by causality measures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61975" y="1549400"/>
            <a:ext cx="5358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but no problem for pulse-output network: 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6560" y="1917700"/>
            <a:ext cx="7614285" cy="5651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0350" y="2459990"/>
            <a:ext cx="4418965" cy="11220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1605" y="4057015"/>
            <a:ext cx="5575935" cy="889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97510" y="3429000"/>
            <a:ext cx="4389120" cy="744855"/>
          </a:xfrm>
          <a:prstGeom prst="rect">
            <a:avLst/>
          </a:prstGeom>
        </p:spPr>
      </p:pic>
      <p:sp>
        <p:nvSpPr>
          <p:cNvPr id="27" name="Smiley Face 26"/>
          <p:cNvSpPr/>
          <p:nvPr>
            <p:custDataLst>
              <p:tags r:id="rId11"/>
            </p:custDataLst>
          </p:nvPr>
        </p:nvSpPr>
        <p:spPr>
          <a:xfrm>
            <a:off x="4973320" y="1590675"/>
            <a:ext cx="375285" cy="327025"/>
          </a:xfrm>
          <a:prstGeom prst="smileyFace">
            <a:avLst/>
          </a:prstGeom>
        </p:spPr>
        <p:style>
          <a:lnRef idx="3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381635" y="5040630"/>
            <a:ext cx="5843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Y←W→X      confounder is resolved the same way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25" y="125095"/>
            <a:ext cx="10515600" cy="647700"/>
          </a:xfrm>
        </p:spPr>
        <p:txBody>
          <a:bodyPr>
            <a:normAutofit/>
          </a:bodyPr>
          <a:p>
            <a:r>
              <a:rPr lang="en-US" sz="2665">
                <a:latin typeface="Georgia Regular" panose="02040502050405090303" charset="0"/>
                <a:cs typeface="Georgia Regular" panose="02040502050405090303" charset="0"/>
                <a:sym typeface="+mn-ea"/>
              </a:rPr>
              <a:t>Verification in HH models</a:t>
            </a:r>
            <a:endParaRPr lang="en-US" sz="266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52525" y="1190625"/>
            <a:ext cx="9886950" cy="44767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471545" y="5888355"/>
            <a:ext cx="589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d-conn Y</a:t>
            </a:r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→X (in HH with 10 excitatory neurons)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25" y="125095"/>
            <a:ext cx="10515600" cy="647700"/>
          </a:xfrm>
        </p:spPr>
        <p:txBody>
          <a:bodyPr>
            <a:normAutofit/>
          </a:bodyPr>
          <a:p>
            <a:r>
              <a:rPr lang="en-US" sz="2665">
                <a:latin typeface="Georgia Regular" panose="02040502050405090303" charset="0"/>
                <a:cs typeface="Georgia Regular" panose="02040502050405090303" charset="0"/>
                <a:sym typeface="+mn-ea"/>
              </a:rPr>
              <a:t>Verification in HH models</a:t>
            </a:r>
            <a:endParaRPr lang="en-US" sz="266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253230" y="495300"/>
            <a:ext cx="7938770" cy="63627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248275" y="127635"/>
            <a:ext cx="6300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d-conn Y</a:t>
            </a:r>
            <a:r>
              <a:rPr lang="en-US">
                <a:latin typeface="Georgia Regular" panose="02040502050405090303" charset="0"/>
                <a:cs typeface="Georgia Regular" panose="02040502050405090303" charset="0"/>
                <a:sym typeface="+mn-ea"/>
              </a:rPr>
              <a:t>→X (in HH with 10 excitatory neurons)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0" y="5600700"/>
            <a:ext cx="449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S: coupling strength, linearly related to 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18230" y="5897245"/>
            <a:ext cx="635000" cy="644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25" y="125095"/>
            <a:ext cx="10515600" cy="647700"/>
          </a:xfrm>
        </p:spPr>
        <p:txBody>
          <a:bodyPr>
            <a:normAutofit/>
          </a:bodyPr>
          <a:p>
            <a:r>
              <a:rPr lang="en-US" sz="2665">
                <a:latin typeface="Georgia Regular" panose="02040502050405090303" charset="0"/>
                <a:cs typeface="Georgia Regular" panose="02040502050405090303" charset="0"/>
                <a:sym typeface="+mn-ea"/>
              </a:rPr>
              <a:t>Verification in HH models</a:t>
            </a:r>
            <a:endParaRPr lang="en-US" sz="266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3550" y="698500"/>
            <a:ext cx="9963150" cy="46291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43635" y="11150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a whole HH of 100 excitatory neurons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020435" y="11150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subnetwork of 20 neurons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858895" y="3919220"/>
            <a:ext cx="0" cy="15176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509770" y="4272915"/>
            <a:ext cx="0" cy="1825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3413125" y="5436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id-conn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064000" y="6177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d-conn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673090" y="58299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AUC -&gt; 1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25" y="125095"/>
            <a:ext cx="10515600" cy="647700"/>
          </a:xfrm>
        </p:spPr>
        <p:txBody>
          <a:bodyPr>
            <a:normAutofit/>
          </a:bodyPr>
          <a:p>
            <a:r>
              <a:rPr lang="en-US" sz="2665">
                <a:latin typeface="Georgia Regular" panose="02040502050405090303" charset="0"/>
                <a:cs typeface="Georgia Regular" panose="02040502050405090303" charset="0"/>
                <a:sym typeface="+mn-ea"/>
              </a:rPr>
              <a:t>Verification in HH models</a:t>
            </a:r>
            <a:endParaRPr lang="en-US" sz="266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7325" y="703580"/>
            <a:ext cx="4418965" cy="1122045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2535555" y="1493520"/>
            <a:ext cx="0" cy="684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1155065" y="22580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linearly dependent on 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4300" y="2640330"/>
            <a:ext cx="12192000" cy="42233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89450" y="1751330"/>
            <a:ext cx="5575935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" y="149860"/>
            <a:ext cx="9256395" cy="527685"/>
          </a:xfrm>
        </p:spPr>
        <p:txBody>
          <a:bodyPr>
            <a:normAutofit/>
          </a:bodyPr>
          <a:p>
            <a:r>
              <a:rPr lang="en-US" sz="2665">
                <a:latin typeface="Georgia Regular" panose="02040502050405090303" charset="0"/>
                <a:cs typeface="Georgia Regular" panose="02040502050405090303" charset="0"/>
                <a:sym typeface="+mn-ea"/>
              </a:rPr>
              <a:t>Application: reconstruction from physiological data</a:t>
            </a:r>
            <a:endParaRPr lang="en-US" sz="266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82625"/>
            <a:ext cx="12192000" cy="54921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956675" y="55435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Georgia Regular" panose="02040502050405090303" charset="0"/>
                <a:cs typeface="Georgia Regular" panose="02040502050405090303" charset="0"/>
              </a:rPr>
              <a:t>similarity matrix of TE values</a:t>
            </a:r>
            <a:endParaRPr lang="en-US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" y="149860"/>
            <a:ext cx="9256395" cy="527685"/>
          </a:xfrm>
        </p:spPr>
        <p:txBody>
          <a:bodyPr>
            <a:normAutofit/>
          </a:bodyPr>
          <a:p>
            <a:r>
              <a:rPr lang="en-US" sz="2665">
                <a:latin typeface="Georgia Regular" panose="02040502050405090303" charset="0"/>
                <a:cs typeface="Georgia Regular" panose="02040502050405090303" charset="0"/>
                <a:sym typeface="+mn-ea"/>
              </a:rPr>
              <a:t>Application: reconstruction from physiological data</a:t>
            </a:r>
            <a:endParaRPr lang="en-US" sz="266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77365" y="687705"/>
            <a:ext cx="9720580" cy="61702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" y="149860"/>
            <a:ext cx="9256395" cy="527685"/>
          </a:xfrm>
        </p:spPr>
        <p:txBody>
          <a:bodyPr>
            <a:normAutofit/>
          </a:bodyPr>
          <a:p>
            <a:r>
              <a:rPr lang="en-US" sz="2665">
                <a:latin typeface="Georgia Regular" panose="02040502050405090303" charset="0"/>
                <a:cs typeface="Georgia Regular" panose="02040502050405090303" charset="0"/>
                <a:sym typeface="+mn-ea"/>
              </a:rPr>
              <a:t>Application: reconstruction from physiological data</a:t>
            </a:r>
            <a:endParaRPr lang="en-US" sz="2665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308" r="4366"/>
          <a:stretch>
            <a:fillRect/>
          </a:stretch>
        </p:blipFill>
        <p:spPr>
          <a:xfrm>
            <a:off x="2135505" y="772795"/>
            <a:ext cx="10056495" cy="60852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Discussion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35826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Why the method works for pulse-output networks?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Two key features of pulse-output networks: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i) short timescale of autocorrelation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ii) the weakness of indirect causalities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  <a:p>
            <a:pPr marL="0" indent="0">
              <a:buNone/>
            </a:pP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24065" y="2519045"/>
            <a:ext cx="4994275" cy="42367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2030</Words>
  <Application>WPS Writer</Application>
  <PresentationFormat>宽屏</PresentationFormat>
  <Paragraphs>137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Rockwell Regular</vt:lpstr>
      <vt:lpstr>Comic Sans MS Regular</vt:lpstr>
      <vt:lpstr>Chalkboard Regular</vt:lpstr>
      <vt:lpstr>Cochin Regular</vt:lpstr>
      <vt:lpstr>汉仪楷体KW</vt:lpstr>
      <vt:lpstr>汉仪中黑KW</vt:lpstr>
      <vt:lpstr>Georgia Regular</vt:lpstr>
      <vt:lpstr>Georgia Bold</vt:lpstr>
      <vt:lpstr>WPS</vt:lpstr>
      <vt:lpstr>PowerPoint 演示文稿</vt:lpstr>
      <vt:lpstr>PowerPoint 演示文稿</vt:lpstr>
      <vt:lpstr>PowerPoint 演示文稿</vt:lpstr>
      <vt:lpstr>Background</vt:lpstr>
      <vt:lpstr>Background</vt:lpstr>
      <vt:lpstr>Background</vt:lpstr>
      <vt:lpstr>Relations between Causality Measures(mathematical)</vt:lpstr>
      <vt:lpstr>PowerPoint 演示文稿</vt:lpstr>
      <vt:lpstr>PowerPoint 演示文稿</vt:lpstr>
      <vt:lpstr>Verification in HH models</vt:lpstr>
      <vt:lpstr>Verification in HH models</vt:lpstr>
      <vt:lpstr>Verification in HH models</vt:lpstr>
      <vt:lpstr>PowerPoint 演示文稿</vt:lpstr>
      <vt:lpstr>Application: reconstruction from physiological data</vt:lpstr>
      <vt:lpstr>Application: reconstruction from physiological data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张博涛</cp:lastModifiedBy>
  <cp:revision>12</cp:revision>
  <dcterms:created xsi:type="dcterms:W3CDTF">2024-07-29T03:11:43Z</dcterms:created>
  <dcterms:modified xsi:type="dcterms:W3CDTF">2024-07-29T03:11:43Z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1033-6.5.2.8766</vt:lpwstr>
  </property>
  <property fmtid="{D5CDD505-2E9C-101B-9397-08002B2CF9AE}" pid="3" name="ICV">
    <vt:lpwstr>FFBC6E4C71025A320841A366BC844D04_41</vt:lpwstr>
  </property>
</Properties>
</file>